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12192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A54/g/FZjHfDj8dwZZRK+jrW/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h5adcd0903d5cb179_3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" name="Google Shape;12;h5adcd0903d5cb179_3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h5adcd0903d5cb179_3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h5adcd0903d5cb179_4_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h5adcd0903d5cb179_4_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h5adcd0903d5cb179_4_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5adcd0903d5cb179_4_83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h5adcd0903d5cb179_4_83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h5adcd0903d5cb179_4_83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5adcd0903d5cb179_4_6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5adcd0903d5cb179_4_6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20b37650884cf90a_0_9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h20b37650884cf90a_0_9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h20b37650884cf90a_0_9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h20b37650884cf90a_0_18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h20b37650884cf90a_0_18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h20b37650884cf90a_0_18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h20b37650884cf90a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h20b37650884cf90a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h20b37650884cf90a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h5adcd0903d5cb179_4_264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h5adcd0903d5cb179_4_264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Conclusión sugerida: Quality360 nace de la necesidad de mejorar la visibilidad y trazabilidad del proceso de certificación de software. El prototipo demuestra un primer avance funcional con acceso por roles, y los próximos incrementos permitirán integrar persistencia, Jira, métricas y pruebas funcionales.</a:t>
            </a:r>
            <a:endParaRPr/>
          </a:p>
        </p:txBody>
      </p:sp>
      <p:sp>
        <p:nvSpPr>
          <p:cNvPr id="369" name="Google Shape;369;h5adcd0903d5cb179_4_264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F6FAFD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h5adcd0903d5cb179_3_0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20B8B4"/>
          </a:solidFill>
          <a:ln cap="flat" cmpd="sng" w="12700">
            <a:solidFill>
              <a:srgbClr val="20B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h5adcd0903d5cb179_3_0"/>
          <p:cNvSpPr/>
          <p:nvPr/>
        </p:nvSpPr>
        <p:spPr>
          <a:xfrm>
            <a:off x="10515600" y="5577840"/>
            <a:ext cx="2286000" cy="22860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4F8FB">
              <a:alpha val="0"/>
            </a:srgbClr>
          </a:solidFill>
          <a:ln cap="flat" cmpd="sng" w="25400">
            <a:solidFill>
              <a:srgbClr val="D6F3F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17" name="Google Shape;17;h5adcd0903d5cb179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246888"/>
            <a:ext cx="566927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h5adcd0903d5cb179_3_0"/>
          <p:cNvSpPr/>
          <p:nvPr/>
        </p:nvSpPr>
        <p:spPr>
          <a:xfrm>
            <a:off x="0" y="0"/>
            <a:ext cx="3840600" cy="6858000"/>
          </a:xfrm>
          <a:prstGeom prst="rect">
            <a:avLst/>
          </a:prstGeom>
          <a:solidFill>
            <a:srgbClr val="0B2559"/>
          </a:solidFill>
          <a:ln cap="flat" cmpd="sng" w="12700">
            <a:solidFill>
              <a:srgbClr val="0B2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h5adcd0903d5cb179_3_0"/>
          <p:cNvSpPr/>
          <p:nvPr/>
        </p:nvSpPr>
        <p:spPr>
          <a:xfrm>
            <a:off x="457200" y="548640"/>
            <a:ext cx="301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E7F1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BFE7F1"/>
                </a:solidFill>
                <a:latin typeface="Arial"/>
                <a:ea typeface="Arial"/>
                <a:cs typeface="Arial"/>
                <a:sym typeface="Arial"/>
              </a:rPr>
              <a:t>CAPSTONE · GRUPO 8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h5adcd0903d5cb179_3_0"/>
          <p:cNvSpPr/>
          <p:nvPr/>
        </p:nvSpPr>
        <p:spPr>
          <a:xfrm>
            <a:off x="457200" y="1417320"/>
            <a:ext cx="2926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None/>
            </a:pPr>
            <a:r>
              <a:rPr b="1" lang="en-US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Quality360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h5adcd0903d5cb179_3_0"/>
          <p:cNvSpPr/>
          <p:nvPr/>
        </p:nvSpPr>
        <p:spPr>
          <a:xfrm>
            <a:off x="457200" y="2130552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de avance y seguimiento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h5adcd0903d5cb179_3_0"/>
          <p:cNvSpPr/>
          <p:nvPr/>
        </p:nvSpPr>
        <p:spPr>
          <a:xfrm>
            <a:off x="457200" y="2606040"/>
            <a:ext cx="2743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BF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DCEBFA"/>
                </a:solidFill>
              </a:rPr>
              <a:t>Valor agregado, Roadmap semanal, entregables por Sprint y demostración funcional de Quality360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h5adcd0903d5cb179_3_0"/>
          <p:cNvSpPr/>
          <p:nvPr/>
        </p:nvSpPr>
        <p:spPr>
          <a:xfrm>
            <a:off x="457200" y="3703320"/>
            <a:ext cx="1554600" cy="320100"/>
          </a:xfrm>
          <a:prstGeom prst="roundRect">
            <a:avLst>
              <a:gd fmla="val 22857" name="adj"/>
            </a:avLst>
          </a:prstGeom>
          <a:solidFill>
            <a:srgbClr val="176CCB"/>
          </a:solidFill>
          <a:ln cap="flat" cmpd="sng" w="12700">
            <a:solidFill>
              <a:srgbClr val="176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h5adcd0903d5cb179_3_0"/>
          <p:cNvSpPr/>
          <p:nvPr/>
        </p:nvSpPr>
        <p:spPr>
          <a:xfrm>
            <a:off x="457200" y="3753612"/>
            <a:ext cx="1554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CORTE </a:t>
            </a:r>
            <a:r>
              <a:rPr b="1" lang="en-US" sz="820">
                <a:solidFill>
                  <a:srgbClr val="FFFFFF"/>
                </a:solidFill>
              </a:rPr>
              <a:t>25/</a:t>
            </a:r>
            <a:r>
              <a:rPr b="1" lang="en-US" sz="8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/09/2026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h5adcd0903d5cb179_3_0"/>
          <p:cNvSpPr/>
          <p:nvPr/>
        </p:nvSpPr>
        <p:spPr>
          <a:xfrm>
            <a:off x="457200" y="544068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B93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6B93B"/>
                </a:solidFill>
                <a:latin typeface="Arial"/>
                <a:ea typeface="Arial"/>
                <a:cs typeface="Arial"/>
                <a:sym typeface="Arial"/>
              </a:rPr>
              <a:t>José Seguel · Jonathan Choque · Matías Araos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26" name="Google Shape;26;h5adcd0903d5cb179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960120"/>
            <a:ext cx="4389119" cy="4389119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h5adcd0903d5cb179_3_0"/>
          <p:cNvSpPr/>
          <p:nvPr/>
        </p:nvSpPr>
        <p:spPr>
          <a:xfrm>
            <a:off x="4800600" y="5715000"/>
            <a:ext cx="539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6CC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6CCB"/>
                </a:solidFill>
                <a:latin typeface="Arial"/>
                <a:ea typeface="Arial"/>
                <a:cs typeface="Arial"/>
                <a:sym typeface="Arial"/>
              </a:rPr>
              <a:t>CALIDAD · VISIBILIDAD · ANÁLISIS · IMPACTO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h5adcd0903d5cb179_3_0"/>
          <p:cNvSpPr/>
          <p:nvPr/>
        </p:nvSpPr>
        <p:spPr>
          <a:xfrm>
            <a:off x="11631168" y="6473952"/>
            <a:ext cx="228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h5adcd0903d5cb179_4_8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20B8B4"/>
          </a:solidFill>
          <a:ln cap="flat" cmpd="sng" w="12700">
            <a:solidFill>
              <a:srgbClr val="20B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h5adcd0903d5cb179_4_8"/>
          <p:cNvSpPr/>
          <p:nvPr/>
        </p:nvSpPr>
        <p:spPr>
          <a:xfrm>
            <a:off x="502920" y="6492240"/>
            <a:ext cx="3657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36" name="Google Shape;36;h5adcd0903d5cb179_4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246888"/>
            <a:ext cx="566927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h5adcd0903d5cb179_4_8"/>
          <p:cNvSpPr/>
          <p:nvPr/>
        </p:nvSpPr>
        <p:spPr>
          <a:xfrm>
            <a:off x="530352" y="420624"/>
            <a:ext cx="9784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0B2559"/>
                </a:solidFill>
                <a:latin typeface="Play"/>
                <a:ea typeface="Play"/>
                <a:cs typeface="Play"/>
                <a:sym typeface="Play"/>
              </a:rPr>
              <a:t>Contenidos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h5adcd0903d5cb179_4_8"/>
          <p:cNvSpPr/>
          <p:nvPr/>
        </p:nvSpPr>
        <p:spPr>
          <a:xfrm>
            <a:off x="11631168" y="6473952"/>
            <a:ext cx="228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700">
                <a:solidFill>
                  <a:srgbClr val="5D6F8B"/>
                </a:solidFill>
              </a:rPr>
              <a:t>2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h5adcd0903d5cb179_4_8"/>
          <p:cNvSpPr/>
          <p:nvPr/>
        </p:nvSpPr>
        <p:spPr>
          <a:xfrm>
            <a:off x="5943538" y="1210508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h5adcd0903d5cb179_4_8"/>
          <p:cNvSpPr/>
          <p:nvPr/>
        </p:nvSpPr>
        <p:spPr>
          <a:xfrm>
            <a:off x="6172138" y="1439108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h5adcd0903d5cb179_4_8"/>
          <p:cNvSpPr/>
          <p:nvPr/>
        </p:nvSpPr>
        <p:spPr>
          <a:xfrm>
            <a:off x="6172138" y="1457395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h5adcd0903d5cb179_4_8"/>
          <p:cNvSpPr/>
          <p:nvPr/>
        </p:nvSpPr>
        <p:spPr>
          <a:xfrm>
            <a:off x="6720777" y="1375100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2559"/>
                </a:solidFill>
              </a:rPr>
              <a:t>Valor agregado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h5adcd0903d5cb179_4_8"/>
          <p:cNvSpPr/>
          <p:nvPr/>
        </p:nvSpPr>
        <p:spPr>
          <a:xfrm>
            <a:off x="6720777" y="1649420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5D6F8B"/>
                </a:solidFill>
              </a:rPr>
              <a:t>Propuesta</a:t>
            </a:r>
            <a:r>
              <a:rPr lang="en-US" sz="960">
                <a:solidFill>
                  <a:srgbClr val="5D6F8B"/>
                </a:solidFill>
              </a:rPr>
              <a:t> de valor al negocio 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h5adcd0903d5cb179_4_8"/>
          <p:cNvSpPr/>
          <p:nvPr/>
        </p:nvSpPr>
        <p:spPr>
          <a:xfrm>
            <a:off x="530358" y="2460295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h5adcd0903d5cb179_4_8"/>
          <p:cNvSpPr/>
          <p:nvPr/>
        </p:nvSpPr>
        <p:spPr>
          <a:xfrm>
            <a:off x="758958" y="2688895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h5adcd0903d5cb179_4_8"/>
          <p:cNvSpPr/>
          <p:nvPr/>
        </p:nvSpPr>
        <p:spPr>
          <a:xfrm>
            <a:off x="758958" y="2707183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h5adcd0903d5cb179_4_8"/>
          <p:cNvSpPr/>
          <p:nvPr/>
        </p:nvSpPr>
        <p:spPr>
          <a:xfrm>
            <a:off x="1307597" y="2624887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2559"/>
                </a:solidFill>
              </a:rPr>
              <a:t>Roadmap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h5adcd0903d5cb179_4_8"/>
          <p:cNvSpPr/>
          <p:nvPr/>
        </p:nvSpPr>
        <p:spPr>
          <a:xfrm>
            <a:off x="1307597" y="2899207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5D6F8B"/>
                </a:solidFill>
              </a:rPr>
              <a:t>Seguimiento semanal y dettale de cada Sprint 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h5adcd0903d5cb179_4_8"/>
          <p:cNvSpPr/>
          <p:nvPr/>
        </p:nvSpPr>
        <p:spPr>
          <a:xfrm>
            <a:off x="5943538" y="2486700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h5adcd0903d5cb179_4_8"/>
          <p:cNvSpPr/>
          <p:nvPr/>
        </p:nvSpPr>
        <p:spPr>
          <a:xfrm>
            <a:off x="6172138" y="2715300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h5adcd0903d5cb179_4_8"/>
          <p:cNvSpPr/>
          <p:nvPr/>
        </p:nvSpPr>
        <p:spPr>
          <a:xfrm>
            <a:off x="6172138" y="2733588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h5adcd0903d5cb179_4_8"/>
          <p:cNvSpPr/>
          <p:nvPr/>
        </p:nvSpPr>
        <p:spPr>
          <a:xfrm>
            <a:off x="6720777" y="2651292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2559"/>
                </a:solidFill>
              </a:rPr>
              <a:t>Roadmap agil por Sprint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h5adcd0903d5cb179_4_8"/>
          <p:cNvSpPr/>
          <p:nvPr/>
        </p:nvSpPr>
        <p:spPr>
          <a:xfrm>
            <a:off x="6720777" y="2925612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5D6F8B"/>
                </a:solidFill>
              </a:rPr>
              <a:t>Actividades y entregables por Sprint 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h5adcd0903d5cb179_4_8"/>
          <p:cNvSpPr/>
          <p:nvPr/>
        </p:nvSpPr>
        <p:spPr>
          <a:xfrm>
            <a:off x="6059008" y="3537200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h5adcd0903d5cb179_4_8"/>
          <p:cNvSpPr/>
          <p:nvPr/>
        </p:nvSpPr>
        <p:spPr>
          <a:xfrm>
            <a:off x="6287608" y="3765800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h5adcd0903d5cb179_4_8"/>
          <p:cNvSpPr/>
          <p:nvPr/>
        </p:nvSpPr>
        <p:spPr>
          <a:xfrm>
            <a:off x="6287608" y="3784088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h5adcd0903d5cb179_4_8"/>
          <p:cNvSpPr/>
          <p:nvPr/>
        </p:nvSpPr>
        <p:spPr>
          <a:xfrm>
            <a:off x="6836248" y="3701792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2559"/>
                </a:solidFill>
              </a:rPr>
              <a:t>Burndown</a:t>
            </a:r>
            <a:r>
              <a:rPr b="1" lang="en-US" sz="1250">
                <a:solidFill>
                  <a:srgbClr val="0B2559"/>
                </a:solidFill>
              </a:rPr>
              <a:t> y estado actual del proyecto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h5adcd0903d5cb179_4_8"/>
          <p:cNvSpPr/>
          <p:nvPr/>
        </p:nvSpPr>
        <p:spPr>
          <a:xfrm>
            <a:off x="6836248" y="3976112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5D6F8B"/>
                </a:solidFill>
              </a:rPr>
              <a:t>Seguimiento del sprint 1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h5adcd0903d5cb179_4_8"/>
          <p:cNvSpPr/>
          <p:nvPr/>
        </p:nvSpPr>
        <p:spPr>
          <a:xfrm>
            <a:off x="530338" y="1210508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h5adcd0903d5cb179_4_8"/>
          <p:cNvSpPr/>
          <p:nvPr/>
        </p:nvSpPr>
        <p:spPr>
          <a:xfrm>
            <a:off x="758938" y="1439108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h5adcd0903d5cb179_4_8"/>
          <p:cNvSpPr/>
          <p:nvPr/>
        </p:nvSpPr>
        <p:spPr>
          <a:xfrm>
            <a:off x="758938" y="1457395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h5adcd0903d5cb179_4_8"/>
          <p:cNvSpPr/>
          <p:nvPr/>
        </p:nvSpPr>
        <p:spPr>
          <a:xfrm>
            <a:off x="1307578" y="1375100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2559"/>
                </a:solidFill>
              </a:rPr>
              <a:t>Cliente Objetivo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h5adcd0903d5cb179_4_8"/>
          <p:cNvSpPr/>
          <p:nvPr/>
        </p:nvSpPr>
        <p:spPr>
          <a:xfrm>
            <a:off x="1307578" y="1649420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5D6F8B"/>
                </a:solidFill>
              </a:rPr>
              <a:t>Identificación</a:t>
            </a:r>
            <a:r>
              <a:rPr lang="en-US" sz="960">
                <a:solidFill>
                  <a:srgbClr val="5D6F8B"/>
                </a:solidFill>
              </a:rPr>
              <a:t> del cliente,usuarios clave y necesidades.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h5adcd0903d5cb179_4_8"/>
          <p:cNvSpPr/>
          <p:nvPr/>
        </p:nvSpPr>
        <p:spPr>
          <a:xfrm>
            <a:off x="3403538" y="4841025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h5adcd0903d5cb179_4_8"/>
          <p:cNvSpPr/>
          <p:nvPr/>
        </p:nvSpPr>
        <p:spPr>
          <a:xfrm>
            <a:off x="3632138" y="5069625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h5adcd0903d5cb179_4_8"/>
          <p:cNvSpPr/>
          <p:nvPr/>
        </p:nvSpPr>
        <p:spPr>
          <a:xfrm>
            <a:off x="3632138" y="5087913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h5adcd0903d5cb179_4_8"/>
          <p:cNvSpPr/>
          <p:nvPr/>
        </p:nvSpPr>
        <p:spPr>
          <a:xfrm>
            <a:off x="4180778" y="5005617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2559"/>
                </a:solidFill>
              </a:rPr>
              <a:t>Conclusiones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h5adcd0903d5cb179_4_8"/>
          <p:cNvSpPr/>
          <p:nvPr/>
        </p:nvSpPr>
        <p:spPr>
          <a:xfrm>
            <a:off x="4180778" y="5279937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5D6F8B"/>
                </a:solidFill>
              </a:rPr>
              <a:t>Valor del proyecto,avances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h5adcd0903d5cb179_4_8"/>
          <p:cNvSpPr/>
          <p:nvPr/>
        </p:nvSpPr>
        <p:spPr>
          <a:xfrm>
            <a:off x="530358" y="3540788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h5adcd0903d5cb179_4_8"/>
          <p:cNvSpPr/>
          <p:nvPr/>
        </p:nvSpPr>
        <p:spPr>
          <a:xfrm>
            <a:off x="758958" y="3769388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h5adcd0903d5cb179_4_8"/>
          <p:cNvSpPr/>
          <p:nvPr/>
        </p:nvSpPr>
        <p:spPr>
          <a:xfrm>
            <a:off x="758958" y="3787676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h5adcd0903d5cb179_4_8"/>
          <p:cNvSpPr/>
          <p:nvPr/>
        </p:nvSpPr>
        <p:spPr>
          <a:xfrm>
            <a:off x="1307597" y="3705380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Prototipo funcional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h5adcd0903d5cb179_4_8"/>
          <p:cNvSpPr/>
          <p:nvPr/>
        </p:nvSpPr>
        <p:spPr>
          <a:xfrm>
            <a:off x="1307597" y="3979700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5D6F8B"/>
                </a:solidFill>
              </a:rPr>
              <a:t>Prototipo desplegado en Vercel con acceso por rol 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5adcd0903d5cb179_4_83"/>
          <p:cNvSpPr/>
          <p:nvPr/>
        </p:nvSpPr>
        <p:spPr>
          <a:xfrm>
            <a:off x="0" y="0"/>
            <a:ext cx="12192000" cy="73200"/>
          </a:xfrm>
          <a:prstGeom prst="rect">
            <a:avLst/>
          </a:prstGeom>
          <a:solidFill>
            <a:srgbClr val="18BDB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ogo_corporativo_quality360_en_azul_y_turquesa.png" id="80" name="Google Shape;80;h5adcd0903d5cb179_4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4755" y="164592"/>
            <a:ext cx="1142999" cy="114299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h5adcd0903d5cb179_4_83"/>
          <p:cNvSpPr/>
          <p:nvPr/>
        </p:nvSpPr>
        <p:spPr>
          <a:xfrm>
            <a:off x="502933" y="438912"/>
            <a:ext cx="7041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061B49"/>
                </a:solidFill>
                <a:latin typeface="Play"/>
                <a:ea typeface="Play"/>
                <a:cs typeface="Play"/>
                <a:sym typeface="Play"/>
              </a:rPr>
              <a:t>Cliente objetivo de Quality360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h5adcd0903d5cb179_4_83"/>
          <p:cNvSpPr/>
          <p:nvPr/>
        </p:nvSpPr>
        <p:spPr>
          <a:xfrm>
            <a:off x="530366" y="941832"/>
            <a:ext cx="813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Identificación del cliente, usuarios clave y necesidad que resuelve la plataforma.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h5adcd0903d5cb179_4_83"/>
          <p:cNvCxnSpPr/>
          <p:nvPr/>
        </p:nvCxnSpPr>
        <p:spPr>
          <a:xfrm>
            <a:off x="530366" y="1325880"/>
            <a:ext cx="1005900" cy="0"/>
          </a:xfrm>
          <a:prstGeom prst="straightConnector1">
            <a:avLst/>
          </a:prstGeom>
          <a:noFill/>
          <a:ln cap="flat" cmpd="sng" w="38100">
            <a:solidFill>
              <a:srgbClr val="18BD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h5adcd0903d5cb179_4_83"/>
          <p:cNvSpPr/>
          <p:nvPr/>
        </p:nvSpPr>
        <p:spPr>
          <a:xfrm>
            <a:off x="502933" y="1600200"/>
            <a:ext cx="3703200" cy="352050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CFE1F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h5adcd0903d5cb179_4_83"/>
          <p:cNvSpPr/>
          <p:nvPr/>
        </p:nvSpPr>
        <p:spPr>
          <a:xfrm>
            <a:off x="777261" y="1874520"/>
            <a:ext cx="1691700" cy="320100"/>
          </a:xfrm>
          <a:prstGeom prst="roundRect">
            <a:avLst>
              <a:gd fmla="val 22857" name="adj"/>
            </a:avLst>
          </a:prstGeom>
          <a:solidFill>
            <a:srgbClr val="1266D6"/>
          </a:solidFill>
          <a:ln cap="flat" cmpd="sng" w="12700">
            <a:solidFill>
              <a:srgbClr val="126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h5adcd0903d5cb179_4_83"/>
          <p:cNvSpPr/>
          <p:nvPr/>
        </p:nvSpPr>
        <p:spPr>
          <a:xfrm>
            <a:off x="777261" y="1883664"/>
            <a:ext cx="1691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 OBJETIVO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h5adcd0903d5cb179_4_83"/>
          <p:cNvSpPr/>
          <p:nvPr/>
        </p:nvSpPr>
        <p:spPr>
          <a:xfrm>
            <a:off x="777261" y="2359152"/>
            <a:ext cx="567000" cy="567000"/>
          </a:xfrm>
          <a:prstGeom prst="ellipse">
            <a:avLst/>
          </a:prstGeom>
          <a:solidFill>
            <a:srgbClr val="EEF6FF"/>
          </a:solidFill>
          <a:ln cap="flat" cmpd="sng" w="12700">
            <a:solidFill>
              <a:srgbClr val="EEF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h5adcd0903d5cb179_4_83"/>
          <p:cNvSpPr/>
          <p:nvPr/>
        </p:nvSpPr>
        <p:spPr>
          <a:xfrm>
            <a:off x="777261" y="2368296"/>
            <a:ext cx="56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66D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266D6"/>
                </a:solidFill>
                <a:latin typeface="Arial"/>
                <a:ea typeface="Arial"/>
                <a:cs typeface="Arial"/>
                <a:sym typeface="Arial"/>
              </a:rPr>
              <a:t>🏢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h5adcd0903d5cb179_4_83"/>
          <p:cNvSpPr/>
          <p:nvPr/>
        </p:nvSpPr>
        <p:spPr>
          <a:xfrm>
            <a:off x="1444791" y="2331720"/>
            <a:ext cx="239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Área de Aseguramiento de Calidad (QA)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h5adcd0903d5cb179_4_83"/>
          <p:cNvSpPr/>
          <p:nvPr/>
        </p:nvSpPr>
        <p:spPr>
          <a:xfrm>
            <a:off x="777261" y="2971800"/>
            <a:ext cx="2926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Organización del sector financiero con equipos ágiles de certificación de software.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h5adcd0903d5cb179_4_83"/>
          <p:cNvCxnSpPr/>
          <p:nvPr/>
        </p:nvCxnSpPr>
        <p:spPr>
          <a:xfrm>
            <a:off x="777261" y="3593592"/>
            <a:ext cx="2971800" cy="0"/>
          </a:xfrm>
          <a:prstGeom prst="straightConnector1">
            <a:avLst/>
          </a:prstGeom>
          <a:noFill/>
          <a:ln cap="flat" cmpd="sng" w="12700">
            <a:solidFill>
              <a:srgbClr val="DDEA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h5adcd0903d5cb179_4_83"/>
          <p:cNvSpPr/>
          <p:nvPr/>
        </p:nvSpPr>
        <p:spPr>
          <a:xfrm>
            <a:off x="777261" y="3767328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Dueño de la necesidad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h5adcd0903d5cb179_4_83"/>
          <p:cNvSpPr/>
          <p:nvPr/>
        </p:nvSpPr>
        <p:spPr>
          <a:xfrm>
            <a:off x="777261" y="4005072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Líder QA / Quality Engineer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h5adcd0903d5cb179_4_83"/>
          <p:cNvSpPr/>
          <p:nvPr/>
        </p:nvSpPr>
        <p:spPr>
          <a:xfrm>
            <a:off x="4480679" y="1600200"/>
            <a:ext cx="3383400" cy="3520500"/>
          </a:xfrm>
          <a:prstGeom prst="roundRect">
            <a:avLst>
              <a:gd fmla="val 3243" name="adj"/>
            </a:avLst>
          </a:prstGeom>
          <a:solidFill>
            <a:srgbClr val="E9FBF9"/>
          </a:solidFill>
          <a:ln cap="flat" cmpd="sng" w="12700">
            <a:solidFill>
              <a:srgbClr val="A7E7E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h5adcd0903d5cb179_4_83"/>
          <p:cNvSpPr/>
          <p:nvPr/>
        </p:nvSpPr>
        <p:spPr>
          <a:xfrm>
            <a:off x="4755007" y="1874520"/>
            <a:ext cx="1508700" cy="320100"/>
          </a:xfrm>
          <a:prstGeom prst="roundRect">
            <a:avLst>
              <a:gd fmla="val 22857" name="adj"/>
            </a:avLst>
          </a:prstGeom>
          <a:solidFill>
            <a:srgbClr val="18BDB7"/>
          </a:solidFill>
          <a:ln cap="flat" cmpd="sng" w="12700">
            <a:solidFill>
              <a:srgbClr val="18BD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h5adcd0903d5cb179_4_83"/>
          <p:cNvSpPr/>
          <p:nvPr/>
        </p:nvSpPr>
        <p:spPr>
          <a:xfrm>
            <a:off x="4755007" y="1883664"/>
            <a:ext cx="1508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USUARIOS CLAVE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h5adcd0903d5cb179_4_83"/>
          <p:cNvSpPr/>
          <p:nvPr/>
        </p:nvSpPr>
        <p:spPr>
          <a:xfrm>
            <a:off x="4782439" y="2395728"/>
            <a:ext cx="658500" cy="658500"/>
          </a:xfrm>
          <a:prstGeom prst="ellipse">
            <a:avLst/>
          </a:prstGeom>
          <a:solidFill>
            <a:srgbClr val="061B49"/>
          </a:solidFill>
          <a:ln cap="flat" cmpd="sng" w="12700">
            <a:solidFill>
              <a:srgbClr val="061B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h5adcd0903d5cb179_4_83"/>
          <p:cNvSpPr/>
          <p:nvPr/>
        </p:nvSpPr>
        <p:spPr>
          <a:xfrm>
            <a:off x="4782439" y="2404872"/>
            <a:ext cx="658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h5adcd0903d5cb179_4_83"/>
          <p:cNvSpPr/>
          <p:nvPr/>
        </p:nvSpPr>
        <p:spPr>
          <a:xfrm>
            <a:off x="5559700" y="2386584"/>
            <a:ext cx="166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 Engineer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h5adcd0903d5cb179_4_83"/>
          <p:cNvSpPr/>
          <p:nvPr/>
        </p:nvSpPr>
        <p:spPr>
          <a:xfrm>
            <a:off x="5559700" y="2724912"/>
            <a:ext cx="169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Supervisa avance, riesgos, cumplimiento y decisiones operativas.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h5adcd0903d5cb179_4_83"/>
          <p:cNvSpPr/>
          <p:nvPr/>
        </p:nvSpPr>
        <p:spPr>
          <a:xfrm>
            <a:off x="5532267" y="3337560"/>
            <a:ext cx="292500" cy="228600"/>
          </a:xfrm>
          <a:prstGeom prst="chevron">
            <a:avLst>
              <a:gd fmla="val 50000" name="adj"/>
            </a:avLst>
          </a:prstGeom>
          <a:solidFill>
            <a:srgbClr val="18BDB7"/>
          </a:solidFill>
          <a:ln cap="flat" cmpd="sng" w="12700">
            <a:solidFill>
              <a:srgbClr val="18BD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h5adcd0903d5cb179_4_83"/>
          <p:cNvSpPr/>
          <p:nvPr/>
        </p:nvSpPr>
        <p:spPr>
          <a:xfrm>
            <a:off x="4782439" y="3703320"/>
            <a:ext cx="658500" cy="658500"/>
          </a:xfrm>
          <a:prstGeom prst="ellipse">
            <a:avLst/>
          </a:prstGeom>
          <a:solidFill>
            <a:srgbClr val="1266D6"/>
          </a:solidFill>
          <a:ln cap="flat" cmpd="sng" w="12700">
            <a:solidFill>
              <a:srgbClr val="126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h5adcd0903d5cb179_4_83"/>
          <p:cNvSpPr/>
          <p:nvPr/>
        </p:nvSpPr>
        <p:spPr>
          <a:xfrm>
            <a:off x="4782439" y="3712464"/>
            <a:ext cx="658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h5adcd0903d5cb179_4_83"/>
          <p:cNvSpPr/>
          <p:nvPr/>
        </p:nvSpPr>
        <p:spPr>
          <a:xfrm>
            <a:off x="5559700" y="3703320"/>
            <a:ext cx="166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Analista QA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h5adcd0903d5cb179_4_83"/>
          <p:cNvSpPr/>
          <p:nvPr/>
        </p:nvSpPr>
        <p:spPr>
          <a:xfrm>
            <a:off x="5559700" y="4041648"/>
            <a:ext cx="169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Actualiza estado de HU, checklist y evidencias de certificación.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h5adcd0903d5cb179_4_83"/>
          <p:cNvSpPr/>
          <p:nvPr/>
        </p:nvSpPr>
        <p:spPr>
          <a:xfrm>
            <a:off x="8138377" y="1600200"/>
            <a:ext cx="3520500" cy="352050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CFE1F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h5adcd0903d5cb179_4_83"/>
          <p:cNvSpPr/>
          <p:nvPr/>
        </p:nvSpPr>
        <p:spPr>
          <a:xfrm>
            <a:off x="8412704" y="1874520"/>
            <a:ext cx="1920300" cy="320100"/>
          </a:xfrm>
          <a:prstGeom prst="roundRect">
            <a:avLst>
              <a:gd fmla="val 22857" name="adj"/>
            </a:avLst>
          </a:prstGeom>
          <a:solidFill>
            <a:srgbClr val="FFB547"/>
          </a:solidFill>
          <a:ln cap="flat" cmpd="sng" w="12700">
            <a:solidFill>
              <a:srgbClr val="FFB5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h5adcd0903d5cb179_4_83"/>
          <p:cNvSpPr/>
          <p:nvPr/>
        </p:nvSpPr>
        <p:spPr>
          <a:xfrm>
            <a:off x="8412704" y="1883664"/>
            <a:ext cx="1920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NECESIDAD DEL CLIENTE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h5adcd0903d5cb179_4_83"/>
          <p:cNvSpPr/>
          <p:nvPr/>
        </p:nvSpPr>
        <p:spPr>
          <a:xfrm>
            <a:off x="8412704" y="2313432"/>
            <a:ext cx="278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De información dispersa a una visión integrada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h5adcd0903d5cb179_4_83"/>
          <p:cNvSpPr/>
          <p:nvPr/>
        </p:nvSpPr>
        <p:spPr>
          <a:xfrm>
            <a:off x="8412704" y="2944368"/>
            <a:ext cx="29262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Consolidar HU, responsables y estados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Visualizar riesgos e impedimentos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Controlar cumplimiento QA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Priorizar acciones a tiempo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h5adcd0903d5cb179_4_83"/>
          <p:cNvSpPr/>
          <p:nvPr/>
        </p:nvSpPr>
        <p:spPr>
          <a:xfrm>
            <a:off x="8412704" y="4160520"/>
            <a:ext cx="2834700" cy="530400"/>
          </a:xfrm>
          <a:prstGeom prst="roundRect">
            <a:avLst>
              <a:gd fmla="val 13793" name="adj"/>
            </a:avLst>
          </a:prstGeom>
          <a:solidFill>
            <a:srgbClr val="EEF6FF"/>
          </a:solidFill>
          <a:ln cap="flat" cmpd="sng" w="12700">
            <a:solidFill>
              <a:srgbClr val="D6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h5adcd0903d5cb179_4_83"/>
          <p:cNvSpPr/>
          <p:nvPr/>
        </p:nvSpPr>
        <p:spPr>
          <a:xfrm>
            <a:off x="8549868" y="4215384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170"/>
              <a:buFont typeface="Arial"/>
              <a:buNone/>
            </a:pPr>
            <a:r>
              <a:rPr b="1" i="0" lang="en-US" sz="117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Quality360 entrega visibilidad, trazabilidad y KPI para la gestión QA.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h5adcd0903d5cb179_4_83"/>
          <p:cNvSpPr/>
          <p:nvPr/>
        </p:nvSpPr>
        <p:spPr>
          <a:xfrm>
            <a:off x="517958" y="5486573"/>
            <a:ext cx="11156100" cy="914400"/>
          </a:xfrm>
          <a:prstGeom prst="roundRect">
            <a:avLst>
              <a:gd fmla="val 12000" name="adj"/>
            </a:avLst>
          </a:prstGeom>
          <a:solidFill>
            <a:srgbClr val="EEF6FF"/>
          </a:solidFill>
          <a:ln cap="flat" cmpd="sng" w="12700">
            <a:solidFill>
              <a:srgbClr val="CFE1F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h5adcd0903d5cb179_4_83"/>
          <p:cNvSpPr/>
          <p:nvPr/>
        </p:nvSpPr>
        <p:spPr>
          <a:xfrm>
            <a:off x="795549" y="5559552"/>
            <a:ext cx="1600200" cy="292500"/>
          </a:xfrm>
          <a:prstGeom prst="roundRect">
            <a:avLst>
              <a:gd fmla="val 25000" name="adj"/>
            </a:avLst>
          </a:prstGeom>
          <a:solidFill>
            <a:srgbClr val="061B49"/>
          </a:solidFill>
          <a:ln cap="flat" cmpd="sng" w="12700">
            <a:solidFill>
              <a:srgbClr val="061B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h5adcd0903d5cb179_4_83"/>
          <p:cNvSpPr/>
          <p:nvPr/>
        </p:nvSpPr>
        <p:spPr>
          <a:xfrm>
            <a:off x="795549" y="5568696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TRAZABILIDAD DE VALOR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h5adcd0903d5cb179_4_83"/>
          <p:cNvSpPr/>
          <p:nvPr/>
        </p:nvSpPr>
        <p:spPr>
          <a:xfrm>
            <a:off x="841270" y="5888736"/>
            <a:ext cx="429900" cy="429900"/>
          </a:xfrm>
          <a:prstGeom prst="ellipse">
            <a:avLst/>
          </a:prstGeom>
          <a:solidFill>
            <a:srgbClr val="061B49"/>
          </a:solidFill>
          <a:ln cap="flat" cmpd="sng" w="12700">
            <a:solidFill>
              <a:srgbClr val="061B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h5adcd0903d5cb179_4_83"/>
          <p:cNvSpPr/>
          <p:nvPr/>
        </p:nvSpPr>
        <p:spPr>
          <a:xfrm>
            <a:off x="84127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🏢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h5adcd0903d5cb179_4_83"/>
          <p:cNvSpPr/>
          <p:nvPr/>
        </p:nvSpPr>
        <p:spPr>
          <a:xfrm>
            <a:off x="1353348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h5adcd0903d5cb179_4_83"/>
          <p:cNvCxnSpPr/>
          <p:nvPr/>
        </p:nvCxnSpPr>
        <p:spPr>
          <a:xfrm>
            <a:off x="2532956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h5adcd0903d5cb179_4_83"/>
          <p:cNvSpPr/>
          <p:nvPr/>
        </p:nvSpPr>
        <p:spPr>
          <a:xfrm>
            <a:off x="2898725" y="5888736"/>
            <a:ext cx="429900" cy="429900"/>
          </a:xfrm>
          <a:prstGeom prst="ellipse">
            <a:avLst/>
          </a:prstGeom>
          <a:solidFill>
            <a:srgbClr val="FFB547"/>
          </a:solidFill>
          <a:ln cap="flat" cmpd="sng" w="12700">
            <a:solidFill>
              <a:srgbClr val="FFB5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h5adcd0903d5cb179_4_83"/>
          <p:cNvSpPr/>
          <p:nvPr/>
        </p:nvSpPr>
        <p:spPr>
          <a:xfrm>
            <a:off x="2898725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h5adcd0903d5cb179_4_83"/>
          <p:cNvSpPr/>
          <p:nvPr/>
        </p:nvSpPr>
        <p:spPr>
          <a:xfrm>
            <a:off x="3410803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Necesidad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operativa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h5adcd0903d5cb179_4_83"/>
          <p:cNvCxnSpPr/>
          <p:nvPr/>
        </p:nvCxnSpPr>
        <p:spPr>
          <a:xfrm>
            <a:off x="4590410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" name="Google Shape;124;h5adcd0903d5cb179_4_83"/>
          <p:cNvSpPr/>
          <p:nvPr/>
        </p:nvSpPr>
        <p:spPr>
          <a:xfrm>
            <a:off x="4956180" y="5888736"/>
            <a:ext cx="429900" cy="429900"/>
          </a:xfrm>
          <a:prstGeom prst="ellipse">
            <a:avLst/>
          </a:prstGeom>
          <a:solidFill>
            <a:srgbClr val="18BDB7"/>
          </a:solidFill>
          <a:ln cap="flat" cmpd="sng" w="12700">
            <a:solidFill>
              <a:srgbClr val="18BD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h5adcd0903d5cb179_4_83"/>
          <p:cNvSpPr/>
          <p:nvPr/>
        </p:nvSpPr>
        <p:spPr>
          <a:xfrm>
            <a:off x="495618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h5adcd0903d5cb179_4_83"/>
          <p:cNvSpPr/>
          <p:nvPr/>
        </p:nvSpPr>
        <p:spPr>
          <a:xfrm>
            <a:off x="5468258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Quality360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plataforma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h5adcd0903d5cb179_4_83"/>
          <p:cNvCxnSpPr/>
          <p:nvPr/>
        </p:nvCxnSpPr>
        <p:spPr>
          <a:xfrm>
            <a:off x="6647865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" name="Google Shape;128;h5adcd0903d5cb179_4_83"/>
          <p:cNvSpPr/>
          <p:nvPr/>
        </p:nvSpPr>
        <p:spPr>
          <a:xfrm>
            <a:off x="7013635" y="5888736"/>
            <a:ext cx="429900" cy="429900"/>
          </a:xfrm>
          <a:prstGeom prst="ellipse">
            <a:avLst/>
          </a:prstGeom>
          <a:solidFill>
            <a:srgbClr val="1266D6"/>
          </a:solidFill>
          <a:ln cap="flat" cmpd="sng" w="12700">
            <a:solidFill>
              <a:srgbClr val="126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h5adcd0903d5cb179_4_83"/>
          <p:cNvSpPr/>
          <p:nvPr/>
        </p:nvSpPr>
        <p:spPr>
          <a:xfrm>
            <a:off x="7013635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h5adcd0903d5cb179_4_83"/>
          <p:cNvSpPr/>
          <p:nvPr/>
        </p:nvSpPr>
        <p:spPr>
          <a:xfrm>
            <a:off x="7525713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KPI y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h5adcd0903d5cb179_4_83"/>
          <p:cNvCxnSpPr/>
          <p:nvPr/>
        </p:nvCxnSpPr>
        <p:spPr>
          <a:xfrm>
            <a:off x="8705320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2" name="Google Shape;132;h5adcd0903d5cb179_4_83"/>
          <p:cNvSpPr/>
          <p:nvPr/>
        </p:nvSpPr>
        <p:spPr>
          <a:xfrm>
            <a:off x="9071090" y="5888736"/>
            <a:ext cx="429900" cy="429900"/>
          </a:xfrm>
          <a:prstGeom prst="ellipse">
            <a:avLst/>
          </a:prstGeom>
          <a:solidFill>
            <a:srgbClr val="26B36B"/>
          </a:solidFill>
          <a:ln cap="flat" cmpd="sng" w="12700">
            <a:solidFill>
              <a:srgbClr val="26B36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h5adcd0903d5cb179_4_83"/>
          <p:cNvSpPr/>
          <p:nvPr/>
        </p:nvSpPr>
        <p:spPr>
          <a:xfrm>
            <a:off x="907109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h5adcd0903d5cb179_4_83"/>
          <p:cNvSpPr/>
          <p:nvPr/>
        </p:nvSpPr>
        <p:spPr>
          <a:xfrm>
            <a:off x="9583167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oportuna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h5adcd0903d5cb179_4_83"/>
          <p:cNvSpPr/>
          <p:nvPr/>
        </p:nvSpPr>
        <p:spPr>
          <a:xfrm>
            <a:off x="530366" y="6519672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h5adcd0903d5cb179_4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625"/>
            <a:ext cx="12191998" cy="663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C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20b37650884cf90a_0_9"/>
          <p:cNvSpPr/>
          <p:nvPr/>
        </p:nvSpPr>
        <p:spPr>
          <a:xfrm>
            <a:off x="0" y="0"/>
            <a:ext cx="12192000" cy="759000"/>
          </a:xfrm>
          <a:prstGeom prst="rect">
            <a:avLst/>
          </a:prstGeom>
          <a:solidFill>
            <a:srgbClr val="0E386B"/>
          </a:solidFill>
          <a:ln cap="flat" cmpd="sng" w="12700">
            <a:solidFill>
              <a:srgbClr val="0E38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h20b37650884cf90a_0_9"/>
          <p:cNvSpPr/>
          <p:nvPr/>
        </p:nvSpPr>
        <p:spPr>
          <a:xfrm>
            <a:off x="347481" y="91440"/>
            <a:ext cx="731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Roadmap de seguimiento semanal · Quality360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h20b37650884cf90a_0_9"/>
          <p:cNvSpPr/>
          <p:nvPr/>
        </p:nvSpPr>
        <p:spPr>
          <a:xfrm>
            <a:off x="356626" y="448056"/>
            <a:ext cx="8778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EAF6FF"/>
                </a:solidFill>
                <a:latin typeface="Arial"/>
                <a:ea typeface="Arial"/>
                <a:cs typeface="Arial"/>
                <a:sym typeface="Arial"/>
              </a:rPr>
              <a:t>Eje X: semanas restantes · Eje Y: Sprints · Corte 24/09/2026 · Comisión desde 27/11/2026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quality360_cropped.png" id="149" name="Google Shape;149;h20b37650884cf90a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2823" y="82296"/>
            <a:ext cx="512077" cy="45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h20b37650884cf90a_0_9"/>
          <p:cNvSpPr/>
          <p:nvPr/>
        </p:nvSpPr>
        <p:spPr>
          <a:xfrm>
            <a:off x="310904" y="932688"/>
            <a:ext cx="11576700" cy="347400"/>
          </a:xfrm>
          <a:prstGeom prst="roundRect">
            <a:avLst>
              <a:gd fmla="val 15789" name="adj"/>
            </a:avLst>
          </a:prstGeom>
          <a:solidFill>
            <a:srgbClr val="EAF8FF"/>
          </a:solidFill>
          <a:ln cap="flat" cmpd="sng" w="10150">
            <a:solidFill>
              <a:srgbClr val="B7D5E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h20b37650884cf90a_0_9"/>
          <p:cNvSpPr/>
          <p:nvPr/>
        </p:nvSpPr>
        <p:spPr>
          <a:xfrm>
            <a:off x="694963" y="1024128"/>
            <a:ext cx="640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386B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0E386B"/>
                </a:solidFill>
                <a:latin typeface="Arial"/>
                <a:ea typeface="Arial"/>
                <a:cs typeface="Arial"/>
                <a:sym typeface="Arial"/>
              </a:rPr>
              <a:t>Hito previo</a:t>
            </a:r>
            <a:endParaRPr b="0" i="0" sz="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h20b37650884cf90a_0_9"/>
          <p:cNvSpPr/>
          <p:nvPr/>
        </p:nvSpPr>
        <p:spPr>
          <a:xfrm>
            <a:off x="1490512" y="996696"/>
            <a:ext cx="62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415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25415F"/>
                </a:solidFill>
                <a:latin typeface="Arial"/>
                <a:ea typeface="Arial"/>
                <a:cs typeface="Arial"/>
                <a:sym typeface="Arial"/>
              </a:rPr>
              <a:t>Sprint 1 · 11–24 sep: 14/14 SP completados. Base técnica, prototipo Vercel, arquitectura y modelo validados.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h20b37650884cf90a_0_9"/>
          <p:cNvSpPr/>
          <p:nvPr/>
        </p:nvSpPr>
        <p:spPr>
          <a:xfrm>
            <a:off x="10771919" y="1014984"/>
            <a:ext cx="822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806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008060"/>
                </a:solidFill>
                <a:latin typeface="Arial"/>
                <a:ea typeface="Arial"/>
                <a:cs typeface="Arial"/>
                <a:sym typeface="Arial"/>
              </a:rPr>
              <a:t>✓ cierre 100%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h20b37650884cf90a_0_9"/>
          <p:cNvSpPr/>
          <p:nvPr/>
        </p:nvSpPr>
        <p:spPr>
          <a:xfrm>
            <a:off x="310904" y="1481328"/>
            <a:ext cx="10278300" cy="4325100"/>
          </a:xfrm>
          <a:prstGeom prst="roundRect">
            <a:avLst>
              <a:gd fmla="val 423" name="adj"/>
            </a:avLst>
          </a:prstGeom>
          <a:solidFill>
            <a:srgbClr val="FFFFFF"/>
          </a:solidFill>
          <a:ln cap="flat" cmpd="sng" w="10150">
            <a:solidFill>
              <a:srgbClr val="C9D9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h20b37650884cf90a_0_9"/>
          <p:cNvSpPr/>
          <p:nvPr/>
        </p:nvSpPr>
        <p:spPr>
          <a:xfrm>
            <a:off x="310904" y="1481328"/>
            <a:ext cx="2121300" cy="804600"/>
          </a:xfrm>
          <a:prstGeom prst="rect">
            <a:avLst/>
          </a:prstGeom>
          <a:solidFill>
            <a:srgbClr val="0E386B"/>
          </a:solidFill>
          <a:ln cap="flat" cmpd="sng" w="10150">
            <a:solidFill>
              <a:srgbClr val="0A2D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h20b37650884cf90a_0_9"/>
          <p:cNvSpPr/>
          <p:nvPr/>
        </p:nvSpPr>
        <p:spPr>
          <a:xfrm>
            <a:off x="2432369" y="1481328"/>
            <a:ext cx="1572900" cy="804600"/>
          </a:xfrm>
          <a:prstGeom prst="rect">
            <a:avLst/>
          </a:prstGeom>
          <a:solidFill>
            <a:srgbClr val="0E386B"/>
          </a:solidFill>
          <a:ln cap="flat" cmpd="sng" w="10150">
            <a:solidFill>
              <a:srgbClr val="0A2D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h20b37650884cf90a_0_9"/>
          <p:cNvSpPr/>
          <p:nvPr/>
        </p:nvSpPr>
        <p:spPr>
          <a:xfrm>
            <a:off x="356626" y="1728216"/>
            <a:ext cx="203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h20b37650884cf90a_0_9"/>
          <p:cNvSpPr/>
          <p:nvPr/>
        </p:nvSpPr>
        <p:spPr>
          <a:xfrm>
            <a:off x="2478090" y="1728216"/>
            <a:ext cx="1481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h20b37650884cf90a_0_9"/>
          <p:cNvSpPr/>
          <p:nvPr/>
        </p:nvSpPr>
        <p:spPr>
          <a:xfrm>
            <a:off x="4005179" y="1481328"/>
            <a:ext cx="658500" cy="384000"/>
          </a:xfrm>
          <a:prstGeom prst="rect">
            <a:avLst/>
          </a:prstGeom>
          <a:solidFill>
            <a:srgbClr val="0EA5A4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h20b37650884cf90a_0_9"/>
          <p:cNvSpPr/>
          <p:nvPr/>
        </p:nvSpPr>
        <p:spPr>
          <a:xfrm>
            <a:off x="4005179" y="1572768"/>
            <a:ext cx="658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SEP/OCT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h20b37650884cf90a_0_9"/>
          <p:cNvSpPr/>
          <p:nvPr/>
        </p:nvSpPr>
        <p:spPr>
          <a:xfrm>
            <a:off x="4663564" y="1481328"/>
            <a:ext cx="2633400" cy="384000"/>
          </a:xfrm>
          <a:prstGeom prst="rect">
            <a:avLst/>
          </a:prstGeom>
          <a:solidFill>
            <a:srgbClr val="0EA5A4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h20b37650884cf90a_0_9"/>
          <p:cNvSpPr/>
          <p:nvPr/>
        </p:nvSpPr>
        <p:spPr>
          <a:xfrm>
            <a:off x="4663564" y="1572768"/>
            <a:ext cx="2633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h20b37650884cf90a_0_9"/>
          <p:cNvSpPr/>
          <p:nvPr/>
        </p:nvSpPr>
        <p:spPr>
          <a:xfrm>
            <a:off x="7297107" y="1481328"/>
            <a:ext cx="2633400" cy="384000"/>
          </a:xfrm>
          <a:prstGeom prst="rect">
            <a:avLst/>
          </a:prstGeom>
          <a:solidFill>
            <a:srgbClr val="0EA5A4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h20b37650884cf90a_0_9"/>
          <p:cNvSpPr/>
          <p:nvPr/>
        </p:nvSpPr>
        <p:spPr>
          <a:xfrm>
            <a:off x="7297107" y="1572768"/>
            <a:ext cx="2633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h20b37650884cf90a_0_9"/>
          <p:cNvSpPr/>
          <p:nvPr/>
        </p:nvSpPr>
        <p:spPr>
          <a:xfrm>
            <a:off x="9930649" y="1481328"/>
            <a:ext cx="658500" cy="384000"/>
          </a:xfrm>
          <a:prstGeom prst="rect">
            <a:avLst/>
          </a:prstGeom>
          <a:solidFill>
            <a:srgbClr val="0EA5A4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h20b37650884cf90a_0_9"/>
          <p:cNvSpPr/>
          <p:nvPr/>
        </p:nvSpPr>
        <p:spPr>
          <a:xfrm>
            <a:off x="9930649" y="1572768"/>
            <a:ext cx="658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NOV/DIC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h20b37650884cf90a_0_9"/>
          <p:cNvSpPr/>
          <p:nvPr/>
        </p:nvSpPr>
        <p:spPr>
          <a:xfrm>
            <a:off x="4005179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h20b37650884cf90a_0_9"/>
          <p:cNvSpPr/>
          <p:nvPr/>
        </p:nvSpPr>
        <p:spPr>
          <a:xfrm>
            <a:off x="4023467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 Sep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 Oct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h20b37650884cf90a_0_9"/>
          <p:cNvSpPr/>
          <p:nvPr/>
        </p:nvSpPr>
        <p:spPr>
          <a:xfrm>
            <a:off x="4663564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h20b37650884cf90a_0_9"/>
          <p:cNvSpPr/>
          <p:nvPr/>
        </p:nvSpPr>
        <p:spPr>
          <a:xfrm>
            <a:off x="4681853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02–08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h20b37650884cf90a_0_9"/>
          <p:cNvSpPr/>
          <p:nvPr/>
        </p:nvSpPr>
        <p:spPr>
          <a:xfrm>
            <a:off x="5321950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h20b37650884cf90a_0_9"/>
          <p:cNvSpPr/>
          <p:nvPr/>
        </p:nvSpPr>
        <p:spPr>
          <a:xfrm>
            <a:off x="5340238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09–15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h20b37650884cf90a_0_9"/>
          <p:cNvSpPr/>
          <p:nvPr/>
        </p:nvSpPr>
        <p:spPr>
          <a:xfrm>
            <a:off x="5980335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h20b37650884cf90a_0_9"/>
          <p:cNvSpPr/>
          <p:nvPr/>
        </p:nvSpPr>
        <p:spPr>
          <a:xfrm>
            <a:off x="5998624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16–22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h20b37650884cf90a_0_9"/>
          <p:cNvSpPr/>
          <p:nvPr/>
        </p:nvSpPr>
        <p:spPr>
          <a:xfrm>
            <a:off x="6638721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h20b37650884cf90a_0_9"/>
          <p:cNvSpPr/>
          <p:nvPr/>
        </p:nvSpPr>
        <p:spPr>
          <a:xfrm>
            <a:off x="6657009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23–29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20b37650884cf90a_0_9"/>
          <p:cNvSpPr/>
          <p:nvPr/>
        </p:nvSpPr>
        <p:spPr>
          <a:xfrm>
            <a:off x="7297107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h20b37650884cf90a_0_9"/>
          <p:cNvSpPr/>
          <p:nvPr/>
        </p:nvSpPr>
        <p:spPr>
          <a:xfrm>
            <a:off x="7315395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 Oct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 Nov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h20b37650884cf90a_0_9"/>
          <p:cNvSpPr/>
          <p:nvPr/>
        </p:nvSpPr>
        <p:spPr>
          <a:xfrm>
            <a:off x="7955492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h20b37650884cf90a_0_9"/>
          <p:cNvSpPr/>
          <p:nvPr/>
        </p:nvSpPr>
        <p:spPr>
          <a:xfrm>
            <a:off x="7973781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06–12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h20b37650884cf90a_0_9"/>
          <p:cNvSpPr/>
          <p:nvPr/>
        </p:nvSpPr>
        <p:spPr>
          <a:xfrm>
            <a:off x="8613878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h20b37650884cf90a_0_9"/>
          <p:cNvSpPr/>
          <p:nvPr/>
        </p:nvSpPr>
        <p:spPr>
          <a:xfrm>
            <a:off x="8632166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13–19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h20b37650884cf90a_0_9"/>
          <p:cNvSpPr/>
          <p:nvPr/>
        </p:nvSpPr>
        <p:spPr>
          <a:xfrm>
            <a:off x="9272263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h20b37650884cf90a_0_9"/>
          <p:cNvSpPr/>
          <p:nvPr/>
        </p:nvSpPr>
        <p:spPr>
          <a:xfrm>
            <a:off x="9290552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20–26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h20b37650884cf90a_0_9"/>
          <p:cNvSpPr/>
          <p:nvPr/>
        </p:nvSpPr>
        <p:spPr>
          <a:xfrm>
            <a:off x="9930649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h20b37650884cf90a_0_9"/>
          <p:cNvSpPr/>
          <p:nvPr/>
        </p:nvSpPr>
        <p:spPr>
          <a:xfrm>
            <a:off x="9948937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 Nov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620">
                <a:solidFill>
                  <a:srgbClr val="FFFFFF"/>
                </a:solidFill>
              </a:rPr>
              <a:t>4 </a:t>
            </a: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Dic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h20b37650884cf90a_0_9"/>
          <p:cNvSpPr/>
          <p:nvPr/>
        </p:nvSpPr>
        <p:spPr>
          <a:xfrm>
            <a:off x="310904" y="2286000"/>
            <a:ext cx="21213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h20b37650884cf90a_0_9"/>
          <p:cNvSpPr/>
          <p:nvPr/>
        </p:nvSpPr>
        <p:spPr>
          <a:xfrm>
            <a:off x="2432369" y="2286000"/>
            <a:ext cx="15729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h20b37650884cf90a_0_9"/>
          <p:cNvSpPr/>
          <p:nvPr/>
        </p:nvSpPr>
        <p:spPr>
          <a:xfrm>
            <a:off x="384058" y="235915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1 · Cierre base técnica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h20b37650884cf90a_0_9"/>
          <p:cNvSpPr/>
          <p:nvPr/>
        </p:nvSpPr>
        <p:spPr>
          <a:xfrm>
            <a:off x="2505523" y="2377440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b="0" i="0" lang="en-US" sz="62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Arquitectura · Modelo · Prototipo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h20b37650884cf90a_0_9"/>
          <p:cNvSpPr/>
          <p:nvPr/>
        </p:nvSpPr>
        <p:spPr>
          <a:xfrm>
            <a:off x="4005179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h20b37650884cf90a_0_9"/>
          <p:cNvSpPr/>
          <p:nvPr/>
        </p:nvSpPr>
        <p:spPr>
          <a:xfrm>
            <a:off x="4663564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h20b37650884cf90a_0_9"/>
          <p:cNvSpPr/>
          <p:nvPr/>
        </p:nvSpPr>
        <p:spPr>
          <a:xfrm>
            <a:off x="5321950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h20b37650884cf90a_0_9"/>
          <p:cNvSpPr/>
          <p:nvPr/>
        </p:nvSpPr>
        <p:spPr>
          <a:xfrm>
            <a:off x="5980335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h20b37650884cf90a_0_9"/>
          <p:cNvSpPr/>
          <p:nvPr/>
        </p:nvSpPr>
        <p:spPr>
          <a:xfrm>
            <a:off x="6638721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h20b37650884cf90a_0_9"/>
          <p:cNvSpPr/>
          <p:nvPr/>
        </p:nvSpPr>
        <p:spPr>
          <a:xfrm>
            <a:off x="7297107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h20b37650884cf90a_0_9"/>
          <p:cNvSpPr/>
          <p:nvPr/>
        </p:nvSpPr>
        <p:spPr>
          <a:xfrm>
            <a:off x="7955492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h20b37650884cf90a_0_9"/>
          <p:cNvSpPr/>
          <p:nvPr/>
        </p:nvSpPr>
        <p:spPr>
          <a:xfrm>
            <a:off x="8613878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h20b37650884cf90a_0_9"/>
          <p:cNvSpPr/>
          <p:nvPr/>
        </p:nvSpPr>
        <p:spPr>
          <a:xfrm>
            <a:off x="9272263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h20b37650884cf90a_0_9"/>
          <p:cNvSpPr/>
          <p:nvPr/>
        </p:nvSpPr>
        <p:spPr>
          <a:xfrm>
            <a:off x="9930649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h20b37650884cf90a_0_9"/>
          <p:cNvSpPr/>
          <p:nvPr/>
        </p:nvSpPr>
        <p:spPr>
          <a:xfrm>
            <a:off x="310904" y="2788920"/>
            <a:ext cx="2121300" cy="50280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h20b37650884cf90a_0_9"/>
          <p:cNvSpPr/>
          <p:nvPr/>
        </p:nvSpPr>
        <p:spPr>
          <a:xfrm>
            <a:off x="2432369" y="2788920"/>
            <a:ext cx="1572900" cy="50280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h20b37650884cf90a_0_9"/>
          <p:cNvSpPr/>
          <p:nvPr/>
        </p:nvSpPr>
        <p:spPr>
          <a:xfrm>
            <a:off x="384058" y="286207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2 · Backend y persistencia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h20b37650884cf90a_0_9"/>
          <p:cNvSpPr/>
          <p:nvPr/>
        </p:nvSpPr>
        <p:spPr>
          <a:xfrm>
            <a:off x="2505523" y="2880360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b="0" i="0" lang="en-US" sz="62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API REST · PostgreSQL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h20b37650884cf90a_0_9"/>
          <p:cNvSpPr/>
          <p:nvPr/>
        </p:nvSpPr>
        <p:spPr>
          <a:xfrm>
            <a:off x="4005179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h20b37650884cf90a_0_9"/>
          <p:cNvSpPr/>
          <p:nvPr/>
        </p:nvSpPr>
        <p:spPr>
          <a:xfrm>
            <a:off x="4663564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h20b37650884cf90a_0_9"/>
          <p:cNvSpPr/>
          <p:nvPr/>
        </p:nvSpPr>
        <p:spPr>
          <a:xfrm>
            <a:off x="5321950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h20b37650884cf90a_0_9"/>
          <p:cNvSpPr/>
          <p:nvPr/>
        </p:nvSpPr>
        <p:spPr>
          <a:xfrm>
            <a:off x="5980335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h20b37650884cf90a_0_9"/>
          <p:cNvSpPr/>
          <p:nvPr/>
        </p:nvSpPr>
        <p:spPr>
          <a:xfrm>
            <a:off x="6638721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h20b37650884cf90a_0_9"/>
          <p:cNvSpPr/>
          <p:nvPr/>
        </p:nvSpPr>
        <p:spPr>
          <a:xfrm>
            <a:off x="7297107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h20b37650884cf90a_0_9"/>
          <p:cNvSpPr/>
          <p:nvPr/>
        </p:nvSpPr>
        <p:spPr>
          <a:xfrm>
            <a:off x="7955492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h20b37650884cf90a_0_9"/>
          <p:cNvSpPr/>
          <p:nvPr/>
        </p:nvSpPr>
        <p:spPr>
          <a:xfrm>
            <a:off x="8613878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h20b37650884cf90a_0_9"/>
          <p:cNvSpPr/>
          <p:nvPr/>
        </p:nvSpPr>
        <p:spPr>
          <a:xfrm>
            <a:off x="9272263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h20b37650884cf90a_0_9"/>
          <p:cNvSpPr/>
          <p:nvPr/>
        </p:nvSpPr>
        <p:spPr>
          <a:xfrm>
            <a:off x="9930649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h20b37650884cf90a_0_9"/>
          <p:cNvSpPr/>
          <p:nvPr/>
        </p:nvSpPr>
        <p:spPr>
          <a:xfrm>
            <a:off x="310904" y="3291840"/>
            <a:ext cx="21213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h20b37650884cf90a_0_9"/>
          <p:cNvSpPr/>
          <p:nvPr/>
        </p:nvSpPr>
        <p:spPr>
          <a:xfrm>
            <a:off x="2432369" y="3291840"/>
            <a:ext cx="15729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h20b37650884cf90a_0_9"/>
          <p:cNvSpPr/>
          <p:nvPr/>
        </p:nvSpPr>
        <p:spPr>
          <a:xfrm>
            <a:off x="384058" y="336499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3 · Integración frontend-backend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h20b37650884cf90a_0_9"/>
          <p:cNvSpPr/>
          <p:nvPr/>
        </p:nvSpPr>
        <p:spPr>
          <a:xfrm>
            <a:off x="2505523" y="3383280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b="0" i="0" lang="en-US" sz="62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Conexión · Roles · CRUD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h20b37650884cf90a_0_9"/>
          <p:cNvSpPr/>
          <p:nvPr/>
        </p:nvSpPr>
        <p:spPr>
          <a:xfrm>
            <a:off x="4005179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h20b37650884cf90a_0_9"/>
          <p:cNvSpPr/>
          <p:nvPr/>
        </p:nvSpPr>
        <p:spPr>
          <a:xfrm>
            <a:off x="4663564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h20b37650884cf90a_0_9"/>
          <p:cNvSpPr/>
          <p:nvPr/>
        </p:nvSpPr>
        <p:spPr>
          <a:xfrm>
            <a:off x="5321950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h20b37650884cf90a_0_9"/>
          <p:cNvSpPr/>
          <p:nvPr/>
        </p:nvSpPr>
        <p:spPr>
          <a:xfrm>
            <a:off x="5980335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h20b37650884cf90a_0_9"/>
          <p:cNvSpPr/>
          <p:nvPr/>
        </p:nvSpPr>
        <p:spPr>
          <a:xfrm>
            <a:off x="6638721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h20b37650884cf90a_0_9"/>
          <p:cNvSpPr/>
          <p:nvPr/>
        </p:nvSpPr>
        <p:spPr>
          <a:xfrm>
            <a:off x="7297107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h20b37650884cf90a_0_9"/>
          <p:cNvSpPr/>
          <p:nvPr/>
        </p:nvSpPr>
        <p:spPr>
          <a:xfrm>
            <a:off x="7955492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h20b37650884cf90a_0_9"/>
          <p:cNvSpPr/>
          <p:nvPr/>
        </p:nvSpPr>
        <p:spPr>
          <a:xfrm>
            <a:off x="8613878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h20b37650884cf90a_0_9"/>
          <p:cNvSpPr/>
          <p:nvPr/>
        </p:nvSpPr>
        <p:spPr>
          <a:xfrm>
            <a:off x="9272263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h20b37650884cf90a_0_9"/>
          <p:cNvSpPr/>
          <p:nvPr/>
        </p:nvSpPr>
        <p:spPr>
          <a:xfrm>
            <a:off x="9930649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h20b37650884cf90a_0_9"/>
          <p:cNvSpPr/>
          <p:nvPr/>
        </p:nvSpPr>
        <p:spPr>
          <a:xfrm>
            <a:off x="310904" y="3794760"/>
            <a:ext cx="2121300" cy="50280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h20b37650884cf90a_0_9"/>
          <p:cNvSpPr/>
          <p:nvPr/>
        </p:nvSpPr>
        <p:spPr>
          <a:xfrm>
            <a:off x="2432369" y="3794760"/>
            <a:ext cx="1572900" cy="50280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h20b37650884cf90a_0_9"/>
          <p:cNvSpPr/>
          <p:nvPr/>
        </p:nvSpPr>
        <p:spPr>
          <a:xfrm>
            <a:off x="384058" y="386791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4 · Jira / dashboards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h20b37650884cf90a_0_9"/>
          <p:cNvSpPr/>
          <p:nvPr/>
        </p:nvSpPr>
        <p:spPr>
          <a:xfrm>
            <a:off x="2505523" y="3886200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b="0" i="0" lang="en-US" sz="62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Integración · KPI QE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h20b37650884cf90a_0_9"/>
          <p:cNvSpPr/>
          <p:nvPr/>
        </p:nvSpPr>
        <p:spPr>
          <a:xfrm>
            <a:off x="4005179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h20b37650884cf90a_0_9"/>
          <p:cNvSpPr/>
          <p:nvPr/>
        </p:nvSpPr>
        <p:spPr>
          <a:xfrm>
            <a:off x="4663564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h20b37650884cf90a_0_9"/>
          <p:cNvSpPr/>
          <p:nvPr/>
        </p:nvSpPr>
        <p:spPr>
          <a:xfrm>
            <a:off x="5321950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h20b37650884cf90a_0_9"/>
          <p:cNvSpPr/>
          <p:nvPr/>
        </p:nvSpPr>
        <p:spPr>
          <a:xfrm>
            <a:off x="5980335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h20b37650884cf90a_0_9"/>
          <p:cNvSpPr/>
          <p:nvPr/>
        </p:nvSpPr>
        <p:spPr>
          <a:xfrm>
            <a:off x="6638721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h20b37650884cf90a_0_9"/>
          <p:cNvSpPr/>
          <p:nvPr/>
        </p:nvSpPr>
        <p:spPr>
          <a:xfrm>
            <a:off x="7297107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h20b37650884cf90a_0_9"/>
          <p:cNvSpPr/>
          <p:nvPr/>
        </p:nvSpPr>
        <p:spPr>
          <a:xfrm>
            <a:off x="7955492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h20b37650884cf90a_0_9"/>
          <p:cNvSpPr/>
          <p:nvPr/>
        </p:nvSpPr>
        <p:spPr>
          <a:xfrm>
            <a:off x="8613878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h20b37650884cf90a_0_9"/>
          <p:cNvSpPr/>
          <p:nvPr/>
        </p:nvSpPr>
        <p:spPr>
          <a:xfrm>
            <a:off x="9272263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h20b37650884cf90a_0_9"/>
          <p:cNvSpPr/>
          <p:nvPr/>
        </p:nvSpPr>
        <p:spPr>
          <a:xfrm>
            <a:off x="9930649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h20b37650884cf90a_0_9"/>
          <p:cNvSpPr/>
          <p:nvPr/>
        </p:nvSpPr>
        <p:spPr>
          <a:xfrm>
            <a:off x="310904" y="4297680"/>
            <a:ext cx="21213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h20b37650884cf90a_0_9"/>
          <p:cNvSpPr/>
          <p:nvPr/>
        </p:nvSpPr>
        <p:spPr>
          <a:xfrm>
            <a:off x="2432369" y="4297680"/>
            <a:ext cx="15729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h20b37650884cf90a_0_9"/>
          <p:cNvSpPr/>
          <p:nvPr/>
        </p:nvSpPr>
        <p:spPr>
          <a:xfrm>
            <a:off x="384058" y="437083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5 · Validación funcional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h20b37650884cf90a_0_9"/>
          <p:cNvSpPr/>
          <p:nvPr/>
        </p:nvSpPr>
        <p:spPr>
          <a:xfrm>
            <a:off x="2505523" y="4389120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b="0" i="0" lang="en-US" sz="62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Pruebas · Medición SIN/CON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h20b37650884cf90a_0_9"/>
          <p:cNvSpPr/>
          <p:nvPr/>
        </p:nvSpPr>
        <p:spPr>
          <a:xfrm>
            <a:off x="4005179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h20b37650884cf90a_0_9"/>
          <p:cNvSpPr/>
          <p:nvPr/>
        </p:nvSpPr>
        <p:spPr>
          <a:xfrm>
            <a:off x="4663564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h20b37650884cf90a_0_9"/>
          <p:cNvSpPr/>
          <p:nvPr/>
        </p:nvSpPr>
        <p:spPr>
          <a:xfrm>
            <a:off x="5321950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h20b37650884cf90a_0_9"/>
          <p:cNvSpPr/>
          <p:nvPr/>
        </p:nvSpPr>
        <p:spPr>
          <a:xfrm>
            <a:off x="5980335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h20b37650884cf90a_0_9"/>
          <p:cNvSpPr/>
          <p:nvPr/>
        </p:nvSpPr>
        <p:spPr>
          <a:xfrm>
            <a:off x="6638721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h20b37650884cf90a_0_9"/>
          <p:cNvSpPr/>
          <p:nvPr/>
        </p:nvSpPr>
        <p:spPr>
          <a:xfrm>
            <a:off x="7297107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h20b37650884cf90a_0_9"/>
          <p:cNvSpPr/>
          <p:nvPr/>
        </p:nvSpPr>
        <p:spPr>
          <a:xfrm>
            <a:off x="7955492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h20b37650884cf90a_0_9"/>
          <p:cNvSpPr/>
          <p:nvPr/>
        </p:nvSpPr>
        <p:spPr>
          <a:xfrm>
            <a:off x="8613878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h20b37650884cf90a_0_9"/>
          <p:cNvSpPr/>
          <p:nvPr/>
        </p:nvSpPr>
        <p:spPr>
          <a:xfrm>
            <a:off x="9272263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h20b37650884cf90a_0_9"/>
          <p:cNvSpPr/>
          <p:nvPr/>
        </p:nvSpPr>
        <p:spPr>
          <a:xfrm>
            <a:off x="9930649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h20b37650884cf90a_0_9"/>
          <p:cNvSpPr/>
          <p:nvPr/>
        </p:nvSpPr>
        <p:spPr>
          <a:xfrm>
            <a:off x="310904" y="4800600"/>
            <a:ext cx="2121300" cy="50280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h20b37650884cf90a_0_9"/>
          <p:cNvSpPr/>
          <p:nvPr/>
        </p:nvSpPr>
        <p:spPr>
          <a:xfrm>
            <a:off x="2432369" y="4800600"/>
            <a:ext cx="1572900" cy="50280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h20b37650884cf90a_0_9"/>
          <p:cNvSpPr/>
          <p:nvPr/>
        </p:nvSpPr>
        <p:spPr>
          <a:xfrm>
            <a:off x="384058" y="487375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6 · Cierre técnico y evidencias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h20b37650884cf90a_0_9"/>
          <p:cNvSpPr/>
          <p:nvPr/>
        </p:nvSpPr>
        <p:spPr>
          <a:xfrm>
            <a:off x="2505523" y="4892040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b="0" i="0" lang="en-US" sz="62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Docs · Costos · Release freeze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h20b37650884cf90a_0_9"/>
          <p:cNvSpPr/>
          <p:nvPr/>
        </p:nvSpPr>
        <p:spPr>
          <a:xfrm>
            <a:off x="4005179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h20b37650884cf90a_0_9"/>
          <p:cNvSpPr/>
          <p:nvPr/>
        </p:nvSpPr>
        <p:spPr>
          <a:xfrm>
            <a:off x="4663564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h20b37650884cf90a_0_9"/>
          <p:cNvSpPr/>
          <p:nvPr/>
        </p:nvSpPr>
        <p:spPr>
          <a:xfrm>
            <a:off x="5321950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h20b37650884cf90a_0_9"/>
          <p:cNvSpPr/>
          <p:nvPr/>
        </p:nvSpPr>
        <p:spPr>
          <a:xfrm>
            <a:off x="5980335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h20b37650884cf90a_0_9"/>
          <p:cNvSpPr/>
          <p:nvPr/>
        </p:nvSpPr>
        <p:spPr>
          <a:xfrm>
            <a:off x="6638721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h20b37650884cf90a_0_9"/>
          <p:cNvSpPr/>
          <p:nvPr/>
        </p:nvSpPr>
        <p:spPr>
          <a:xfrm>
            <a:off x="7297107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h20b37650884cf90a_0_9"/>
          <p:cNvSpPr/>
          <p:nvPr/>
        </p:nvSpPr>
        <p:spPr>
          <a:xfrm>
            <a:off x="7955492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h20b37650884cf90a_0_9"/>
          <p:cNvSpPr/>
          <p:nvPr/>
        </p:nvSpPr>
        <p:spPr>
          <a:xfrm>
            <a:off x="8613878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h20b37650884cf90a_0_9"/>
          <p:cNvSpPr/>
          <p:nvPr/>
        </p:nvSpPr>
        <p:spPr>
          <a:xfrm>
            <a:off x="9272263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h20b37650884cf90a_0_9"/>
          <p:cNvSpPr/>
          <p:nvPr/>
        </p:nvSpPr>
        <p:spPr>
          <a:xfrm>
            <a:off x="9930649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h20b37650884cf90a_0_9"/>
          <p:cNvSpPr/>
          <p:nvPr/>
        </p:nvSpPr>
        <p:spPr>
          <a:xfrm>
            <a:off x="310904" y="5303520"/>
            <a:ext cx="21213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h20b37650884cf90a_0_9"/>
          <p:cNvSpPr/>
          <p:nvPr/>
        </p:nvSpPr>
        <p:spPr>
          <a:xfrm>
            <a:off x="2432369" y="5303520"/>
            <a:ext cx="15729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h20b37650884cf90a_0_9"/>
          <p:cNvSpPr/>
          <p:nvPr/>
        </p:nvSpPr>
        <p:spPr>
          <a:xfrm>
            <a:off x="384058" y="537667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Presentación · Comisión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h20b37650884cf90a_0_9"/>
          <p:cNvSpPr/>
          <p:nvPr/>
        </p:nvSpPr>
        <p:spPr>
          <a:xfrm>
            <a:off x="2505523" y="5394960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b="0" i="0" lang="en-US" sz="62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Demo · Defensa · Entrega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h20b37650884cf90a_0_9"/>
          <p:cNvSpPr/>
          <p:nvPr/>
        </p:nvSpPr>
        <p:spPr>
          <a:xfrm>
            <a:off x="4005179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h20b37650884cf90a_0_9"/>
          <p:cNvSpPr/>
          <p:nvPr/>
        </p:nvSpPr>
        <p:spPr>
          <a:xfrm>
            <a:off x="4663564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h20b37650884cf90a_0_9"/>
          <p:cNvSpPr/>
          <p:nvPr/>
        </p:nvSpPr>
        <p:spPr>
          <a:xfrm>
            <a:off x="5321950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h20b37650884cf90a_0_9"/>
          <p:cNvSpPr/>
          <p:nvPr/>
        </p:nvSpPr>
        <p:spPr>
          <a:xfrm>
            <a:off x="5980335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h20b37650884cf90a_0_9"/>
          <p:cNvSpPr/>
          <p:nvPr/>
        </p:nvSpPr>
        <p:spPr>
          <a:xfrm>
            <a:off x="6638721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h20b37650884cf90a_0_9"/>
          <p:cNvSpPr/>
          <p:nvPr/>
        </p:nvSpPr>
        <p:spPr>
          <a:xfrm>
            <a:off x="7297107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h20b37650884cf90a_0_9"/>
          <p:cNvSpPr/>
          <p:nvPr/>
        </p:nvSpPr>
        <p:spPr>
          <a:xfrm>
            <a:off x="7955492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h20b37650884cf90a_0_9"/>
          <p:cNvSpPr/>
          <p:nvPr/>
        </p:nvSpPr>
        <p:spPr>
          <a:xfrm>
            <a:off x="8613878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h20b37650884cf90a_0_9"/>
          <p:cNvSpPr/>
          <p:nvPr/>
        </p:nvSpPr>
        <p:spPr>
          <a:xfrm>
            <a:off x="9272263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h20b37650884cf90a_0_9"/>
          <p:cNvSpPr/>
          <p:nvPr/>
        </p:nvSpPr>
        <p:spPr>
          <a:xfrm>
            <a:off x="9930649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h20b37650884cf90a_0_9"/>
          <p:cNvSpPr/>
          <p:nvPr/>
        </p:nvSpPr>
        <p:spPr>
          <a:xfrm>
            <a:off x="4050900" y="237744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12B886"/>
          </a:solidFill>
          <a:ln cap="flat" cmpd="sng" w="10150">
            <a:solidFill>
              <a:srgbClr val="12B886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h20b37650884cf90a_0_9"/>
          <p:cNvSpPr/>
          <p:nvPr/>
        </p:nvSpPr>
        <p:spPr>
          <a:xfrm>
            <a:off x="4078333" y="238658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"/>
              <a:buFont typeface="Arial"/>
              <a:buNone/>
            </a:pPr>
            <a:r>
              <a:rPr b="1" i="0" lang="en-US" sz="5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"/>
              <a:buFont typeface="Arial"/>
              <a:buNone/>
            </a:pPr>
            <a:r>
              <a:rPr b="1" i="0" lang="en-US" sz="5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1</a:t>
            </a:r>
            <a:endParaRPr b="0" i="0" sz="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h20b37650884cf90a_0_9"/>
          <p:cNvSpPr/>
          <p:nvPr/>
        </p:nvSpPr>
        <p:spPr>
          <a:xfrm>
            <a:off x="4050900" y="288036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1FA7D8"/>
          </a:solidFill>
          <a:ln cap="flat" cmpd="sng" w="10150">
            <a:solidFill>
              <a:srgbClr val="1FA7D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h20b37650884cf90a_0_9"/>
          <p:cNvSpPr/>
          <p:nvPr/>
        </p:nvSpPr>
        <p:spPr>
          <a:xfrm>
            <a:off x="4078333" y="288950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"/>
              <a:buFont typeface="Arial"/>
              <a:buNone/>
            </a:pPr>
            <a:r>
              <a:rPr b="1" i="0" lang="en-US" sz="5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h20b37650884cf90a_0_9"/>
          <p:cNvSpPr/>
          <p:nvPr/>
        </p:nvSpPr>
        <p:spPr>
          <a:xfrm>
            <a:off x="4709286" y="288036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1FA7D8"/>
          </a:solidFill>
          <a:ln cap="flat" cmpd="sng" w="10150">
            <a:solidFill>
              <a:srgbClr val="1FA7D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h20b37650884cf90a_0_9"/>
          <p:cNvSpPr/>
          <p:nvPr/>
        </p:nvSpPr>
        <p:spPr>
          <a:xfrm>
            <a:off x="4736718" y="288950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"/>
              <a:buFont typeface="Arial"/>
              <a:buNone/>
            </a:pPr>
            <a:r>
              <a:rPr b="1" i="0" lang="en-US" sz="5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BD + API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h20b37650884cf90a_0_9"/>
          <p:cNvSpPr/>
          <p:nvPr/>
        </p:nvSpPr>
        <p:spPr>
          <a:xfrm>
            <a:off x="5367671" y="338328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08A6A5"/>
          </a:solidFill>
          <a:ln cap="flat" cmpd="sng" w="10150">
            <a:solidFill>
              <a:srgbClr val="08A6A5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h20b37650884cf90a_0_9"/>
          <p:cNvSpPr/>
          <p:nvPr/>
        </p:nvSpPr>
        <p:spPr>
          <a:xfrm>
            <a:off x="5395104" y="339242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"/>
              <a:buFont typeface="Arial"/>
              <a:buNone/>
            </a:pPr>
            <a:r>
              <a:rPr b="1" i="0" lang="en-US" sz="5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Conexión</a:t>
            </a:r>
            <a:endParaRPr b="0" i="0" sz="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h20b37650884cf90a_0_9"/>
          <p:cNvSpPr/>
          <p:nvPr/>
        </p:nvSpPr>
        <p:spPr>
          <a:xfrm>
            <a:off x="6026057" y="338328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08A6A5"/>
          </a:solidFill>
          <a:ln cap="flat" cmpd="sng" w="10150">
            <a:solidFill>
              <a:srgbClr val="08A6A5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h20b37650884cf90a_0_9"/>
          <p:cNvSpPr/>
          <p:nvPr/>
        </p:nvSpPr>
        <p:spPr>
          <a:xfrm>
            <a:off x="6053489" y="339242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"/>
              <a:buFont typeface="Arial"/>
              <a:buNone/>
            </a:pPr>
            <a:r>
              <a:rPr b="1" i="0" lang="en-US" sz="5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CRUD + roles</a:t>
            </a:r>
            <a:endParaRPr b="0" i="0" sz="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h20b37650884cf90a_0_9"/>
          <p:cNvSpPr/>
          <p:nvPr/>
        </p:nvSpPr>
        <p:spPr>
          <a:xfrm>
            <a:off x="6684442" y="388620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7C4DDF"/>
          </a:solidFill>
          <a:ln cap="flat" cmpd="sng" w="10150">
            <a:solidFill>
              <a:srgbClr val="7C4DD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h20b37650884cf90a_0_9"/>
          <p:cNvSpPr/>
          <p:nvPr/>
        </p:nvSpPr>
        <p:spPr>
          <a:xfrm>
            <a:off x="6711875" y="389534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"/>
              <a:buFont typeface="Arial"/>
              <a:buNone/>
            </a:pPr>
            <a:r>
              <a:rPr b="1" i="0" lang="en-US" sz="5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Jira / CSV</a:t>
            </a:r>
            <a:endParaRPr b="0" i="0" sz="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h20b37650884cf90a_0_9"/>
          <p:cNvSpPr/>
          <p:nvPr/>
        </p:nvSpPr>
        <p:spPr>
          <a:xfrm>
            <a:off x="7342828" y="388620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7C4DDF"/>
          </a:solidFill>
          <a:ln cap="flat" cmpd="sng" w="10150">
            <a:solidFill>
              <a:srgbClr val="7C4DD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h20b37650884cf90a_0_9"/>
          <p:cNvSpPr/>
          <p:nvPr/>
        </p:nvSpPr>
        <p:spPr>
          <a:xfrm>
            <a:off x="7370260" y="389534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KPI +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h20b37650884cf90a_0_9"/>
          <p:cNvSpPr/>
          <p:nvPr/>
        </p:nvSpPr>
        <p:spPr>
          <a:xfrm>
            <a:off x="8001213" y="438912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F59E0B"/>
          </a:solidFill>
          <a:ln cap="flat" cmpd="sng" w="101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h20b37650884cf90a_0_9"/>
          <p:cNvSpPr/>
          <p:nvPr/>
        </p:nvSpPr>
        <p:spPr>
          <a:xfrm>
            <a:off x="8028646" y="439826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"/>
              <a:buFont typeface="Arial"/>
              <a:buNone/>
            </a:pPr>
            <a:r>
              <a:rPr b="1" i="0" lang="en-US" sz="5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 b="0" i="0" sz="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h20b37650884cf90a_0_9"/>
          <p:cNvSpPr/>
          <p:nvPr/>
        </p:nvSpPr>
        <p:spPr>
          <a:xfrm>
            <a:off x="8659599" y="438912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F59E0B"/>
          </a:solidFill>
          <a:ln cap="flat" cmpd="sng" w="101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h20b37650884cf90a_0_9"/>
          <p:cNvSpPr/>
          <p:nvPr/>
        </p:nvSpPr>
        <p:spPr>
          <a:xfrm>
            <a:off x="8687032" y="439826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SIN/CON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ajustes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h20b37650884cf90a_0_9"/>
          <p:cNvSpPr/>
          <p:nvPr/>
        </p:nvSpPr>
        <p:spPr>
          <a:xfrm>
            <a:off x="9317984" y="4892040"/>
            <a:ext cx="567000" cy="365700"/>
          </a:xfrm>
          <a:prstGeom prst="roundRect">
            <a:avLst>
              <a:gd fmla="val 22500" name="adj"/>
            </a:avLst>
          </a:prstGeom>
          <a:solidFill>
            <a:srgbClr val="12B886"/>
          </a:solidFill>
          <a:ln cap="flat" cmpd="sng" w="10150">
            <a:solidFill>
              <a:srgbClr val="12B886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h20b37650884cf90a_0_9"/>
          <p:cNvSpPr/>
          <p:nvPr/>
        </p:nvSpPr>
        <p:spPr>
          <a:xfrm>
            <a:off x="9345417" y="4901184"/>
            <a:ext cx="51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b="1" i="0" lang="en-US" sz="4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Release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b="1" i="0" lang="en-US" sz="4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freeze 26/11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h20b37650884cf90a_0_9"/>
          <p:cNvSpPr/>
          <p:nvPr/>
        </p:nvSpPr>
        <p:spPr>
          <a:xfrm>
            <a:off x="9976370" y="539496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24364F"/>
          </a:solidFill>
          <a:ln cap="flat" cmpd="sng" w="10150">
            <a:solidFill>
              <a:srgbClr val="24364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h20b37650884cf90a_0_9"/>
          <p:cNvSpPr/>
          <p:nvPr/>
        </p:nvSpPr>
        <p:spPr>
          <a:xfrm>
            <a:off x="10003803" y="540410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"/>
              <a:buFont typeface="Arial"/>
              <a:buNone/>
            </a:pPr>
            <a:r>
              <a:rPr b="1" i="0" lang="en-US" sz="5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Comisión</a:t>
            </a:r>
            <a:endParaRPr b="0" i="0" sz="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"/>
              <a:buFont typeface="Arial"/>
              <a:buNone/>
            </a:pPr>
            <a:r>
              <a:rPr b="1" i="0" lang="en-US" sz="5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27/11</a:t>
            </a:r>
            <a:endParaRPr b="0" i="0" sz="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h20b37650884cf90a_0_9"/>
          <p:cNvSpPr/>
          <p:nvPr/>
        </p:nvSpPr>
        <p:spPr>
          <a:xfrm>
            <a:off x="310904" y="6071616"/>
            <a:ext cx="11576700" cy="4755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0150">
            <a:solidFill>
              <a:srgbClr val="C9D9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h20b37650884cf90a_0_9"/>
          <p:cNvSpPr/>
          <p:nvPr/>
        </p:nvSpPr>
        <p:spPr>
          <a:xfrm>
            <a:off x="530366" y="6217920"/>
            <a:ext cx="914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386B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0E386B"/>
                </a:solidFill>
                <a:latin typeface="Arial"/>
                <a:ea typeface="Arial"/>
                <a:cs typeface="Arial"/>
                <a:sym typeface="Arial"/>
              </a:rPr>
              <a:t>Uso esperado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h20b37650884cf90a_0_9"/>
          <p:cNvSpPr/>
          <p:nvPr/>
        </p:nvSpPr>
        <p:spPr>
          <a:xfrm>
            <a:off x="1627675" y="6199632"/>
            <a:ext cx="8687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Actualizar semanalmente según Jira Cloud y GitHub: estado real, evidencia, riesgos y ajustes. Nueva fecha crítica: liberar la versión candidata y evidencias antes del 27/11.</a:t>
            </a:r>
            <a:endParaRPr b="0" i="0" sz="6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h20b37650884cf90a_0_9"/>
          <p:cNvSpPr/>
          <p:nvPr/>
        </p:nvSpPr>
        <p:spPr>
          <a:xfrm>
            <a:off x="10561602" y="6364224"/>
            <a:ext cx="9144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520"/>
              <a:buFont typeface="Arial"/>
              <a:buNone/>
            </a:pPr>
            <a:r>
              <a:rPr b="0" i="0" lang="en-US" sz="52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b="0" i="0" sz="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h20b37650884cf90a_0_9"/>
          <p:cNvSpPr/>
          <p:nvPr/>
        </p:nvSpPr>
        <p:spPr>
          <a:xfrm>
            <a:off x="11905805" y="6611112"/>
            <a:ext cx="1830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D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h20b37650884cf90a_0_186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14B8B3"/>
          </a:solidFill>
          <a:ln cap="flat" cmpd="sng" w="12700">
            <a:solidFill>
              <a:srgbClr val="14B8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h20b37650884cf90a_0_186"/>
          <p:cNvSpPr/>
          <p:nvPr/>
        </p:nvSpPr>
        <p:spPr>
          <a:xfrm>
            <a:off x="182880" y="210312"/>
            <a:ext cx="7772400" cy="1152000"/>
          </a:xfrm>
          <a:prstGeom prst="roundRect">
            <a:avLst>
              <a:gd fmla="val 16667" name="adj"/>
            </a:avLst>
          </a:prstGeom>
          <a:solidFill>
            <a:srgbClr val="082A5D"/>
          </a:solidFill>
          <a:ln cap="flat" cmpd="sng" w="12700">
            <a:solidFill>
              <a:srgbClr val="082A5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7D6E5">
                <a:alpha val="2392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h20b37650884cf90a_0_186"/>
          <p:cNvSpPr/>
          <p:nvPr/>
        </p:nvSpPr>
        <p:spPr>
          <a:xfrm>
            <a:off x="7626096" y="210312"/>
            <a:ext cx="384000" cy="1152000"/>
          </a:xfrm>
          <a:prstGeom prst="roundRect">
            <a:avLst>
              <a:gd fmla="val 16667" name="adj"/>
            </a:avLst>
          </a:prstGeom>
          <a:solidFill>
            <a:srgbClr val="20C7E6"/>
          </a:solidFill>
          <a:ln cap="flat" cmpd="sng" w="12700">
            <a:solidFill>
              <a:srgbClr val="20C7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h20b37650884cf90a_0_186"/>
          <p:cNvSpPr/>
          <p:nvPr/>
        </p:nvSpPr>
        <p:spPr>
          <a:xfrm>
            <a:off x="365760" y="347472"/>
            <a:ext cx="6675000" cy="411600"/>
          </a:xfrm>
          <a:prstGeom prst="rect">
            <a:avLst/>
          </a:prstGeom>
          <a:noFill/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Play"/>
              <a:buNone/>
            </a:pPr>
            <a:r>
              <a:rPr b="1" lang="en-US" sz="3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Roadmap ágil por </a:t>
            </a:r>
            <a:r>
              <a:rPr b="1" lang="en-US" sz="3100">
                <a:solidFill>
                  <a:srgbClr val="20C7E6"/>
                </a:solidFill>
                <a:latin typeface="Play"/>
                <a:ea typeface="Play"/>
                <a:cs typeface="Play"/>
                <a:sym typeface="Play"/>
              </a:rPr>
              <a:t>Sprint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h20b37650884cf90a_0_186"/>
          <p:cNvSpPr/>
          <p:nvPr/>
        </p:nvSpPr>
        <p:spPr>
          <a:xfrm>
            <a:off x="365760" y="868680"/>
            <a:ext cx="1143000" cy="36600"/>
          </a:xfrm>
          <a:prstGeom prst="roundRect">
            <a:avLst>
              <a:gd fmla="val 16667" name="adj"/>
            </a:avLst>
          </a:prstGeom>
          <a:solidFill>
            <a:srgbClr val="14B8B3"/>
          </a:solidFill>
          <a:ln cap="flat" cmpd="sng" w="12700">
            <a:solidFill>
              <a:srgbClr val="14B8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h20b37650884cf90a_0_186"/>
          <p:cNvSpPr/>
          <p:nvPr/>
        </p:nvSpPr>
        <p:spPr>
          <a:xfrm>
            <a:off x="365760" y="950976"/>
            <a:ext cx="7388400" cy="228600"/>
          </a:xfrm>
          <a:prstGeom prst="rect">
            <a:avLst/>
          </a:prstGeom>
          <a:noFill/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 Sprint cierra con una entrega parcial verificable del producto Quality360.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h20b37650884cf90a_0_186"/>
          <p:cNvSpPr/>
          <p:nvPr/>
        </p:nvSpPr>
        <p:spPr>
          <a:xfrm>
            <a:off x="10104120" y="384048"/>
            <a:ext cx="9000" cy="594300"/>
          </a:xfrm>
          <a:prstGeom prst="rect">
            <a:avLst/>
          </a:prstGeom>
          <a:solidFill>
            <a:srgbClr val="B7C5D5"/>
          </a:solidFill>
          <a:ln cap="flat" cmpd="sng" w="12700">
            <a:solidFill>
              <a:srgbClr val="B7C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324" name="Google Shape;324;h20b37650884cf90a_0_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7856" y="182880"/>
            <a:ext cx="1325879" cy="99669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h20b37650884cf90a_0_186"/>
          <p:cNvSpPr/>
          <p:nvPr/>
        </p:nvSpPr>
        <p:spPr>
          <a:xfrm>
            <a:off x="274320" y="1481328"/>
            <a:ext cx="11631300" cy="4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F4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AEC1D2">
                <a:alpha val="3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h20b37650884cf90a_0_186"/>
          <p:cNvSpPr/>
          <p:nvPr/>
        </p:nvSpPr>
        <p:spPr>
          <a:xfrm>
            <a:off x="274320" y="1481328"/>
            <a:ext cx="1371600" cy="512100"/>
          </a:xfrm>
          <a:prstGeom prst="rect">
            <a:avLst/>
          </a:prstGeom>
          <a:solidFill>
            <a:srgbClr val="082A5D"/>
          </a:solidFill>
          <a:ln cap="flat" cmpd="sng" w="9525">
            <a:solidFill>
              <a:srgbClr val="7DB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h20b37650884cf90a_0_186"/>
          <p:cNvSpPr/>
          <p:nvPr/>
        </p:nvSpPr>
        <p:spPr>
          <a:xfrm>
            <a:off x="1645920" y="1481328"/>
            <a:ext cx="1417200" cy="512100"/>
          </a:xfrm>
          <a:prstGeom prst="rect">
            <a:avLst/>
          </a:prstGeom>
          <a:solidFill>
            <a:srgbClr val="082A5D"/>
          </a:solidFill>
          <a:ln cap="flat" cmpd="sng" w="9525">
            <a:solidFill>
              <a:srgbClr val="7DB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Semanas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h20b37650884cf90a_0_186"/>
          <p:cNvSpPr/>
          <p:nvPr/>
        </p:nvSpPr>
        <p:spPr>
          <a:xfrm>
            <a:off x="3063240" y="1481328"/>
            <a:ext cx="3867900" cy="512100"/>
          </a:xfrm>
          <a:prstGeom prst="rect">
            <a:avLst/>
          </a:prstGeom>
          <a:solidFill>
            <a:srgbClr val="082A5D"/>
          </a:solidFill>
          <a:ln cap="flat" cmpd="sng" w="9525">
            <a:solidFill>
              <a:srgbClr val="7DB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Qué se realizará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h20b37650884cf90a_0_186"/>
          <p:cNvSpPr/>
          <p:nvPr/>
        </p:nvSpPr>
        <p:spPr>
          <a:xfrm>
            <a:off x="6931152" y="1481328"/>
            <a:ext cx="4974300" cy="512100"/>
          </a:xfrm>
          <a:prstGeom prst="rect">
            <a:avLst/>
          </a:prstGeom>
          <a:solidFill>
            <a:srgbClr val="082A5D"/>
          </a:solidFill>
          <a:ln cap="flat" cmpd="sng" w="9525">
            <a:solidFill>
              <a:srgbClr val="7DB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Entrega parcial del producto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h20b37650884cf90a_0_186"/>
          <p:cNvSpPr/>
          <p:nvPr/>
        </p:nvSpPr>
        <p:spPr>
          <a:xfrm>
            <a:off x="1645920" y="1993392"/>
            <a:ext cx="1417200" cy="557700"/>
          </a:xfrm>
          <a:prstGeom prst="rect">
            <a:avLst/>
          </a:prstGeom>
          <a:solidFill>
            <a:srgbClr val="F2F8FE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240"/>
              <a:buFont typeface="Arial"/>
              <a:buNone/>
            </a:pPr>
            <a:r>
              <a:rPr b="1" lang="en-US" sz="124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11–24 sep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h20b37650884cf90a_0_186"/>
          <p:cNvSpPr/>
          <p:nvPr/>
        </p:nvSpPr>
        <p:spPr>
          <a:xfrm>
            <a:off x="3063240" y="1993392"/>
            <a:ext cx="3867900" cy="557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Arquitectura, modelo de datos,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dashboards/KPI iniciales y línea base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del prototipo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h20b37650884cf90a_0_186"/>
          <p:cNvSpPr/>
          <p:nvPr/>
        </p:nvSpPr>
        <p:spPr>
          <a:xfrm>
            <a:off x="6931152" y="1993392"/>
            <a:ext cx="4974300" cy="557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Prototipo desplegado en Vercel con acceso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por rol + base técnica documentada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h20b37650884cf90a_0_186"/>
          <p:cNvSpPr/>
          <p:nvPr/>
        </p:nvSpPr>
        <p:spPr>
          <a:xfrm>
            <a:off x="1645920" y="2551176"/>
            <a:ext cx="14172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240"/>
              <a:buFont typeface="Arial"/>
              <a:buNone/>
            </a:pPr>
            <a:r>
              <a:rPr b="1" lang="en-US" sz="124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25 sep–08 oct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h20b37650884cf90a_0_186"/>
          <p:cNvSpPr/>
          <p:nvPr/>
        </p:nvSpPr>
        <p:spPr>
          <a:xfrm>
            <a:off x="3063240" y="2551176"/>
            <a:ext cx="38679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Backend Spring Boot, entidades base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y PostgreSQL inicial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h20b37650884cf90a_0_186"/>
          <p:cNvSpPr/>
          <p:nvPr/>
        </p:nvSpPr>
        <p:spPr>
          <a:xfrm>
            <a:off x="6931152" y="2551176"/>
            <a:ext cx="49743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API REST inicial + BD base conectable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h20b37650884cf90a_0_186"/>
          <p:cNvSpPr/>
          <p:nvPr/>
        </p:nvSpPr>
        <p:spPr>
          <a:xfrm>
            <a:off x="1645920" y="3108960"/>
            <a:ext cx="1417200" cy="557700"/>
          </a:xfrm>
          <a:prstGeom prst="rect">
            <a:avLst/>
          </a:prstGeom>
          <a:solidFill>
            <a:srgbClr val="F2F8FE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240"/>
              <a:buFont typeface="Arial"/>
              <a:buNone/>
            </a:pPr>
            <a:r>
              <a:rPr b="1" lang="en-US" sz="124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09–22 oct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h20b37650884cf90a_0_186"/>
          <p:cNvSpPr/>
          <p:nvPr/>
        </p:nvSpPr>
        <p:spPr>
          <a:xfrm>
            <a:off x="3063240" y="3108960"/>
            <a:ext cx="3867900" cy="557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Integración frontend-backend, CRUD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persistente y roles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h20b37650884cf90a_0_186"/>
          <p:cNvSpPr/>
          <p:nvPr/>
        </p:nvSpPr>
        <p:spPr>
          <a:xfrm>
            <a:off x="6931152" y="3108960"/>
            <a:ext cx="4974300" cy="557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Prototipo conectado a backend con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datos persistidos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h20b37650884cf90a_0_186"/>
          <p:cNvSpPr/>
          <p:nvPr/>
        </p:nvSpPr>
        <p:spPr>
          <a:xfrm>
            <a:off x="1645920" y="3666744"/>
            <a:ext cx="14172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240"/>
              <a:buFont typeface="Arial"/>
              <a:buNone/>
            </a:pPr>
            <a:r>
              <a:rPr b="1" lang="en-US" sz="124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23 oct–05 nov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h20b37650884cf90a_0_186"/>
          <p:cNvSpPr/>
          <p:nvPr/>
        </p:nvSpPr>
        <p:spPr>
          <a:xfrm>
            <a:off x="3063240" y="3680547"/>
            <a:ext cx="38679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Integración Jira/CSV-JSON,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dashboards QE y métricas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h20b37650884cf90a_0_186"/>
          <p:cNvSpPr/>
          <p:nvPr/>
        </p:nvSpPr>
        <p:spPr>
          <a:xfrm>
            <a:off x="6931152" y="3666744"/>
            <a:ext cx="49743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Dashboard QE con datos integrados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y KPI operativos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h20b37650884cf90a_0_186"/>
          <p:cNvSpPr/>
          <p:nvPr/>
        </p:nvSpPr>
        <p:spPr>
          <a:xfrm>
            <a:off x="1645920" y="4224528"/>
            <a:ext cx="1417200" cy="557700"/>
          </a:xfrm>
          <a:prstGeom prst="rect">
            <a:avLst/>
          </a:prstGeom>
          <a:solidFill>
            <a:srgbClr val="F2F8FE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240"/>
              <a:buFont typeface="Arial"/>
              <a:buNone/>
            </a:pPr>
            <a:r>
              <a:rPr b="1" lang="en-US" sz="124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06–19 nov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h20b37650884cf90a_0_186"/>
          <p:cNvSpPr/>
          <p:nvPr/>
        </p:nvSpPr>
        <p:spPr>
          <a:xfrm>
            <a:off x="3063240" y="4224528"/>
            <a:ext cx="3867900" cy="557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Pruebas QA, validación funcional,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medición SIN/CON Quality360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h20b37650884cf90a_0_186"/>
          <p:cNvSpPr/>
          <p:nvPr/>
        </p:nvSpPr>
        <p:spPr>
          <a:xfrm>
            <a:off x="6931152" y="4224528"/>
            <a:ext cx="4974300" cy="557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Versión validada con evidencias de pruebas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y beneficio medido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h20b37650884cf90a_0_186"/>
          <p:cNvSpPr/>
          <p:nvPr/>
        </p:nvSpPr>
        <p:spPr>
          <a:xfrm>
            <a:off x="1645920" y="4818888"/>
            <a:ext cx="14172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240"/>
              <a:buFont typeface="Arial"/>
              <a:buNone/>
            </a:pPr>
            <a:r>
              <a:rPr b="1" lang="en-US" sz="124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20–26 nov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h20b37650884cf90a_0_186"/>
          <p:cNvSpPr/>
          <p:nvPr/>
        </p:nvSpPr>
        <p:spPr>
          <a:xfrm>
            <a:off x="3063240" y="4782312"/>
            <a:ext cx="38679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Ajustes finales, documentación,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costos, riesgos y trazabilidad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h20b37650884cf90a_0_186"/>
          <p:cNvSpPr/>
          <p:nvPr/>
        </p:nvSpPr>
        <p:spPr>
          <a:xfrm>
            <a:off x="6931152" y="4782312"/>
            <a:ext cx="49743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Release versión final +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documentación completa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h20b37650884cf90a_0_186"/>
          <p:cNvSpPr/>
          <p:nvPr/>
        </p:nvSpPr>
        <p:spPr>
          <a:xfrm>
            <a:off x="1645920" y="5340096"/>
            <a:ext cx="1417200" cy="557700"/>
          </a:xfrm>
          <a:prstGeom prst="rect">
            <a:avLst/>
          </a:prstGeom>
          <a:solidFill>
            <a:srgbClr val="F2F8FE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240"/>
              <a:buFont typeface="Arial"/>
              <a:buNone/>
            </a:pPr>
            <a:r>
              <a:rPr b="1" lang="en-US" sz="124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27 nov–04 dic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h20b37650884cf90a_0_186"/>
          <p:cNvSpPr/>
          <p:nvPr/>
        </p:nvSpPr>
        <p:spPr>
          <a:xfrm>
            <a:off x="3063240" y="5340096"/>
            <a:ext cx="3867900" cy="557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Ensayo, estabilización y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presentación final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h20b37650884cf90a_0_186"/>
          <p:cNvSpPr/>
          <p:nvPr/>
        </p:nvSpPr>
        <p:spPr>
          <a:xfrm>
            <a:off x="6931152" y="5340096"/>
            <a:ext cx="4974300" cy="557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Versión final lista para  presentar ante comisión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h20b37650884cf90a_0_186"/>
          <p:cNvSpPr/>
          <p:nvPr/>
        </p:nvSpPr>
        <p:spPr>
          <a:xfrm>
            <a:off x="274320" y="6409944"/>
            <a:ext cx="11631300" cy="292500"/>
          </a:xfrm>
          <a:prstGeom prst="roundRect">
            <a:avLst>
              <a:gd fmla="val 16667" name="adj"/>
            </a:avLst>
          </a:prstGeom>
          <a:solidFill>
            <a:srgbClr val="EAF7FA"/>
          </a:solidFill>
          <a:ln cap="flat" cmpd="sng" w="12700">
            <a:solidFill>
              <a:srgbClr val="B5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h20b37650884cf90a_0_186"/>
          <p:cNvSpPr/>
          <p:nvPr/>
        </p:nvSpPr>
        <p:spPr>
          <a:xfrm>
            <a:off x="457200" y="6487668"/>
            <a:ext cx="11247000" cy="128100"/>
          </a:xfrm>
          <a:prstGeom prst="rect">
            <a:avLst/>
          </a:prstGeom>
          <a:noFill/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A5D"/>
              </a:buClr>
              <a:buSzPts val="780"/>
              <a:buFont typeface="Arial"/>
              <a:buNone/>
            </a:pPr>
            <a:r>
              <a:rPr b="1" lang="en-US" sz="780">
                <a:solidFill>
                  <a:srgbClr val="082A5D"/>
                </a:solidFill>
                <a:latin typeface="Arial"/>
                <a:ea typeface="Arial"/>
                <a:cs typeface="Arial"/>
                <a:sym typeface="Arial"/>
              </a:rPr>
              <a:t>Lectura ágil: cada Sprint entrega un incremento funcional, demostrable y trazable en Jira + GitHub. El cierre se adelanta a la primera semana de presentación ante comisión.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h20b37650884cf90a_0_1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442" y="1993392"/>
            <a:ext cx="1502720" cy="3995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h20b37650884cf90a_0_1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0839" y="451180"/>
            <a:ext cx="1649631" cy="41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h20b37650884cf90a_0_1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1243" y="1589702"/>
            <a:ext cx="333422" cy="295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h20b37650884cf90a_0_18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51162" y="1593378"/>
            <a:ext cx="304762" cy="285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h20b37650884cf90a_0_18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56851" y="1545165"/>
            <a:ext cx="352474" cy="35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h20b37650884cf90a_0_18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76408" y="1589431"/>
            <a:ext cx="314286" cy="342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anel_de_control_quality360_burndown_del_sprint_1.png" id="364" name="Google Shape;364;h20b37650884cf90a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logo_quality360_cropped.png" id="365" name="Google Shape;365;h20b37650884cf90a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80650" y="0"/>
            <a:ext cx="2152174" cy="8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5adcd0903d5cb179_4_264"/>
          <p:cNvSpPr/>
          <p:nvPr/>
        </p:nvSpPr>
        <p:spPr>
          <a:xfrm>
            <a:off x="0" y="0"/>
            <a:ext cx="12192000" cy="68700"/>
          </a:xfrm>
          <a:prstGeom prst="rect">
            <a:avLst/>
          </a:prstGeom>
          <a:solidFill>
            <a:srgbClr val="00B8A9"/>
          </a:solidFill>
          <a:ln cap="flat" cmpd="sng" w="12700">
            <a:solidFill>
              <a:srgbClr val="00B8A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h5adcd0903d5cb179_4_264"/>
          <p:cNvSpPr/>
          <p:nvPr/>
        </p:nvSpPr>
        <p:spPr>
          <a:xfrm>
            <a:off x="457212" y="310896"/>
            <a:ext cx="7224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B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061B4B"/>
                </a:solidFill>
                <a:latin typeface="Play"/>
                <a:ea typeface="Play"/>
                <a:cs typeface="Play"/>
                <a:sym typeface="Play"/>
              </a:rPr>
              <a:t>Conclusiones y próximos pasos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h5adcd0903d5cb179_4_264"/>
          <p:cNvSpPr/>
          <p:nvPr/>
        </p:nvSpPr>
        <p:spPr>
          <a:xfrm>
            <a:off x="466356" y="859536"/>
            <a:ext cx="6766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C86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5C6C86"/>
                </a:solidFill>
                <a:latin typeface="Arial"/>
                <a:ea typeface="Arial"/>
                <a:cs typeface="Arial"/>
                <a:sym typeface="Arial"/>
              </a:rPr>
              <a:t>Cierre del avance del prototipo y proyección de evolución de Quality360.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h5adcd0903d5cb179_4_264"/>
          <p:cNvSpPr/>
          <p:nvPr/>
        </p:nvSpPr>
        <p:spPr>
          <a:xfrm>
            <a:off x="466356" y="1197864"/>
            <a:ext cx="1005900" cy="36600"/>
          </a:xfrm>
          <a:prstGeom prst="rect">
            <a:avLst/>
          </a:prstGeom>
          <a:solidFill>
            <a:srgbClr val="00B8A9"/>
          </a:solidFill>
          <a:ln cap="flat" cmpd="sng" w="12700">
            <a:solidFill>
              <a:srgbClr val="00B8A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ogo_quality360_cropped.png" id="375" name="Google Shape;375;h5adcd0903d5cb179_4_2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7054" y="164592"/>
            <a:ext cx="960120" cy="768096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h5adcd0903d5cb179_4_264"/>
          <p:cNvSpPr/>
          <p:nvPr/>
        </p:nvSpPr>
        <p:spPr>
          <a:xfrm>
            <a:off x="475501" y="1572768"/>
            <a:ext cx="3749100" cy="14814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CDE4F6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7EA5C8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h5adcd0903d5cb179_4_264"/>
          <p:cNvSpPr/>
          <p:nvPr/>
        </p:nvSpPr>
        <p:spPr>
          <a:xfrm>
            <a:off x="676674" y="1773936"/>
            <a:ext cx="640200" cy="640200"/>
          </a:xfrm>
          <a:prstGeom prst="ellipse">
            <a:avLst/>
          </a:prstGeom>
          <a:solidFill>
            <a:srgbClr val="EAF5FF"/>
          </a:solidFill>
          <a:ln cap="flat" cmpd="sng" w="12700">
            <a:solidFill>
              <a:srgbClr val="EAF5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h5adcd0903d5cb179_4_264"/>
          <p:cNvSpPr/>
          <p:nvPr/>
        </p:nvSpPr>
        <p:spPr>
          <a:xfrm>
            <a:off x="749828" y="1856232"/>
            <a:ext cx="493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E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B6EEA"/>
                </a:solidFill>
                <a:latin typeface="Arial"/>
                <a:ea typeface="Arial"/>
                <a:cs typeface="Arial"/>
                <a:sym typeface="Arial"/>
              </a:rPr>
              <a:t>▥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h5adcd0903d5cb179_4_264"/>
          <p:cNvSpPr/>
          <p:nvPr/>
        </p:nvSpPr>
        <p:spPr>
          <a:xfrm>
            <a:off x="1609387" y="1847088"/>
            <a:ext cx="2194500" cy="384000"/>
          </a:xfrm>
          <a:prstGeom prst="roundRect">
            <a:avLst>
              <a:gd fmla="val 21429" name="adj"/>
            </a:avLst>
          </a:prstGeom>
          <a:solidFill>
            <a:srgbClr val="0B6EEA"/>
          </a:solidFill>
          <a:ln cap="flat" cmpd="sng" w="12700">
            <a:solidFill>
              <a:srgbClr val="0B6EE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h5adcd0903d5cb179_4_264"/>
          <p:cNvSpPr/>
          <p:nvPr/>
        </p:nvSpPr>
        <p:spPr>
          <a:xfrm>
            <a:off x="1764839" y="1920240"/>
            <a:ext cx="187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0"/>
              <a:buFont typeface="Arial"/>
              <a:buNone/>
            </a:pPr>
            <a:r>
              <a:rPr b="1" i="0" lang="en-US" sz="12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Visibilidad centralizada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h5adcd0903d5cb179_4_264"/>
          <p:cNvSpPr/>
          <p:nvPr/>
        </p:nvSpPr>
        <p:spPr>
          <a:xfrm>
            <a:off x="1618531" y="2414016"/>
            <a:ext cx="502800" cy="27300"/>
          </a:xfrm>
          <a:prstGeom prst="roundRect">
            <a:avLst>
              <a:gd fmla="val 16667" name="adj"/>
            </a:avLst>
          </a:prstGeom>
          <a:solidFill>
            <a:srgbClr val="BFD8F2"/>
          </a:solidFill>
          <a:ln cap="flat" cmpd="sng" w="12700">
            <a:solidFill>
              <a:srgbClr val="BFD8F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h5adcd0903d5cb179_4_264"/>
          <p:cNvSpPr/>
          <p:nvPr/>
        </p:nvSpPr>
        <p:spPr>
          <a:xfrm>
            <a:off x="1609375" y="2441400"/>
            <a:ext cx="253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516C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2516C"/>
                </a:solidFill>
                <a:latin typeface="Arial"/>
                <a:ea typeface="Arial"/>
                <a:cs typeface="Arial"/>
                <a:sym typeface="Arial"/>
              </a:rPr>
              <a:t>Centraliza HU, responsables y estados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516C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2516C"/>
                </a:solidFill>
                <a:latin typeface="Arial"/>
                <a:ea typeface="Arial"/>
                <a:cs typeface="Arial"/>
                <a:sym typeface="Arial"/>
              </a:rPr>
              <a:t>de certificación en una sola vista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516C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2516C"/>
                </a:solidFill>
                <a:latin typeface="Arial"/>
                <a:ea typeface="Arial"/>
                <a:cs typeface="Arial"/>
                <a:sym typeface="Arial"/>
              </a:rPr>
              <a:t>de gestión.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h5adcd0903d5cb179_4_264"/>
          <p:cNvSpPr/>
          <p:nvPr/>
        </p:nvSpPr>
        <p:spPr>
          <a:xfrm>
            <a:off x="4416670" y="1572768"/>
            <a:ext cx="3749100" cy="14814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CDE4F6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7EA5C8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h5adcd0903d5cb179_4_264"/>
          <p:cNvSpPr/>
          <p:nvPr/>
        </p:nvSpPr>
        <p:spPr>
          <a:xfrm>
            <a:off x="4617843" y="1773936"/>
            <a:ext cx="640200" cy="640200"/>
          </a:xfrm>
          <a:prstGeom prst="ellipse">
            <a:avLst/>
          </a:prstGeom>
          <a:solidFill>
            <a:srgbClr val="EAFBF8"/>
          </a:solidFill>
          <a:ln cap="flat" cmpd="sng" w="12700">
            <a:solidFill>
              <a:srgbClr val="EAFB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h5adcd0903d5cb179_4_264"/>
          <p:cNvSpPr/>
          <p:nvPr/>
        </p:nvSpPr>
        <p:spPr>
          <a:xfrm>
            <a:off x="4690997" y="1856232"/>
            <a:ext cx="493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A9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B8A9"/>
                </a:solidFill>
                <a:latin typeface="Arial"/>
                <a:ea typeface="Arial"/>
                <a:cs typeface="Arial"/>
                <a:sym typeface="Arial"/>
              </a:rPr>
              <a:t>👥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h5adcd0903d5cb179_4_264"/>
          <p:cNvSpPr/>
          <p:nvPr/>
        </p:nvSpPr>
        <p:spPr>
          <a:xfrm>
            <a:off x="5550556" y="1847088"/>
            <a:ext cx="2194500" cy="384000"/>
          </a:xfrm>
          <a:prstGeom prst="roundRect">
            <a:avLst>
              <a:gd fmla="val 21429" name="adj"/>
            </a:avLst>
          </a:prstGeom>
          <a:solidFill>
            <a:srgbClr val="00B8A9"/>
          </a:solidFill>
          <a:ln cap="flat" cmpd="sng" w="12700">
            <a:solidFill>
              <a:srgbClr val="00B8A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h5adcd0903d5cb179_4_264"/>
          <p:cNvSpPr/>
          <p:nvPr/>
        </p:nvSpPr>
        <p:spPr>
          <a:xfrm>
            <a:off x="5706008" y="1920240"/>
            <a:ext cx="187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0"/>
              <a:buFont typeface="Arial"/>
              <a:buNone/>
            </a:pPr>
            <a:r>
              <a:rPr b="1" i="0" lang="en-US" sz="12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Supervisión por roles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h5adcd0903d5cb179_4_264"/>
          <p:cNvSpPr/>
          <p:nvPr/>
        </p:nvSpPr>
        <p:spPr>
          <a:xfrm>
            <a:off x="5559700" y="2414016"/>
            <a:ext cx="502800" cy="27300"/>
          </a:xfrm>
          <a:prstGeom prst="roundRect">
            <a:avLst>
              <a:gd fmla="val 16667" name="adj"/>
            </a:avLst>
          </a:prstGeom>
          <a:solidFill>
            <a:srgbClr val="BFD8F2"/>
          </a:solidFill>
          <a:ln cap="flat" cmpd="sng" w="12700">
            <a:solidFill>
              <a:srgbClr val="BFD8F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h5adcd0903d5cb179_4_264"/>
          <p:cNvSpPr/>
          <p:nvPr/>
        </p:nvSpPr>
        <p:spPr>
          <a:xfrm>
            <a:off x="5550556" y="2468880"/>
            <a:ext cx="233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516C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2516C"/>
                </a:solidFill>
                <a:latin typeface="Arial"/>
                <a:ea typeface="Arial"/>
                <a:cs typeface="Arial"/>
                <a:sym typeface="Arial"/>
              </a:rPr>
              <a:t>Evidencia acceso diferenciado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516C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2516C"/>
                </a:solidFill>
                <a:latin typeface="Arial"/>
                <a:ea typeface="Arial"/>
                <a:cs typeface="Arial"/>
                <a:sym typeface="Arial"/>
              </a:rPr>
              <a:t>y funcionalidades orientadas al QE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516C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2516C"/>
                </a:solidFill>
                <a:latin typeface="Arial"/>
                <a:ea typeface="Arial"/>
                <a:cs typeface="Arial"/>
                <a:sym typeface="Arial"/>
              </a:rPr>
              <a:t>y a los Analistas QA.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h5adcd0903d5cb179_4_264"/>
          <p:cNvSpPr/>
          <p:nvPr/>
        </p:nvSpPr>
        <p:spPr>
          <a:xfrm>
            <a:off x="475501" y="3200400"/>
            <a:ext cx="3749100" cy="14814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CDE4F6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7EA5C8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h5adcd0903d5cb179_4_264"/>
          <p:cNvSpPr/>
          <p:nvPr/>
        </p:nvSpPr>
        <p:spPr>
          <a:xfrm>
            <a:off x="676674" y="3401568"/>
            <a:ext cx="640200" cy="640200"/>
          </a:xfrm>
          <a:prstGeom prst="ellipse">
            <a:avLst/>
          </a:prstGeom>
          <a:solidFill>
            <a:srgbClr val="EAFBF1"/>
          </a:solidFill>
          <a:ln cap="flat" cmpd="sng" w="12700">
            <a:solidFill>
              <a:srgbClr val="EAFBF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h5adcd0903d5cb179_4_264"/>
          <p:cNvSpPr/>
          <p:nvPr/>
        </p:nvSpPr>
        <p:spPr>
          <a:xfrm>
            <a:off x="749828" y="3483864"/>
            <a:ext cx="493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C27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1C27A"/>
                </a:solidFill>
                <a:latin typeface="Arial"/>
                <a:ea typeface="Arial"/>
                <a:cs typeface="Arial"/>
                <a:sym typeface="Arial"/>
              </a:rPr>
              <a:t>⚙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h5adcd0903d5cb179_4_264"/>
          <p:cNvSpPr/>
          <p:nvPr/>
        </p:nvSpPr>
        <p:spPr>
          <a:xfrm>
            <a:off x="1609387" y="3474720"/>
            <a:ext cx="2194500" cy="384000"/>
          </a:xfrm>
          <a:prstGeom prst="roundRect">
            <a:avLst>
              <a:gd fmla="val 21429" name="adj"/>
            </a:avLst>
          </a:prstGeom>
          <a:solidFill>
            <a:srgbClr val="21C27A"/>
          </a:solidFill>
          <a:ln cap="flat" cmpd="sng" w="12700">
            <a:solidFill>
              <a:srgbClr val="21C2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h5adcd0903d5cb179_4_264"/>
          <p:cNvSpPr/>
          <p:nvPr/>
        </p:nvSpPr>
        <p:spPr>
          <a:xfrm>
            <a:off x="1764839" y="3547872"/>
            <a:ext cx="187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0"/>
              <a:buFont typeface="Arial"/>
              <a:buNone/>
            </a:pPr>
            <a:r>
              <a:rPr b="1" i="0" lang="en-US" sz="12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Desarrollo incremental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h5adcd0903d5cb179_4_264"/>
          <p:cNvSpPr/>
          <p:nvPr/>
        </p:nvSpPr>
        <p:spPr>
          <a:xfrm>
            <a:off x="1618531" y="4041648"/>
            <a:ext cx="502800" cy="27300"/>
          </a:xfrm>
          <a:prstGeom prst="roundRect">
            <a:avLst>
              <a:gd fmla="val 16667" name="adj"/>
            </a:avLst>
          </a:prstGeom>
          <a:solidFill>
            <a:srgbClr val="BFD8F2"/>
          </a:solidFill>
          <a:ln cap="flat" cmpd="sng" w="12700">
            <a:solidFill>
              <a:srgbClr val="BFD8F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h5adcd0903d5cb179_4_264"/>
          <p:cNvSpPr/>
          <p:nvPr/>
        </p:nvSpPr>
        <p:spPr>
          <a:xfrm>
            <a:off x="1609387" y="4096512"/>
            <a:ext cx="233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516C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2516C"/>
                </a:solidFill>
                <a:latin typeface="Arial"/>
                <a:ea typeface="Arial"/>
                <a:cs typeface="Arial"/>
                <a:sym typeface="Arial"/>
              </a:rPr>
              <a:t>Scrum permite construir y validar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516C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2516C"/>
                </a:solidFill>
                <a:latin typeface="Arial"/>
                <a:ea typeface="Arial"/>
                <a:cs typeface="Arial"/>
                <a:sym typeface="Arial"/>
              </a:rPr>
              <a:t>incrementos funcionales al cierre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516C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2516C"/>
                </a:solidFill>
                <a:latin typeface="Arial"/>
                <a:ea typeface="Arial"/>
                <a:cs typeface="Arial"/>
                <a:sym typeface="Arial"/>
              </a:rPr>
              <a:t>de cada Sprint.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h5adcd0903d5cb179_4_264"/>
          <p:cNvSpPr/>
          <p:nvPr/>
        </p:nvSpPr>
        <p:spPr>
          <a:xfrm>
            <a:off x="4416670" y="3200400"/>
            <a:ext cx="3749100" cy="14814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CDE4F6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7EA5C8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h5adcd0903d5cb179_4_264"/>
          <p:cNvSpPr/>
          <p:nvPr/>
        </p:nvSpPr>
        <p:spPr>
          <a:xfrm>
            <a:off x="4617843" y="3401568"/>
            <a:ext cx="640200" cy="640200"/>
          </a:xfrm>
          <a:prstGeom prst="ellipse">
            <a:avLst/>
          </a:prstGeom>
          <a:solidFill>
            <a:srgbClr val="EDF6FF"/>
          </a:solidFill>
          <a:ln cap="flat" cmpd="sng" w="12700">
            <a:solidFill>
              <a:srgbClr val="EDF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h5adcd0903d5cb179_4_264"/>
          <p:cNvSpPr/>
          <p:nvPr/>
        </p:nvSpPr>
        <p:spPr>
          <a:xfrm>
            <a:off x="4690997" y="3483864"/>
            <a:ext cx="493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E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B6EEA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h5adcd0903d5cb179_4_264"/>
          <p:cNvSpPr/>
          <p:nvPr/>
        </p:nvSpPr>
        <p:spPr>
          <a:xfrm>
            <a:off x="5550556" y="3474720"/>
            <a:ext cx="2194500" cy="384000"/>
          </a:xfrm>
          <a:prstGeom prst="roundRect">
            <a:avLst>
              <a:gd fmla="val 21429" name="adj"/>
            </a:avLst>
          </a:prstGeom>
          <a:solidFill>
            <a:srgbClr val="0B6EEA"/>
          </a:solidFill>
          <a:ln cap="flat" cmpd="sng" w="12700">
            <a:solidFill>
              <a:srgbClr val="0B6EE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h5adcd0903d5cb179_4_264"/>
          <p:cNvSpPr/>
          <p:nvPr/>
        </p:nvSpPr>
        <p:spPr>
          <a:xfrm>
            <a:off x="5706008" y="3547872"/>
            <a:ext cx="187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0"/>
              <a:buFont typeface="Arial"/>
              <a:buNone/>
            </a:pPr>
            <a:r>
              <a:rPr b="1" i="0" lang="en-US" sz="12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 del prototipo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h5adcd0903d5cb179_4_264"/>
          <p:cNvSpPr/>
          <p:nvPr/>
        </p:nvSpPr>
        <p:spPr>
          <a:xfrm>
            <a:off x="5559700" y="4041648"/>
            <a:ext cx="502800" cy="27300"/>
          </a:xfrm>
          <a:prstGeom prst="roundRect">
            <a:avLst>
              <a:gd fmla="val 16667" name="adj"/>
            </a:avLst>
          </a:prstGeom>
          <a:solidFill>
            <a:srgbClr val="BFD8F2"/>
          </a:solidFill>
          <a:ln cap="flat" cmpd="sng" w="12700">
            <a:solidFill>
              <a:srgbClr val="BFD8F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h5adcd0903d5cb179_4_264"/>
          <p:cNvSpPr/>
          <p:nvPr/>
        </p:nvSpPr>
        <p:spPr>
          <a:xfrm>
            <a:off x="5550556" y="4096512"/>
            <a:ext cx="233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516C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2516C"/>
                </a:solidFill>
                <a:latin typeface="Arial"/>
                <a:ea typeface="Arial"/>
                <a:cs typeface="Arial"/>
                <a:sym typeface="Arial"/>
              </a:rPr>
              <a:t>Confirma la factibilidad y sirve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516C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2516C"/>
                </a:solidFill>
                <a:latin typeface="Arial"/>
                <a:ea typeface="Arial"/>
                <a:cs typeface="Arial"/>
                <a:sym typeface="Arial"/>
              </a:rPr>
              <a:t>como base para integrar backend,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516C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2516C"/>
                </a:solidFill>
                <a:latin typeface="Arial"/>
                <a:ea typeface="Arial"/>
                <a:cs typeface="Arial"/>
                <a:sym typeface="Arial"/>
              </a:rPr>
              <a:t>datos, métricas y automatización.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h5adcd0903d5cb179_4_264"/>
          <p:cNvSpPr/>
          <p:nvPr/>
        </p:nvSpPr>
        <p:spPr>
          <a:xfrm>
            <a:off x="8376127" y="1554480"/>
            <a:ext cx="3346800" cy="3895200"/>
          </a:xfrm>
          <a:prstGeom prst="roundRect">
            <a:avLst>
              <a:gd fmla="val 3825" name="adj"/>
            </a:avLst>
          </a:prstGeom>
          <a:solidFill>
            <a:srgbClr val="F1FFFC"/>
          </a:solidFill>
          <a:ln cap="flat" cmpd="sng" w="15225">
            <a:solidFill>
              <a:srgbClr val="8DE1D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72BEB8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h5adcd0903d5cb179_4_264"/>
          <p:cNvSpPr/>
          <p:nvPr/>
        </p:nvSpPr>
        <p:spPr>
          <a:xfrm>
            <a:off x="8659599" y="1755648"/>
            <a:ext cx="2816400" cy="429900"/>
          </a:xfrm>
          <a:prstGeom prst="roundRect">
            <a:avLst>
              <a:gd fmla="val 21277" name="adj"/>
            </a:avLst>
          </a:prstGeom>
          <a:solidFill>
            <a:srgbClr val="00B8A9"/>
          </a:solidFill>
          <a:ln cap="flat" cmpd="sng" w="12700">
            <a:solidFill>
              <a:srgbClr val="00B8A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h5adcd0903d5cb179_4_264"/>
          <p:cNvSpPr/>
          <p:nvPr/>
        </p:nvSpPr>
        <p:spPr>
          <a:xfrm>
            <a:off x="8906493" y="1856232"/>
            <a:ext cx="2286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Próximos pasos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h5adcd0903d5cb179_4_264"/>
          <p:cNvSpPr/>
          <p:nvPr/>
        </p:nvSpPr>
        <p:spPr>
          <a:xfrm>
            <a:off x="8668743" y="2331720"/>
            <a:ext cx="548700" cy="27300"/>
          </a:xfrm>
          <a:prstGeom prst="roundRect">
            <a:avLst>
              <a:gd fmla="val 16667" name="adj"/>
            </a:avLst>
          </a:prstGeom>
          <a:solidFill>
            <a:srgbClr val="BFD8F2"/>
          </a:solidFill>
          <a:ln cap="flat" cmpd="sng" w="12700">
            <a:solidFill>
              <a:srgbClr val="BFD8F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h5adcd0903d5cb179_4_264"/>
          <p:cNvSpPr/>
          <p:nvPr/>
        </p:nvSpPr>
        <p:spPr>
          <a:xfrm>
            <a:off x="8668743" y="2505456"/>
            <a:ext cx="640200" cy="640200"/>
          </a:xfrm>
          <a:prstGeom prst="ellipse">
            <a:avLst/>
          </a:prstGeom>
          <a:solidFill>
            <a:srgbClr val="E4F4FF"/>
          </a:solidFill>
          <a:ln cap="flat" cmpd="sng" w="12700">
            <a:solidFill>
              <a:srgbClr val="E4F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h5adcd0903d5cb179_4_264"/>
          <p:cNvSpPr/>
          <p:nvPr/>
        </p:nvSpPr>
        <p:spPr>
          <a:xfrm>
            <a:off x="8741897" y="2587752"/>
            <a:ext cx="493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E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B6EEA"/>
                </a:solidFill>
                <a:latin typeface="Arial"/>
                <a:ea typeface="Arial"/>
                <a:cs typeface="Arial"/>
                <a:sym typeface="Arial"/>
              </a:rPr>
              <a:t>▣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h5adcd0903d5cb179_4_264"/>
          <p:cNvSpPr/>
          <p:nvPr/>
        </p:nvSpPr>
        <p:spPr>
          <a:xfrm>
            <a:off x="9528302" y="2615184"/>
            <a:ext cx="1783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B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061B4B"/>
                </a:solidFill>
                <a:latin typeface="Arial"/>
                <a:ea typeface="Arial"/>
                <a:cs typeface="Arial"/>
                <a:sym typeface="Arial"/>
              </a:rPr>
              <a:t>Persistencia de datos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B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061B4B"/>
                </a:solidFill>
                <a:latin typeface="Arial"/>
                <a:ea typeface="Arial"/>
                <a:cs typeface="Arial"/>
                <a:sym typeface="Arial"/>
              </a:rPr>
              <a:t>y backend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" name="Google Shape;411;h5adcd0903d5cb179_4_264"/>
          <p:cNvCxnSpPr/>
          <p:nvPr/>
        </p:nvCxnSpPr>
        <p:spPr>
          <a:xfrm>
            <a:off x="8668743" y="3163824"/>
            <a:ext cx="2788800" cy="0"/>
          </a:xfrm>
          <a:prstGeom prst="straightConnector1">
            <a:avLst/>
          </a:prstGeom>
          <a:noFill/>
          <a:ln cap="flat" cmpd="sng" w="12700">
            <a:solidFill>
              <a:srgbClr val="C5E8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h5adcd0903d5cb179_4_264"/>
          <p:cNvSpPr/>
          <p:nvPr/>
        </p:nvSpPr>
        <p:spPr>
          <a:xfrm>
            <a:off x="8668743" y="3246120"/>
            <a:ext cx="640200" cy="640200"/>
          </a:xfrm>
          <a:prstGeom prst="ellipse">
            <a:avLst/>
          </a:prstGeom>
          <a:solidFill>
            <a:srgbClr val="E4F4FF"/>
          </a:solidFill>
          <a:ln cap="flat" cmpd="sng" w="12700">
            <a:solidFill>
              <a:srgbClr val="E4F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h5adcd0903d5cb179_4_264"/>
          <p:cNvSpPr/>
          <p:nvPr/>
        </p:nvSpPr>
        <p:spPr>
          <a:xfrm>
            <a:off x="8741897" y="3328416"/>
            <a:ext cx="493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E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B6EEA"/>
                </a:solidFill>
                <a:latin typeface="Arial"/>
                <a:ea typeface="Arial"/>
                <a:cs typeface="Arial"/>
                <a:sym typeface="Arial"/>
              </a:rPr>
              <a:t>🔗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h5adcd0903d5cb179_4_264"/>
          <p:cNvSpPr/>
          <p:nvPr/>
        </p:nvSpPr>
        <p:spPr>
          <a:xfrm>
            <a:off x="9528302" y="3355848"/>
            <a:ext cx="1783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B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061B4B"/>
                </a:solidFill>
                <a:latin typeface="Arial"/>
                <a:ea typeface="Arial"/>
                <a:cs typeface="Arial"/>
                <a:sym typeface="Arial"/>
              </a:rPr>
              <a:t>Integración con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B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061B4B"/>
                </a:solidFill>
                <a:latin typeface="Arial"/>
                <a:ea typeface="Arial"/>
                <a:cs typeface="Arial"/>
                <a:sym typeface="Arial"/>
              </a:rPr>
              <a:t>Jira / CSV-JSON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5" name="Google Shape;415;h5adcd0903d5cb179_4_264"/>
          <p:cNvCxnSpPr/>
          <p:nvPr/>
        </p:nvCxnSpPr>
        <p:spPr>
          <a:xfrm>
            <a:off x="8668743" y="3904488"/>
            <a:ext cx="2788800" cy="0"/>
          </a:xfrm>
          <a:prstGeom prst="straightConnector1">
            <a:avLst/>
          </a:prstGeom>
          <a:noFill/>
          <a:ln cap="flat" cmpd="sng" w="12700">
            <a:solidFill>
              <a:srgbClr val="C5E8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" name="Google Shape;416;h5adcd0903d5cb179_4_264"/>
          <p:cNvSpPr/>
          <p:nvPr/>
        </p:nvSpPr>
        <p:spPr>
          <a:xfrm>
            <a:off x="8668743" y="3986784"/>
            <a:ext cx="640200" cy="640200"/>
          </a:xfrm>
          <a:prstGeom prst="ellipse">
            <a:avLst/>
          </a:prstGeom>
          <a:solidFill>
            <a:srgbClr val="E4F4FF"/>
          </a:solidFill>
          <a:ln cap="flat" cmpd="sng" w="12700">
            <a:solidFill>
              <a:srgbClr val="E4F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h5adcd0903d5cb179_4_264"/>
          <p:cNvSpPr/>
          <p:nvPr/>
        </p:nvSpPr>
        <p:spPr>
          <a:xfrm>
            <a:off x="8741897" y="4069080"/>
            <a:ext cx="493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E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B6EEA"/>
                </a:solidFill>
                <a:latin typeface="Arial"/>
                <a:ea typeface="Arial"/>
                <a:cs typeface="Arial"/>
                <a:sym typeface="Arial"/>
              </a:rPr>
              <a:t>▥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h5adcd0903d5cb179_4_264"/>
          <p:cNvSpPr/>
          <p:nvPr/>
        </p:nvSpPr>
        <p:spPr>
          <a:xfrm>
            <a:off x="9528302" y="4096512"/>
            <a:ext cx="1783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B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061B4B"/>
                </a:solidFill>
                <a:latin typeface="Arial"/>
                <a:ea typeface="Arial"/>
                <a:cs typeface="Arial"/>
                <a:sym typeface="Arial"/>
              </a:rPr>
              <a:t>Dashboards QE y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B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061B4B"/>
                </a:solidFill>
                <a:latin typeface="Arial"/>
                <a:ea typeface="Arial"/>
                <a:cs typeface="Arial"/>
                <a:sym typeface="Arial"/>
              </a:rPr>
              <a:t>KPI operativos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" name="Google Shape;419;h5adcd0903d5cb179_4_264"/>
          <p:cNvCxnSpPr/>
          <p:nvPr/>
        </p:nvCxnSpPr>
        <p:spPr>
          <a:xfrm>
            <a:off x="8668743" y="4645152"/>
            <a:ext cx="2788800" cy="0"/>
          </a:xfrm>
          <a:prstGeom prst="straightConnector1">
            <a:avLst/>
          </a:prstGeom>
          <a:noFill/>
          <a:ln cap="flat" cmpd="sng" w="12700">
            <a:solidFill>
              <a:srgbClr val="C5E8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" name="Google Shape;420;h5adcd0903d5cb179_4_264"/>
          <p:cNvSpPr/>
          <p:nvPr/>
        </p:nvSpPr>
        <p:spPr>
          <a:xfrm>
            <a:off x="8668743" y="4727448"/>
            <a:ext cx="640200" cy="640200"/>
          </a:xfrm>
          <a:prstGeom prst="ellipse">
            <a:avLst/>
          </a:prstGeom>
          <a:solidFill>
            <a:srgbClr val="E4F4FF"/>
          </a:solidFill>
          <a:ln cap="flat" cmpd="sng" w="12700">
            <a:solidFill>
              <a:srgbClr val="E4F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h5adcd0903d5cb179_4_264"/>
          <p:cNvSpPr/>
          <p:nvPr/>
        </p:nvSpPr>
        <p:spPr>
          <a:xfrm>
            <a:off x="8741897" y="4809744"/>
            <a:ext cx="493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E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B6EE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h5adcd0903d5cb179_4_264"/>
          <p:cNvSpPr/>
          <p:nvPr/>
        </p:nvSpPr>
        <p:spPr>
          <a:xfrm>
            <a:off x="9528302" y="4837176"/>
            <a:ext cx="1783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B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061B4B"/>
                </a:solidFill>
                <a:latin typeface="Arial"/>
                <a:ea typeface="Arial"/>
                <a:cs typeface="Arial"/>
                <a:sym typeface="Arial"/>
              </a:rPr>
              <a:t>Pruebas funcionales y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B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061B4B"/>
                </a:solidFill>
                <a:latin typeface="Arial"/>
                <a:ea typeface="Arial"/>
                <a:cs typeface="Arial"/>
                <a:sym typeface="Arial"/>
              </a:rPr>
              <a:t>validación del beneficio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h5adcd0903d5cb179_4_264"/>
          <p:cNvSpPr/>
          <p:nvPr/>
        </p:nvSpPr>
        <p:spPr>
          <a:xfrm>
            <a:off x="484650" y="5641850"/>
            <a:ext cx="11156100" cy="1051200"/>
          </a:xfrm>
          <a:prstGeom prst="roundRect">
            <a:avLst>
              <a:gd fmla="val 16129" name="adj"/>
            </a:avLst>
          </a:prstGeom>
          <a:solidFill>
            <a:srgbClr val="F2FAFF"/>
          </a:solidFill>
          <a:ln cap="flat" cmpd="sng" w="12700">
            <a:solidFill>
              <a:srgbClr val="CDE4F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7EA5C8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h5adcd0903d5cb179_4_264"/>
          <p:cNvSpPr/>
          <p:nvPr/>
        </p:nvSpPr>
        <p:spPr>
          <a:xfrm>
            <a:off x="1325915" y="5751576"/>
            <a:ext cx="567000" cy="567000"/>
          </a:xfrm>
          <a:prstGeom prst="ellipse">
            <a:avLst/>
          </a:prstGeom>
          <a:solidFill>
            <a:srgbClr val="E3F2FF"/>
          </a:solidFill>
          <a:ln cap="flat" cmpd="sng" w="12700">
            <a:solidFill>
              <a:srgbClr val="E3F2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h5adcd0903d5cb179_4_264"/>
          <p:cNvSpPr/>
          <p:nvPr/>
        </p:nvSpPr>
        <p:spPr>
          <a:xfrm>
            <a:off x="1389925" y="5833872"/>
            <a:ext cx="438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6" name="Google Shape;426;h5adcd0903d5cb179_4_264"/>
          <p:cNvCxnSpPr/>
          <p:nvPr/>
        </p:nvCxnSpPr>
        <p:spPr>
          <a:xfrm>
            <a:off x="2240340" y="5779008"/>
            <a:ext cx="0" cy="548700"/>
          </a:xfrm>
          <a:prstGeom prst="straightConnector1">
            <a:avLst/>
          </a:prstGeom>
          <a:noFill/>
          <a:ln cap="flat" cmpd="sng" w="15225">
            <a:solidFill>
              <a:srgbClr val="C6D5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h5adcd0903d5cb179_4_264"/>
          <p:cNvSpPr/>
          <p:nvPr/>
        </p:nvSpPr>
        <p:spPr>
          <a:xfrm>
            <a:off x="2606100" y="5687676"/>
            <a:ext cx="8705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B"/>
              </a:buClr>
              <a:buSzPts val="1560"/>
              <a:buFont typeface="Play"/>
              <a:buNone/>
            </a:pPr>
            <a:r>
              <a:rPr b="1" i="0" lang="en-US" sz="1560" u="none" cap="none" strike="noStrike">
                <a:solidFill>
                  <a:srgbClr val="061B4B"/>
                </a:solidFill>
                <a:latin typeface="Play"/>
                <a:ea typeface="Play"/>
                <a:cs typeface="Play"/>
                <a:sym typeface="Play"/>
              </a:rPr>
              <a:t>Quality360 evoluciona desde un seguimiento operativo disperso hacia una</a:t>
            </a:r>
            <a:r>
              <a:rPr lang="en-US" sz="1560">
                <a:solidFill>
                  <a:schemeClr val="dk1"/>
                </a:solidFill>
              </a:rPr>
              <a:t> </a:t>
            </a:r>
            <a:r>
              <a:rPr b="1" i="0" lang="en-US" sz="1560" u="none" cap="none" strike="noStrike">
                <a:solidFill>
                  <a:srgbClr val="061B4B"/>
                </a:solidFill>
                <a:latin typeface="Play"/>
                <a:ea typeface="Play"/>
                <a:cs typeface="Play"/>
                <a:sym typeface="Play"/>
              </a:rPr>
              <a:t>gestión QA con 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A9"/>
              </a:buClr>
              <a:buSzPts val="1560"/>
              <a:buFont typeface="Play"/>
              <a:buNone/>
            </a:pPr>
            <a:r>
              <a:t/>
            </a:r>
            <a:endParaRPr b="1" sz="1560">
              <a:solidFill>
                <a:srgbClr val="00B8A9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A9"/>
              </a:buClr>
              <a:buSzPts val="1560"/>
              <a:buFont typeface="Play"/>
              <a:buNone/>
            </a:pPr>
            <a:r>
              <a:rPr b="1" i="0" lang="en-US" sz="1560" u="none" cap="none" strike="noStrike">
                <a:solidFill>
                  <a:srgbClr val="00B8A9"/>
                </a:solidFill>
                <a:latin typeface="Play"/>
                <a:ea typeface="Play"/>
                <a:cs typeface="Play"/>
                <a:sym typeface="Play"/>
              </a:rPr>
              <a:t>mayor visibilidad, trazabilidad y capacidad de decisión.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2026-09-24T23:02:06Z</dcterms:created>
  <dc:creator>OpenAI</dc:creator>
</cp:coreProperties>
</file>