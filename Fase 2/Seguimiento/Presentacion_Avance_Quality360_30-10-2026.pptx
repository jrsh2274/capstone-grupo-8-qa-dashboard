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12192000"/>
  <p:embeddedFontLst>
    <p:embeddedFont>
      <p:font typeface="Play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k8GVUnPqRiWPUJIR3ThoVk8AM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B84904C-2D6E-4585-9D84-978E1567C66F}">
  <a:tblStyle styleId="{8B84904C-2D6E-4585-9D84-978E1567C66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h5adcd0903d5cb179_3_0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" name="Google Shape;31;h5adcd0903d5cb179_3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h5adcd0903d5cb179_3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h5adcd0903d5cb179_4_8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h5adcd0903d5cb179_4_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Agenda actualizada: creación de subagentes en Claude y configuración equivalente en Codex, nuevo acceso, roadmap desde Sprint 3 y seguimiento del Sprint 3. Los demás temas del índice se conservan.</a:t>
            </a:r>
            <a:endParaRPr/>
          </a:p>
        </p:txBody>
      </p:sp>
      <p:sp>
        <p:nvSpPr>
          <p:cNvPr id="50" name="Google Shape;50;h5adcd0903d5cb179_4_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5adcd0903d5cb179_4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h5adcd0903d5cb179_4_83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h5adcd0903d5cb179_4_83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h1794ca906f73028b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" name="Google Shape;155;h1794ca906f73028b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Roadmap reconstruido con objetos editables de PowerPoint. Corte 27/10/2026. Sprint 3: Jira Burnup 3/17 SP al cierre; tres actividades adicionales (6 SP) finalizadas tras cierre. Sprint 4 no iniciado formalmente a la fecha del seguimiento. Los bloques de sprint futuros representan planificación, no cumplimiento.</a:t>
            </a:r>
            <a:endParaRPr/>
          </a:p>
        </p:txBody>
      </p:sp>
      <p:sp>
        <p:nvSpPr>
          <p:cNvPr id="156" name="Google Shape;156;h1794ca906f73028b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h48836ed72b515341_5_4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1" name="Google Shape;331;h48836ed72b515341_5_41:notes"/>
          <p:cNvSpPr txBox="1"/>
          <p:nvPr>
            <p:ph idx="1" type="body"/>
          </p:nvPr>
        </p:nvSpPr>
        <p:spPr>
          <a:xfrm>
            <a:off x="0" y="0"/>
            <a:ext cx="3000000" cy="3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Fuentes: C:/DuocUC/CAPSTONE/QA-Dashboard/docs/validacion/certificacion-mejoras-d130-d131.md y docs/arquitectura/decisiones-mvp.md, D130 y D131. Implementación: commit d2f931b2272efef11d80d8e955507f0222b0277b, certificación 6b00498b25e14296d62f228bcfc43a5e3be20789, integración PR #4 y commit 6bc1409, 30/10/2026. D130 permite marcar cualquier entregable pendiente sin esperar al anterior y desmarcar sin orden de retroceso. Se conservan registro único, aprobación solo del QE responsable, motivo al desmarcar, certificado automático/inmutable y bloqueo de HDU cerrada. El certificado requiere entregables 1 a 8 aprobados. D131 sustituye el desplegable nativo por una lista visible con 2 a 6 filas y desplazamiento propio en Asignar analista y Reasignar QE responsable. Código: apps/web/src/lib/listaDialogo.ts, apps/web/src/pages/hdu/HduDetailPage.tsx, apps/web/src/components/DialogoReasignarQe.tsx y services/certificaciones/src/dominio/entregables.ts. Dictamen local CERTIFICADAS. Pruebas dirigidas 20/20; servicio Certificaciones 77/77 y portal 260/260. La suite completa posterior registra 567 pasan, 0 fallan, 1 intermitente resuelta en reintento y 9 omitidas. Las omitidas no certifican escenarios. Las listas se probaron en Chromium de escritorio a 1280 y 375 px, sin violaciones axe serious/critical en esas vistas; esto no declara conformidad de accesibilidad completa ni prueba exhaustiva de teclado móvil.</a:t>
            </a:r>
            <a:endParaRPr/>
          </a:p>
        </p:txBody>
      </p:sp>
      <p:sp>
        <p:nvSpPr>
          <p:cNvPr id="332" name="Google Shape;332;h48836ed72b515341_5_41:notes"/>
          <p:cNvSpPr txBox="1"/>
          <p:nvPr>
            <p:ph idx="12" type="sldNum"/>
          </p:nvPr>
        </p:nvSpPr>
        <p:spPr>
          <a:xfrm>
            <a:off x="0" y="0"/>
            <a:ext cx="3000000" cy="3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h48836ed72b515341_5_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5" name="Google Shape;345;h48836ed72b515341_5_5:notes"/>
          <p:cNvSpPr txBox="1"/>
          <p:nvPr>
            <p:ph idx="1" type="body"/>
          </p:nvPr>
        </p:nvSpPr>
        <p:spPr>
          <a:xfrm>
            <a:off x="0" y="0"/>
            <a:ext cx="3000000" cy="3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Fuente principal: C:/DuocUC/CAPSTONE/QA-Dashboard/output/pdf/Quality360_E5_Integracion_Jira_Revisada.pdf, revisión 1.1, corte 30/10/2026. Resumen ejecutivo p.2; arquitectura p.4; mapeo p.7; reglas p.8; CSV/JSON p.9; seguridad p.10; permisos p.12-13; certificación p.15-17. E5 tiene 8 HDU (4 frontend y 4 backend) y 24 escenarios. El dictamen certifica las 8 HDU tras correcciones y re-verificaciones. QA usa Jira simulado y E5-MAN-01 no fue ejecutada. Esta diapositiva no afirma conexión con un Jira real ni despliegue cloud verificado. La sincronización es manual y de solo lectura hacia Jira. Organización es el único servicio que crea o actualiza las HDU. La importación mantiene estado, analista, QE y checklist. Token Jira cifrado mediante AES-256-GCM; la llave queda en el entorno del servicio. QE consulta su ámbito; Auditor consulta historial completo. El modo estricto tiene atomicidad por lote y no una transacción única para todo el archivo. Propuestas del informe como OAuth y sincronización programada no se presentan como implementadas.</a:t>
            </a:r>
            <a:endParaRPr/>
          </a:p>
        </p:txBody>
      </p:sp>
      <p:sp>
        <p:nvSpPr>
          <p:cNvPr id="346" name="Google Shape;346;h48836ed72b515341_5_5:notes"/>
          <p:cNvSpPr txBox="1"/>
          <p:nvPr>
            <p:ph idx="12" type="sldNum"/>
          </p:nvPr>
        </p:nvSpPr>
        <p:spPr>
          <a:xfrm>
            <a:off x="0" y="0"/>
            <a:ext cx="3000000" cy="3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h48836ed72b515341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h48836ed72b515341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h48836ed72b515341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h4e82ad7d59cc63f1_3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h4e82ad7d59cc63f1_3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2" name="Google Shape;492;h4e82ad7d59cc63f1_3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h48836ed72b515341_1_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" name="Google Shape;587;h48836ed72b515341_1_1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h48836ed72b515341_1_1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360_MASTER">
  <p:cSld name="Q360_MASTER">
    <p:bg>
      <p:bgPr>
        <a:solidFill>
          <a:srgbClr val="F7FAFC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h4e82ad7d59cc63f1_2_342"/>
          <p:cNvSpPr/>
          <p:nvPr/>
        </p:nvSpPr>
        <p:spPr>
          <a:xfrm>
            <a:off x="0" y="0"/>
            <a:ext cx="12191700" cy="658500"/>
          </a:xfrm>
          <a:prstGeom prst="rect">
            <a:avLst/>
          </a:prstGeom>
          <a:solidFill>
            <a:srgbClr val="174A7E"/>
          </a:solidFill>
          <a:ln cap="flat" cmpd="sng" w="12700">
            <a:solidFill>
              <a:srgbClr val="174A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h4e82ad7d59cc63f1_2_342"/>
          <p:cNvSpPr/>
          <p:nvPr/>
        </p:nvSpPr>
        <p:spPr>
          <a:xfrm>
            <a:off x="10561320" y="164592"/>
            <a:ext cx="123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Quality360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" name="Google Shape;10;h4e82ad7d59cc63f1_2_342"/>
          <p:cNvCxnSpPr/>
          <p:nvPr/>
        </p:nvCxnSpPr>
        <p:spPr>
          <a:xfrm>
            <a:off x="685800" y="6565392"/>
            <a:ext cx="10835700" cy="0"/>
          </a:xfrm>
          <a:prstGeom prst="straightConnector1">
            <a:avLst/>
          </a:prstGeom>
          <a:noFill/>
          <a:ln cap="flat" cmpd="sng" w="12700">
            <a:solidFill>
              <a:srgbClr val="D7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h4e82ad7d59cc63f1_2_342"/>
          <p:cNvSpPr/>
          <p:nvPr/>
        </p:nvSpPr>
        <p:spPr>
          <a:xfrm>
            <a:off x="685800" y="6601968"/>
            <a:ext cx="4114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C8F"/>
                </a:solidFill>
                <a:latin typeface="Arial"/>
                <a:ea typeface="Arial"/>
                <a:cs typeface="Arial"/>
                <a:sym typeface="Arial"/>
              </a:rPr>
              <a:t>Capstone · Seguimiento Sprint 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h4e82ad7d59cc63f1_2_342"/>
          <p:cNvSpPr txBox="1"/>
          <p:nvPr>
            <p:ph idx="12" type="sldNum"/>
          </p:nvPr>
        </p:nvSpPr>
        <p:spPr>
          <a:xfrm>
            <a:off x="11356848" y="658368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B7C8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B7C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B7C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B7C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B7C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B7C8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B7C8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B7C8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B7C8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bg>
      <p:bgPr>
        <a:solidFill>
          <a:srgbClr val="F6FAF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_Q360">
  <p:cSld name="MASTER_Q360">
    <p:bg>
      <p:bgPr>
        <a:solidFill>
          <a:srgbClr val="F6F8FA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h4e82ad7d59cc63f1_2_240"/>
          <p:cNvSpPr/>
          <p:nvPr/>
        </p:nvSpPr>
        <p:spPr>
          <a:xfrm>
            <a:off x="502920" y="201168"/>
            <a:ext cx="11109900" cy="749700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h4e82ad7d59cc63f1_2_240"/>
          <p:cNvSpPr/>
          <p:nvPr/>
        </p:nvSpPr>
        <p:spPr>
          <a:xfrm>
            <a:off x="795528" y="338328"/>
            <a:ext cx="7132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Play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Seguimiento del Sprint 3 y Burndown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h4e82ad7d59cc63f1_2_240"/>
          <p:cNvSpPr/>
          <p:nvPr/>
        </p:nvSpPr>
        <p:spPr>
          <a:xfrm>
            <a:off x="795528" y="658368"/>
            <a:ext cx="6583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Corte 16/10/2026 · Estado actualizado en Jira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360_MASTER">
  <p:cSld name="Q360_MASTER">
    <p:bg>
      <p:bgPr>
        <a:solidFill>
          <a:srgbClr val="F7FAFD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h4e82ad7d59cc63f1_3_122"/>
          <p:cNvSpPr/>
          <p:nvPr/>
        </p:nvSpPr>
        <p:spPr>
          <a:xfrm>
            <a:off x="0" y="0"/>
            <a:ext cx="12191700" cy="658500"/>
          </a:xfrm>
          <a:prstGeom prst="rect">
            <a:avLst/>
          </a:prstGeom>
          <a:solidFill>
            <a:srgbClr val="143E6D"/>
          </a:solidFill>
          <a:ln cap="flat" cmpd="sng" w="12700">
            <a:solidFill>
              <a:srgbClr val="143E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h4e82ad7d59cc63f1_3_122"/>
          <p:cNvSpPr/>
          <p:nvPr/>
        </p:nvSpPr>
        <p:spPr>
          <a:xfrm>
            <a:off x="0" y="658368"/>
            <a:ext cx="12191700" cy="45600"/>
          </a:xfrm>
          <a:prstGeom prst="rect">
            <a:avLst/>
          </a:prstGeom>
          <a:solidFill>
            <a:srgbClr val="24B7C6"/>
          </a:solidFill>
          <a:ln cap="flat" cmpd="sng" w="12700">
            <a:solidFill>
              <a:srgbClr val="24B7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h4e82ad7d59cc63f1_3_122"/>
          <p:cNvSpPr/>
          <p:nvPr/>
        </p:nvSpPr>
        <p:spPr>
          <a:xfrm>
            <a:off x="411480" y="6565392"/>
            <a:ext cx="2743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794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rPr>
              <a:t>Quality360 · Capstone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h4e82ad7d59cc63f1_3_122"/>
          <p:cNvSpPr txBox="1"/>
          <p:nvPr>
            <p:ph idx="12" type="sldNum"/>
          </p:nvPr>
        </p:nvSpPr>
        <p:spPr>
          <a:xfrm>
            <a:off x="11475720" y="6510528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  <p:sldLayoutId id="2147483655" r:id="rId2"/>
    <p:sldLayoutId id="2147483656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h5adcd0903d5cb179_3_0"/>
          <p:cNvSpPr/>
          <p:nvPr/>
        </p:nvSpPr>
        <p:spPr>
          <a:xfrm>
            <a:off x="0" y="0"/>
            <a:ext cx="12191700" cy="82200"/>
          </a:xfrm>
          <a:prstGeom prst="rect">
            <a:avLst/>
          </a:prstGeom>
          <a:solidFill>
            <a:srgbClr val="20B8B4"/>
          </a:solidFill>
          <a:ln cap="flat" cmpd="sng" w="12700">
            <a:solidFill>
              <a:srgbClr val="20B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h5adcd0903d5cb179_3_0"/>
          <p:cNvSpPr/>
          <p:nvPr/>
        </p:nvSpPr>
        <p:spPr>
          <a:xfrm>
            <a:off x="10515600" y="5577840"/>
            <a:ext cx="2286000" cy="22860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4F8FB">
              <a:alpha val="0"/>
            </a:srgbClr>
          </a:solidFill>
          <a:ln cap="flat" cmpd="sng" w="25400">
            <a:solidFill>
              <a:srgbClr val="D6F3F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h5adcd0903d5cb179_3_0"/>
          <p:cNvSpPr/>
          <p:nvPr/>
        </p:nvSpPr>
        <p:spPr>
          <a:xfrm>
            <a:off x="0" y="0"/>
            <a:ext cx="3840600" cy="6858000"/>
          </a:xfrm>
          <a:prstGeom prst="rect">
            <a:avLst/>
          </a:prstGeom>
          <a:solidFill>
            <a:srgbClr val="0B2559"/>
          </a:solidFill>
          <a:ln cap="flat" cmpd="sng" w="12700">
            <a:solidFill>
              <a:srgbClr val="0B2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h5adcd0903d5cb179_3_0"/>
          <p:cNvSpPr/>
          <p:nvPr/>
        </p:nvSpPr>
        <p:spPr>
          <a:xfrm>
            <a:off x="457200" y="548640"/>
            <a:ext cx="301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E7F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BFE7F1"/>
                </a:solidFill>
                <a:latin typeface="Arial"/>
                <a:ea typeface="Arial"/>
                <a:cs typeface="Arial"/>
                <a:sym typeface="Arial"/>
              </a:rPr>
              <a:t>CAPSTONE · GRUPO 8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h5adcd0903d5cb179_3_0"/>
          <p:cNvSpPr/>
          <p:nvPr/>
        </p:nvSpPr>
        <p:spPr>
          <a:xfrm>
            <a:off x="457200" y="1417320"/>
            <a:ext cx="2926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Quality360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h5adcd0903d5cb179_3_0"/>
          <p:cNvSpPr/>
          <p:nvPr/>
        </p:nvSpPr>
        <p:spPr>
          <a:xfrm>
            <a:off x="457200" y="2130549"/>
            <a:ext cx="29262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Presentación de </a:t>
            </a:r>
            <a:r>
              <a:rPr b="1" lang="en-US" sz="1600">
                <a:solidFill>
                  <a:srgbClr val="FFFFFF"/>
                </a:solidFill>
              </a:rPr>
              <a:t>Avance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h5adcd0903d5cb179_3_0"/>
          <p:cNvSpPr/>
          <p:nvPr/>
        </p:nvSpPr>
        <p:spPr>
          <a:xfrm>
            <a:off x="325850" y="2606050"/>
            <a:ext cx="2874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BF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DCEBFA"/>
                </a:solidFill>
              </a:rPr>
              <a:t>Sprint 4 Consolidar y validar la integración entre el frontend React/Vite, las APIs REST del backend NestJS y Supabase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h5adcd0903d5cb179_3_0"/>
          <p:cNvSpPr/>
          <p:nvPr/>
        </p:nvSpPr>
        <p:spPr>
          <a:xfrm>
            <a:off x="457200" y="3703320"/>
            <a:ext cx="1554600" cy="320100"/>
          </a:xfrm>
          <a:prstGeom prst="roundRect">
            <a:avLst>
              <a:gd fmla="val 22857" name="adj"/>
            </a:avLst>
          </a:prstGeom>
          <a:solidFill>
            <a:srgbClr val="176CCB"/>
          </a:solidFill>
          <a:ln cap="flat" cmpd="sng" w="12700">
            <a:solidFill>
              <a:srgbClr val="176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h5adcd0903d5cb179_3_0"/>
          <p:cNvSpPr/>
          <p:nvPr/>
        </p:nvSpPr>
        <p:spPr>
          <a:xfrm>
            <a:off x="457200" y="3753612"/>
            <a:ext cx="1554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Arial"/>
              <a:buNone/>
            </a:pPr>
            <a:r>
              <a:rPr b="1" lang="en-US" sz="820">
                <a:solidFill>
                  <a:srgbClr val="FFFFFF"/>
                </a:solidFill>
              </a:rPr>
              <a:t>30</a:t>
            </a:r>
            <a:r>
              <a:rPr b="1" i="0" lang="en-US" sz="8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//10/2026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h5adcd0903d5cb179_3_0"/>
          <p:cNvSpPr/>
          <p:nvPr/>
        </p:nvSpPr>
        <p:spPr>
          <a:xfrm>
            <a:off x="457200" y="5440680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B93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6B93B"/>
                </a:solidFill>
                <a:latin typeface="Arial"/>
                <a:ea typeface="Arial"/>
                <a:cs typeface="Arial"/>
                <a:sym typeface="Arial"/>
              </a:rPr>
              <a:t>José Seguel · Jonathan Choque · Matías Araos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ogo_corporativo_quality360_en_azul_y_turquesa.png" id="44" name="Google Shape;44;h5adcd0903d5cb179_3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0" y="960120"/>
            <a:ext cx="4389119" cy="438911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h5adcd0903d5cb179_3_0"/>
          <p:cNvSpPr/>
          <p:nvPr/>
        </p:nvSpPr>
        <p:spPr>
          <a:xfrm>
            <a:off x="4800600" y="5715000"/>
            <a:ext cx="5394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6CC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76CCB"/>
                </a:solidFill>
                <a:latin typeface="Arial"/>
                <a:ea typeface="Arial"/>
                <a:cs typeface="Arial"/>
                <a:sym typeface="Arial"/>
              </a:rPr>
              <a:t>CALIDAD · VISIBILIDAD · ANÁLISIS · IMPACTO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h5adcd0903d5cb179_3_0"/>
          <p:cNvSpPr/>
          <p:nvPr/>
        </p:nvSpPr>
        <p:spPr>
          <a:xfrm>
            <a:off x="11631168" y="6473952"/>
            <a:ext cx="2286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5adcd0903d5cb179_4_8"/>
          <p:cNvSpPr/>
          <p:nvPr/>
        </p:nvSpPr>
        <p:spPr>
          <a:xfrm>
            <a:off x="0" y="0"/>
            <a:ext cx="12191700" cy="82200"/>
          </a:xfrm>
          <a:prstGeom prst="rect">
            <a:avLst/>
          </a:prstGeom>
          <a:solidFill>
            <a:srgbClr val="20B8B4"/>
          </a:solidFill>
          <a:ln cap="flat" cmpd="sng" w="12700">
            <a:solidFill>
              <a:srgbClr val="20B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h5adcd0903d5cb179_4_8"/>
          <p:cNvSpPr/>
          <p:nvPr/>
        </p:nvSpPr>
        <p:spPr>
          <a:xfrm>
            <a:off x="502920" y="6492240"/>
            <a:ext cx="3657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Quality360 · Capstone Grupo 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h5adcd0903d5cb179_4_8"/>
          <p:cNvSpPr/>
          <p:nvPr/>
        </p:nvSpPr>
        <p:spPr>
          <a:xfrm>
            <a:off x="530352" y="420624"/>
            <a:ext cx="9784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B2559"/>
                </a:solidFill>
                <a:latin typeface="Play"/>
                <a:ea typeface="Play"/>
                <a:cs typeface="Play"/>
                <a:sym typeface="Play"/>
              </a:rPr>
              <a:t>Contenidos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h5adcd0903d5cb179_4_8"/>
          <p:cNvSpPr/>
          <p:nvPr/>
        </p:nvSpPr>
        <p:spPr>
          <a:xfrm>
            <a:off x="613252" y="3605859"/>
            <a:ext cx="2286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h5adcd0903d5cb179_4_8"/>
          <p:cNvGrpSpPr/>
          <p:nvPr/>
        </p:nvGrpSpPr>
        <p:grpSpPr>
          <a:xfrm>
            <a:off x="6013925" y="1356250"/>
            <a:ext cx="5195700" cy="1008600"/>
            <a:chOff x="5952700" y="2734325"/>
            <a:chExt cx="5195700" cy="1008600"/>
          </a:xfrm>
        </p:grpSpPr>
        <p:sp>
          <p:nvSpPr>
            <p:cNvPr id="57" name="Google Shape;57;h5adcd0903d5cb179_4_8"/>
            <p:cNvSpPr/>
            <p:nvPr/>
          </p:nvSpPr>
          <p:spPr>
            <a:xfrm>
              <a:off x="5952700" y="2734325"/>
              <a:ext cx="5195700" cy="1008600"/>
            </a:xfrm>
            <a:prstGeom prst="roundRect">
              <a:avLst>
                <a:gd fmla="val 11429" name="adj"/>
              </a:avLst>
            </a:prstGeom>
            <a:solidFill>
              <a:srgbClr val="FFFFFF"/>
            </a:solidFill>
            <a:ln cap="flat" cmpd="sng" w="12700">
              <a:solidFill>
                <a:srgbClr val="D6E3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h5adcd0903d5cb179_4_8"/>
            <p:cNvSpPr/>
            <p:nvPr/>
          </p:nvSpPr>
          <p:spPr>
            <a:xfrm>
              <a:off x="6211935" y="2905996"/>
              <a:ext cx="384000" cy="384000"/>
            </a:xfrm>
            <a:prstGeom prst="ellipse">
              <a:avLst/>
            </a:prstGeom>
            <a:solidFill>
              <a:srgbClr val="88C846"/>
            </a:solidFill>
            <a:ln cap="flat" cmpd="sng" w="12700">
              <a:solidFill>
                <a:srgbClr val="88C8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h5adcd0903d5cb179_4_8"/>
            <p:cNvSpPr/>
            <p:nvPr/>
          </p:nvSpPr>
          <p:spPr>
            <a:xfrm>
              <a:off x="6211935" y="2924283"/>
              <a:ext cx="3840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h5adcd0903d5cb179_4_8"/>
            <p:cNvSpPr/>
            <p:nvPr/>
          </p:nvSpPr>
          <p:spPr>
            <a:xfrm>
              <a:off x="6760574" y="2841988"/>
              <a:ext cx="4023300" cy="1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2559"/>
                </a:buClr>
                <a:buSzPts val="1250"/>
                <a:buFont typeface="Arial"/>
                <a:buNone/>
              </a:pPr>
              <a:r>
                <a:rPr b="1" lang="en-US" sz="1250">
                  <a:solidFill>
                    <a:srgbClr val="0B2559"/>
                  </a:solidFill>
                </a:rPr>
                <a:t>Mejoras en el portal e integración con JIRA</a:t>
              </a:r>
              <a:endParaRPr b="0" i="0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h5adcd0903d5cb179_4_8"/>
            <p:cNvSpPr/>
            <p:nvPr/>
          </p:nvSpPr>
          <p:spPr>
            <a:xfrm>
              <a:off x="6760574" y="3116308"/>
              <a:ext cx="39777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D6F8B"/>
                </a:buClr>
                <a:buSzPts val="960"/>
                <a:buFont typeface="Arial"/>
                <a:buNone/>
              </a:pPr>
              <a:r>
                <a:rPr lang="en-US" sz="960">
                  <a:solidFill>
                    <a:srgbClr val="5D6F8B"/>
                  </a:solidFill>
                </a:rPr>
                <a:t>Optimización UX/UI; Avance Sprint</a:t>
              </a:r>
              <a:endParaRPr b="0" i="0" sz="9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" name="Google Shape;62;h5adcd0903d5cb179_4_8"/>
          <p:cNvGrpSpPr/>
          <p:nvPr/>
        </p:nvGrpSpPr>
        <p:grpSpPr>
          <a:xfrm>
            <a:off x="483575" y="4000475"/>
            <a:ext cx="5120700" cy="1134600"/>
            <a:chOff x="5884275" y="1268325"/>
            <a:chExt cx="5120700" cy="1134600"/>
          </a:xfrm>
        </p:grpSpPr>
        <p:sp>
          <p:nvSpPr>
            <p:cNvPr id="63" name="Google Shape;63;h5adcd0903d5cb179_4_8"/>
            <p:cNvSpPr/>
            <p:nvPr/>
          </p:nvSpPr>
          <p:spPr>
            <a:xfrm>
              <a:off x="5884275" y="1268325"/>
              <a:ext cx="5120700" cy="1134600"/>
            </a:xfrm>
            <a:prstGeom prst="roundRect">
              <a:avLst>
                <a:gd fmla="val 11429" name="adj"/>
              </a:avLst>
            </a:prstGeom>
            <a:solidFill>
              <a:srgbClr val="FFFFFF"/>
            </a:solidFill>
            <a:ln cap="flat" cmpd="sng" w="12700">
              <a:solidFill>
                <a:srgbClr val="D6E3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h5adcd0903d5cb179_4_8"/>
            <p:cNvSpPr/>
            <p:nvPr/>
          </p:nvSpPr>
          <p:spPr>
            <a:xfrm>
              <a:off x="6242538" y="1420876"/>
              <a:ext cx="384000" cy="384000"/>
            </a:xfrm>
            <a:prstGeom prst="ellipse">
              <a:avLst/>
            </a:prstGeom>
            <a:solidFill>
              <a:srgbClr val="88C846"/>
            </a:solidFill>
            <a:ln cap="flat" cmpd="sng" w="12700">
              <a:solidFill>
                <a:srgbClr val="88C8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h5adcd0903d5cb179_4_8"/>
            <p:cNvSpPr/>
            <p:nvPr/>
          </p:nvSpPr>
          <p:spPr>
            <a:xfrm>
              <a:off x="6242538" y="1439164"/>
              <a:ext cx="3840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h5adcd0903d5cb179_4_8"/>
            <p:cNvSpPr/>
            <p:nvPr/>
          </p:nvSpPr>
          <p:spPr>
            <a:xfrm>
              <a:off x="6753877" y="1420881"/>
              <a:ext cx="4023300" cy="1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2559"/>
                </a:buClr>
                <a:buSzPts val="1250"/>
                <a:buFont typeface="Arial"/>
                <a:buNone/>
              </a:pPr>
              <a:r>
                <a:rPr b="1" i="0" lang="en-US" sz="1250" u="none" cap="none" strike="noStrike">
                  <a:solidFill>
                    <a:srgbClr val="0B2559"/>
                  </a:solidFill>
                  <a:latin typeface="Arial"/>
                  <a:ea typeface="Arial"/>
                  <a:cs typeface="Arial"/>
                  <a:sym typeface="Arial"/>
                </a:rPr>
                <a:t>Roadmap</a:t>
              </a:r>
              <a:endParaRPr b="0" i="0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h5adcd0903d5cb179_4_8"/>
            <p:cNvSpPr/>
            <p:nvPr/>
          </p:nvSpPr>
          <p:spPr>
            <a:xfrm>
              <a:off x="6753877" y="1730438"/>
              <a:ext cx="39777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D6F8B"/>
                </a:buClr>
                <a:buSzPts val="960"/>
                <a:buFont typeface="Arial"/>
                <a:buNone/>
              </a:pPr>
              <a:r>
                <a:rPr b="0" i="0" lang="en-US" sz="960" u="none" cap="none" strike="noStrike">
                  <a:solidFill>
                    <a:srgbClr val="5D6F8B"/>
                  </a:solidFill>
                  <a:latin typeface="Arial"/>
                  <a:ea typeface="Arial"/>
                  <a:cs typeface="Arial"/>
                  <a:sym typeface="Arial"/>
                </a:rPr>
                <a:t>Seguimiento semanal y detalle de cada Sprint</a:t>
              </a:r>
              <a:r>
                <a:rPr lang="en-US" sz="960">
                  <a:solidFill>
                    <a:srgbClr val="5D6F8B"/>
                  </a:solidFill>
                </a:rPr>
                <a:t> actualizado a la fecha.</a:t>
              </a:r>
              <a:endParaRPr b="0" i="0" sz="9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" name="Google Shape;68;h5adcd0903d5cb179_4_8"/>
          <p:cNvSpPr/>
          <p:nvPr/>
        </p:nvSpPr>
        <p:spPr>
          <a:xfrm>
            <a:off x="502925" y="2738450"/>
            <a:ext cx="5120700" cy="10086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h5adcd0903d5cb179_4_8"/>
          <p:cNvSpPr/>
          <p:nvPr/>
        </p:nvSpPr>
        <p:spPr>
          <a:xfrm>
            <a:off x="861600" y="2971150"/>
            <a:ext cx="384000" cy="384000"/>
          </a:xfrm>
          <a:prstGeom prst="ellipse">
            <a:avLst/>
          </a:prstGeom>
          <a:solidFill>
            <a:srgbClr val="88C846"/>
          </a:solidFill>
          <a:ln cap="flat" cmpd="sng" w="12700">
            <a:solidFill>
              <a:srgbClr val="88C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h5adcd0903d5cb179_4_8"/>
          <p:cNvSpPr/>
          <p:nvPr/>
        </p:nvSpPr>
        <p:spPr>
          <a:xfrm>
            <a:off x="861600" y="2989438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h5adcd0903d5cb179_4_8"/>
          <p:cNvSpPr/>
          <p:nvPr/>
        </p:nvSpPr>
        <p:spPr>
          <a:xfrm>
            <a:off x="1410240" y="2907142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Burndown y estado actual del proyecto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h5adcd0903d5cb179_4_8"/>
          <p:cNvSpPr/>
          <p:nvPr/>
        </p:nvSpPr>
        <p:spPr>
          <a:xfrm>
            <a:off x="1410240" y="3181462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Seguimiento del Sprint </a:t>
            </a:r>
            <a:r>
              <a:rPr lang="en-US" sz="960">
                <a:solidFill>
                  <a:srgbClr val="5D6F8B"/>
                </a:solidFill>
              </a:rPr>
              <a:t>4</a:t>
            </a:r>
            <a:r>
              <a:rPr b="0" i="0" lang="en-US" sz="960" u="none" cap="none" strike="noStrik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 en curso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h5adcd0903d5cb179_4_8"/>
          <p:cNvSpPr/>
          <p:nvPr/>
        </p:nvSpPr>
        <p:spPr>
          <a:xfrm>
            <a:off x="568025" y="1310175"/>
            <a:ext cx="4990500" cy="10677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h5adcd0903d5cb179_4_8"/>
          <p:cNvSpPr/>
          <p:nvPr/>
        </p:nvSpPr>
        <p:spPr>
          <a:xfrm>
            <a:off x="841838" y="1465558"/>
            <a:ext cx="384000" cy="384000"/>
          </a:xfrm>
          <a:prstGeom prst="ellipse">
            <a:avLst/>
          </a:prstGeom>
          <a:solidFill>
            <a:srgbClr val="88C846"/>
          </a:solidFill>
          <a:ln cap="flat" cmpd="sng" w="12700">
            <a:solidFill>
              <a:srgbClr val="88C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h5adcd0903d5cb179_4_8"/>
          <p:cNvSpPr/>
          <p:nvPr/>
        </p:nvSpPr>
        <p:spPr>
          <a:xfrm>
            <a:off x="841838" y="1483845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h5adcd0903d5cb179_4_8"/>
          <p:cNvSpPr/>
          <p:nvPr/>
        </p:nvSpPr>
        <p:spPr>
          <a:xfrm>
            <a:off x="1307578" y="1375100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Cliente Objetivo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h5adcd0903d5cb179_4_8"/>
          <p:cNvSpPr/>
          <p:nvPr/>
        </p:nvSpPr>
        <p:spPr>
          <a:xfrm>
            <a:off x="1307578" y="1649420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Identificación del cliente,usuarios clave y necesidades.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" name="Google Shape;78;h5adcd0903d5cb179_4_8"/>
          <p:cNvGrpSpPr/>
          <p:nvPr/>
        </p:nvGrpSpPr>
        <p:grpSpPr>
          <a:xfrm>
            <a:off x="6051424" y="4131401"/>
            <a:ext cx="5120700" cy="960000"/>
            <a:chOff x="2980549" y="4241001"/>
            <a:chExt cx="5120700" cy="960000"/>
          </a:xfrm>
        </p:grpSpPr>
        <p:sp>
          <p:nvSpPr>
            <p:cNvPr id="79" name="Google Shape;79;h5adcd0903d5cb179_4_8"/>
            <p:cNvSpPr/>
            <p:nvPr/>
          </p:nvSpPr>
          <p:spPr>
            <a:xfrm>
              <a:off x="2980549" y="4241001"/>
              <a:ext cx="5120700" cy="960000"/>
            </a:xfrm>
            <a:prstGeom prst="roundRect">
              <a:avLst>
                <a:gd fmla="val 11429" name="adj"/>
              </a:avLst>
            </a:prstGeom>
            <a:solidFill>
              <a:srgbClr val="FFFFFF"/>
            </a:solidFill>
            <a:ln cap="flat" cmpd="sng" w="12700">
              <a:solidFill>
                <a:srgbClr val="D6E3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h5adcd0903d5cb179_4_8"/>
            <p:cNvSpPr/>
            <p:nvPr/>
          </p:nvSpPr>
          <p:spPr>
            <a:xfrm>
              <a:off x="3198974" y="4476763"/>
              <a:ext cx="384000" cy="384000"/>
            </a:xfrm>
            <a:prstGeom prst="ellipse">
              <a:avLst/>
            </a:prstGeom>
            <a:solidFill>
              <a:srgbClr val="88C846"/>
            </a:solidFill>
            <a:ln cap="flat" cmpd="sng" w="12700">
              <a:solidFill>
                <a:srgbClr val="88C8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h5adcd0903d5cb179_4_8"/>
            <p:cNvSpPr/>
            <p:nvPr/>
          </p:nvSpPr>
          <p:spPr>
            <a:xfrm>
              <a:off x="3198974" y="4495051"/>
              <a:ext cx="3840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h5adcd0903d5cb179_4_8"/>
            <p:cNvSpPr/>
            <p:nvPr/>
          </p:nvSpPr>
          <p:spPr>
            <a:xfrm>
              <a:off x="3747614" y="4412755"/>
              <a:ext cx="4023300" cy="1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2559"/>
                </a:buClr>
                <a:buSzPts val="1250"/>
                <a:buFont typeface="Arial"/>
                <a:buNone/>
              </a:pPr>
              <a:r>
                <a:rPr b="1" i="0" lang="en-US" sz="1250" u="none" cap="none" strike="noStrike">
                  <a:solidFill>
                    <a:srgbClr val="0B2559"/>
                  </a:solidFill>
                  <a:latin typeface="Arial"/>
                  <a:ea typeface="Arial"/>
                  <a:cs typeface="Arial"/>
                  <a:sym typeface="Arial"/>
                </a:rPr>
                <a:t>Conclusiones</a:t>
              </a:r>
              <a:endParaRPr b="0" i="0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h5adcd0903d5cb179_4_8"/>
            <p:cNvSpPr/>
            <p:nvPr/>
          </p:nvSpPr>
          <p:spPr>
            <a:xfrm>
              <a:off x="3747614" y="4687075"/>
              <a:ext cx="39777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D6F8B"/>
                </a:buClr>
                <a:buSzPts val="960"/>
                <a:buFont typeface="Arial"/>
                <a:buNone/>
              </a:pPr>
              <a:r>
                <a:rPr b="0" i="0" lang="en-US" sz="960" u="none" cap="none" strike="noStrike">
                  <a:solidFill>
                    <a:srgbClr val="5D6F8B"/>
                  </a:solidFill>
                  <a:latin typeface="Arial"/>
                  <a:ea typeface="Arial"/>
                  <a:cs typeface="Arial"/>
                  <a:sym typeface="Arial"/>
                </a:rPr>
                <a:t>Valor del proyecto, avances y próximas actividades</a:t>
              </a:r>
              <a:endParaRPr b="0" i="0" sz="9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/mnt/data/logo_corporativo_quality360_en_azul_y_turquesa.png" id="84" name="Google Shape;84;h5adcd0903d5cb179_4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8638" y="335951"/>
            <a:ext cx="957057" cy="7665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h5adcd0903d5cb179_4_8"/>
          <p:cNvGrpSpPr/>
          <p:nvPr/>
        </p:nvGrpSpPr>
        <p:grpSpPr>
          <a:xfrm>
            <a:off x="6051424" y="2768125"/>
            <a:ext cx="5120700" cy="960000"/>
            <a:chOff x="2980549" y="4241001"/>
            <a:chExt cx="5120700" cy="960000"/>
          </a:xfrm>
        </p:grpSpPr>
        <p:sp>
          <p:nvSpPr>
            <p:cNvPr id="86" name="Google Shape;86;h5adcd0903d5cb179_4_8"/>
            <p:cNvSpPr/>
            <p:nvPr/>
          </p:nvSpPr>
          <p:spPr>
            <a:xfrm>
              <a:off x="2980549" y="4241001"/>
              <a:ext cx="5120700" cy="960000"/>
            </a:xfrm>
            <a:prstGeom prst="roundRect">
              <a:avLst>
                <a:gd fmla="val 11429" name="adj"/>
              </a:avLst>
            </a:prstGeom>
            <a:solidFill>
              <a:srgbClr val="FFFFFF"/>
            </a:solidFill>
            <a:ln cap="flat" cmpd="sng" w="12700">
              <a:solidFill>
                <a:srgbClr val="D6E3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h5adcd0903d5cb179_4_8"/>
            <p:cNvSpPr/>
            <p:nvPr/>
          </p:nvSpPr>
          <p:spPr>
            <a:xfrm>
              <a:off x="3198974" y="4476763"/>
              <a:ext cx="384000" cy="384000"/>
            </a:xfrm>
            <a:prstGeom prst="ellipse">
              <a:avLst/>
            </a:prstGeom>
            <a:solidFill>
              <a:srgbClr val="88C846"/>
            </a:solidFill>
            <a:ln cap="flat" cmpd="sng" w="12700">
              <a:solidFill>
                <a:srgbClr val="88C8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h5adcd0903d5cb179_4_8"/>
            <p:cNvSpPr/>
            <p:nvPr/>
          </p:nvSpPr>
          <p:spPr>
            <a:xfrm>
              <a:off x="3198974" y="4495051"/>
              <a:ext cx="3840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h5adcd0903d5cb179_4_8"/>
            <p:cNvSpPr/>
            <p:nvPr/>
          </p:nvSpPr>
          <p:spPr>
            <a:xfrm>
              <a:off x="3747614" y="4412755"/>
              <a:ext cx="4023300" cy="1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2559"/>
                </a:buClr>
                <a:buSzPts val="1250"/>
                <a:buFont typeface="Arial"/>
                <a:buNone/>
              </a:pPr>
              <a:r>
                <a:rPr b="1" lang="en-US" sz="1250">
                  <a:solidFill>
                    <a:srgbClr val="0B2559"/>
                  </a:solidFill>
                </a:rPr>
                <a:t>Riesgos</a:t>
              </a:r>
              <a:endParaRPr b="0" i="0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h5adcd0903d5cb179_4_8"/>
            <p:cNvSpPr/>
            <p:nvPr/>
          </p:nvSpPr>
          <p:spPr>
            <a:xfrm>
              <a:off x="3747614" y="4687075"/>
              <a:ext cx="39777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4E6277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rgbClr val="4E6277"/>
                  </a:solidFill>
                </a:rPr>
                <a:t>Sprint 4 · Probabilidad × Impacto </a:t>
              </a:r>
              <a:endParaRPr b="0" i="0" sz="9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5adcd0903d5cb179_4_83"/>
          <p:cNvSpPr/>
          <p:nvPr/>
        </p:nvSpPr>
        <p:spPr>
          <a:xfrm>
            <a:off x="0" y="0"/>
            <a:ext cx="12192000" cy="73200"/>
          </a:xfrm>
          <a:prstGeom prst="rect">
            <a:avLst/>
          </a:prstGeom>
          <a:solidFill>
            <a:srgbClr val="18BDB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ogo_corporativo_quality360_en_azul_y_turquesa.png" id="97" name="Google Shape;97;h5adcd0903d5cb179_4_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8638" y="335951"/>
            <a:ext cx="957057" cy="766557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h5adcd0903d5cb179_4_83"/>
          <p:cNvSpPr/>
          <p:nvPr/>
        </p:nvSpPr>
        <p:spPr>
          <a:xfrm>
            <a:off x="502933" y="438912"/>
            <a:ext cx="7041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3200"/>
              <a:buFont typeface="Play"/>
              <a:buNone/>
            </a:pPr>
            <a:r>
              <a:rPr b="1" i="0" lang="en-US" sz="3200" u="none" cap="none" strike="noStrike">
                <a:solidFill>
                  <a:srgbClr val="061B49"/>
                </a:solidFill>
                <a:latin typeface="Play"/>
                <a:ea typeface="Play"/>
                <a:cs typeface="Play"/>
                <a:sym typeface="Play"/>
              </a:rPr>
              <a:t>Cliente objetivo de Quality360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h5adcd0903d5cb179_4_83"/>
          <p:cNvSpPr/>
          <p:nvPr/>
        </p:nvSpPr>
        <p:spPr>
          <a:xfrm>
            <a:off x="530366" y="941832"/>
            <a:ext cx="8138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Identificación del cliente, usuarios clave y necesidad que resuelve la plataforma.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" name="Google Shape;100;h5adcd0903d5cb179_4_83"/>
          <p:cNvCxnSpPr/>
          <p:nvPr/>
        </p:nvCxnSpPr>
        <p:spPr>
          <a:xfrm>
            <a:off x="530366" y="1325880"/>
            <a:ext cx="1005900" cy="0"/>
          </a:xfrm>
          <a:prstGeom prst="straightConnector1">
            <a:avLst/>
          </a:prstGeom>
          <a:noFill/>
          <a:ln cap="flat" cmpd="sng" w="38100">
            <a:solidFill>
              <a:srgbClr val="18BDB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h5adcd0903d5cb179_4_83"/>
          <p:cNvSpPr/>
          <p:nvPr/>
        </p:nvSpPr>
        <p:spPr>
          <a:xfrm>
            <a:off x="502933" y="1600200"/>
            <a:ext cx="3703200" cy="3520500"/>
          </a:xfrm>
          <a:prstGeom prst="roundRect">
            <a:avLst>
              <a:gd fmla="val 3117" name="adj"/>
            </a:avLst>
          </a:prstGeom>
          <a:solidFill>
            <a:srgbClr val="FFFFFF"/>
          </a:solidFill>
          <a:ln cap="flat" cmpd="sng" w="12700">
            <a:solidFill>
              <a:srgbClr val="CFE1F2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D8E6F3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h5adcd0903d5cb179_4_83"/>
          <p:cNvSpPr/>
          <p:nvPr/>
        </p:nvSpPr>
        <p:spPr>
          <a:xfrm>
            <a:off x="777261" y="1874520"/>
            <a:ext cx="1691700" cy="320100"/>
          </a:xfrm>
          <a:prstGeom prst="roundRect">
            <a:avLst>
              <a:gd fmla="val 22857" name="adj"/>
            </a:avLst>
          </a:prstGeom>
          <a:solidFill>
            <a:srgbClr val="1266D6"/>
          </a:solidFill>
          <a:ln cap="flat" cmpd="sng" w="12700">
            <a:solidFill>
              <a:srgbClr val="1266D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h5adcd0903d5cb179_4_83"/>
          <p:cNvSpPr/>
          <p:nvPr/>
        </p:nvSpPr>
        <p:spPr>
          <a:xfrm>
            <a:off x="777261" y="1883664"/>
            <a:ext cx="1691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CLIENTE OBJETIVO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h5adcd0903d5cb179_4_83"/>
          <p:cNvSpPr/>
          <p:nvPr/>
        </p:nvSpPr>
        <p:spPr>
          <a:xfrm>
            <a:off x="777261" y="2359152"/>
            <a:ext cx="567000" cy="567000"/>
          </a:xfrm>
          <a:prstGeom prst="ellipse">
            <a:avLst/>
          </a:prstGeom>
          <a:solidFill>
            <a:srgbClr val="EEF6FF"/>
          </a:solidFill>
          <a:ln cap="flat" cmpd="sng" w="12700">
            <a:solidFill>
              <a:srgbClr val="EEF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h5adcd0903d5cb179_4_83"/>
          <p:cNvSpPr/>
          <p:nvPr/>
        </p:nvSpPr>
        <p:spPr>
          <a:xfrm>
            <a:off x="777261" y="2368296"/>
            <a:ext cx="567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6D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266D6"/>
                </a:solidFill>
                <a:latin typeface="Arial"/>
                <a:ea typeface="Arial"/>
                <a:cs typeface="Arial"/>
                <a:sym typeface="Arial"/>
              </a:rPr>
              <a:t>🏢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h5adcd0903d5cb179_4_83"/>
          <p:cNvSpPr/>
          <p:nvPr/>
        </p:nvSpPr>
        <p:spPr>
          <a:xfrm>
            <a:off x="1444791" y="2331720"/>
            <a:ext cx="2395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800"/>
              <a:buFont typeface="Arial"/>
              <a:buNone/>
            </a:pPr>
            <a:r>
              <a:rPr b="1" i="0" lang="en-US" sz="150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Área de Aseguramiento de Calidad (QA)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h5adcd0903d5cb179_4_83"/>
          <p:cNvSpPr/>
          <p:nvPr/>
        </p:nvSpPr>
        <p:spPr>
          <a:xfrm>
            <a:off x="777261" y="2971800"/>
            <a:ext cx="2926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Organización del sector financiero con equipos ágiles de certificación de software.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h5adcd0903d5cb179_4_83"/>
          <p:cNvCxnSpPr/>
          <p:nvPr/>
        </p:nvCxnSpPr>
        <p:spPr>
          <a:xfrm>
            <a:off x="777261" y="3593592"/>
            <a:ext cx="2971800" cy="0"/>
          </a:xfrm>
          <a:prstGeom prst="straightConnector1">
            <a:avLst/>
          </a:prstGeom>
          <a:noFill/>
          <a:ln cap="flat" cmpd="sng" w="12700">
            <a:solidFill>
              <a:srgbClr val="DDEA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h5adcd0903d5cb179_4_83"/>
          <p:cNvSpPr/>
          <p:nvPr/>
        </p:nvSpPr>
        <p:spPr>
          <a:xfrm>
            <a:off x="777261" y="3767328"/>
            <a:ext cx="292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Dueño de la necesidad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h5adcd0903d5cb179_4_83"/>
          <p:cNvSpPr/>
          <p:nvPr/>
        </p:nvSpPr>
        <p:spPr>
          <a:xfrm>
            <a:off x="777261" y="4005072"/>
            <a:ext cx="292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Líder QA / Quality Engineer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h5adcd0903d5cb179_4_83"/>
          <p:cNvSpPr/>
          <p:nvPr/>
        </p:nvSpPr>
        <p:spPr>
          <a:xfrm>
            <a:off x="4480679" y="1600200"/>
            <a:ext cx="3383400" cy="3520500"/>
          </a:xfrm>
          <a:prstGeom prst="roundRect">
            <a:avLst>
              <a:gd fmla="val 3243" name="adj"/>
            </a:avLst>
          </a:prstGeom>
          <a:solidFill>
            <a:srgbClr val="E9FBF9"/>
          </a:solidFill>
          <a:ln cap="flat" cmpd="sng" w="12700">
            <a:solidFill>
              <a:srgbClr val="A7E7E2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D8E6F3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h5adcd0903d5cb179_4_83"/>
          <p:cNvSpPr/>
          <p:nvPr/>
        </p:nvSpPr>
        <p:spPr>
          <a:xfrm>
            <a:off x="4755007" y="1874520"/>
            <a:ext cx="1508700" cy="320100"/>
          </a:xfrm>
          <a:prstGeom prst="roundRect">
            <a:avLst>
              <a:gd fmla="val 22857" name="adj"/>
            </a:avLst>
          </a:prstGeom>
          <a:solidFill>
            <a:srgbClr val="18BDB7"/>
          </a:solidFill>
          <a:ln cap="flat" cmpd="sng" w="12700">
            <a:solidFill>
              <a:srgbClr val="18BD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h5adcd0903d5cb179_4_83"/>
          <p:cNvSpPr/>
          <p:nvPr/>
        </p:nvSpPr>
        <p:spPr>
          <a:xfrm>
            <a:off x="4755007" y="1883664"/>
            <a:ext cx="1508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USUARIOS CLAVE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h5adcd0903d5cb179_4_83"/>
          <p:cNvSpPr/>
          <p:nvPr/>
        </p:nvSpPr>
        <p:spPr>
          <a:xfrm>
            <a:off x="4782439" y="2395728"/>
            <a:ext cx="658500" cy="658500"/>
          </a:xfrm>
          <a:prstGeom prst="ellipse">
            <a:avLst/>
          </a:prstGeom>
          <a:solidFill>
            <a:srgbClr val="061B49"/>
          </a:solidFill>
          <a:ln cap="flat" cmpd="sng" w="12700">
            <a:solidFill>
              <a:srgbClr val="061B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h5adcd0903d5cb179_4_83"/>
          <p:cNvSpPr/>
          <p:nvPr/>
        </p:nvSpPr>
        <p:spPr>
          <a:xfrm>
            <a:off x="4782439" y="2404872"/>
            <a:ext cx="658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h5adcd0903d5cb179_4_83"/>
          <p:cNvSpPr/>
          <p:nvPr/>
        </p:nvSpPr>
        <p:spPr>
          <a:xfrm>
            <a:off x="5559700" y="2386584"/>
            <a:ext cx="1664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Quality Engineer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h5adcd0903d5cb179_4_83"/>
          <p:cNvSpPr/>
          <p:nvPr/>
        </p:nvSpPr>
        <p:spPr>
          <a:xfrm>
            <a:off x="5559700" y="2724912"/>
            <a:ext cx="169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Supervision</a:t>
            </a:r>
            <a:r>
              <a:rPr lang="en-US" sz="1080">
                <a:solidFill>
                  <a:srgbClr val="50627A"/>
                </a:solidFill>
              </a:rPr>
              <a:t> </a:t>
            </a:r>
            <a:r>
              <a:rPr b="0" i="0" lang="en-US" sz="1080" u="none" cap="none" strike="noStrik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avance, riesgos, cumplimiento y decisiones operativas.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h5adcd0903d5cb179_4_83"/>
          <p:cNvSpPr/>
          <p:nvPr/>
        </p:nvSpPr>
        <p:spPr>
          <a:xfrm>
            <a:off x="5532267" y="3337560"/>
            <a:ext cx="292500" cy="228600"/>
          </a:xfrm>
          <a:prstGeom prst="chevron">
            <a:avLst>
              <a:gd fmla="val 50000" name="adj"/>
            </a:avLst>
          </a:prstGeom>
          <a:solidFill>
            <a:srgbClr val="18BDB7"/>
          </a:solidFill>
          <a:ln cap="flat" cmpd="sng" w="12700">
            <a:solidFill>
              <a:srgbClr val="18BD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h5adcd0903d5cb179_4_83"/>
          <p:cNvSpPr/>
          <p:nvPr/>
        </p:nvSpPr>
        <p:spPr>
          <a:xfrm>
            <a:off x="4782439" y="3703320"/>
            <a:ext cx="658500" cy="658500"/>
          </a:xfrm>
          <a:prstGeom prst="ellipse">
            <a:avLst/>
          </a:prstGeom>
          <a:solidFill>
            <a:srgbClr val="1266D6"/>
          </a:solidFill>
          <a:ln cap="flat" cmpd="sng" w="12700">
            <a:solidFill>
              <a:srgbClr val="1266D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h5adcd0903d5cb179_4_83"/>
          <p:cNvSpPr/>
          <p:nvPr/>
        </p:nvSpPr>
        <p:spPr>
          <a:xfrm>
            <a:off x="4782439" y="3712464"/>
            <a:ext cx="658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h5adcd0903d5cb179_4_83"/>
          <p:cNvSpPr/>
          <p:nvPr/>
        </p:nvSpPr>
        <p:spPr>
          <a:xfrm>
            <a:off x="5559700" y="3703320"/>
            <a:ext cx="1664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Analista QA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h5adcd0903d5cb179_4_83"/>
          <p:cNvSpPr/>
          <p:nvPr/>
        </p:nvSpPr>
        <p:spPr>
          <a:xfrm>
            <a:off x="5559700" y="4041648"/>
            <a:ext cx="169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Actualiza estado de HU, checklist y evidencias de certificación.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h5adcd0903d5cb179_4_83"/>
          <p:cNvSpPr/>
          <p:nvPr/>
        </p:nvSpPr>
        <p:spPr>
          <a:xfrm>
            <a:off x="8138377" y="1600200"/>
            <a:ext cx="3520500" cy="3520500"/>
          </a:xfrm>
          <a:prstGeom prst="roundRect">
            <a:avLst>
              <a:gd fmla="val 3117" name="adj"/>
            </a:avLst>
          </a:prstGeom>
          <a:solidFill>
            <a:srgbClr val="FFFFFF"/>
          </a:solidFill>
          <a:ln cap="flat" cmpd="sng" w="12700">
            <a:solidFill>
              <a:srgbClr val="CFE1F2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D8E6F3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h5adcd0903d5cb179_4_83"/>
          <p:cNvSpPr/>
          <p:nvPr/>
        </p:nvSpPr>
        <p:spPr>
          <a:xfrm>
            <a:off x="8412704" y="1874520"/>
            <a:ext cx="1920300" cy="320100"/>
          </a:xfrm>
          <a:prstGeom prst="roundRect">
            <a:avLst>
              <a:gd fmla="val 22857" name="adj"/>
            </a:avLst>
          </a:prstGeom>
          <a:solidFill>
            <a:srgbClr val="FFB547"/>
          </a:solidFill>
          <a:ln cap="flat" cmpd="sng" w="12700">
            <a:solidFill>
              <a:srgbClr val="FFB54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h5adcd0903d5cb179_4_83"/>
          <p:cNvSpPr/>
          <p:nvPr/>
        </p:nvSpPr>
        <p:spPr>
          <a:xfrm>
            <a:off x="8412704" y="1883664"/>
            <a:ext cx="19203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NECESIDAD DEL CLIENTE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h5adcd0903d5cb179_4_83"/>
          <p:cNvSpPr/>
          <p:nvPr/>
        </p:nvSpPr>
        <p:spPr>
          <a:xfrm>
            <a:off x="8412704" y="2313432"/>
            <a:ext cx="2788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De información dispersa a una visión integrada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h5adcd0903d5cb179_4_83"/>
          <p:cNvSpPr/>
          <p:nvPr/>
        </p:nvSpPr>
        <p:spPr>
          <a:xfrm>
            <a:off x="8412704" y="2944368"/>
            <a:ext cx="29262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A4E"/>
              </a:buClr>
              <a:buSzPts val="1230"/>
              <a:buFont typeface="Arial"/>
              <a:buNone/>
            </a:pPr>
            <a:r>
              <a:rPr b="0" i="0" lang="en-US" sz="1230" u="none" cap="none" strike="noStrike">
                <a:solidFill>
                  <a:srgbClr val="2E3A4E"/>
                </a:solidFill>
                <a:latin typeface="Arial"/>
                <a:ea typeface="Arial"/>
                <a:cs typeface="Arial"/>
                <a:sym typeface="Arial"/>
              </a:rPr>
              <a:t>• Consolidar HU, responsables y estados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A4E"/>
              </a:buClr>
              <a:buSzPts val="1230"/>
              <a:buFont typeface="Arial"/>
              <a:buNone/>
            </a:pPr>
            <a:r>
              <a:rPr b="0" i="0" lang="en-US" sz="1230" u="none" cap="none" strike="noStrike">
                <a:solidFill>
                  <a:srgbClr val="2E3A4E"/>
                </a:solidFill>
                <a:latin typeface="Arial"/>
                <a:ea typeface="Arial"/>
                <a:cs typeface="Arial"/>
                <a:sym typeface="Arial"/>
              </a:rPr>
              <a:t>• Visualizar riesgos e impedimentos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A4E"/>
              </a:buClr>
              <a:buSzPts val="1230"/>
              <a:buFont typeface="Arial"/>
              <a:buNone/>
            </a:pPr>
            <a:r>
              <a:rPr b="0" i="0" lang="en-US" sz="1230" u="none" cap="none" strike="noStrike">
                <a:solidFill>
                  <a:srgbClr val="2E3A4E"/>
                </a:solidFill>
                <a:latin typeface="Arial"/>
                <a:ea typeface="Arial"/>
                <a:cs typeface="Arial"/>
                <a:sym typeface="Arial"/>
              </a:rPr>
              <a:t>• Controlar cumplimiento QA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A4E"/>
              </a:buClr>
              <a:buSzPts val="1230"/>
              <a:buFont typeface="Arial"/>
              <a:buNone/>
            </a:pPr>
            <a:r>
              <a:rPr b="0" i="0" lang="en-US" sz="1230" u="none" cap="none" strike="noStrike">
                <a:solidFill>
                  <a:srgbClr val="2E3A4E"/>
                </a:solidFill>
                <a:latin typeface="Arial"/>
                <a:ea typeface="Arial"/>
                <a:cs typeface="Arial"/>
                <a:sym typeface="Arial"/>
              </a:rPr>
              <a:t>• Priorizar acciones a tiempo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h5adcd0903d5cb179_4_83"/>
          <p:cNvSpPr/>
          <p:nvPr/>
        </p:nvSpPr>
        <p:spPr>
          <a:xfrm>
            <a:off x="8412704" y="4160520"/>
            <a:ext cx="2834700" cy="530400"/>
          </a:xfrm>
          <a:prstGeom prst="roundRect">
            <a:avLst>
              <a:gd fmla="val 13793" name="adj"/>
            </a:avLst>
          </a:prstGeom>
          <a:solidFill>
            <a:srgbClr val="EEF6FF"/>
          </a:solidFill>
          <a:ln cap="flat" cmpd="sng" w="12700">
            <a:solidFill>
              <a:srgbClr val="D6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h5adcd0903d5cb179_4_83"/>
          <p:cNvSpPr/>
          <p:nvPr/>
        </p:nvSpPr>
        <p:spPr>
          <a:xfrm>
            <a:off x="8549868" y="4215384"/>
            <a:ext cx="256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170"/>
              <a:buFont typeface="Arial"/>
              <a:buNone/>
            </a:pPr>
            <a:r>
              <a:rPr b="1" i="0" lang="en-US" sz="117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Quality360 entrega visibilidad, trazabilidad y KPI para la gestión QA.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h5adcd0903d5cb179_4_83"/>
          <p:cNvSpPr/>
          <p:nvPr/>
        </p:nvSpPr>
        <p:spPr>
          <a:xfrm>
            <a:off x="517958" y="5486573"/>
            <a:ext cx="11156100" cy="914400"/>
          </a:xfrm>
          <a:prstGeom prst="roundRect">
            <a:avLst>
              <a:gd fmla="val 12000" name="adj"/>
            </a:avLst>
          </a:prstGeom>
          <a:solidFill>
            <a:srgbClr val="EEF6FF"/>
          </a:solidFill>
          <a:ln cap="flat" cmpd="sng" w="12700">
            <a:solidFill>
              <a:srgbClr val="CFE1F2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D8E6F3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h5adcd0903d5cb179_4_83"/>
          <p:cNvSpPr/>
          <p:nvPr/>
        </p:nvSpPr>
        <p:spPr>
          <a:xfrm>
            <a:off x="795549" y="5559552"/>
            <a:ext cx="1600200" cy="292500"/>
          </a:xfrm>
          <a:prstGeom prst="roundRect">
            <a:avLst>
              <a:gd fmla="val 25000" name="adj"/>
            </a:avLst>
          </a:prstGeom>
          <a:solidFill>
            <a:srgbClr val="061B49"/>
          </a:solidFill>
          <a:ln cap="flat" cmpd="sng" w="12700">
            <a:solidFill>
              <a:srgbClr val="061B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h5adcd0903d5cb179_4_83"/>
          <p:cNvSpPr/>
          <p:nvPr/>
        </p:nvSpPr>
        <p:spPr>
          <a:xfrm>
            <a:off x="795549" y="5568696"/>
            <a:ext cx="160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Arial"/>
              <a:buNone/>
            </a:pPr>
            <a:r>
              <a:rPr b="1" i="0" lang="en-US" sz="9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TRAZABILIDAD DE VALOR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h5adcd0903d5cb179_4_83"/>
          <p:cNvSpPr/>
          <p:nvPr/>
        </p:nvSpPr>
        <p:spPr>
          <a:xfrm>
            <a:off x="841270" y="5888736"/>
            <a:ext cx="429900" cy="429900"/>
          </a:xfrm>
          <a:prstGeom prst="ellipse">
            <a:avLst/>
          </a:prstGeom>
          <a:solidFill>
            <a:srgbClr val="061B49"/>
          </a:solidFill>
          <a:ln cap="flat" cmpd="sng" w="12700">
            <a:solidFill>
              <a:srgbClr val="061B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h5adcd0903d5cb179_4_83"/>
          <p:cNvSpPr/>
          <p:nvPr/>
        </p:nvSpPr>
        <p:spPr>
          <a:xfrm>
            <a:off x="841270" y="5897880"/>
            <a:ext cx="429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🏢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h5adcd0903d5cb179_4_83"/>
          <p:cNvSpPr/>
          <p:nvPr/>
        </p:nvSpPr>
        <p:spPr>
          <a:xfrm>
            <a:off x="1353348" y="5879592"/>
            <a:ext cx="117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QA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" name="Google Shape;136;h5adcd0903d5cb179_4_83"/>
          <p:cNvCxnSpPr/>
          <p:nvPr/>
        </p:nvCxnSpPr>
        <p:spPr>
          <a:xfrm>
            <a:off x="2532956" y="6089904"/>
            <a:ext cx="301800" cy="0"/>
          </a:xfrm>
          <a:prstGeom prst="straightConnector1">
            <a:avLst/>
          </a:prstGeom>
          <a:noFill/>
          <a:ln cap="flat" cmpd="sng" w="25400">
            <a:solidFill>
              <a:srgbClr val="18BDB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7" name="Google Shape;137;h5adcd0903d5cb179_4_83"/>
          <p:cNvSpPr/>
          <p:nvPr/>
        </p:nvSpPr>
        <p:spPr>
          <a:xfrm>
            <a:off x="2898725" y="5888736"/>
            <a:ext cx="429900" cy="429900"/>
          </a:xfrm>
          <a:prstGeom prst="ellipse">
            <a:avLst/>
          </a:prstGeom>
          <a:solidFill>
            <a:srgbClr val="FFB547"/>
          </a:solidFill>
          <a:ln cap="flat" cmpd="sng" w="12700">
            <a:solidFill>
              <a:srgbClr val="FFB54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h5adcd0903d5cb179_4_83"/>
          <p:cNvSpPr/>
          <p:nvPr/>
        </p:nvSpPr>
        <p:spPr>
          <a:xfrm>
            <a:off x="2898725" y="5897880"/>
            <a:ext cx="429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h5adcd0903d5cb179_4_83"/>
          <p:cNvSpPr/>
          <p:nvPr/>
        </p:nvSpPr>
        <p:spPr>
          <a:xfrm>
            <a:off x="3410803" y="5879592"/>
            <a:ext cx="117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Necesidad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operativa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h5adcd0903d5cb179_4_83"/>
          <p:cNvCxnSpPr/>
          <p:nvPr/>
        </p:nvCxnSpPr>
        <p:spPr>
          <a:xfrm>
            <a:off x="4590410" y="6089904"/>
            <a:ext cx="301800" cy="0"/>
          </a:xfrm>
          <a:prstGeom prst="straightConnector1">
            <a:avLst/>
          </a:prstGeom>
          <a:noFill/>
          <a:ln cap="flat" cmpd="sng" w="25400">
            <a:solidFill>
              <a:srgbClr val="18BDB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1" name="Google Shape;141;h5adcd0903d5cb179_4_83"/>
          <p:cNvSpPr/>
          <p:nvPr/>
        </p:nvSpPr>
        <p:spPr>
          <a:xfrm>
            <a:off x="4956180" y="5888736"/>
            <a:ext cx="429900" cy="429900"/>
          </a:xfrm>
          <a:prstGeom prst="ellipse">
            <a:avLst/>
          </a:prstGeom>
          <a:solidFill>
            <a:srgbClr val="18BDB7"/>
          </a:solidFill>
          <a:ln cap="flat" cmpd="sng" w="12700">
            <a:solidFill>
              <a:srgbClr val="18BD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h5adcd0903d5cb179_4_83"/>
          <p:cNvSpPr/>
          <p:nvPr/>
        </p:nvSpPr>
        <p:spPr>
          <a:xfrm>
            <a:off x="4956180" y="5897880"/>
            <a:ext cx="429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h5adcd0903d5cb179_4_83"/>
          <p:cNvSpPr/>
          <p:nvPr/>
        </p:nvSpPr>
        <p:spPr>
          <a:xfrm>
            <a:off x="5468258" y="5879592"/>
            <a:ext cx="117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Quality360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plataforma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h5adcd0903d5cb179_4_83"/>
          <p:cNvCxnSpPr/>
          <p:nvPr/>
        </p:nvCxnSpPr>
        <p:spPr>
          <a:xfrm>
            <a:off x="6647865" y="6089904"/>
            <a:ext cx="301800" cy="0"/>
          </a:xfrm>
          <a:prstGeom prst="straightConnector1">
            <a:avLst/>
          </a:prstGeom>
          <a:noFill/>
          <a:ln cap="flat" cmpd="sng" w="25400">
            <a:solidFill>
              <a:srgbClr val="18BDB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5" name="Google Shape;145;h5adcd0903d5cb179_4_83"/>
          <p:cNvSpPr/>
          <p:nvPr/>
        </p:nvSpPr>
        <p:spPr>
          <a:xfrm>
            <a:off x="7013635" y="5888736"/>
            <a:ext cx="429900" cy="429900"/>
          </a:xfrm>
          <a:prstGeom prst="ellipse">
            <a:avLst/>
          </a:prstGeom>
          <a:solidFill>
            <a:srgbClr val="1266D6"/>
          </a:solidFill>
          <a:ln cap="flat" cmpd="sng" w="12700">
            <a:solidFill>
              <a:srgbClr val="1266D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h5adcd0903d5cb179_4_83"/>
          <p:cNvSpPr/>
          <p:nvPr/>
        </p:nvSpPr>
        <p:spPr>
          <a:xfrm>
            <a:off x="7013635" y="5897880"/>
            <a:ext cx="429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↗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h5adcd0903d5cb179_4_83"/>
          <p:cNvSpPr/>
          <p:nvPr/>
        </p:nvSpPr>
        <p:spPr>
          <a:xfrm>
            <a:off x="7525713" y="5879592"/>
            <a:ext cx="117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KPI y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alertas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" name="Google Shape;148;h5adcd0903d5cb179_4_83"/>
          <p:cNvCxnSpPr/>
          <p:nvPr/>
        </p:nvCxnSpPr>
        <p:spPr>
          <a:xfrm>
            <a:off x="8480795" y="6085404"/>
            <a:ext cx="301800" cy="0"/>
          </a:xfrm>
          <a:prstGeom prst="straightConnector1">
            <a:avLst/>
          </a:prstGeom>
          <a:noFill/>
          <a:ln cap="flat" cmpd="sng" w="25400">
            <a:solidFill>
              <a:srgbClr val="18BDB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9" name="Google Shape;149;h5adcd0903d5cb179_4_83"/>
          <p:cNvSpPr/>
          <p:nvPr/>
        </p:nvSpPr>
        <p:spPr>
          <a:xfrm>
            <a:off x="9071090" y="5888736"/>
            <a:ext cx="429900" cy="429900"/>
          </a:xfrm>
          <a:prstGeom prst="ellipse">
            <a:avLst/>
          </a:prstGeom>
          <a:solidFill>
            <a:srgbClr val="26B36B"/>
          </a:solidFill>
          <a:ln cap="flat" cmpd="sng" w="12700">
            <a:solidFill>
              <a:srgbClr val="26B36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h5adcd0903d5cb179_4_83"/>
          <p:cNvSpPr/>
          <p:nvPr/>
        </p:nvSpPr>
        <p:spPr>
          <a:xfrm>
            <a:off x="9071090" y="5897880"/>
            <a:ext cx="429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🎯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h5adcd0903d5cb179_4_83"/>
          <p:cNvSpPr/>
          <p:nvPr/>
        </p:nvSpPr>
        <p:spPr>
          <a:xfrm>
            <a:off x="9583167" y="5879592"/>
            <a:ext cx="117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Decisión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oportuna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h5adcd0903d5cb179_4_83"/>
          <p:cNvSpPr/>
          <p:nvPr/>
        </p:nvSpPr>
        <p:spPr>
          <a:xfrm>
            <a:off x="530366" y="6519672"/>
            <a:ext cx="3657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Quality360 · Capstone Grupo 8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h1794ca906f73028b_0_0"/>
          <p:cNvSpPr/>
          <p:nvPr/>
        </p:nvSpPr>
        <p:spPr>
          <a:xfrm>
            <a:off x="201168" y="0"/>
            <a:ext cx="11990400" cy="676800"/>
          </a:xfrm>
          <a:prstGeom prst="rect">
            <a:avLst/>
          </a:prstGeom>
          <a:solidFill>
            <a:srgbClr val="173D66"/>
          </a:solidFill>
          <a:ln cap="flat" cmpd="sng" w="12700">
            <a:solidFill>
              <a:srgbClr val="173D6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h1794ca906f73028b_0_0"/>
          <p:cNvSpPr/>
          <p:nvPr/>
        </p:nvSpPr>
        <p:spPr>
          <a:xfrm>
            <a:off x="530352" y="68580"/>
            <a:ext cx="11064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7"/>
              <a:buFont typeface="Arial"/>
              <a:buNone/>
            </a:pPr>
            <a:r>
              <a:rPr b="1" lang="en-US" sz="225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Roadmap de seguimiento semanal · Quality360</a:t>
            </a:r>
            <a:endParaRPr sz="225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h1794ca906f73028b_0_0"/>
          <p:cNvSpPr/>
          <p:nvPr/>
        </p:nvSpPr>
        <p:spPr>
          <a:xfrm>
            <a:off x="548640" y="429768"/>
            <a:ext cx="109728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Arial"/>
              <a:buNone/>
            </a:pPr>
            <a:r>
              <a:rPr lang="en-US" sz="96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 X: semanas · Eje Y: Sprints · Corte 27/10/2026 · Comisión 27/11–04/12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h1794ca906f73028b_0_0"/>
          <p:cNvSpPr/>
          <p:nvPr/>
        </p:nvSpPr>
        <p:spPr>
          <a:xfrm>
            <a:off x="502920" y="781812"/>
            <a:ext cx="9244500" cy="429900"/>
          </a:xfrm>
          <a:prstGeom prst="roundRect">
            <a:avLst>
              <a:gd fmla="val 21277" name="adj"/>
            </a:avLst>
          </a:prstGeom>
          <a:solidFill>
            <a:srgbClr val="E9F5FC"/>
          </a:solidFill>
          <a:ln cap="flat" cmpd="sng" w="10150">
            <a:solidFill>
              <a:srgbClr val="A4D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h1794ca906f73028b_0_0"/>
          <p:cNvSpPr/>
          <p:nvPr/>
        </p:nvSpPr>
        <p:spPr>
          <a:xfrm>
            <a:off x="685800" y="836676"/>
            <a:ext cx="8942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B50"/>
              </a:buClr>
              <a:buSzPts val="970"/>
              <a:buFont typeface="Arial"/>
              <a:buNone/>
            </a:pPr>
            <a:r>
              <a:rPr b="1" lang="en-US" sz="970">
                <a:solidFill>
                  <a:srgbClr val="082B50"/>
                </a:solidFill>
                <a:latin typeface="Arial"/>
                <a:ea typeface="Arial"/>
                <a:cs typeface="Arial"/>
                <a:sym typeface="Arial"/>
              </a:rPr>
              <a:t>Estado actualizado  </a:t>
            </a:r>
            <a:r>
              <a:rPr lang="en-US" sz="970">
                <a:solidFill>
                  <a:srgbClr val="082B50"/>
                </a:solidFill>
                <a:latin typeface="Arial"/>
                <a:ea typeface="Arial"/>
                <a:cs typeface="Arial"/>
                <a:sym typeface="Arial"/>
              </a:rPr>
              <a:t>Sprints 1 y 2 al 100%. Sprint 3 cerrado el 23/10: 3/17 SP (17,6%) registrados al cierre.</a:t>
            </a:r>
            <a:br>
              <a:rPr lang="en-US" sz="970">
                <a:solidFill>
                  <a:srgbClr val="082B5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70">
                <a:solidFill>
                  <a:srgbClr val="082B50"/>
                </a:solidFill>
                <a:latin typeface="Arial"/>
                <a:ea typeface="Arial"/>
                <a:cs typeface="Arial"/>
                <a:sym typeface="Arial"/>
              </a:rPr>
              <a:t>3 actividades (6 SP) finalizadas después del cierre. Sprint 4 planificado, aún sin inicio formal.</a:t>
            </a:r>
            <a:endParaRPr sz="9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h1794ca906f73028b_0_0"/>
          <p:cNvSpPr/>
          <p:nvPr/>
        </p:nvSpPr>
        <p:spPr>
          <a:xfrm>
            <a:off x="10149840" y="876910"/>
            <a:ext cx="1197900" cy="254100"/>
          </a:xfrm>
          <a:prstGeom prst="roundRect">
            <a:avLst>
              <a:gd fmla="val 25180" name="adj"/>
            </a:avLst>
          </a:prstGeom>
          <a:solidFill>
            <a:srgbClr val="11B78F"/>
          </a:solidFill>
          <a:ln cap="flat" cmpd="sng" w="12700">
            <a:solidFill>
              <a:srgbClr val="11B78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h1794ca906f73028b_0_0"/>
          <p:cNvSpPr/>
          <p:nvPr/>
        </p:nvSpPr>
        <p:spPr>
          <a:xfrm>
            <a:off x="10186416" y="891540"/>
            <a:ext cx="1124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3/6 cerrados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h1794ca906f73028b_0_0"/>
          <p:cNvSpPr/>
          <p:nvPr/>
        </p:nvSpPr>
        <p:spPr>
          <a:xfrm>
            <a:off x="502920" y="1303020"/>
            <a:ext cx="1746600" cy="694800"/>
          </a:xfrm>
          <a:prstGeom prst="rect">
            <a:avLst/>
          </a:prstGeom>
          <a:solidFill>
            <a:srgbClr val="173D66"/>
          </a:solidFill>
          <a:ln cap="flat" cmpd="sng" w="12700">
            <a:solidFill>
              <a:srgbClr val="173D6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h1794ca906f73028b_0_0"/>
          <p:cNvSpPr/>
          <p:nvPr/>
        </p:nvSpPr>
        <p:spPr>
          <a:xfrm>
            <a:off x="2249424" y="1303020"/>
            <a:ext cx="1444800" cy="694800"/>
          </a:xfrm>
          <a:prstGeom prst="rect">
            <a:avLst/>
          </a:prstGeom>
          <a:solidFill>
            <a:srgbClr val="173D66"/>
          </a:solidFill>
          <a:ln cap="flat" cmpd="sng" w="12700">
            <a:solidFill>
              <a:srgbClr val="173D6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h1794ca906f73028b_0_0"/>
          <p:cNvSpPr/>
          <p:nvPr/>
        </p:nvSpPr>
        <p:spPr>
          <a:xfrm>
            <a:off x="576072" y="1476756"/>
            <a:ext cx="160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h1794ca906f73028b_0_0"/>
          <p:cNvSpPr/>
          <p:nvPr/>
        </p:nvSpPr>
        <p:spPr>
          <a:xfrm>
            <a:off x="2295144" y="1476756"/>
            <a:ext cx="135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0"/>
              <a:buFont typeface="Arial"/>
              <a:buNone/>
            </a:pPr>
            <a:r>
              <a:rPr b="1" lang="en-US" sz="14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h1794ca906f73028b_0_0"/>
          <p:cNvSpPr/>
          <p:nvPr/>
        </p:nvSpPr>
        <p:spPr>
          <a:xfrm>
            <a:off x="3694176" y="1303020"/>
            <a:ext cx="800100" cy="292500"/>
          </a:xfrm>
          <a:prstGeom prst="rect">
            <a:avLst/>
          </a:prstGeom>
          <a:solidFill>
            <a:srgbClr val="0E9F9D"/>
          </a:solidFill>
          <a:ln cap="flat" cmpd="sng" w="12700">
            <a:solidFill>
              <a:srgbClr val="0E9F9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h1794ca906f73028b_0_0"/>
          <p:cNvSpPr/>
          <p:nvPr/>
        </p:nvSpPr>
        <p:spPr>
          <a:xfrm>
            <a:off x="3694176" y="1371600"/>
            <a:ext cx="8001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Arial"/>
              <a:buNone/>
            </a:pPr>
            <a:r>
              <a:rPr b="1" lang="en-US" sz="91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SEP/OCT</a:t>
            </a:r>
            <a:endParaRPr sz="9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h1794ca906f73028b_0_0"/>
          <p:cNvSpPr/>
          <p:nvPr/>
        </p:nvSpPr>
        <p:spPr>
          <a:xfrm>
            <a:off x="4494276" y="1303020"/>
            <a:ext cx="3200400" cy="292500"/>
          </a:xfrm>
          <a:prstGeom prst="rect">
            <a:avLst/>
          </a:prstGeom>
          <a:solidFill>
            <a:srgbClr val="0E9F9D"/>
          </a:solidFill>
          <a:ln cap="flat" cmpd="sng" w="12700">
            <a:solidFill>
              <a:srgbClr val="0E9F9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h1794ca906f73028b_0_0"/>
          <p:cNvSpPr/>
          <p:nvPr/>
        </p:nvSpPr>
        <p:spPr>
          <a:xfrm>
            <a:off x="4494276" y="1371600"/>
            <a:ext cx="32004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Arial"/>
              <a:buNone/>
            </a:pPr>
            <a:r>
              <a:rPr b="1" lang="en-US" sz="91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endParaRPr sz="9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h1794ca906f73028b_0_0"/>
          <p:cNvSpPr/>
          <p:nvPr/>
        </p:nvSpPr>
        <p:spPr>
          <a:xfrm>
            <a:off x="7694676" y="1303020"/>
            <a:ext cx="3200400" cy="292500"/>
          </a:xfrm>
          <a:prstGeom prst="rect">
            <a:avLst/>
          </a:prstGeom>
          <a:solidFill>
            <a:srgbClr val="0E9F9D"/>
          </a:solidFill>
          <a:ln cap="flat" cmpd="sng" w="12700">
            <a:solidFill>
              <a:srgbClr val="0E9F9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h1794ca906f73028b_0_0"/>
          <p:cNvSpPr/>
          <p:nvPr/>
        </p:nvSpPr>
        <p:spPr>
          <a:xfrm>
            <a:off x="7694676" y="1371600"/>
            <a:ext cx="32004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Arial"/>
              <a:buNone/>
            </a:pPr>
            <a:r>
              <a:rPr b="1" lang="en-US" sz="91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endParaRPr sz="9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h1794ca906f73028b_0_0"/>
          <p:cNvSpPr/>
          <p:nvPr/>
        </p:nvSpPr>
        <p:spPr>
          <a:xfrm>
            <a:off x="10895076" y="1303020"/>
            <a:ext cx="800100" cy="292500"/>
          </a:xfrm>
          <a:prstGeom prst="rect">
            <a:avLst/>
          </a:prstGeom>
          <a:solidFill>
            <a:srgbClr val="0E9F9D"/>
          </a:solidFill>
          <a:ln cap="flat" cmpd="sng" w="12700">
            <a:solidFill>
              <a:srgbClr val="0E9F9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h1794ca906f73028b_0_0"/>
          <p:cNvSpPr/>
          <p:nvPr/>
        </p:nvSpPr>
        <p:spPr>
          <a:xfrm>
            <a:off x="10895076" y="1371600"/>
            <a:ext cx="8001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Arial"/>
              <a:buNone/>
            </a:pPr>
            <a:r>
              <a:rPr b="1" lang="en-US" sz="91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NOV/DIC</a:t>
            </a:r>
            <a:endParaRPr sz="9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h1794ca906f73028b_0_0"/>
          <p:cNvSpPr/>
          <p:nvPr/>
        </p:nvSpPr>
        <p:spPr>
          <a:xfrm>
            <a:off x="3694176" y="1595628"/>
            <a:ext cx="800100" cy="402300"/>
          </a:xfrm>
          <a:prstGeom prst="rect">
            <a:avLst/>
          </a:prstGeom>
          <a:solidFill>
            <a:srgbClr val="0B8E91"/>
          </a:solidFill>
          <a:ln cap="flat" cmpd="sng" w="12700">
            <a:solidFill>
              <a:srgbClr val="0B8E9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h1794ca906f73028b_0_0"/>
          <p:cNvSpPr/>
          <p:nvPr/>
        </p:nvSpPr>
        <p:spPr>
          <a:xfrm>
            <a:off x="3721608" y="1643177"/>
            <a:ext cx="7452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4"/>
              <a:buFont typeface="Arial"/>
              <a:buNone/>
            </a:pPr>
            <a:r>
              <a:rPr b="1" lang="en-US" sz="91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25 Sep</a:t>
            </a:r>
            <a:endParaRPr sz="91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4"/>
              <a:buFont typeface="Arial"/>
              <a:buNone/>
            </a:pPr>
            <a:r>
              <a:rPr b="1" lang="en-US" sz="91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 Oct</a:t>
            </a:r>
            <a:endParaRPr sz="91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h1794ca906f73028b_0_0"/>
          <p:cNvSpPr/>
          <p:nvPr/>
        </p:nvSpPr>
        <p:spPr>
          <a:xfrm>
            <a:off x="4494276" y="1595628"/>
            <a:ext cx="800100" cy="402300"/>
          </a:xfrm>
          <a:prstGeom prst="rect">
            <a:avLst/>
          </a:prstGeom>
          <a:solidFill>
            <a:srgbClr val="0B8E91"/>
          </a:solidFill>
          <a:ln cap="flat" cmpd="sng" w="12700">
            <a:solidFill>
              <a:srgbClr val="0B8E9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h1794ca906f73028b_0_0"/>
          <p:cNvSpPr/>
          <p:nvPr/>
        </p:nvSpPr>
        <p:spPr>
          <a:xfrm>
            <a:off x="4521708" y="1643177"/>
            <a:ext cx="7452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4"/>
              <a:buFont typeface="Arial"/>
              <a:buNone/>
            </a:pPr>
            <a:r>
              <a:rPr b="1" lang="en-US" sz="91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02–09</a:t>
            </a:r>
            <a:endParaRPr sz="91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4"/>
              <a:buFont typeface="Arial"/>
              <a:buNone/>
            </a:pPr>
            <a:r>
              <a:rPr b="1" lang="en-US" sz="91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endParaRPr sz="91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h1794ca906f73028b_0_0"/>
          <p:cNvSpPr/>
          <p:nvPr/>
        </p:nvSpPr>
        <p:spPr>
          <a:xfrm>
            <a:off x="5294376" y="1595628"/>
            <a:ext cx="800100" cy="402300"/>
          </a:xfrm>
          <a:prstGeom prst="rect">
            <a:avLst/>
          </a:prstGeom>
          <a:solidFill>
            <a:srgbClr val="0B8E91"/>
          </a:solidFill>
          <a:ln cap="flat" cmpd="sng" w="12700">
            <a:solidFill>
              <a:srgbClr val="0B8E9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h1794ca906f73028b_0_0"/>
          <p:cNvSpPr/>
          <p:nvPr/>
        </p:nvSpPr>
        <p:spPr>
          <a:xfrm>
            <a:off x="5321808" y="1643177"/>
            <a:ext cx="7452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4"/>
              <a:buFont typeface="Arial"/>
              <a:buNone/>
            </a:pPr>
            <a:r>
              <a:rPr b="1" lang="en-US" sz="91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10–16</a:t>
            </a:r>
            <a:endParaRPr sz="91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4"/>
              <a:buFont typeface="Arial"/>
              <a:buNone/>
            </a:pPr>
            <a:r>
              <a:rPr b="1" lang="en-US" sz="91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endParaRPr sz="91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h1794ca906f73028b_0_0"/>
          <p:cNvSpPr/>
          <p:nvPr/>
        </p:nvSpPr>
        <p:spPr>
          <a:xfrm>
            <a:off x="6094476" y="1595628"/>
            <a:ext cx="800100" cy="402300"/>
          </a:xfrm>
          <a:prstGeom prst="rect">
            <a:avLst/>
          </a:prstGeom>
          <a:solidFill>
            <a:srgbClr val="0B8E91"/>
          </a:solidFill>
          <a:ln cap="flat" cmpd="sng" w="12700">
            <a:solidFill>
              <a:srgbClr val="0B8E9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h1794ca906f73028b_0_0"/>
          <p:cNvSpPr/>
          <p:nvPr/>
        </p:nvSpPr>
        <p:spPr>
          <a:xfrm>
            <a:off x="6121908" y="1643177"/>
            <a:ext cx="7452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4"/>
              <a:buFont typeface="Arial"/>
              <a:buNone/>
            </a:pPr>
            <a:r>
              <a:rPr b="1" lang="en-US" sz="91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17–23</a:t>
            </a:r>
            <a:endParaRPr sz="91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4"/>
              <a:buFont typeface="Arial"/>
              <a:buNone/>
            </a:pPr>
            <a:r>
              <a:rPr b="1" lang="en-US" sz="91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endParaRPr sz="91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h1794ca906f73028b_0_0"/>
          <p:cNvSpPr/>
          <p:nvPr/>
        </p:nvSpPr>
        <p:spPr>
          <a:xfrm>
            <a:off x="6894576" y="1595628"/>
            <a:ext cx="800100" cy="402300"/>
          </a:xfrm>
          <a:prstGeom prst="rect">
            <a:avLst/>
          </a:prstGeom>
          <a:solidFill>
            <a:srgbClr val="F27D2F"/>
          </a:solidFill>
          <a:ln cap="flat" cmpd="sng" w="12700">
            <a:solidFill>
              <a:srgbClr val="F27D2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h1794ca906f73028b_0_0"/>
          <p:cNvSpPr/>
          <p:nvPr/>
        </p:nvSpPr>
        <p:spPr>
          <a:xfrm>
            <a:off x="6922008" y="1643177"/>
            <a:ext cx="7452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4"/>
              <a:buFont typeface="Arial"/>
              <a:buNone/>
            </a:pPr>
            <a:r>
              <a:rPr b="1" lang="en-US" sz="91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24–30</a:t>
            </a:r>
            <a:endParaRPr sz="91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4"/>
              <a:buFont typeface="Arial"/>
              <a:buNone/>
            </a:pPr>
            <a:r>
              <a:rPr b="1" lang="en-US" sz="91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endParaRPr sz="91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h1794ca906f73028b_0_0"/>
          <p:cNvSpPr/>
          <p:nvPr/>
        </p:nvSpPr>
        <p:spPr>
          <a:xfrm>
            <a:off x="7694676" y="1595628"/>
            <a:ext cx="800100" cy="402300"/>
          </a:xfrm>
          <a:prstGeom prst="rect">
            <a:avLst/>
          </a:prstGeom>
          <a:solidFill>
            <a:srgbClr val="0B8E91"/>
          </a:solidFill>
          <a:ln cap="flat" cmpd="sng" w="12700">
            <a:solidFill>
              <a:srgbClr val="0B8E9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h1794ca906f73028b_0_0"/>
          <p:cNvSpPr/>
          <p:nvPr/>
        </p:nvSpPr>
        <p:spPr>
          <a:xfrm>
            <a:off x="7722108" y="1643177"/>
            <a:ext cx="7452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4"/>
              <a:buFont typeface="Arial"/>
              <a:buNone/>
            </a:pPr>
            <a:r>
              <a:rPr b="1" lang="en-US" sz="91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31 Oct</a:t>
            </a:r>
            <a:endParaRPr sz="91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4"/>
              <a:buFont typeface="Arial"/>
              <a:buNone/>
            </a:pPr>
            <a:r>
              <a:rPr b="1" lang="en-US" sz="91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 Nov</a:t>
            </a:r>
            <a:endParaRPr sz="91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h1794ca906f73028b_0_0"/>
          <p:cNvSpPr/>
          <p:nvPr/>
        </p:nvSpPr>
        <p:spPr>
          <a:xfrm>
            <a:off x="8494776" y="1595628"/>
            <a:ext cx="800100" cy="402300"/>
          </a:xfrm>
          <a:prstGeom prst="rect">
            <a:avLst/>
          </a:prstGeom>
          <a:solidFill>
            <a:srgbClr val="0B8E91"/>
          </a:solidFill>
          <a:ln cap="flat" cmpd="sng" w="12700">
            <a:solidFill>
              <a:srgbClr val="0B8E9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h1794ca906f73028b_0_0"/>
          <p:cNvSpPr/>
          <p:nvPr/>
        </p:nvSpPr>
        <p:spPr>
          <a:xfrm>
            <a:off x="8522208" y="1643177"/>
            <a:ext cx="7452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4"/>
              <a:buFont typeface="Arial"/>
              <a:buNone/>
            </a:pPr>
            <a:r>
              <a:rPr b="1" lang="en-US" sz="91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07–13</a:t>
            </a:r>
            <a:endParaRPr sz="91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4"/>
              <a:buFont typeface="Arial"/>
              <a:buNone/>
            </a:pPr>
            <a:r>
              <a:rPr b="1" lang="en-US" sz="91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endParaRPr sz="91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h1794ca906f73028b_0_0"/>
          <p:cNvSpPr/>
          <p:nvPr/>
        </p:nvSpPr>
        <p:spPr>
          <a:xfrm>
            <a:off x="9294876" y="1595628"/>
            <a:ext cx="800100" cy="402300"/>
          </a:xfrm>
          <a:prstGeom prst="rect">
            <a:avLst/>
          </a:prstGeom>
          <a:solidFill>
            <a:srgbClr val="0B8E91"/>
          </a:solidFill>
          <a:ln cap="flat" cmpd="sng" w="12700">
            <a:solidFill>
              <a:srgbClr val="0B8E9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h1794ca906f73028b_0_0"/>
          <p:cNvSpPr/>
          <p:nvPr/>
        </p:nvSpPr>
        <p:spPr>
          <a:xfrm>
            <a:off x="9322308" y="1643177"/>
            <a:ext cx="7452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4"/>
              <a:buFont typeface="Arial"/>
              <a:buNone/>
            </a:pPr>
            <a:r>
              <a:rPr b="1" lang="en-US" sz="91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14–20</a:t>
            </a:r>
            <a:endParaRPr sz="91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4"/>
              <a:buFont typeface="Arial"/>
              <a:buNone/>
            </a:pPr>
            <a:r>
              <a:rPr b="1" lang="en-US" sz="91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endParaRPr sz="91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h1794ca906f73028b_0_0"/>
          <p:cNvSpPr/>
          <p:nvPr/>
        </p:nvSpPr>
        <p:spPr>
          <a:xfrm>
            <a:off x="10094976" y="1595628"/>
            <a:ext cx="800100" cy="402300"/>
          </a:xfrm>
          <a:prstGeom prst="rect">
            <a:avLst/>
          </a:prstGeom>
          <a:solidFill>
            <a:srgbClr val="0B8E91"/>
          </a:solidFill>
          <a:ln cap="flat" cmpd="sng" w="12700">
            <a:solidFill>
              <a:srgbClr val="0B8E9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h1794ca906f73028b_0_0"/>
          <p:cNvSpPr/>
          <p:nvPr/>
        </p:nvSpPr>
        <p:spPr>
          <a:xfrm>
            <a:off x="10122408" y="1643177"/>
            <a:ext cx="7452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4"/>
              <a:buFont typeface="Arial"/>
              <a:buNone/>
            </a:pPr>
            <a:r>
              <a:rPr b="1" lang="en-US" sz="91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21–26</a:t>
            </a:r>
            <a:endParaRPr sz="91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4"/>
              <a:buFont typeface="Arial"/>
              <a:buNone/>
            </a:pPr>
            <a:r>
              <a:rPr b="1" lang="en-US" sz="91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endParaRPr sz="91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h1794ca906f73028b_0_0"/>
          <p:cNvSpPr/>
          <p:nvPr/>
        </p:nvSpPr>
        <p:spPr>
          <a:xfrm>
            <a:off x="10895076" y="1595628"/>
            <a:ext cx="800100" cy="402300"/>
          </a:xfrm>
          <a:prstGeom prst="rect">
            <a:avLst/>
          </a:prstGeom>
          <a:solidFill>
            <a:srgbClr val="0B8E91"/>
          </a:solidFill>
          <a:ln cap="flat" cmpd="sng" w="12700">
            <a:solidFill>
              <a:srgbClr val="0B8E9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h1794ca906f73028b_0_0"/>
          <p:cNvSpPr/>
          <p:nvPr/>
        </p:nvSpPr>
        <p:spPr>
          <a:xfrm>
            <a:off x="10922508" y="1643177"/>
            <a:ext cx="7452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4"/>
              <a:buFont typeface="Arial"/>
              <a:buNone/>
            </a:pPr>
            <a:r>
              <a:rPr b="1" lang="en-US" sz="91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27 Nov</a:t>
            </a:r>
            <a:endParaRPr sz="91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4"/>
              <a:buFont typeface="Arial"/>
              <a:buNone/>
            </a:pPr>
            <a:r>
              <a:rPr b="1" lang="en-US" sz="91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 Dic</a:t>
            </a:r>
            <a:endParaRPr sz="91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h1794ca906f73028b_0_0"/>
          <p:cNvSpPr/>
          <p:nvPr/>
        </p:nvSpPr>
        <p:spPr>
          <a:xfrm>
            <a:off x="502920" y="1997964"/>
            <a:ext cx="17466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h1794ca906f73028b_0_0"/>
          <p:cNvSpPr/>
          <p:nvPr/>
        </p:nvSpPr>
        <p:spPr>
          <a:xfrm>
            <a:off x="2249424" y="1997964"/>
            <a:ext cx="1444800" cy="498300"/>
          </a:xfrm>
          <a:prstGeom prst="rect">
            <a:avLst/>
          </a:prstGeom>
          <a:solidFill>
            <a:srgbClr val="FBFCFE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h1794ca906f73028b_0_0"/>
          <p:cNvSpPr/>
          <p:nvPr/>
        </p:nvSpPr>
        <p:spPr>
          <a:xfrm>
            <a:off x="3694176" y="1997964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h1794ca906f73028b_0_0"/>
          <p:cNvSpPr/>
          <p:nvPr/>
        </p:nvSpPr>
        <p:spPr>
          <a:xfrm>
            <a:off x="4494276" y="1997964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h1794ca906f73028b_0_0"/>
          <p:cNvSpPr/>
          <p:nvPr/>
        </p:nvSpPr>
        <p:spPr>
          <a:xfrm>
            <a:off x="5294376" y="1997964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h1794ca906f73028b_0_0"/>
          <p:cNvSpPr/>
          <p:nvPr/>
        </p:nvSpPr>
        <p:spPr>
          <a:xfrm>
            <a:off x="6094476" y="1997964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h1794ca906f73028b_0_0"/>
          <p:cNvSpPr/>
          <p:nvPr/>
        </p:nvSpPr>
        <p:spPr>
          <a:xfrm>
            <a:off x="6894576" y="1997964"/>
            <a:ext cx="800100" cy="498300"/>
          </a:xfrm>
          <a:prstGeom prst="rect">
            <a:avLst/>
          </a:prstGeom>
          <a:solidFill>
            <a:srgbClr val="FCE8DA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h1794ca906f73028b_0_0"/>
          <p:cNvSpPr/>
          <p:nvPr/>
        </p:nvSpPr>
        <p:spPr>
          <a:xfrm>
            <a:off x="7694676" y="1997964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h1794ca906f73028b_0_0"/>
          <p:cNvSpPr/>
          <p:nvPr/>
        </p:nvSpPr>
        <p:spPr>
          <a:xfrm>
            <a:off x="8494776" y="1997964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h1794ca906f73028b_0_0"/>
          <p:cNvSpPr/>
          <p:nvPr/>
        </p:nvSpPr>
        <p:spPr>
          <a:xfrm>
            <a:off x="9294876" y="1997964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h1794ca906f73028b_0_0"/>
          <p:cNvSpPr/>
          <p:nvPr/>
        </p:nvSpPr>
        <p:spPr>
          <a:xfrm>
            <a:off x="10094976" y="1997964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h1794ca906f73028b_0_0"/>
          <p:cNvSpPr/>
          <p:nvPr/>
        </p:nvSpPr>
        <p:spPr>
          <a:xfrm>
            <a:off x="10895076" y="1997964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h1794ca906f73028b_0_0"/>
          <p:cNvSpPr/>
          <p:nvPr/>
        </p:nvSpPr>
        <p:spPr>
          <a:xfrm>
            <a:off x="502920" y="2496312"/>
            <a:ext cx="1746600" cy="498300"/>
          </a:xfrm>
          <a:prstGeom prst="rect">
            <a:avLst/>
          </a:prstGeom>
          <a:solidFill>
            <a:srgbClr val="F2F8FC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h1794ca906f73028b_0_0"/>
          <p:cNvSpPr/>
          <p:nvPr/>
        </p:nvSpPr>
        <p:spPr>
          <a:xfrm>
            <a:off x="2249424" y="2496312"/>
            <a:ext cx="1444800" cy="498300"/>
          </a:xfrm>
          <a:prstGeom prst="rect">
            <a:avLst/>
          </a:prstGeom>
          <a:solidFill>
            <a:srgbClr val="EAF4F9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h1794ca906f73028b_0_0"/>
          <p:cNvSpPr/>
          <p:nvPr/>
        </p:nvSpPr>
        <p:spPr>
          <a:xfrm>
            <a:off x="3694176" y="2496312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h1794ca906f73028b_0_0"/>
          <p:cNvSpPr/>
          <p:nvPr/>
        </p:nvSpPr>
        <p:spPr>
          <a:xfrm>
            <a:off x="4494276" y="2496312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h1794ca906f73028b_0_0"/>
          <p:cNvSpPr/>
          <p:nvPr/>
        </p:nvSpPr>
        <p:spPr>
          <a:xfrm>
            <a:off x="5294376" y="2496312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h1794ca906f73028b_0_0"/>
          <p:cNvSpPr/>
          <p:nvPr/>
        </p:nvSpPr>
        <p:spPr>
          <a:xfrm>
            <a:off x="6094476" y="2496312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h1794ca906f73028b_0_0"/>
          <p:cNvSpPr/>
          <p:nvPr/>
        </p:nvSpPr>
        <p:spPr>
          <a:xfrm>
            <a:off x="6894576" y="2496312"/>
            <a:ext cx="800100" cy="498300"/>
          </a:xfrm>
          <a:prstGeom prst="rect">
            <a:avLst/>
          </a:prstGeom>
          <a:solidFill>
            <a:srgbClr val="FCE8DA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h1794ca906f73028b_0_0"/>
          <p:cNvSpPr/>
          <p:nvPr/>
        </p:nvSpPr>
        <p:spPr>
          <a:xfrm>
            <a:off x="7694676" y="2496312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h1794ca906f73028b_0_0"/>
          <p:cNvSpPr/>
          <p:nvPr/>
        </p:nvSpPr>
        <p:spPr>
          <a:xfrm>
            <a:off x="8494776" y="2496312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h1794ca906f73028b_0_0"/>
          <p:cNvSpPr/>
          <p:nvPr/>
        </p:nvSpPr>
        <p:spPr>
          <a:xfrm>
            <a:off x="9294876" y="2496312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h1794ca906f73028b_0_0"/>
          <p:cNvSpPr/>
          <p:nvPr/>
        </p:nvSpPr>
        <p:spPr>
          <a:xfrm>
            <a:off x="10094976" y="2496312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h1794ca906f73028b_0_0"/>
          <p:cNvSpPr/>
          <p:nvPr/>
        </p:nvSpPr>
        <p:spPr>
          <a:xfrm>
            <a:off x="10895076" y="2496312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h1794ca906f73028b_0_0"/>
          <p:cNvSpPr/>
          <p:nvPr/>
        </p:nvSpPr>
        <p:spPr>
          <a:xfrm>
            <a:off x="502920" y="2994660"/>
            <a:ext cx="17466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h1794ca906f73028b_0_0"/>
          <p:cNvSpPr/>
          <p:nvPr/>
        </p:nvSpPr>
        <p:spPr>
          <a:xfrm>
            <a:off x="2249424" y="2994660"/>
            <a:ext cx="1444800" cy="498300"/>
          </a:xfrm>
          <a:prstGeom prst="rect">
            <a:avLst/>
          </a:prstGeom>
          <a:solidFill>
            <a:srgbClr val="FBFCFE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h1794ca906f73028b_0_0"/>
          <p:cNvSpPr/>
          <p:nvPr/>
        </p:nvSpPr>
        <p:spPr>
          <a:xfrm>
            <a:off x="3694176" y="2994660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h1794ca906f73028b_0_0"/>
          <p:cNvSpPr/>
          <p:nvPr/>
        </p:nvSpPr>
        <p:spPr>
          <a:xfrm>
            <a:off x="4494276" y="2994660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h1794ca906f73028b_0_0"/>
          <p:cNvSpPr/>
          <p:nvPr/>
        </p:nvSpPr>
        <p:spPr>
          <a:xfrm>
            <a:off x="5294376" y="2994660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h1794ca906f73028b_0_0"/>
          <p:cNvSpPr/>
          <p:nvPr/>
        </p:nvSpPr>
        <p:spPr>
          <a:xfrm>
            <a:off x="6094476" y="2994660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h1794ca906f73028b_0_0"/>
          <p:cNvSpPr/>
          <p:nvPr/>
        </p:nvSpPr>
        <p:spPr>
          <a:xfrm>
            <a:off x="6894576" y="2994660"/>
            <a:ext cx="800100" cy="498300"/>
          </a:xfrm>
          <a:prstGeom prst="rect">
            <a:avLst/>
          </a:prstGeom>
          <a:solidFill>
            <a:srgbClr val="FCE8DA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h1794ca906f73028b_0_0"/>
          <p:cNvSpPr/>
          <p:nvPr/>
        </p:nvSpPr>
        <p:spPr>
          <a:xfrm>
            <a:off x="7694676" y="2994660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h1794ca906f73028b_0_0"/>
          <p:cNvSpPr/>
          <p:nvPr/>
        </p:nvSpPr>
        <p:spPr>
          <a:xfrm>
            <a:off x="8494776" y="2994660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h1794ca906f73028b_0_0"/>
          <p:cNvSpPr/>
          <p:nvPr/>
        </p:nvSpPr>
        <p:spPr>
          <a:xfrm>
            <a:off x="9294876" y="2994660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h1794ca906f73028b_0_0"/>
          <p:cNvSpPr/>
          <p:nvPr/>
        </p:nvSpPr>
        <p:spPr>
          <a:xfrm>
            <a:off x="10094976" y="2994660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h1794ca906f73028b_0_0"/>
          <p:cNvSpPr/>
          <p:nvPr/>
        </p:nvSpPr>
        <p:spPr>
          <a:xfrm>
            <a:off x="10895076" y="2994660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h1794ca906f73028b_0_0"/>
          <p:cNvSpPr/>
          <p:nvPr/>
        </p:nvSpPr>
        <p:spPr>
          <a:xfrm>
            <a:off x="502920" y="3493008"/>
            <a:ext cx="1746600" cy="498300"/>
          </a:xfrm>
          <a:prstGeom prst="rect">
            <a:avLst/>
          </a:prstGeom>
          <a:solidFill>
            <a:srgbClr val="F2F8FC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h1794ca906f73028b_0_0"/>
          <p:cNvSpPr/>
          <p:nvPr/>
        </p:nvSpPr>
        <p:spPr>
          <a:xfrm>
            <a:off x="2249424" y="3493008"/>
            <a:ext cx="1444800" cy="498300"/>
          </a:xfrm>
          <a:prstGeom prst="rect">
            <a:avLst/>
          </a:prstGeom>
          <a:solidFill>
            <a:srgbClr val="EAF4F9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h1794ca906f73028b_0_0"/>
          <p:cNvSpPr/>
          <p:nvPr/>
        </p:nvSpPr>
        <p:spPr>
          <a:xfrm>
            <a:off x="3694176" y="3493008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h1794ca906f73028b_0_0"/>
          <p:cNvSpPr/>
          <p:nvPr/>
        </p:nvSpPr>
        <p:spPr>
          <a:xfrm>
            <a:off x="4494276" y="3493008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h1794ca906f73028b_0_0"/>
          <p:cNvSpPr/>
          <p:nvPr/>
        </p:nvSpPr>
        <p:spPr>
          <a:xfrm>
            <a:off x="5294376" y="3493008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h1794ca906f73028b_0_0"/>
          <p:cNvSpPr/>
          <p:nvPr/>
        </p:nvSpPr>
        <p:spPr>
          <a:xfrm>
            <a:off x="6094476" y="3493008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h1794ca906f73028b_0_0"/>
          <p:cNvSpPr/>
          <p:nvPr/>
        </p:nvSpPr>
        <p:spPr>
          <a:xfrm>
            <a:off x="6894576" y="3493008"/>
            <a:ext cx="800100" cy="498300"/>
          </a:xfrm>
          <a:prstGeom prst="rect">
            <a:avLst/>
          </a:prstGeom>
          <a:solidFill>
            <a:srgbClr val="FCE8DA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h1794ca906f73028b_0_0"/>
          <p:cNvSpPr/>
          <p:nvPr/>
        </p:nvSpPr>
        <p:spPr>
          <a:xfrm>
            <a:off x="7694676" y="3493008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h1794ca906f73028b_0_0"/>
          <p:cNvSpPr/>
          <p:nvPr/>
        </p:nvSpPr>
        <p:spPr>
          <a:xfrm>
            <a:off x="8494776" y="3493008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h1794ca906f73028b_0_0"/>
          <p:cNvSpPr/>
          <p:nvPr/>
        </p:nvSpPr>
        <p:spPr>
          <a:xfrm>
            <a:off x="9294876" y="3493008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h1794ca906f73028b_0_0"/>
          <p:cNvSpPr/>
          <p:nvPr/>
        </p:nvSpPr>
        <p:spPr>
          <a:xfrm>
            <a:off x="10094976" y="3493008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h1794ca906f73028b_0_0"/>
          <p:cNvSpPr/>
          <p:nvPr/>
        </p:nvSpPr>
        <p:spPr>
          <a:xfrm>
            <a:off x="10895076" y="3493008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h1794ca906f73028b_0_0"/>
          <p:cNvSpPr/>
          <p:nvPr/>
        </p:nvSpPr>
        <p:spPr>
          <a:xfrm>
            <a:off x="502920" y="3991356"/>
            <a:ext cx="17466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h1794ca906f73028b_0_0"/>
          <p:cNvSpPr/>
          <p:nvPr/>
        </p:nvSpPr>
        <p:spPr>
          <a:xfrm>
            <a:off x="2249424" y="3991356"/>
            <a:ext cx="1444800" cy="498300"/>
          </a:xfrm>
          <a:prstGeom prst="rect">
            <a:avLst/>
          </a:prstGeom>
          <a:solidFill>
            <a:srgbClr val="FBFCFE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h1794ca906f73028b_0_0"/>
          <p:cNvSpPr/>
          <p:nvPr/>
        </p:nvSpPr>
        <p:spPr>
          <a:xfrm>
            <a:off x="3694176" y="3991356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h1794ca906f73028b_0_0"/>
          <p:cNvSpPr/>
          <p:nvPr/>
        </p:nvSpPr>
        <p:spPr>
          <a:xfrm>
            <a:off x="4494276" y="3991356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h1794ca906f73028b_0_0"/>
          <p:cNvSpPr/>
          <p:nvPr/>
        </p:nvSpPr>
        <p:spPr>
          <a:xfrm>
            <a:off x="5294376" y="3991356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h1794ca906f73028b_0_0"/>
          <p:cNvSpPr/>
          <p:nvPr/>
        </p:nvSpPr>
        <p:spPr>
          <a:xfrm>
            <a:off x="6094476" y="3991356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h1794ca906f73028b_0_0"/>
          <p:cNvSpPr/>
          <p:nvPr/>
        </p:nvSpPr>
        <p:spPr>
          <a:xfrm>
            <a:off x="6894576" y="3991356"/>
            <a:ext cx="800100" cy="498300"/>
          </a:xfrm>
          <a:prstGeom prst="rect">
            <a:avLst/>
          </a:prstGeom>
          <a:solidFill>
            <a:srgbClr val="FCE8DA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h1794ca906f73028b_0_0"/>
          <p:cNvSpPr/>
          <p:nvPr/>
        </p:nvSpPr>
        <p:spPr>
          <a:xfrm>
            <a:off x="7694676" y="3991356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h1794ca906f73028b_0_0"/>
          <p:cNvSpPr/>
          <p:nvPr/>
        </p:nvSpPr>
        <p:spPr>
          <a:xfrm>
            <a:off x="8494776" y="3991356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h1794ca906f73028b_0_0"/>
          <p:cNvSpPr/>
          <p:nvPr/>
        </p:nvSpPr>
        <p:spPr>
          <a:xfrm>
            <a:off x="9294876" y="3991356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h1794ca906f73028b_0_0"/>
          <p:cNvSpPr/>
          <p:nvPr/>
        </p:nvSpPr>
        <p:spPr>
          <a:xfrm>
            <a:off x="10094976" y="3991356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h1794ca906f73028b_0_0"/>
          <p:cNvSpPr/>
          <p:nvPr/>
        </p:nvSpPr>
        <p:spPr>
          <a:xfrm>
            <a:off x="10895076" y="3991356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h1794ca906f73028b_0_0"/>
          <p:cNvSpPr/>
          <p:nvPr/>
        </p:nvSpPr>
        <p:spPr>
          <a:xfrm>
            <a:off x="502920" y="4489704"/>
            <a:ext cx="1746600" cy="498300"/>
          </a:xfrm>
          <a:prstGeom prst="rect">
            <a:avLst/>
          </a:prstGeom>
          <a:solidFill>
            <a:srgbClr val="F2F8FC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h1794ca906f73028b_0_0"/>
          <p:cNvSpPr/>
          <p:nvPr/>
        </p:nvSpPr>
        <p:spPr>
          <a:xfrm>
            <a:off x="2249424" y="4489704"/>
            <a:ext cx="1444800" cy="498300"/>
          </a:xfrm>
          <a:prstGeom prst="rect">
            <a:avLst/>
          </a:prstGeom>
          <a:solidFill>
            <a:srgbClr val="EAF4F9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h1794ca906f73028b_0_0"/>
          <p:cNvSpPr/>
          <p:nvPr/>
        </p:nvSpPr>
        <p:spPr>
          <a:xfrm>
            <a:off x="3694176" y="4489704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h1794ca906f73028b_0_0"/>
          <p:cNvSpPr/>
          <p:nvPr/>
        </p:nvSpPr>
        <p:spPr>
          <a:xfrm>
            <a:off x="4494276" y="4489704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h1794ca906f73028b_0_0"/>
          <p:cNvSpPr/>
          <p:nvPr/>
        </p:nvSpPr>
        <p:spPr>
          <a:xfrm>
            <a:off x="5294376" y="4489704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h1794ca906f73028b_0_0"/>
          <p:cNvSpPr/>
          <p:nvPr/>
        </p:nvSpPr>
        <p:spPr>
          <a:xfrm>
            <a:off x="6094476" y="4489704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h1794ca906f73028b_0_0"/>
          <p:cNvSpPr/>
          <p:nvPr/>
        </p:nvSpPr>
        <p:spPr>
          <a:xfrm>
            <a:off x="6894576" y="4489704"/>
            <a:ext cx="800100" cy="498300"/>
          </a:xfrm>
          <a:prstGeom prst="rect">
            <a:avLst/>
          </a:prstGeom>
          <a:solidFill>
            <a:srgbClr val="FCE8DA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h1794ca906f73028b_0_0"/>
          <p:cNvSpPr/>
          <p:nvPr/>
        </p:nvSpPr>
        <p:spPr>
          <a:xfrm>
            <a:off x="7694676" y="4489704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h1794ca906f73028b_0_0"/>
          <p:cNvSpPr/>
          <p:nvPr/>
        </p:nvSpPr>
        <p:spPr>
          <a:xfrm>
            <a:off x="8494776" y="4489704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h1794ca906f73028b_0_0"/>
          <p:cNvSpPr/>
          <p:nvPr/>
        </p:nvSpPr>
        <p:spPr>
          <a:xfrm>
            <a:off x="9294876" y="4489704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h1794ca906f73028b_0_0"/>
          <p:cNvSpPr/>
          <p:nvPr/>
        </p:nvSpPr>
        <p:spPr>
          <a:xfrm>
            <a:off x="10094976" y="4489704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h1794ca906f73028b_0_0"/>
          <p:cNvSpPr/>
          <p:nvPr/>
        </p:nvSpPr>
        <p:spPr>
          <a:xfrm>
            <a:off x="10895076" y="4489704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h1794ca906f73028b_0_0"/>
          <p:cNvSpPr/>
          <p:nvPr/>
        </p:nvSpPr>
        <p:spPr>
          <a:xfrm>
            <a:off x="502920" y="4988052"/>
            <a:ext cx="17466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h1794ca906f73028b_0_0"/>
          <p:cNvSpPr/>
          <p:nvPr/>
        </p:nvSpPr>
        <p:spPr>
          <a:xfrm>
            <a:off x="2249424" y="4988052"/>
            <a:ext cx="1444800" cy="498300"/>
          </a:xfrm>
          <a:prstGeom prst="rect">
            <a:avLst/>
          </a:prstGeom>
          <a:solidFill>
            <a:srgbClr val="FBFCFE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h1794ca906f73028b_0_0"/>
          <p:cNvSpPr/>
          <p:nvPr/>
        </p:nvSpPr>
        <p:spPr>
          <a:xfrm>
            <a:off x="3694176" y="4988052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h1794ca906f73028b_0_0"/>
          <p:cNvSpPr/>
          <p:nvPr/>
        </p:nvSpPr>
        <p:spPr>
          <a:xfrm>
            <a:off x="4494276" y="4988052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h1794ca906f73028b_0_0"/>
          <p:cNvSpPr/>
          <p:nvPr/>
        </p:nvSpPr>
        <p:spPr>
          <a:xfrm>
            <a:off x="5294376" y="4988052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h1794ca906f73028b_0_0"/>
          <p:cNvSpPr/>
          <p:nvPr/>
        </p:nvSpPr>
        <p:spPr>
          <a:xfrm>
            <a:off x="6094476" y="4988052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h1794ca906f73028b_0_0"/>
          <p:cNvSpPr/>
          <p:nvPr/>
        </p:nvSpPr>
        <p:spPr>
          <a:xfrm>
            <a:off x="6894576" y="4988052"/>
            <a:ext cx="800100" cy="498300"/>
          </a:xfrm>
          <a:prstGeom prst="rect">
            <a:avLst/>
          </a:prstGeom>
          <a:solidFill>
            <a:srgbClr val="FCE8DA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h1794ca906f73028b_0_0"/>
          <p:cNvSpPr/>
          <p:nvPr/>
        </p:nvSpPr>
        <p:spPr>
          <a:xfrm>
            <a:off x="7694676" y="4988052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h1794ca906f73028b_0_0"/>
          <p:cNvSpPr/>
          <p:nvPr/>
        </p:nvSpPr>
        <p:spPr>
          <a:xfrm>
            <a:off x="8494776" y="4988052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h1794ca906f73028b_0_0"/>
          <p:cNvSpPr/>
          <p:nvPr/>
        </p:nvSpPr>
        <p:spPr>
          <a:xfrm>
            <a:off x="9294876" y="4988052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h1794ca906f73028b_0_0"/>
          <p:cNvSpPr/>
          <p:nvPr/>
        </p:nvSpPr>
        <p:spPr>
          <a:xfrm>
            <a:off x="10094976" y="4988052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h1794ca906f73028b_0_0"/>
          <p:cNvSpPr/>
          <p:nvPr/>
        </p:nvSpPr>
        <p:spPr>
          <a:xfrm>
            <a:off x="10895076" y="4988052"/>
            <a:ext cx="800100" cy="49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h1794ca906f73028b_0_0"/>
          <p:cNvSpPr/>
          <p:nvPr/>
        </p:nvSpPr>
        <p:spPr>
          <a:xfrm>
            <a:off x="562356" y="2029968"/>
            <a:ext cx="16275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B50"/>
              </a:buClr>
              <a:buSzPts val="1025"/>
              <a:buFont typeface="Arial"/>
              <a:buNone/>
            </a:pPr>
            <a:r>
              <a:rPr b="1" lang="en-US" sz="1025">
                <a:solidFill>
                  <a:srgbClr val="082B50"/>
                </a:solidFill>
                <a:latin typeface="Arial"/>
                <a:ea typeface="Arial"/>
                <a:cs typeface="Arial"/>
                <a:sym typeface="Arial"/>
              </a:rPr>
              <a:t>Sprint 1 · Cierre base</a:t>
            </a:r>
            <a:endParaRPr sz="102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B50"/>
              </a:buClr>
              <a:buSzPts val="1025"/>
              <a:buFont typeface="Arial"/>
              <a:buNone/>
            </a:pPr>
            <a:r>
              <a:rPr b="1" lang="en-US" sz="1025">
                <a:solidFill>
                  <a:srgbClr val="082B50"/>
                </a:solidFill>
                <a:latin typeface="Arial"/>
                <a:ea typeface="Arial"/>
                <a:cs typeface="Arial"/>
                <a:sym typeface="Arial"/>
              </a:rPr>
              <a:t>técnica</a:t>
            </a:r>
            <a:endParaRPr sz="102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h1794ca906f73028b_0_0"/>
          <p:cNvSpPr/>
          <p:nvPr/>
        </p:nvSpPr>
        <p:spPr>
          <a:xfrm>
            <a:off x="2308860" y="2038198"/>
            <a:ext cx="1344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D66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173D66"/>
                </a:solidFill>
                <a:latin typeface="Arial"/>
                <a:ea typeface="Arial"/>
                <a:cs typeface="Arial"/>
                <a:sym typeface="Arial"/>
              </a:rPr>
              <a:t>Arquitectura · Modelo ·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D66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173D66"/>
                </a:solidFill>
                <a:latin typeface="Arial"/>
                <a:ea typeface="Arial"/>
                <a:cs typeface="Arial"/>
                <a:sym typeface="Arial"/>
              </a:rPr>
              <a:t>Prototipo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h1794ca906f73028b_0_0"/>
          <p:cNvSpPr/>
          <p:nvPr/>
        </p:nvSpPr>
        <p:spPr>
          <a:xfrm>
            <a:off x="562356" y="2528316"/>
            <a:ext cx="16275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B50"/>
              </a:buClr>
              <a:buSzPts val="1025"/>
              <a:buFont typeface="Arial"/>
              <a:buNone/>
            </a:pPr>
            <a:r>
              <a:rPr b="1" lang="en-US" sz="1025">
                <a:solidFill>
                  <a:srgbClr val="082B50"/>
                </a:solidFill>
                <a:latin typeface="Arial"/>
                <a:ea typeface="Arial"/>
                <a:cs typeface="Arial"/>
                <a:sym typeface="Arial"/>
              </a:rPr>
              <a:t>Sprint 2 · Arquitectura</a:t>
            </a:r>
            <a:endParaRPr sz="102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B50"/>
              </a:buClr>
              <a:buSzPts val="1025"/>
              <a:buFont typeface="Arial"/>
              <a:buNone/>
            </a:pPr>
            <a:r>
              <a:rPr b="1" lang="en-US" sz="1025">
                <a:solidFill>
                  <a:srgbClr val="082B50"/>
                </a:solidFill>
                <a:latin typeface="Arial"/>
                <a:ea typeface="Arial"/>
                <a:cs typeface="Arial"/>
                <a:sym typeface="Arial"/>
              </a:rPr>
              <a:t>y diseño</a:t>
            </a:r>
            <a:endParaRPr sz="102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h1794ca906f73028b_0_0"/>
          <p:cNvSpPr/>
          <p:nvPr/>
        </p:nvSpPr>
        <p:spPr>
          <a:xfrm>
            <a:off x="2308860" y="2536546"/>
            <a:ext cx="1344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D66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173D66"/>
                </a:solidFill>
                <a:latin typeface="Arial"/>
                <a:ea typeface="Arial"/>
                <a:cs typeface="Arial"/>
                <a:sym typeface="Arial"/>
              </a:rPr>
              <a:t>Casos de uso · 4+1 ·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D66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173D66"/>
                </a:solidFill>
                <a:latin typeface="Arial"/>
                <a:ea typeface="Arial"/>
                <a:cs typeface="Arial"/>
                <a:sym typeface="Arial"/>
              </a:rPr>
              <a:t>Modelo conceptual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h1794ca906f73028b_0_0"/>
          <p:cNvSpPr/>
          <p:nvPr/>
        </p:nvSpPr>
        <p:spPr>
          <a:xfrm>
            <a:off x="562356" y="3026664"/>
            <a:ext cx="16275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B50"/>
              </a:buClr>
              <a:buSzPts val="1025"/>
              <a:buFont typeface="Arial"/>
              <a:buNone/>
            </a:pPr>
            <a:r>
              <a:rPr b="1" lang="en-US" sz="1025">
                <a:solidFill>
                  <a:srgbClr val="082B50"/>
                </a:solidFill>
                <a:latin typeface="Arial"/>
                <a:ea typeface="Arial"/>
                <a:cs typeface="Arial"/>
                <a:sym typeface="Arial"/>
              </a:rPr>
              <a:t>Sprint 3 · Implementación</a:t>
            </a:r>
            <a:endParaRPr sz="102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B50"/>
              </a:buClr>
              <a:buSzPts val="1025"/>
              <a:buFont typeface="Arial"/>
              <a:buNone/>
            </a:pPr>
            <a:r>
              <a:rPr b="1" lang="en-US" sz="1025">
                <a:solidFill>
                  <a:srgbClr val="082B50"/>
                </a:solidFill>
                <a:latin typeface="Arial"/>
                <a:ea typeface="Arial"/>
                <a:cs typeface="Arial"/>
                <a:sym typeface="Arial"/>
              </a:rPr>
              <a:t>base</a:t>
            </a:r>
            <a:endParaRPr sz="102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h1794ca906f73028b_0_0"/>
          <p:cNvSpPr/>
          <p:nvPr/>
        </p:nvSpPr>
        <p:spPr>
          <a:xfrm>
            <a:off x="2308860" y="3034894"/>
            <a:ext cx="1344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D66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173D66"/>
                </a:solidFill>
                <a:latin typeface="Arial"/>
                <a:ea typeface="Arial"/>
                <a:cs typeface="Arial"/>
                <a:sym typeface="Arial"/>
              </a:rPr>
              <a:t>Modelo ER · BD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h1794ca906f73028b_0_0"/>
          <p:cNvSpPr/>
          <p:nvPr/>
        </p:nvSpPr>
        <p:spPr>
          <a:xfrm>
            <a:off x="562356" y="3525012"/>
            <a:ext cx="16275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B50"/>
              </a:buClr>
              <a:buSzPts val="1025"/>
              <a:buFont typeface="Arial"/>
              <a:buNone/>
            </a:pPr>
            <a:r>
              <a:rPr b="1" lang="en-US" sz="1025">
                <a:solidFill>
                  <a:srgbClr val="082B50"/>
                </a:solidFill>
                <a:latin typeface="Arial"/>
                <a:ea typeface="Arial"/>
                <a:cs typeface="Arial"/>
                <a:sym typeface="Arial"/>
              </a:rPr>
              <a:t>Sprint 4 · Jira / dashboards</a:t>
            </a:r>
            <a:endParaRPr sz="102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h1794ca906f73028b_0_0"/>
          <p:cNvSpPr/>
          <p:nvPr/>
        </p:nvSpPr>
        <p:spPr>
          <a:xfrm>
            <a:off x="2308860" y="3533242"/>
            <a:ext cx="1344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D66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173D66"/>
                </a:solidFill>
                <a:latin typeface="Arial"/>
                <a:ea typeface="Arial"/>
                <a:cs typeface="Arial"/>
                <a:sym typeface="Arial"/>
              </a:rPr>
              <a:t>Integración · KPI QE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h1794ca906f73028b_0_0"/>
          <p:cNvSpPr/>
          <p:nvPr/>
        </p:nvSpPr>
        <p:spPr>
          <a:xfrm>
            <a:off x="562356" y="4023360"/>
            <a:ext cx="16275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B50"/>
              </a:buClr>
              <a:buSzPts val="1025"/>
              <a:buFont typeface="Arial"/>
              <a:buNone/>
            </a:pPr>
            <a:r>
              <a:rPr b="1" lang="en-US" sz="1025">
                <a:solidFill>
                  <a:srgbClr val="082B50"/>
                </a:solidFill>
                <a:latin typeface="Arial"/>
                <a:ea typeface="Arial"/>
                <a:cs typeface="Arial"/>
                <a:sym typeface="Arial"/>
              </a:rPr>
              <a:t>Sprint 5 · Validación</a:t>
            </a:r>
            <a:endParaRPr sz="102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B50"/>
              </a:buClr>
              <a:buSzPts val="1025"/>
              <a:buFont typeface="Arial"/>
              <a:buNone/>
            </a:pPr>
            <a:r>
              <a:rPr b="1" lang="en-US" sz="1025">
                <a:solidFill>
                  <a:srgbClr val="082B50"/>
                </a:solidFill>
                <a:latin typeface="Arial"/>
                <a:ea typeface="Arial"/>
                <a:cs typeface="Arial"/>
                <a:sym typeface="Arial"/>
              </a:rPr>
              <a:t>funcional</a:t>
            </a:r>
            <a:endParaRPr sz="102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h1794ca906f73028b_0_0"/>
          <p:cNvSpPr/>
          <p:nvPr/>
        </p:nvSpPr>
        <p:spPr>
          <a:xfrm>
            <a:off x="2308860" y="4031590"/>
            <a:ext cx="1344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D66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173D66"/>
                </a:solidFill>
                <a:latin typeface="Arial"/>
                <a:ea typeface="Arial"/>
                <a:cs typeface="Arial"/>
                <a:sym typeface="Arial"/>
              </a:rPr>
              <a:t>Pruebas · Medición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D66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173D66"/>
                </a:solidFill>
                <a:latin typeface="Arial"/>
                <a:ea typeface="Arial"/>
                <a:cs typeface="Arial"/>
                <a:sym typeface="Arial"/>
              </a:rPr>
              <a:t>SIN/CON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h1794ca906f73028b_0_0"/>
          <p:cNvSpPr/>
          <p:nvPr/>
        </p:nvSpPr>
        <p:spPr>
          <a:xfrm>
            <a:off x="562356" y="4521708"/>
            <a:ext cx="16275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B50"/>
              </a:buClr>
              <a:buSzPts val="1025"/>
              <a:buFont typeface="Arial"/>
              <a:buNone/>
            </a:pPr>
            <a:r>
              <a:rPr b="1" lang="en-US" sz="1025">
                <a:solidFill>
                  <a:srgbClr val="082B50"/>
                </a:solidFill>
                <a:latin typeface="Arial"/>
                <a:ea typeface="Arial"/>
                <a:cs typeface="Arial"/>
                <a:sym typeface="Arial"/>
              </a:rPr>
              <a:t>Sprint 6 · Cierre técnico</a:t>
            </a:r>
            <a:endParaRPr sz="102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h1794ca906f73028b_0_0"/>
          <p:cNvSpPr/>
          <p:nvPr/>
        </p:nvSpPr>
        <p:spPr>
          <a:xfrm>
            <a:off x="2308860" y="4529938"/>
            <a:ext cx="1344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D66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173D66"/>
                </a:solidFill>
                <a:latin typeface="Arial"/>
                <a:ea typeface="Arial"/>
                <a:cs typeface="Arial"/>
                <a:sym typeface="Arial"/>
              </a:rPr>
              <a:t>Docs · Costos ·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D66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173D66"/>
                </a:solidFill>
                <a:latin typeface="Arial"/>
                <a:ea typeface="Arial"/>
                <a:cs typeface="Arial"/>
                <a:sym typeface="Arial"/>
              </a:rPr>
              <a:t>Release freeze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h1794ca906f73028b_0_0"/>
          <p:cNvSpPr/>
          <p:nvPr/>
        </p:nvSpPr>
        <p:spPr>
          <a:xfrm>
            <a:off x="562356" y="5020056"/>
            <a:ext cx="16275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B50"/>
              </a:buClr>
              <a:buSzPts val="1025"/>
              <a:buFont typeface="Arial"/>
              <a:buNone/>
            </a:pPr>
            <a:r>
              <a:rPr b="1" lang="en-US" sz="1025">
                <a:solidFill>
                  <a:srgbClr val="082B50"/>
                </a:solidFill>
                <a:latin typeface="Arial"/>
                <a:ea typeface="Arial"/>
                <a:cs typeface="Arial"/>
                <a:sym typeface="Arial"/>
              </a:rPr>
              <a:t>Comisión · Presentación</a:t>
            </a:r>
            <a:endParaRPr sz="102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h1794ca906f73028b_0_0"/>
          <p:cNvSpPr/>
          <p:nvPr/>
        </p:nvSpPr>
        <p:spPr>
          <a:xfrm>
            <a:off x="2308860" y="5028286"/>
            <a:ext cx="1344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D66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173D66"/>
                </a:solidFill>
                <a:latin typeface="Arial"/>
                <a:ea typeface="Arial"/>
                <a:cs typeface="Arial"/>
                <a:sym typeface="Arial"/>
              </a:rPr>
              <a:t>Demo · Defensa ·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D66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173D66"/>
                </a:solidFill>
                <a:latin typeface="Arial"/>
                <a:ea typeface="Arial"/>
                <a:cs typeface="Arial"/>
                <a:sym typeface="Arial"/>
              </a:rPr>
              <a:t>Entrega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h1794ca906f73028b_0_0"/>
          <p:cNvSpPr/>
          <p:nvPr/>
        </p:nvSpPr>
        <p:spPr>
          <a:xfrm>
            <a:off x="3774186" y="2073402"/>
            <a:ext cx="640200" cy="347400"/>
          </a:xfrm>
          <a:prstGeom prst="roundRect">
            <a:avLst>
              <a:gd fmla="val 19737" name="adj"/>
            </a:avLst>
          </a:prstGeom>
          <a:solidFill>
            <a:srgbClr val="11B78F"/>
          </a:solidFill>
          <a:ln cap="flat" cmpd="sng" w="12700">
            <a:solidFill>
              <a:srgbClr val="11B78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h1794ca906f73028b_0_0"/>
          <p:cNvSpPr/>
          <p:nvPr/>
        </p:nvSpPr>
        <p:spPr>
          <a:xfrm>
            <a:off x="3799789" y="2096262"/>
            <a:ext cx="5889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5"/>
              <a:buFont typeface="Arial"/>
              <a:buNone/>
            </a:pPr>
            <a:r>
              <a:rPr b="1" lang="en-US" sz="90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sz="90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5"/>
              <a:buFont typeface="Arial"/>
              <a:buNone/>
            </a:pPr>
            <a:r>
              <a:rPr b="1" lang="en-US" sz="90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 1</a:t>
            </a:r>
            <a:endParaRPr sz="90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h1794ca906f73028b_0_0"/>
          <p:cNvSpPr/>
          <p:nvPr/>
        </p:nvSpPr>
        <p:spPr>
          <a:xfrm>
            <a:off x="4565142" y="2571750"/>
            <a:ext cx="658500" cy="347400"/>
          </a:xfrm>
          <a:prstGeom prst="roundRect">
            <a:avLst>
              <a:gd fmla="val 19737" name="adj"/>
            </a:avLst>
          </a:prstGeom>
          <a:solidFill>
            <a:srgbClr val="11B78F"/>
          </a:solidFill>
          <a:ln cap="flat" cmpd="sng" w="12700">
            <a:solidFill>
              <a:srgbClr val="11B78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h1794ca906f73028b_0_0"/>
          <p:cNvSpPr/>
          <p:nvPr/>
        </p:nvSpPr>
        <p:spPr>
          <a:xfrm>
            <a:off x="4590745" y="2594610"/>
            <a:ext cx="6072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5"/>
              <a:buFont typeface="Arial"/>
              <a:buNone/>
            </a:pPr>
            <a:r>
              <a:rPr b="1" lang="en-US" sz="90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sz="90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5"/>
              <a:buFont typeface="Arial"/>
              <a:buNone/>
            </a:pPr>
            <a:r>
              <a:rPr b="1" lang="en-US" sz="90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 2</a:t>
            </a:r>
            <a:endParaRPr sz="90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h1794ca906f73028b_0_0"/>
          <p:cNvSpPr/>
          <p:nvPr/>
        </p:nvSpPr>
        <p:spPr>
          <a:xfrm>
            <a:off x="5342382" y="3047238"/>
            <a:ext cx="704100" cy="393300"/>
          </a:xfrm>
          <a:prstGeom prst="roundRect">
            <a:avLst>
              <a:gd fmla="val 17442" name="adj"/>
            </a:avLst>
          </a:prstGeom>
          <a:solidFill>
            <a:srgbClr val="11B78F"/>
          </a:solidFill>
          <a:ln cap="flat" cmpd="sng" w="12700">
            <a:solidFill>
              <a:srgbClr val="11B78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h1794ca906f73028b_0_0"/>
          <p:cNvSpPr/>
          <p:nvPr/>
        </p:nvSpPr>
        <p:spPr>
          <a:xfrm>
            <a:off x="5294376" y="2994660"/>
            <a:ext cx="8001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Modelo ER · BD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Arquitectura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h1794ca906f73028b_0_0"/>
          <p:cNvSpPr/>
          <p:nvPr/>
        </p:nvSpPr>
        <p:spPr>
          <a:xfrm>
            <a:off x="6142482" y="3034894"/>
            <a:ext cx="704100" cy="382800"/>
          </a:xfrm>
          <a:prstGeom prst="roundRect">
            <a:avLst>
              <a:gd fmla="val 19737" name="adj"/>
            </a:avLst>
          </a:prstGeom>
          <a:solidFill>
            <a:srgbClr val="F27D2F"/>
          </a:solidFill>
          <a:ln cap="flat" cmpd="sng" w="12700">
            <a:solidFill>
              <a:srgbClr val="F27D2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h1794ca906f73028b_0_0"/>
          <p:cNvSpPr/>
          <p:nvPr/>
        </p:nvSpPr>
        <p:spPr>
          <a:xfrm>
            <a:off x="6142482" y="3092958"/>
            <a:ext cx="6786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Cierre parcial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23/10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h1794ca906f73028b_0_0"/>
          <p:cNvSpPr/>
          <p:nvPr/>
        </p:nvSpPr>
        <p:spPr>
          <a:xfrm>
            <a:off x="6933438" y="3550158"/>
            <a:ext cx="722400" cy="384000"/>
          </a:xfrm>
          <a:prstGeom prst="roundRect">
            <a:avLst>
              <a:gd fmla="val 17857" name="adj"/>
            </a:avLst>
          </a:prstGeom>
          <a:solidFill>
            <a:srgbClr val="8058E5"/>
          </a:solidFill>
          <a:ln cap="flat" cmpd="sng" w="12700">
            <a:solidFill>
              <a:srgbClr val="8058E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h1794ca906f73028b_0_0"/>
          <p:cNvSpPr/>
          <p:nvPr/>
        </p:nvSpPr>
        <p:spPr>
          <a:xfrm>
            <a:off x="6959041" y="3573018"/>
            <a:ext cx="671100" cy="338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Integración de servicios y persistencia</a:t>
            </a:r>
            <a:endParaRPr sz="70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h1794ca906f73028b_0_0"/>
          <p:cNvSpPr/>
          <p:nvPr/>
        </p:nvSpPr>
        <p:spPr>
          <a:xfrm>
            <a:off x="7733538" y="3563874"/>
            <a:ext cx="722400" cy="356700"/>
          </a:xfrm>
          <a:prstGeom prst="roundRect">
            <a:avLst>
              <a:gd fmla="val 19231" name="adj"/>
            </a:avLst>
          </a:prstGeom>
          <a:solidFill>
            <a:srgbClr val="8058E5"/>
          </a:solidFill>
          <a:ln cap="flat" cmpd="sng" w="12700">
            <a:solidFill>
              <a:srgbClr val="8058E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h1794ca906f73028b_0_0"/>
          <p:cNvSpPr/>
          <p:nvPr/>
        </p:nvSpPr>
        <p:spPr>
          <a:xfrm>
            <a:off x="7759141" y="3586734"/>
            <a:ext cx="671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5"/>
              <a:buFont typeface="Arial"/>
              <a:buNone/>
            </a:pPr>
            <a:r>
              <a:rPr b="1" lang="en-US" sz="90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KPI +</a:t>
            </a:r>
            <a:endParaRPr sz="90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5"/>
              <a:buFont typeface="Arial"/>
              <a:buNone/>
            </a:pPr>
            <a:r>
              <a:rPr b="1" lang="en-US" sz="90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sz="90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h1794ca906f73028b_0_0"/>
          <p:cNvSpPr/>
          <p:nvPr/>
        </p:nvSpPr>
        <p:spPr>
          <a:xfrm>
            <a:off x="8533638" y="4062222"/>
            <a:ext cx="722400" cy="356700"/>
          </a:xfrm>
          <a:prstGeom prst="roundRect">
            <a:avLst>
              <a:gd fmla="val 19231" name="adj"/>
            </a:avLst>
          </a:prstGeom>
          <a:solidFill>
            <a:srgbClr val="8058E5"/>
          </a:solidFill>
          <a:ln cap="flat" cmpd="sng" w="12700">
            <a:solidFill>
              <a:srgbClr val="8058E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h1794ca906f73028b_0_0"/>
          <p:cNvSpPr/>
          <p:nvPr/>
        </p:nvSpPr>
        <p:spPr>
          <a:xfrm>
            <a:off x="8559241" y="4085082"/>
            <a:ext cx="671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5"/>
              <a:buFont typeface="Arial"/>
              <a:buNone/>
            </a:pPr>
            <a:r>
              <a:rPr b="1" lang="en-US" sz="90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Pruebas</a:t>
            </a:r>
            <a:endParaRPr sz="90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5"/>
              <a:buFont typeface="Arial"/>
              <a:buNone/>
            </a:pPr>
            <a:r>
              <a:rPr b="1" lang="en-US" sz="90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funcionales</a:t>
            </a:r>
            <a:endParaRPr sz="90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h1794ca906f73028b_0_0"/>
          <p:cNvSpPr/>
          <p:nvPr/>
        </p:nvSpPr>
        <p:spPr>
          <a:xfrm>
            <a:off x="9333738" y="4062222"/>
            <a:ext cx="722400" cy="356700"/>
          </a:xfrm>
          <a:prstGeom prst="roundRect">
            <a:avLst>
              <a:gd fmla="val 19231" name="adj"/>
            </a:avLst>
          </a:prstGeom>
          <a:solidFill>
            <a:srgbClr val="8058E5"/>
          </a:solidFill>
          <a:ln cap="flat" cmpd="sng" w="12700">
            <a:solidFill>
              <a:srgbClr val="8058E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h1794ca906f73028b_0_0"/>
          <p:cNvSpPr/>
          <p:nvPr/>
        </p:nvSpPr>
        <p:spPr>
          <a:xfrm>
            <a:off x="9359341" y="4085082"/>
            <a:ext cx="671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5"/>
              <a:buFont typeface="Arial"/>
              <a:buNone/>
            </a:pPr>
            <a:r>
              <a:rPr b="1" lang="en-US" sz="90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SIN/CON</a:t>
            </a:r>
            <a:endParaRPr sz="90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5"/>
              <a:buFont typeface="Arial"/>
              <a:buNone/>
            </a:pPr>
            <a:r>
              <a:rPr b="1" lang="en-US" sz="90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 ajustes</a:t>
            </a:r>
            <a:endParaRPr sz="90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h1794ca906f73028b_0_0"/>
          <p:cNvSpPr/>
          <p:nvPr/>
        </p:nvSpPr>
        <p:spPr>
          <a:xfrm>
            <a:off x="10129266" y="4560570"/>
            <a:ext cx="731400" cy="356700"/>
          </a:xfrm>
          <a:prstGeom prst="roundRect">
            <a:avLst>
              <a:gd fmla="val 19231" name="adj"/>
            </a:avLst>
          </a:prstGeom>
          <a:solidFill>
            <a:srgbClr val="E91550"/>
          </a:solidFill>
          <a:ln cap="flat" cmpd="sng" w="12700">
            <a:solidFill>
              <a:srgbClr val="E9155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h1794ca906f73028b_0_0"/>
          <p:cNvSpPr/>
          <p:nvPr/>
        </p:nvSpPr>
        <p:spPr>
          <a:xfrm>
            <a:off x="10122408" y="4572000"/>
            <a:ext cx="7128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7"/>
              <a:buFont typeface="Arial"/>
              <a:buNone/>
            </a:pPr>
            <a:r>
              <a:rPr b="1" lang="en-US" sz="83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Release freeze</a:t>
            </a:r>
            <a:endParaRPr sz="83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7"/>
              <a:buFont typeface="Arial"/>
              <a:buNone/>
            </a:pPr>
            <a:r>
              <a:rPr b="1" lang="en-US" sz="83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26/11</a:t>
            </a:r>
            <a:endParaRPr sz="83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h1794ca906f73028b_0_0"/>
          <p:cNvSpPr/>
          <p:nvPr/>
        </p:nvSpPr>
        <p:spPr>
          <a:xfrm>
            <a:off x="10933938" y="5049774"/>
            <a:ext cx="722400" cy="375000"/>
          </a:xfrm>
          <a:prstGeom prst="roundRect">
            <a:avLst>
              <a:gd fmla="val 18293" name="adj"/>
            </a:avLst>
          </a:prstGeom>
          <a:solidFill>
            <a:srgbClr val="E91550"/>
          </a:solidFill>
          <a:ln cap="flat" cmpd="sng" w="12700">
            <a:solidFill>
              <a:srgbClr val="E9155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h1794ca906f73028b_0_0"/>
          <p:cNvSpPr/>
          <p:nvPr/>
        </p:nvSpPr>
        <p:spPr>
          <a:xfrm>
            <a:off x="10922508" y="5049774"/>
            <a:ext cx="7083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7"/>
              <a:buFont typeface="Arial"/>
              <a:buNone/>
            </a:pPr>
            <a:r>
              <a:rPr b="1" lang="en-US" sz="83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Presentación</a:t>
            </a:r>
            <a:endParaRPr sz="83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7"/>
              <a:buFont typeface="Arial"/>
              <a:buNone/>
            </a:pPr>
            <a:r>
              <a:rPr b="1" lang="en-US" sz="83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comisión</a:t>
            </a:r>
            <a:endParaRPr sz="83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h1794ca906f73028b_0_0"/>
          <p:cNvSpPr/>
          <p:nvPr/>
        </p:nvSpPr>
        <p:spPr>
          <a:xfrm>
            <a:off x="502920" y="5760720"/>
            <a:ext cx="11247000" cy="512100"/>
          </a:xfrm>
          <a:prstGeom prst="roundRect">
            <a:avLst>
              <a:gd fmla="val 17857" name="adj"/>
            </a:avLst>
          </a:prstGeom>
          <a:solidFill>
            <a:srgbClr val="FFFFFF"/>
          </a:solidFill>
          <a:ln cap="flat" cmpd="sng" w="9525">
            <a:solidFill>
              <a:srgbClr val="B8D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h1794ca906f73028b_0_0"/>
          <p:cNvSpPr/>
          <p:nvPr/>
        </p:nvSpPr>
        <p:spPr>
          <a:xfrm>
            <a:off x="694944" y="5929884"/>
            <a:ext cx="6036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B50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082B50"/>
                </a:solidFill>
                <a:latin typeface="Arial"/>
                <a:ea typeface="Arial"/>
                <a:cs typeface="Arial"/>
                <a:sym typeface="Arial"/>
              </a:rPr>
              <a:t>Leyenda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h1794ca906f73028b_0_0"/>
          <p:cNvSpPr/>
          <p:nvPr/>
        </p:nvSpPr>
        <p:spPr>
          <a:xfrm>
            <a:off x="1389888" y="5907024"/>
            <a:ext cx="896100" cy="228600"/>
          </a:xfrm>
          <a:prstGeom prst="roundRect">
            <a:avLst>
              <a:gd fmla="val 24000" name="adj"/>
            </a:avLst>
          </a:prstGeom>
          <a:solidFill>
            <a:srgbClr val="11B78F"/>
          </a:solidFill>
          <a:ln cap="flat" cmpd="sng" w="12700">
            <a:solidFill>
              <a:srgbClr val="11B78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h1794ca906f73028b_0_0"/>
          <p:cNvSpPr/>
          <p:nvPr/>
        </p:nvSpPr>
        <p:spPr>
          <a:xfrm>
            <a:off x="1417320" y="5928055"/>
            <a:ext cx="8412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Arial"/>
              <a:buNone/>
            </a:pPr>
            <a:r>
              <a:rPr b="1" lang="en-US" sz="8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Finalizado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h1794ca906f73028b_0_0"/>
          <p:cNvSpPr/>
          <p:nvPr/>
        </p:nvSpPr>
        <p:spPr>
          <a:xfrm>
            <a:off x="2404872" y="5907024"/>
            <a:ext cx="896100" cy="228600"/>
          </a:xfrm>
          <a:prstGeom prst="roundRect">
            <a:avLst>
              <a:gd fmla="val 24000" name="adj"/>
            </a:avLst>
          </a:prstGeom>
          <a:solidFill>
            <a:srgbClr val="169DD5"/>
          </a:solidFill>
          <a:ln cap="flat" cmpd="sng" w="12700">
            <a:solidFill>
              <a:srgbClr val="169DD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h1794ca906f73028b_0_0"/>
          <p:cNvSpPr/>
          <p:nvPr/>
        </p:nvSpPr>
        <p:spPr>
          <a:xfrm>
            <a:off x="2432304" y="5928055"/>
            <a:ext cx="8412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Arial"/>
              <a:buNone/>
            </a:pPr>
            <a:r>
              <a:rPr b="1" lang="en-US" sz="8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 curso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h1794ca906f73028b_0_0"/>
          <p:cNvSpPr/>
          <p:nvPr/>
        </p:nvSpPr>
        <p:spPr>
          <a:xfrm>
            <a:off x="3419856" y="5907024"/>
            <a:ext cx="951000" cy="228600"/>
          </a:xfrm>
          <a:prstGeom prst="roundRect">
            <a:avLst>
              <a:gd fmla="val 24000" name="adj"/>
            </a:avLst>
          </a:prstGeom>
          <a:solidFill>
            <a:srgbClr val="8058E5"/>
          </a:solidFill>
          <a:ln cap="flat" cmpd="sng" w="12700">
            <a:solidFill>
              <a:srgbClr val="8058E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h1794ca906f73028b_0_0"/>
          <p:cNvSpPr/>
          <p:nvPr/>
        </p:nvSpPr>
        <p:spPr>
          <a:xfrm>
            <a:off x="3447288" y="5928055"/>
            <a:ext cx="8961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Arial"/>
              <a:buNone/>
            </a:pPr>
            <a:r>
              <a:rPr b="1" lang="en-US" sz="8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Planificado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h1794ca906f73028b_0_0"/>
          <p:cNvSpPr/>
          <p:nvPr/>
        </p:nvSpPr>
        <p:spPr>
          <a:xfrm>
            <a:off x="4489704" y="5907024"/>
            <a:ext cx="960000" cy="228600"/>
          </a:xfrm>
          <a:prstGeom prst="roundRect">
            <a:avLst>
              <a:gd fmla="val 24000" name="adj"/>
            </a:avLst>
          </a:prstGeom>
          <a:solidFill>
            <a:srgbClr val="E91550"/>
          </a:solidFill>
          <a:ln cap="flat" cmpd="sng" w="12700">
            <a:solidFill>
              <a:srgbClr val="E9155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h1794ca906f73028b_0_0"/>
          <p:cNvSpPr/>
          <p:nvPr/>
        </p:nvSpPr>
        <p:spPr>
          <a:xfrm>
            <a:off x="4517136" y="5928055"/>
            <a:ext cx="905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Arial"/>
              <a:buNone/>
            </a:pPr>
            <a:r>
              <a:rPr b="1" lang="en-US" sz="8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Hito crítico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h1794ca906f73028b_0_0"/>
          <p:cNvSpPr/>
          <p:nvPr/>
        </p:nvSpPr>
        <p:spPr>
          <a:xfrm>
            <a:off x="5568696" y="5907024"/>
            <a:ext cx="1079100" cy="228600"/>
          </a:xfrm>
          <a:prstGeom prst="roundRect">
            <a:avLst>
              <a:gd fmla="val 24000" name="adj"/>
            </a:avLst>
          </a:prstGeom>
          <a:solidFill>
            <a:srgbClr val="F27D2F"/>
          </a:solidFill>
          <a:ln cap="flat" cmpd="sng" w="12700">
            <a:solidFill>
              <a:srgbClr val="F27D2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h1794ca906f73028b_0_0"/>
          <p:cNvSpPr/>
          <p:nvPr/>
        </p:nvSpPr>
        <p:spPr>
          <a:xfrm>
            <a:off x="5596128" y="5928055"/>
            <a:ext cx="10242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Arial"/>
              <a:buNone/>
            </a:pPr>
            <a:r>
              <a:rPr b="1" lang="en-US" sz="8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Semana corte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h1794ca906f73028b_0_0"/>
          <p:cNvSpPr/>
          <p:nvPr/>
        </p:nvSpPr>
        <p:spPr>
          <a:xfrm>
            <a:off x="7296912" y="5852160"/>
            <a:ext cx="4188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B50"/>
              </a:buClr>
              <a:buSzPts val="845"/>
              <a:buFont typeface="Arial"/>
              <a:buNone/>
            </a:pPr>
            <a:r>
              <a:rPr lang="en-US" sz="845">
                <a:solidFill>
                  <a:srgbClr val="082B50"/>
                </a:solidFill>
                <a:latin typeface="Arial"/>
                <a:ea typeface="Arial"/>
                <a:cs typeface="Arial"/>
                <a:sym typeface="Arial"/>
              </a:rPr>
              <a:t>Uso esperado: actualizar semanalmente según Jira Cloud y GitHub.</a:t>
            </a:r>
            <a:endParaRPr sz="84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B50"/>
              </a:buClr>
              <a:buSzPts val="845"/>
              <a:buFont typeface="Arial"/>
              <a:buNone/>
            </a:pPr>
            <a:r>
              <a:rPr lang="en-US" sz="845">
                <a:solidFill>
                  <a:srgbClr val="082B50"/>
                </a:solidFill>
                <a:latin typeface="Arial"/>
                <a:ea typeface="Arial"/>
                <a:cs typeface="Arial"/>
                <a:sym typeface="Arial"/>
              </a:rPr>
              <a:t>Distinguir cierre formal de cumplimiento en SP.</a:t>
            </a:r>
            <a:endParaRPr sz="84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h1794ca906f73028b_0_0"/>
          <p:cNvSpPr/>
          <p:nvPr/>
        </p:nvSpPr>
        <p:spPr>
          <a:xfrm>
            <a:off x="11521440" y="6501384"/>
            <a:ext cx="164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3D6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173D6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h48836ed72b515341_5_4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0B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h48836ed72b515341_5_41"/>
          <p:cNvSpPr/>
          <p:nvPr/>
        </p:nvSpPr>
        <p:spPr>
          <a:xfrm>
            <a:off x="533400" y="457200"/>
            <a:ext cx="9906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Mejoras en la bandeja de trabajo</a:t>
            </a:r>
            <a:endParaRPr/>
          </a:p>
        </p:txBody>
      </p:sp>
      <p:sp>
        <p:nvSpPr>
          <p:cNvPr id="336" name="Google Shape;336;h48836ed72b515341_5_41"/>
          <p:cNvSpPr/>
          <p:nvPr/>
        </p:nvSpPr>
        <p:spPr>
          <a:xfrm>
            <a:off x="533400" y="1095375"/>
            <a:ext cx="11125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4B5F7A"/>
                </a:solidFill>
                <a:latin typeface="Arial"/>
                <a:ea typeface="Arial"/>
                <a:cs typeface="Arial"/>
                <a:sym typeface="Arial"/>
              </a:rPr>
              <a:t>Checklist flexible y selección visible en los diálogos</a:t>
            </a:r>
            <a:endParaRPr/>
          </a:p>
        </p:txBody>
      </p:sp>
      <p:pic>
        <p:nvPicPr>
          <p:cNvPr id="337" name="Google Shape;337;h48836ed72b515341_5_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06929" y="238125"/>
            <a:ext cx="779441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h48836ed72b515341_5_41"/>
          <p:cNvSpPr/>
          <p:nvPr/>
        </p:nvSpPr>
        <p:spPr>
          <a:xfrm>
            <a:off x="533400" y="6534150"/>
            <a:ext cx="61914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4B5F7A"/>
                </a:solidFill>
                <a:latin typeface="Arial"/>
                <a:ea typeface="Arial"/>
                <a:cs typeface="Arial"/>
                <a:sym typeface="Arial"/>
              </a:rPr>
              <a:t>Quality360 · Capstone Grupo 8</a:t>
            </a:r>
            <a:endParaRPr/>
          </a:p>
        </p:txBody>
      </p:sp>
      <p:sp>
        <p:nvSpPr>
          <p:cNvPr id="339" name="Google Shape;339;h48836ed72b515341_5_41"/>
          <p:cNvSpPr/>
          <p:nvPr/>
        </p:nvSpPr>
        <p:spPr>
          <a:xfrm>
            <a:off x="11353800" y="6534150"/>
            <a:ext cx="3048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4B5F7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graphicFrame>
        <p:nvGraphicFramePr>
          <p:cNvPr id="340" name="Google Shape;340;h48836ed72b515341_5_41"/>
          <p:cNvGraphicFramePr/>
          <p:nvPr/>
        </p:nvGraphicFramePr>
        <p:xfrm>
          <a:off x="533400" y="179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{8B84904C-2D6E-4585-9D84-978E1567C66F}</a:tableStyleId>
              </a:tblPr>
              <a:tblGrid>
                <a:gridCol w="2095500"/>
                <a:gridCol w="4191000"/>
                <a:gridCol w="4838700"/>
              </a:tblGrid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75"/>
                        <a:buFont typeface="Arial"/>
                        <a:buNone/>
                      </a:pPr>
                      <a:r>
                        <a:rPr b="1" lang="en-US" sz="1575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Mejora</a:t>
                      </a:r>
                      <a:endParaRPr/>
                    </a:p>
                  </a:txBody>
                  <a:tcPr marT="123825" marB="123825" marR="142875" marL="142875" anchor="ctr">
                    <a:lnL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5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75"/>
                        <a:buFont typeface="Arial"/>
                        <a:buNone/>
                      </a:pPr>
                      <a:r>
                        <a:rPr b="1" lang="en-US" sz="1575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Antes</a:t>
                      </a:r>
                      <a:endParaRPr/>
                    </a:p>
                  </a:txBody>
                  <a:tcPr marT="123825" marB="123825" marR="142875" marL="142875" anchor="ctr">
                    <a:lnL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5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75"/>
                        <a:buFont typeface="Arial"/>
                        <a:buNone/>
                      </a:pPr>
                      <a:r>
                        <a:rPr b="1" lang="en-US" sz="1575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Ahora</a:t>
                      </a:r>
                      <a:endParaRPr/>
                    </a:p>
                  </a:txBody>
                  <a:tcPr marT="123825" marB="123825" marR="142875" marL="142875" anchor="ctr">
                    <a:lnL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559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385E"/>
                        </a:buClr>
                        <a:buSzPts val="1575"/>
                        <a:buFont typeface="Arial"/>
                        <a:buNone/>
                      </a:pPr>
                      <a:r>
                        <a:rPr b="1" lang="en-US" sz="1575">
                          <a:solidFill>
                            <a:srgbClr val="1738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Checklist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75"/>
                        <a:buFont typeface="Arial"/>
                        <a:buNone/>
                      </a:pPr>
                      <a:r>
                        <a:t/>
                      </a:r>
                      <a:endParaRPr b="1" sz="1575">
                        <a:solidFill>
                          <a:srgbClr val="17385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3825" marB="123825" marR="142875" marL="142875" anchor="ctr">
                    <a:lnL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385E"/>
                        </a:buClr>
                        <a:buSzPts val="1575"/>
                        <a:buFont typeface="Arial"/>
                        <a:buNone/>
                      </a:pPr>
                      <a:r>
                        <a:rPr lang="en-US" sz="1575">
                          <a:solidFill>
                            <a:srgbClr val="1738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 orden de los entregables bloqueaba el marcado y el retroceso.</a:t>
                      </a:r>
                      <a:endParaRPr/>
                    </a:p>
                  </a:txBody>
                  <a:tcPr marT="123825" marB="123825" marR="142875" marL="142875" anchor="ctr">
                    <a:lnL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385E"/>
                        </a:buClr>
                        <a:buSzPts val="1575"/>
                        <a:buFont typeface="Arial"/>
                        <a:buNone/>
                      </a:pPr>
                      <a:r>
                        <a:rPr lang="en-US" sz="1575">
                          <a:solidFill>
                            <a:srgbClr val="1738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Marcar y desmarcar sin seguir un orden obligatorio.</a:t>
                      </a:r>
                      <a:endParaRPr/>
                    </a:p>
                  </a:txBody>
                  <a:tcPr marT="123825" marB="123825" marR="142875" marL="142875" anchor="ctr">
                    <a:lnL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385E"/>
                        </a:buClr>
                        <a:buSzPts val="1575"/>
                        <a:buFont typeface="Arial"/>
                        <a:buNone/>
                      </a:pPr>
                      <a:r>
                        <a:rPr b="1" lang="en-US" sz="1575">
                          <a:solidFill>
                            <a:srgbClr val="1738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Listas en diálogos</a:t>
                      </a:r>
                      <a:endParaRPr b="1" sz="1575">
                        <a:solidFill>
                          <a:srgbClr val="17385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75"/>
                        <a:buFont typeface="Arial"/>
                        <a:buNone/>
                      </a:pPr>
                      <a:r>
                        <a:t/>
                      </a:r>
                      <a:endParaRPr b="1" sz="1575">
                        <a:solidFill>
                          <a:srgbClr val="17385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3825" marB="123825" marR="142875" marL="142875" anchor="ctr">
                    <a:lnL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385E"/>
                        </a:buClr>
                        <a:buSzPts val="1575"/>
                        <a:buFont typeface="Arial"/>
                        <a:buNone/>
                      </a:pPr>
                      <a:r>
                        <a:rPr lang="en-US" sz="1575">
                          <a:solidFill>
                            <a:srgbClr val="1738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 desplegable podía abrirse fuera de la ventana y ocultar opciones.</a:t>
                      </a:r>
                      <a:endParaRPr/>
                    </a:p>
                  </a:txBody>
                  <a:tcPr marT="123825" marB="123825" marR="142875" marL="142875" anchor="ctr">
                    <a:lnL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385E"/>
                        </a:buClr>
                        <a:buSzPts val="1575"/>
                        <a:buFont typeface="Arial"/>
                        <a:buNone/>
                      </a:pPr>
                      <a:r>
                        <a:rPr lang="en-US" sz="1575">
                          <a:solidFill>
                            <a:srgbClr val="1738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Lista de hasta 6 filas con desplazamiento dentro del diálogo.</a:t>
                      </a:r>
                      <a:endParaRPr/>
                    </a:p>
                  </a:txBody>
                  <a:tcPr marT="123825" marB="123825" marR="142875" marL="142875" anchor="ctr">
                    <a:lnL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5FB"/>
                    </a:solidFill>
                  </a:tcPr>
                </a:tc>
              </a:tr>
            </a:tbl>
          </a:graphicData>
        </a:graphic>
      </p:graphicFrame>
      <p:sp>
        <p:nvSpPr>
          <p:cNvPr id="341" name="Google Shape;341;h48836ed72b515341_5_41"/>
          <p:cNvSpPr/>
          <p:nvPr/>
        </p:nvSpPr>
        <p:spPr>
          <a:xfrm>
            <a:off x="533400" y="4905375"/>
            <a:ext cx="11125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Controles preservados</a:t>
            </a:r>
            <a:endParaRPr/>
          </a:p>
        </p:txBody>
      </p:sp>
      <p:sp>
        <p:nvSpPr>
          <p:cNvPr id="342" name="Google Shape;342;h48836ed72b515341_5_41"/>
          <p:cNvSpPr/>
          <p:nvPr/>
        </p:nvSpPr>
        <p:spPr>
          <a:xfrm>
            <a:off x="533400" y="5305425"/>
            <a:ext cx="11125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7385E"/>
                </a:solidFill>
                <a:latin typeface="Arial"/>
                <a:ea typeface="Arial"/>
                <a:cs typeface="Arial"/>
                <a:sym typeface="Arial"/>
              </a:rPr>
              <a:t>Solo el QE responsable aprueba. La HDU cerrada queda en lectura.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7385E"/>
                </a:solidFill>
                <a:latin typeface="Arial"/>
                <a:ea typeface="Arial"/>
                <a:cs typeface="Arial"/>
                <a:sym typeface="Arial"/>
              </a:rPr>
              <a:t>El certificado requiere los ocho entregables previos aprobados.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h48836ed72b515341_5_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0B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h48836ed72b515341_5_5"/>
          <p:cNvSpPr/>
          <p:nvPr/>
        </p:nvSpPr>
        <p:spPr>
          <a:xfrm>
            <a:off x="533400" y="457200"/>
            <a:ext cx="9906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Integraciones con Jira</a:t>
            </a:r>
            <a:endParaRPr/>
          </a:p>
        </p:txBody>
      </p:sp>
      <p:sp>
        <p:nvSpPr>
          <p:cNvPr id="350" name="Google Shape;350;h48836ed72b515341_5_5"/>
          <p:cNvSpPr/>
          <p:nvPr/>
        </p:nvSpPr>
        <p:spPr>
          <a:xfrm>
            <a:off x="533400" y="1095375"/>
            <a:ext cx="11125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4B5F7A"/>
                </a:solidFill>
                <a:latin typeface="Arial"/>
                <a:ea typeface="Arial"/>
                <a:cs typeface="Arial"/>
                <a:sym typeface="Arial"/>
              </a:rPr>
              <a:t>Importación de HDU con historial y control de acceso</a:t>
            </a:r>
            <a:endParaRPr/>
          </a:p>
        </p:txBody>
      </p:sp>
      <p:pic>
        <p:nvPicPr>
          <p:cNvPr id="351" name="Google Shape;351;h48836ed72b515341_5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06929" y="238125"/>
            <a:ext cx="779441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h48836ed72b515341_5_5"/>
          <p:cNvSpPr/>
          <p:nvPr/>
        </p:nvSpPr>
        <p:spPr>
          <a:xfrm>
            <a:off x="533400" y="6534150"/>
            <a:ext cx="61914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4B5F7A"/>
                </a:solidFill>
                <a:latin typeface="Arial"/>
                <a:ea typeface="Arial"/>
                <a:cs typeface="Arial"/>
                <a:sym typeface="Arial"/>
              </a:rPr>
              <a:t>Quality360 · Capstone Grupo 8</a:t>
            </a:r>
            <a:endParaRPr/>
          </a:p>
        </p:txBody>
      </p:sp>
      <p:sp>
        <p:nvSpPr>
          <p:cNvPr id="353" name="Google Shape;353;h48836ed72b515341_5_5"/>
          <p:cNvSpPr/>
          <p:nvPr/>
        </p:nvSpPr>
        <p:spPr>
          <a:xfrm>
            <a:off x="11353800" y="6534150"/>
            <a:ext cx="3048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4B5F7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graphicFrame>
        <p:nvGraphicFramePr>
          <p:cNvPr id="354" name="Google Shape;354;h48836ed72b515341_5_5"/>
          <p:cNvGraphicFramePr/>
          <p:nvPr/>
        </p:nvGraphicFramePr>
        <p:xfrm>
          <a:off x="533400" y="177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{8B84904C-2D6E-4585-9D84-978E1567C66F}</a:tableStyleId>
              </a:tblPr>
              <a:tblGrid>
                <a:gridCol w="1809750"/>
                <a:gridCol w="5715000"/>
              </a:tblGrid>
              <a:tr h="43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75"/>
                        <a:buFont typeface="Arial"/>
                        <a:buNone/>
                      </a:pPr>
                      <a:r>
                        <a:rPr b="1" lang="en-US" sz="1575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Entrada o consulta</a:t>
                      </a:r>
                      <a:endParaRPr/>
                    </a:p>
                  </a:txBody>
                  <a:tcPr marT="123825" marB="123825" marR="142875" marL="142875" anchor="ctr">
                    <a:lnL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5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75"/>
                        <a:buFont typeface="Arial"/>
                        <a:buNone/>
                      </a:pPr>
                      <a:r>
                        <a:rPr b="1" lang="en-US" sz="1575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Comportamiento implementado</a:t>
                      </a:r>
                      <a:endParaRPr/>
                    </a:p>
                  </a:txBody>
                  <a:tcPr marT="123825" marB="123825" marR="142875" marL="142875" anchor="ctr">
                    <a:lnL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559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385E"/>
                        </a:buClr>
                        <a:buSzPts val="1575"/>
                        <a:buFont typeface="Arial"/>
                        <a:buNone/>
                      </a:pPr>
                      <a:r>
                        <a:rPr b="1" lang="en-US" sz="1575">
                          <a:solidFill>
                            <a:srgbClr val="1738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Jira Cloud</a:t>
                      </a:r>
                      <a:endParaRPr/>
                    </a:p>
                  </a:txBody>
                  <a:tcPr marT="123825" marB="123825" marR="142875" marL="142875" anchor="ctr">
                    <a:lnL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385E"/>
                        </a:buClr>
                        <a:buSzPts val="1575"/>
                        <a:buFont typeface="Arial"/>
                        <a:buNone/>
                      </a:pPr>
                      <a:r>
                        <a:rPr lang="en-US" sz="1575">
                          <a:solidFill>
                            <a:srgbClr val="1738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Sincronización manual de issues mediante lectura de la API.</a:t>
                      </a:r>
                      <a:endParaRPr/>
                    </a:p>
                  </a:txBody>
                  <a:tcPr marT="123825" marB="123825" marR="142875" marL="142875" anchor="ctr">
                    <a:lnL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385E"/>
                        </a:buClr>
                        <a:buSzPts val="1575"/>
                        <a:buFont typeface="Arial"/>
                        <a:buNone/>
                      </a:pPr>
                      <a:r>
                        <a:rPr b="1" lang="en-US" sz="1575">
                          <a:solidFill>
                            <a:srgbClr val="1738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CSV / JSON</a:t>
                      </a:r>
                      <a:endParaRPr/>
                    </a:p>
                  </a:txBody>
                  <a:tcPr marT="123825" marB="123825" marR="142875" marL="142875" anchor="ctr">
                    <a:lnL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385E"/>
                        </a:buClr>
                        <a:buSzPts val="1575"/>
                        <a:buFont typeface="Arial"/>
                        <a:buNone/>
                      </a:pPr>
                      <a:r>
                        <a:rPr lang="en-US" sz="1575">
                          <a:solidFill>
                            <a:srgbClr val="1738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Vista previa, validación por fila y reintento sin duplicar HDU.</a:t>
                      </a:r>
                      <a:endParaRPr/>
                    </a:p>
                  </a:txBody>
                  <a:tcPr marT="123825" marB="123825" marR="142875" marL="142875" anchor="ctr">
                    <a:lnL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5FB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385E"/>
                        </a:buClr>
                        <a:buSzPts val="1575"/>
                        <a:buFont typeface="Arial"/>
                        <a:buNone/>
                      </a:pPr>
                      <a:r>
                        <a:rPr b="1" lang="en-US" sz="1575">
                          <a:solidFill>
                            <a:srgbClr val="1738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Historial</a:t>
                      </a:r>
                      <a:endParaRPr/>
                    </a:p>
                  </a:txBody>
                  <a:tcPr marT="123825" marB="123825" marR="142875" marL="142875" anchor="ctr">
                    <a:lnL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385E"/>
                        </a:buClr>
                        <a:buSzPts val="1575"/>
                        <a:buFont typeface="Arial"/>
                        <a:buNone/>
                      </a:pPr>
                      <a:r>
                        <a:rPr lang="en-US" sz="1575">
                          <a:solidFill>
                            <a:srgbClr val="1738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Detalle de creadas, actualizadas, omitidas y errores por ejecución.</a:t>
                      </a:r>
                      <a:endParaRPr/>
                    </a:p>
                  </a:txBody>
                  <a:tcPr marT="123825" marB="123825" marR="142875" marL="142875" anchor="ctr">
                    <a:lnL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3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5" name="Google Shape;355;h48836ed72b515341_5_5"/>
          <p:cNvSpPr/>
          <p:nvPr/>
        </p:nvSpPr>
        <p:spPr>
          <a:xfrm>
            <a:off x="8572500" y="1714500"/>
            <a:ext cx="2571900" cy="7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356" name="Google Shape;356;h48836ed72b515341_5_5"/>
          <p:cNvSpPr/>
          <p:nvPr/>
        </p:nvSpPr>
        <p:spPr>
          <a:xfrm>
            <a:off x="8572500" y="2571750"/>
            <a:ext cx="2762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HDU de E5 certificadas</a:t>
            </a:r>
            <a:endParaRPr b="1" sz="1650">
              <a:solidFill>
                <a:srgbClr val="0B25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h48836ed72b515341_5_5"/>
          <p:cNvSpPr/>
          <p:nvPr/>
        </p:nvSpPr>
        <p:spPr>
          <a:xfrm>
            <a:off x="8572500" y="3028950"/>
            <a:ext cx="24765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50">
                <a:solidFill>
                  <a:srgbClr val="00B6AE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/>
          </a:p>
        </p:txBody>
      </p:sp>
      <p:sp>
        <p:nvSpPr>
          <p:cNvPr id="358" name="Google Shape;358;h48836ed72b515341_5_5"/>
          <p:cNvSpPr/>
          <p:nvPr/>
        </p:nvSpPr>
        <p:spPr>
          <a:xfrm>
            <a:off x="8572500" y="3686175"/>
            <a:ext cx="27624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7385E"/>
                </a:solidFill>
                <a:latin typeface="Arial"/>
                <a:ea typeface="Arial"/>
                <a:cs typeface="Arial"/>
                <a:sym typeface="Arial"/>
              </a:rPr>
              <a:t>escenarios de aceptación</a:t>
            </a:r>
            <a:endParaRPr b="0" sz="1575">
              <a:solidFill>
                <a:srgbClr val="1738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h48836ed72b515341_5_5"/>
          <p:cNvSpPr/>
          <p:nvPr/>
        </p:nvSpPr>
        <p:spPr>
          <a:xfrm>
            <a:off x="8572500" y="4076700"/>
            <a:ext cx="28575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4B5F7A"/>
                </a:solidFill>
                <a:latin typeface="Arial"/>
                <a:ea typeface="Arial"/>
                <a:cs typeface="Arial"/>
                <a:sym typeface="Arial"/>
              </a:rPr>
              <a:t>Certificación local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4B5F7A"/>
                </a:solidFill>
                <a:latin typeface="Arial"/>
                <a:ea typeface="Arial"/>
                <a:cs typeface="Arial"/>
                <a:sym typeface="Arial"/>
              </a:rPr>
              <a:t>con Jira simulado</a:t>
            </a:r>
            <a:endParaRPr/>
          </a:p>
        </p:txBody>
      </p:sp>
      <p:sp>
        <p:nvSpPr>
          <p:cNvPr id="360" name="Google Shape;360;h48836ed72b515341_5_5"/>
          <p:cNvSpPr/>
          <p:nvPr/>
        </p:nvSpPr>
        <p:spPr>
          <a:xfrm>
            <a:off x="533400" y="4686300"/>
            <a:ext cx="11125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Reglas y seguridad</a:t>
            </a:r>
            <a:endParaRPr/>
          </a:p>
        </p:txBody>
      </p:sp>
      <p:sp>
        <p:nvSpPr>
          <p:cNvPr id="361" name="Google Shape;361;h48836ed72b515341_5_5"/>
          <p:cNvSpPr/>
          <p:nvPr/>
        </p:nvSpPr>
        <p:spPr>
          <a:xfrm>
            <a:off x="533400" y="5095875"/>
            <a:ext cx="111252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7385E"/>
                </a:solidFill>
                <a:latin typeface="Arial"/>
                <a:ea typeface="Arial"/>
                <a:cs typeface="Arial"/>
                <a:sym typeface="Arial"/>
              </a:rPr>
              <a:t>Administrador opera. QE y Auditor consultan según su ámbito.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7385E"/>
                </a:solidFill>
                <a:latin typeface="Arial"/>
                <a:ea typeface="Arial"/>
                <a:cs typeface="Arial"/>
                <a:sym typeface="Arial"/>
              </a:rPr>
              <a:t>Token cifrado y permisos verificados por servicio.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7385E"/>
                </a:solidFill>
                <a:latin typeface="Arial"/>
                <a:ea typeface="Arial"/>
                <a:cs typeface="Arial"/>
                <a:sym typeface="Arial"/>
              </a:rPr>
              <a:t>Organización escribe las HDU y preserva estado, responsables y checklist.</a:t>
            </a:r>
            <a:endParaRPr/>
          </a:p>
        </p:txBody>
      </p:sp>
      <p:sp>
        <p:nvSpPr>
          <p:cNvPr id="362" name="Google Shape;362;h48836ed72b515341_5_5"/>
          <p:cNvSpPr/>
          <p:nvPr/>
        </p:nvSpPr>
        <p:spPr>
          <a:xfrm>
            <a:off x="533400" y="6048375"/>
            <a:ext cx="11125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8B5D00"/>
                </a:solidFill>
                <a:latin typeface="Arial"/>
                <a:ea typeface="Arial"/>
                <a:cs typeface="Arial"/>
                <a:sym typeface="Arial"/>
              </a:rPr>
              <a:t>Pendiente: prueba con Jira real y verificación del despliegue cloud.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h48836ed72b515341_1_0"/>
          <p:cNvSpPr/>
          <p:nvPr/>
        </p:nvSpPr>
        <p:spPr>
          <a:xfrm>
            <a:off x="493776" y="237744"/>
            <a:ext cx="11210400" cy="768000"/>
          </a:xfrm>
          <a:prstGeom prst="rect">
            <a:avLst/>
          </a:prstGeom>
          <a:solidFill>
            <a:srgbClr val="224F77"/>
          </a:solidFill>
          <a:ln cap="flat" cmpd="sng" w="12700">
            <a:solidFill>
              <a:srgbClr val="224F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h48836ed72b515341_1_0"/>
          <p:cNvSpPr txBox="1"/>
          <p:nvPr/>
        </p:nvSpPr>
        <p:spPr>
          <a:xfrm>
            <a:off x="786384" y="347472"/>
            <a:ext cx="8961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Seguimiento del Sprint 4 y Burndown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h48836ed72b515341_1_0"/>
          <p:cNvSpPr txBox="1"/>
          <p:nvPr/>
        </p:nvSpPr>
        <p:spPr>
          <a:xfrm>
            <a:off x="786384" y="740664"/>
            <a:ext cx="73152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Corte 30/10/2026 · Estado actualizado en Jira Cloud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h48836ed72b515341_1_0"/>
          <p:cNvSpPr/>
          <p:nvPr/>
        </p:nvSpPr>
        <p:spPr>
          <a:xfrm>
            <a:off x="676656" y="1143000"/>
            <a:ext cx="6986100" cy="5001900"/>
          </a:xfrm>
          <a:prstGeom prst="roundRect">
            <a:avLst>
              <a:gd fmla="val 1280" name="adj"/>
            </a:avLst>
          </a:prstGeom>
          <a:solidFill>
            <a:srgbClr val="FFFFFF"/>
          </a:solidFill>
          <a:ln cap="flat" cmpd="sng" w="16500">
            <a:solidFill>
              <a:srgbClr val="A9D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h48836ed72b515341_1_0"/>
          <p:cNvSpPr/>
          <p:nvPr/>
        </p:nvSpPr>
        <p:spPr>
          <a:xfrm>
            <a:off x="676656" y="1143000"/>
            <a:ext cx="6986100" cy="448200"/>
          </a:xfrm>
          <a:prstGeom prst="rect">
            <a:avLst/>
          </a:prstGeom>
          <a:solidFill>
            <a:srgbClr val="F2F7FB"/>
          </a:solidFill>
          <a:ln cap="flat" cmpd="sng" w="9525">
            <a:solidFill>
              <a:srgbClr val="A9D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h48836ed72b515341_1_0"/>
          <p:cNvSpPr/>
          <p:nvPr/>
        </p:nvSpPr>
        <p:spPr>
          <a:xfrm>
            <a:off x="905256" y="1289304"/>
            <a:ext cx="137100" cy="201300"/>
          </a:xfrm>
          <a:prstGeom prst="rect">
            <a:avLst/>
          </a:prstGeom>
          <a:solidFill>
            <a:srgbClr val="1B4D79"/>
          </a:solidFill>
          <a:ln cap="flat" cmpd="sng" w="12700">
            <a:solidFill>
              <a:srgbClr val="1B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h48836ed72b515341_1_0"/>
          <p:cNvSpPr txBox="1"/>
          <p:nvPr/>
        </p:nvSpPr>
        <p:spPr>
          <a:xfrm>
            <a:off x="1124712" y="1234440"/>
            <a:ext cx="6035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F71"/>
              </a:buClr>
              <a:buSzPts val="1829"/>
              <a:buFont typeface="Arial"/>
              <a:buNone/>
            </a:pPr>
            <a:r>
              <a:rPr b="1" i="0" lang="en-US" sz="1830" u="none" cap="none" strike="noStrike">
                <a:solidFill>
                  <a:srgbClr val="0B3F71"/>
                </a:solidFill>
                <a:latin typeface="Arial"/>
                <a:ea typeface="Arial"/>
                <a:cs typeface="Arial"/>
                <a:sym typeface="Arial"/>
              </a:rPr>
              <a:t>Burndown del Sprint 4</a:t>
            </a:r>
            <a:endParaRPr b="0" i="0" sz="1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h48836ed72b515341_1_0"/>
          <p:cNvSpPr/>
          <p:nvPr/>
        </p:nvSpPr>
        <p:spPr>
          <a:xfrm>
            <a:off x="905256" y="1773936"/>
            <a:ext cx="393300" cy="393300"/>
          </a:xfrm>
          <a:prstGeom prst="ellipse">
            <a:avLst/>
          </a:prstGeom>
          <a:solidFill>
            <a:srgbClr val="F0F9FF"/>
          </a:solidFill>
          <a:ln cap="flat" cmpd="sng" w="12700">
            <a:solidFill>
              <a:srgbClr val="A9D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h48836ed72b515341_1_0"/>
          <p:cNvSpPr txBox="1"/>
          <p:nvPr/>
        </p:nvSpPr>
        <p:spPr>
          <a:xfrm>
            <a:off x="905256" y="1810512"/>
            <a:ext cx="3933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3F7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3F71"/>
                </a:solidFill>
                <a:latin typeface="Arial"/>
                <a:ea typeface="Arial"/>
                <a:cs typeface="Arial"/>
                <a:sym typeface="Arial"/>
              </a:rPr>
              <a:t>S4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h48836ed72b515341_1_0"/>
          <p:cNvSpPr txBox="1"/>
          <p:nvPr/>
        </p:nvSpPr>
        <p:spPr>
          <a:xfrm>
            <a:off x="1426464" y="1773936"/>
            <a:ext cx="75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F71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B3F71"/>
                </a:solidFill>
                <a:latin typeface="Arial"/>
                <a:ea typeface="Arial"/>
                <a:cs typeface="Arial"/>
                <a:sym typeface="Arial"/>
              </a:rPr>
              <a:t>Sprint: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h48836ed72b515341_1_0"/>
          <p:cNvSpPr txBox="1"/>
          <p:nvPr/>
        </p:nvSpPr>
        <p:spPr>
          <a:xfrm>
            <a:off x="1426464" y="1984248"/>
            <a:ext cx="96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C3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C38"/>
                </a:solidFill>
                <a:latin typeface="Arial"/>
                <a:ea typeface="Arial"/>
                <a:cs typeface="Arial"/>
                <a:sym typeface="Arial"/>
              </a:rPr>
              <a:t>Q360-Sprint 4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9" name="Google Shape;379;h48836ed72b515341_1_0"/>
          <p:cNvCxnSpPr/>
          <p:nvPr/>
        </p:nvCxnSpPr>
        <p:spPr>
          <a:xfrm>
            <a:off x="2459736" y="1755648"/>
            <a:ext cx="0" cy="466200"/>
          </a:xfrm>
          <a:prstGeom prst="straightConnector1">
            <a:avLst/>
          </a:prstGeom>
          <a:noFill/>
          <a:ln cap="flat" cmpd="sng" w="16500">
            <a:solidFill>
              <a:srgbClr val="A9D5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0" name="Google Shape;380;h48836ed72b515341_1_0"/>
          <p:cNvSpPr/>
          <p:nvPr/>
        </p:nvSpPr>
        <p:spPr>
          <a:xfrm>
            <a:off x="2660904" y="1773936"/>
            <a:ext cx="393300" cy="393300"/>
          </a:xfrm>
          <a:prstGeom prst="ellipse">
            <a:avLst/>
          </a:prstGeom>
          <a:solidFill>
            <a:srgbClr val="F0F9FF"/>
          </a:solidFill>
          <a:ln cap="flat" cmpd="sng" w="12700">
            <a:solidFill>
              <a:srgbClr val="A9D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h48836ed72b515341_1_0"/>
          <p:cNvSpPr txBox="1"/>
          <p:nvPr/>
        </p:nvSpPr>
        <p:spPr>
          <a:xfrm>
            <a:off x="2660904" y="1810512"/>
            <a:ext cx="3933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3F7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3F7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h48836ed72b515341_1_0"/>
          <p:cNvSpPr txBox="1"/>
          <p:nvPr/>
        </p:nvSpPr>
        <p:spPr>
          <a:xfrm>
            <a:off x="3172968" y="1773936"/>
            <a:ext cx="1152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F71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B3F71"/>
                </a:solidFill>
                <a:latin typeface="Arial"/>
                <a:ea typeface="Arial"/>
                <a:cs typeface="Arial"/>
                <a:sym typeface="Arial"/>
              </a:rPr>
              <a:t>Período Jira: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h48836ed72b515341_1_0"/>
          <p:cNvSpPr txBox="1"/>
          <p:nvPr/>
        </p:nvSpPr>
        <p:spPr>
          <a:xfrm>
            <a:off x="3172968" y="1984248"/>
            <a:ext cx="12618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C38"/>
              </a:buClr>
              <a:buSzPts val="1010"/>
              <a:buFont typeface="Arial"/>
              <a:buNone/>
            </a:pPr>
            <a:r>
              <a:rPr b="0" i="0" lang="en-US" sz="1010" u="none" cap="none" strike="noStrike">
                <a:solidFill>
                  <a:srgbClr val="1E2C38"/>
                </a:solidFill>
                <a:latin typeface="Arial"/>
                <a:ea typeface="Arial"/>
                <a:cs typeface="Arial"/>
                <a:sym typeface="Arial"/>
              </a:rPr>
              <a:t>27 oct – 6 nov 2026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4" name="Google Shape;384;h48836ed72b515341_1_0"/>
          <p:cNvCxnSpPr/>
          <p:nvPr/>
        </p:nvCxnSpPr>
        <p:spPr>
          <a:xfrm>
            <a:off x="4526280" y="1755648"/>
            <a:ext cx="0" cy="466200"/>
          </a:xfrm>
          <a:prstGeom prst="straightConnector1">
            <a:avLst/>
          </a:prstGeom>
          <a:noFill/>
          <a:ln cap="flat" cmpd="sng" w="16500">
            <a:solidFill>
              <a:srgbClr val="A9D5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5" name="Google Shape;385;h48836ed72b515341_1_0"/>
          <p:cNvSpPr/>
          <p:nvPr/>
        </p:nvSpPr>
        <p:spPr>
          <a:xfrm>
            <a:off x="4727448" y="1773936"/>
            <a:ext cx="393300" cy="393300"/>
          </a:xfrm>
          <a:prstGeom prst="ellipse">
            <a:avLst/>
          </a:prstGeom>
          <a:solidFill>
            <a:srgbClr val="F0F9FF"/>
          </a:solidFill>
          <a:ln cap="flat" cmpd="sng" w="12700">
            <a:solidFill>
              <a:srgbClr val="A9D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h48836ed72b515341_1_0"/>
          <p:cNvSpPr txBox="1"/>
          <p:nvPr/>
        </p:nvSpPr>
        <p:spPr>
          <a:xfrm>
            <a:off x="4727448" y="1810512"/>
            <a:ext cx="3933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3F7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3F7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h48836ed72b515341_1_0"/>
          <p:cNvSpPr txBox="1"/>
          <p:nvPr/>
        </p:nvSpPr>
        <p:spPr>
          <a:xfrm>
            <a:off x="5239512" y="1773936"/>
            <a:ext cx="1956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F71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B3F71"/>
                </a:solidFill>
                <a:latin typeface="Arial"/>
                <a:ea typeface="Arial"/>
                <a:cs typeface="Arial"/>
                <a:sym typeface="Arial"/>
              </a:rPr>
              <a:t>Meta del sprint: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h48836ed72b515341_1_0"/>
          <p:cNvSpPr txBox="1"/>
          <p:nvPr/>
        </p:nvSpPr>
        <p:spPr>
          <a:xfrm>
            <a:off x="5239512" y="1947672"/>
            <a:ext cx="2011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C38"/>
              </a:buClr>
              <a:buSzPts val="870"/>
              <a:buFont typeface="Arial"/>
              <a:buNone/>
            </a:pPr>
            <a:r>
              <a:rPr b="0" i="0" lang="en-US" sz="870" u="none" cap="none" strike="noStrike">
                <a:solidFill>
                  <a:srgbClr val="1E2C38"/>
                </a:solidFill>
                <a:latin typeface="Arial"/>
                <a:ea typeface="Arial"/>
                <a:cs typeface="Arial"/>
                <a:sym typeface="Arial"/>
              </a:rPr>
              <a:t>Validar integración React/Vite, NestJS y Supabase, con pruebas.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9" name="Google Shape;389;h48836ed72b515341_1_0"/>
          <p:cNvCxnSpPr/>
          <p:nvPr/>
        </p:nvCxnSpPr>
        <p:spPr>
          <a:xfrm>
            <a:off x="987552" y="2606040"/>
            <a:ext cx="310800" cy="0"/>
          </a:xfrm>
          <a:prstGeom prst="straightConnector1">
            <a:avLst/>
          </a:prstGeom>
          <a:noFill/>
          <a:ln cap="flat" cmpd="sng" w="39350">
            <a:solidFill>
              <a:srgbClr val="F0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0" name="Google Shape;390;h48836ed72b515341_1_0"/>
          <p:cNvSpPr txBox="1"/>
          <p:nvPr/>
        </p:nvSpPr>
        <p:spPr>
          <a:xfrm>
            <a:off x="1399032" y="2496312"/>
            <a:ext cx="153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C3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E2C38"/>
                </a:solidFill>
                <a:latin typeface="Arial"/>
                <a:ea typeface="Arial"/>
                <a:cs typeface="Arial"/>
                <a:sym typeface="Arial"/>
              </a:rPr>
              <a:t>Trabajo restante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h48836ed72b515341_1_0"/>
          <p:cNvSpPr txBox="1"/>
          <p:nvPr/>
        </p:nvSpPr>
        <p:spPr>
          <a:xfrm>
            <a:off x="1399032" y="2679192"/>
            <a:ext cx="1508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975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5C6975"/>
                </a:solidFill>
                <a:latin typeface="Arial"/>
                <a:ea typeface="Arial"/>
                <a:cs typeface="Arial"/>
                <a:sym typeface="Arial"/>
              </a:rPr>
              <a:t>25 SP al 30/10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2" name="Google Shape;392;h48836ed72b515341_1_0"/>
          <p:cNvCxnSpPr/>
          <p:nvPr/>
        </p:nvCxnSpPr>
        <p:spPr>
          <a:xfrm>
            <a:off x="2962656" y="2606040"/>
            <a:ext cx="320100" cy="0"/>
          </a:xfrm>
          <a:prstGeom prst="straightConnector1">
            <a:avLst/>
          </a:prstGeom>
          <a:noFill/>
          <a:ln cap="flat" cmpd="sng" w="39350">
            <a:solidFill>
              <a:srgbClr val="8C93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3" name="Google Shape;393;h48836ed72b515341_1_0"/>
          <p:cNvSpPr txBox="1"/>
          <p:nvPr/>
        </p:nvSpPr>
        <p:spPr>
          <a:xfrm>
            <a:off x="3401568" y="2496312"/>
            <a:ext cx="12711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C3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E2C38"/>
                </a:solidFill>
                <a:latin typeface="Arial"/>
                <a:ea typeface="Arial"/>
                <a:cs typeface="Arial"/>
                <a:sym typeface="Arial"/>
              </a:rPr>
              <a:t>Línea de guía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h48836ed72b515341_1_0"/>
          <p:cNvSpPr txBox="1"/>
          <p:nvPr/>
        </p:nvSpPr>
        <p:spPr>
          <a:xfrm>
            <a:off x="3401568" y="2679192"/>
            <a:ext cx="1234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975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5C6975"/>
                </a:solidFill>
                <a:latin typeface="Arial"/>
                <a:ea typeface="Arial"/>
                <a:cs typeface="Arial"/>
                <a:sym typeface="Arial"/>
              </a:rPr>
              <a:t>Jira: 27 → 0 SP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5" name="Google Shape;395;h48836ed72b515341_1_0"/>
          <p:cNvCxnSpPr/>
          <p:nvPr/>
        </p:nvCxnSpPr>
        <p:spPr>
          <a:xfrm>
            <a:off x="4983480" y="2606040"/>
            <a:ext cx="329100" cy="0"/>
          </a:xfrm>
          <a:prstGeom prst="straightConnector1">
            <a:avLst/>
          </a:prstGeom>
          <a:noFill/>
          <a:ln cap="flat" cmpd="sng" w="39350">
            <a:solidFill>
              <a:srgbClr val="E87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6" name="Google Shape;396;h48836ed72b515341_1_0"/>
          <p:cNvSpPr txBox="1"/>
          <p:nvPr/>
        </p:nvSpPr>
        <p:spPr>
          <a:xfrm>
            <a:off x="5422392" y="2496312"/>
            <a:ext cx="15546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C3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E2C38"/>
                </a:solidFill>
                <a:latin typeface="Arial"/>
                <a:ea typeface="Arial"/>
                <a:cs typeface="Arial"/>
                <a:sym typeface="Arial"/>
              </a:rPr>
              <a:t>Alcance actual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h48836ed72b515341_1_0"/>
          <p:cNvSpPr txBox="1"/>
          <p:nvPr/>
        </p:nvSpPr>
        <p:spPr>
          <a:xfrm>
            <a:off x="5422392" y="2679192"/>
            <a:ext cx="1426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975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5C6975"/>
                </a:solidFill>
                <a:latin typeface="Arial"/>
                <a:ea typeface="Arial"/>
                <a:cs typeface="Arial"/>
                <a:sym typeface="Arial"/>
              </a:rPr>
              <a:t>33 SP totales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8" name="Google Shape;398;h48836ed72b515341_1_0"/>
          <p:cNvCxnSpPr/>
          <p:nvPr/>
        </p:nvCxnSpPr>
        <p:spPr>
          <a:xfrm>
            <a:off x="1033272" y="4773168"/>
            <a:ext cx="6190500" cy="0"/>
          </a:xfrm>
          <a:prstGeom prst="straightConnector1">
            <a:avLst/>
          </a:prstGeom>
          <a:noFill/>
          <a:ln cap="flat" cmpd="sng" w="9525">
            <a:solidFill>
              <a:srgbClr val="DCE5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9" name="Google Shape;399;h48836ed72b515341_1_0"/>
          <p:cNvSpPr txBox="1"/>
          <p:nvPr/>
        </p:nvSpPr>
        <p:spPr>
          <a:xfrm>
            <a:off x="832104" y="4695444"/>
            <a:ext cx="137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975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5C697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0" name="Google Shape;400;h48836ed72b515341_1_0"/>
          <p:cNvCxnSpPr/>
          <p:nvPr/>
        </p:nvCxnSpPr>
        <p:spPr>
          <a:xfrm>
            <a:off x="1033272" y="4494276"/>
            <a:ext cx="6190500" cy="0"/>
          </a:xfrm>
          <a:prstGeom prst="straightConnector1">
            <a:avLst/>
          </a:prstGeom>
          <a:noFill/>
          <a:ln cap="flat" cmpd="sng" w="9525">
            <a:solidFill>
              <a:srgbClr val="DCE5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1" name="Google Shape;401;h48836ed72b515341_1_0"/>
          <p:cNvSpPr txBox="1"/>
          <p:nvPr/>
        </p:nvSpPr>
        <p:spPr>
          <a:xfrm>
            <a:off x="832104" y="4416552"/>
            <a:ext cx="137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975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5C697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2" name="Google Shape;402;h48836ed72b515341_1_0"/>
          <p:cNvCxnSpPr/>
          <p:nvPr/>
        </p:nvCxnSpPr>
        <p:spPr>
          <a:xfrm>
            <a:off x="1033272" y="4215384"/>
            <a:ext cx="6190500" cy="0"/>
          </a:xfrm>
          <a:prstGeom prst="straightConnector1">
            <a:avLst/>
          </a:prstGeom>
          <a:noFill/>
          <a:ln cap="flat" cmpd="sng" w="9525">
            <a:solidFill>
              <a:srgbClr val="DCE5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3" name="Google Shape;403;h48836ed72b515341_1_0"/>
          <p:cNvSpPr txBox="1"/>
          <p:nvPr/>
        </p:nvSpPr>
        <p:spPr>
          <a:xfrm>
            <a:off x="832104" y="4137660"/>
            <a:ext cx="137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975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5C6975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4" name="Google Shape;404;h48836ed72b515341_1_0"/>
          <p:cNvCxnSpPr/>
          <p:nvPr/>
        </p:nvCxnSpPr>
        <p:spPr>
          <a:xfrm>
            <a:off x="1033272" y="3936492"/>
            <a:ext cx="6190500" cy="0"/>
          </a:xfrm>
          <a:prstGeom prst="straightConnector1">
            <a:avLst/>
          </a:prstGeom>
          <a:noFill/>
          <a:ln cap="flat" cmpd="sng" w="9525">
            <a:solidFill>
              <a:srgbClr val="DCE5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5" name="Google Shape;405;h48836ed72b515341_1_0"/>
          <p:cNvSpPr txBox="1"/>
          <p:nvPr/>
        </p:nvSpPr>
        <p:spPr>
          <a:xfrm>
            <a:off x="832104" y="3858768"/>
            <a:ext cx="137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975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5C6975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6" name="Google Shape;406;h48836ed72b515341_1_0"/>
          <p:cNvCxnSpPr/>
          <p:nvPr/>
        </p:nvCxnSpPr>
        <p:spPr>
          <a:xfrm>
            <a:off x="1033272" y="3657600"/>
            <a:ext cx="6190500" cy="0"/>
          </a:xfrm>
          <a:prstGeom prst="straightConnector1">
            <a:avLst/>
          </a:prstGeom>
          <a:noFill/>
          <a:ln cap="flat" cmpd="sng" w="9525">
            <a:solidFill>
              <a:srgbClr val="DCE5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7" name="Google Shape;407;h48836ed72b515341_1_0"/>
          <p:cNvSpPr txBox="1"/>
          <p:nvPr/>
        </p:nvSpPr>
        <p:spPr>
          <a:xfrm>
            <a:off x="832104" y="3579876"/>
            <a:ext cx="137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975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5C6975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8" name="Google Shape;408;h48836ed72b515341_1_0"/>
          <p:cNvCxnSpPr/>
          <p:nvPr/>
        </p:nvCxnSpPr>
        <p:spPr>
          <a:xfrm>
            <a:off x="1033272" y="3378708"/>
            <a:ext cx="6190500" cy="0"/>
          </a:xfrm>
          <a:prstGeom prst="straightConnector1">
            <a:avLst/>
          </a:prstGeom>
          <a:noFill/>
          <a:ln cap="flat" cmpd="sng" w="9525">
            <a:solidFill>
              <a:srgbClr val="DCE5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9" name="Google Shape;409;h48836ed72b515341_1_0"/>
          <p:cNvSpPr txBox="1"/>
          <p:nvPr/>
        </p:nvSpPr>
        <p:spPr>
          <a:xfrm>
            <a:off x="832104" y="3300984"/>
            <a:ext cx="137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975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5C6975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0" name="Google Shape;410;h48836ed72b515341_1_0"/>
          <p:cNvCxnSpPr/>
          <p:nvPr/>
        </p:nvCxnSpPr>
        <p:spPr>
          <a:xfrm>
            <a:off x="1033272" y="3099816"/>
            <a:ext cx="6190500" cy="0"/>
          </a:xfrm>
          <a:prstGeom prst="straightConnector1">
            <a:avLst/>
          </a:prstGeom>
          <a:noFill/>
          <a:ln cap="flat" cmpd="sng" w="9525">
            <a:solidFill>
              <a:srgbClr val="DCE5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1" name="Google Shape;411;h48836ed72b515341_1_0"/>
          <p:cNvSpPr txBox="1"/>
          <p:nvPr/>
        </p:nvSpPr>
        <p:spPr>
          <a:xfrm>
            <a:off x="832104" y="3022092"/>
            <a:ext cx="137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975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5C6975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2" name="Google Shape;412;h48836ed72b515341_1_0"/>
          <p:cNvCxnSpPr/>
          <p:nvPr/>
        </p:nvCxnSpPr>
        <p:spPr>
          <a:xfrm>
            <a:off x="1033272" y="3099816"/>
            <a:ext cx="0" cy="1673400"/>
          </a:xfrm>
          <a:prstGeom prst="straightConnector1">
            <a:avLst/>
          </a:prstGeom>
          <a:noFill/>
          <a:ln cap="flat" cmpd="sng" w="9525">
            <a:solidFill>
              <a:srgbClr val="DCE5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3" name="Google Shape;413;h48836ed72b515341_1_0"/>
          <p:cNvSpPr txBox="1"/>
          <p:nvPr/>
        </p:nvSpPr>
        <p:spPr>
          <a:xfrm>
            <a:off x="804672" y="4846320"/>
            <a:ext cx="457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975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5C6975"/>
                </a:solidFill>
                <a:latin typeface="Arial"/>
                <a:ea typeface="Arial"/>
                <a:cs typeface="Arial"/>
                <a:sym typeface="Arial"/>
              </a:rPr>
              <a:t>27 oct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4" name="Google Shape;414;h48836ed72b515341_1_0"/>
          <p:cNvCxnSpPr/>
          <p:nvPr/>
        </p:nvCxnSpPr>
        <p:spPr>
          <a:xfrm>
            <a:off x="1652321" y="3099816"/>
            <a:ext cx="0" cy="1673400"/>
          </a:xfrm>
          <a:prstGeom prst="straightConnector1">
            <a:avLst/>
          </a:prstGeom>
          <a:noFill/>
          <a:ln cap="flat" cmpd="sng" w="9525">
            <a:solidFill>
              <a:srgbClr val="DCE5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5" name="Google Shape;415;h48836ed72b515341_1_0"/>
          <p:cNvSpPr txBox="1"/>
          <p:nvPr/>
        </p:nvSpPr>
        <p:spPr>
          <a:xfrm>
            <a:off x="1423721" y="4846320"/>
            <a:ext cx="457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975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5C6975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6" name="Google Shape;416;h48836ed72b515341_1_0"/>
          <p:cNvCxnSpPr/>
          <p:nvPr/>
        </p:nvCxnSpPr>
        <p:spPr>
          <a:xfrm>
            <a:off x="2271370" y="3099816"/>
            <a:ext cx="0" cy="1673400"/>
          </a:xfrm>
          <a:prstGeom prst="straightConnector1">
            <a:avLst/>
          </a:prstGeom>
          <a:noFill/>
          <a:ln cap="flat" cmpd="sng" w="9525">
            <a:solidFill>
              <a:srgbClr val="DCE5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7" name="Google Shape;417;h48836ed72b515341_1_0"/>
          <p:cNvSpPr txBox="1"/>
          <p:nvPr/>
        </p:nvSpPr>
        <p:spPr>
          <a:xfrm>
            <a:off x="2042770" y="4846320"/>
            <a:ext cx="457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975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5C6975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8" name="Google Shape;418;h48836ed72b515341_1_0"/>
          <p:cNvCxnSpPr/>
          <p:nvPr/>
        </p:nvCxnSpPr>
        <p:spPr>
          <a:xfrm>
            <a:off x="2890418" y="3099816"/>
            <a:ext cx="0" cy="1673400"/>
          </a:xfrm>
          <a:prstGeom prst="straightConnector1">
            <a:avLst/>
          </a:prstGeom>
          <a:noFill/>
          <a:ln cap="flat" cmpd="sng" w="9525">
            <a:solidFill>
              <a:srgbClr val="DCE5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9" name="Google Shape;419;h48836ed72b515341_1_0"/>
          <p:cNvSpPr txBox="1"/>
          <p:nvPr/>
        </p:nvSpPr>
        <p:spPr>
          <a:xfrm>
            <a:off x="2661818" y="4846320"/>
            <a:ext cx="457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975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5C6975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0" name="Google Shape;420;h48836ed72b515341_1_0"/>
          <p:cNvCxnSpPr/>
          <p:nvPr/>
        </p:nvCxnSpPr>
        <p:spPr>
          <a:xfrm>
            <a:off x="3509467" y="3099816"/>
            <a:ext cx="0" cy="1673400"/>
          </a:xfrm>
          <a:prstGeom prst="straightConnector1">
            <a:avLst/>
          </a:prstGeom>
          <a:noFill/>
          <a:ln cap="flat" cmpd="sng" w="9525">
            <a:solidFill>
              <a:srgbClr val="DCE5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1" name="Google Shape;421;h48836ed72b515341_1_0"/>
          <p:cNvSpPr txBox="1"/>
          <p:nvPr/>
        </p:nvSpPr>
        <p:spPr>
          <a:xfrm>
            <a:off x="3280867" y="4846320"/>
            <a:ext cx="457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975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5C6975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2" name="Google Shape;422;h48836ed72b515341_1_0"/>
          <p:cNvCxnSpPr/>
          <p:nvPr/>
        </p:nvCxnSpPr>
        <p:spPr>
          <a:xfrm>
            <a:off x="4128516" y="3099816"/>
            <a:ext cx="0" cy="1673400"/>
          </a:xfrm>
          <a:prstGeom prst="straightConnector1">
            <a:avLst/>
          </a:prstGeom>
          <a:noFill/>
          <a:ln cap="flat" cmpd="sng" w="9525">
            <a:solidFill>
              <a:srgbClr val="DCE5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3" name="Google Shape;423;h48836ed72b515341_1_0"/>
          <p:cNvSpPr txBox="1"/>
          <p:nvPr/>
        </p:nvSpPr>
        <p:spPr>
          <a:xfrm>
            <a:off x="3899916" y="4846320"/>
            <a:ext cx="457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975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5C6975"/>
                </a:solidFill>
                <a:latin typeface="Arial"/>
                <a:ea typeface="Arial"/>
                <a:cs typeface="Arial"/>
                <a:sym typeface="Arial"/>
              </a:rPr>
              <a:t>1 nov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4" name="Google Shape;424;h48836ed72b515341_1_0"/>
          <p:cNvCxnSpPr/>
          <p:nvPr/>
        </p:nvCxnSpPr>
        <p:spPr>
          <a:xfrm>
            <a:off x="4747565" y="3099816"/>
            <a:ext cx="0" cy="1673400"/>
          </a:xfrm>
          <a:prstGeom prst="straightConnector1">
            <a:avLst/>
          </a:prstGeom>
          <a:noFill/>
          <a:ln cap="flat" cmpd="sng" w="9525">
            <a:solidFill>
              <a:srgbClr val="DCE5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5" name="Google Shape;425;h48836ed72b515341_1_0"/>
          <p:cNvSpPr txBox="1"/>
          <p:nvPr/>
        </p:nvSpPr>
        <p:spPr>
          <a:xfrm>
            <a:off x="4518965" y="4846320"/>
            <a:ext cx="457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975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5C697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6" name="Google Shape;426;h48836ed72b515341_1_0"/>
          <p:cNvCxnSpPr/>
          <p:nvPr/>
        </p:nvCxnSpPr>
        <p:spPr>
          <a:xfrm>
            <a:off x="5366614" y="3099816"/>
            <a:ext cx="0" cy="1673400"/>
          </a:xfrm>
          <a:prstGeom prst="straightConnector1">
            <a:avLst/>
          </a:prstGeom>
          <a:noFill/>
          <a:ln cap="flat" cmpd="sng" w="9525">
            <a:solidFill>
              <a:srgbClr val="DCE5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7" name="Google Shape;427;h48836ed72b515341_1_0"/>
          <p:cNvSpPr txBox="1"/>
          <p:nvPr/>
        </p:nvSpPr>
        <p:spPr>
          <a:xfrm>
            <a:off x="5138014" y="4846320"/>
            <a:ext cx="457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975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5C697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8" name="Google Shape;428;h48836ed72b515341_1_0"/>
          <p:cNvCxnSpPr/>
          <p:nvPr/>
        </p:nvCxnSpPr>
        <p:spPr>
          <a:xfrm>
            <a:off x="5985662" y="3099816"/>
            <a:ext cx="0" cy="1673400"/>
          </a:xfrm>
          <a:prstGeom prst="straightConnector1">
            <a:avLst/>
          </a:prstGeom>
          <a:noFill/>
          <a:ln cap="flat" cmpd="sng" w="9525">
            <a:solidFill>
              <a:srgbClr val="DCE5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9" name="Google Shape;429;h48836ed72b515341_1_0"/>
          <p:cNvSpPr txBox="1"/>
          <p:nvPr/>
        </p:nvSpPr>
        <p:spPr>
          <a:xfrm>
            <a:off x="5757062" y="4846320"/>
            <a:ext cx="457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975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5C697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0" name="Google Shape;430;h48836ed72b515341_1_0"/>
          <p:cNvCxnSpPr/>
          <p:nvPr/>
        </p:nvCxnSpPr>
        <p:spPr>
          <a:xfrm>
            <a:off x="6604711" y="3099816"/>
            <a:ext cx="0" cy="1673400"/>
          </a:xfrm>
          <a:prstGeom prst="straightConnector1">
            <a:avLst/>
          </a:prstGeom>
          <a:noFill/>
          <a:ln cap="flat" cmpd="sng" w="9525">
            <a:solidFill>
              <a:srgbClr val="DCE5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1" name="Google Shape;431;h48836ed72b515341_1_0"/>
          <p:cNvSpPr txBox="1"/>
          <p:nvPr/>
        </p:nvSpPr>
        <p:spPr>
          <a:xfrm>
            <a:off x="6376111" y="4846320"/>
            <a:ext cx="457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975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5C697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2" name="Google Shape;432;h48836ed72b515341_1_0"/>
          <p:cNvCxnSpPr/>
          <p:nvPr/>
        </p:nvCxnSpPr>
        <p:spPr>
          <a:xfrm>
            <a:off x="7223760" y="3099816"/>
            <a:ext cx="0" cy="1673400"/>
          </a:xfrm>
          <a:prstGeom prst="straightConnector1">
            <a:avLst/>
          </a:prstGeom>
          <a:noFill/>
          <a:ln cap="flat" cmpd="sng" w="9525">
            <a:solidFill>
              <a:srgbClr val="DCE5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3" name="Google Shape;433;h48836ed72b515341_1_0"/>
          <p:cNvSpPr txBox="1"/>
          <p:nvPr/>
        </p:nvSpPr>
        <p:spPr>
          <a:xfrm>
            <a:off x="6995160" y="4846320"/>
            <a:ext cx="457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975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5C6975"/>
                </a:solidFill>
                <a:latin typeface="Arial"/>
                <a:ea typeface="Arial"/>
                <a:cs typeface="Arial"/>
                <a:sym typeface="Arial"/>
              </a:rPr>
              <a:t>6 nov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4" name="Google Shape;434;h48836ed72b515341_1_0"/>
          <p:cNvCxnSpPr/>
          <p:nvPr/>
        </p:nvCxnSpPr>
        <p:spPr>
          <a:xfrm>
            <a:off x="1033272" y="3267151"/>
            <a:ext cx="6190500" cy="1506000"/>
          </a:xfrm>
          <a:prstGeom prst="straightConnector1">
            <a:avLst/>
          </a:prstGeom>
          <a:noFill/>
          <a:ln cap="flat" cmpd="sng" w="30475">
            <a:solidFill>
              <a:srgbClr val="8C93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5" name="Google Shape;435;h48836ed72b515341_1_0"/>
          <p:cNvCxnSpPr/>
          <p:nvPr/>
        </p:nvCxnSpPr>
        <p:spPr>
          <a:xfrm>
            <a:off x="1033272" y="3267151"/>
            <a:ext cx="1238100" cy="0"/>
          </a:xfrm>
          <a:prstGeom prst="straightConnector1">
            <a:avLst/>
          </a:prstGeom>
          <a:noFill/>
          <a:ln cap="flat" cmpd="sng" w="35550">
            <a:solidFill>
              <a:srgbClr val="F0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6" name="Google Shape;436;h48836ed72b515341_1_0"/>
          <p:cNvCxnSpPr/>
          <p:nvPr/>
        </p:nvCxnSpPr>
        <p:spPr>
          <a:xfrm>
            <a:off x="2271370" y="3267151"/>
            <a:ext cx="0" cy="111600"/>
          </a:xfrm>
          <a:prstGeom prst="straightConnector1">
            <a:avLst/>
          </a:prstGeom>
          <a:noFill/>
          <a:ln cap="flat" cmpd="sng" w="35550">
            <a:solidFill>
              <a:srgbClr val="F0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7" name="Google Shape;437;h48836ed72b515341_1_0"/>
          <p:cNvCxnSpPr/>
          <p:nvPr/>
        </p:nvCxnSpPr>
        <p:spPr>
          <a:xfrm>
            <a:off x="2271370" y="3378708"/>
            <a:ext cx="618900" cy="0"/>
          </a:xfrm>
          <a:prstGeom prst="straightConnector1">
            <a:avLst/>
          </a:prstGeom>
          <a:noFill/>
          <a:ln cap="flat" cmpd="sng" w="35550">
            <a:solidFill>
              <a:srgbClr val="F0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8" name="Google Shape;438;h48836ed72b515341_1_0"/>
          <p:cNvSpPr/>
          <p:nvPr/>
        </p:nvSpPr>
        <p:spPr>
          <a:xfrm>
            <a:off x="2849270" y="3337560"/>
            <a:ext cx="82200" cy="82200"/>
          </a:xfrm>
          <a:prstGeom prst="ellipse">
            <a:avLst/>
          </a:prstGeom>
          <a:solidFill>
            <a:srgbClr val="F04444"/>
          </a:solidFill>
          <a:ln cap="flat" cmpd="sng" w="9525">
            <a:solidFill>
              <a:srgbClr val="F0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9" name="Google Shape;439;h48836ed72b515341_1_0"/>
          <p:cNvCxnSpPr/>
          <p:nvPr/>
        </p:nvCxnSpPr>
        <p:spPr>
          <a:xfrm>
            <a:off x="2890418" y="3054096"/>
            <a:ext cx="0" cy="1719000"/>
          </a:xfrm>
          <a:prstGeom prst="straightConnector1">
            <a:avLst/>
          </a:prstGeom>
          <a:noFill/>
          <a:ln cap="flat" cmpd="sng" w="11425">
            <a:solidFill>
              <a:srgbClr val="0B3F7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40" name="Google Shape;440;h48836ed72b515341_1_0"/>
          <p:cNvSpPr txBox="1"/>
          <p:nvPr/>
        </p:nvSpPr>
        <p:spPr>
          <a:xfrm>
            <a:off x="2497226" y="2916936"/>
            <a:ext cx="7863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3F71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0B3F71"/>
                </a:solidFill>
                <a:latin typeface="Arial"/>
                <a:ea typeface="Arial"/>
                <a:cs typeface="Arial"/>
                <a:sym typeface="Arial"/>
              </a:rPr>
              <a:t>HOY · 30/10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h48836ed72b515341_1_0"/>
          <p:cNvSpPr txBox="1"/>
          <p:nvPr/>
        </p:nvSpPr>
        <p:spPr>
          <a:xfrm>
            <a:off x="3000146" y="3488436"/>
            <a:ext cx="13167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4444"/>
              </a:buClr>
              <a:buSzPts val="939"/>
              <a:buFont typeface="Arial"/>
              <a:buNone/>
            </a:pPr>
            <a:r>
              <a:rPr b="1" i="0" lang="en-US" sz="940" u="none" cap="none" strike="noStrike">
                <a:solidFill>
                  <a:srgbClr val="F04444"/>
                </a:solidFill>
                <a:latin typeface="Arial"/>
                <a:ea typeface="Arial"/>
                <a:cs typeface="Arial"/>
                <a:sym typeface="Arial"/>
              </a:rPr>
              <a:t>25 SP restantes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h48836ed72b515341_1_0"/>
          <p:cNvSpPr txBox="1"/>
          <p:nvPr/>
        </p:nvSpPr>
        <p:spPr>
          <a:xfrm>
            <a:off x="1042416" y="2962656"/>
            <a:ext cx="20118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975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C6975"/>
                </a:solidFill>
                <a:latin typeface="Arial"/>
                <a:ea typeface="Arial"/>
                <a:cs typeface="Arial"/>
                <a:sym typeface="Arial"/>
              </a:rPr>
              <a:t>Puntos de historia pendientes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h48836ed72b515341_1_0"/>
          <p:cNvSpPr txBox="1"/>
          <p:nvPr/>
        </p:nvSpPr>
        <p:spPr>
          <a:xfrm>
            <a:off x="3877056" y="5047488"/>
            <a:ext cx="4572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97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975"/>
                </a:solidFill>
                <a:latin typeface="Arial"/>
                <a:ea typeface="Arial"/>
                <a:cs typeface="Arial"/>
                <a:sym typeface="Arial"/>
              </a:rPr>
              <a:t>Fecha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4" name="Google Shape;444;h48836ed72b515341_1_0"/>
          <p:cNvCxnSpPr/>
          <p:nvPr/>
        </p:nvCxnSpPr>
        <p:spPr>
          <a:xfrm>
            <a:off x="2953512" y="5239512"/>
            <a:ext cx="0" cy="557700"/>
          </a:xfrm>
          <a:prstGeom prst="straightConnector1">
            <a:avLst/>
          </a:prstGeom>
          <a:noFill/>
          <a:ln cap="flat" cmpd="sng" w="15225">
            <a:solidFill>
              <a:srgbClr val="A9D5E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5" name="Google Shape;445;h48836ed72b515341_1_0"/>
          <p:cNvCxnSpPr/>
          <p:nvPr/>
        </p:nvCxnSpPr>
        <p:spPr>
          <a:xfrm>
            <a:off x="5321808" y="5239512"/>
            <a:ext cx="0" cy="557700"/>
          </a:xfrm>
          <a:prstGeom prst="straightConnector1">
            <a:avLst/>
          </a:prstGeom>
          <a:noFill/>
          <a:ln cap="flat" cmpd="sng" w="15225">
            <a:solidFill>
              <a:srgbClr val="A9D5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6" name="Google Shape;446;h48836ed72b515341_1_0"/>
          <p:cNvSpPr/>
          <p:nvPr/>
        </p:nvSpPr>
        <p:spPr>
          <a:xfrm>
            <a:off x="932688" y="5294376"/>
            <a:ext cx="393300" cy="393300"/>
          </a:xfrm>
          <a:prstGeom prst="ellipse">
            <a:avLst/>
          </a:prstGeom>
          <a:solidFill>
            <a:srgbClr val="F0F9FF"/>
          </a:solidFill>
          <a:ln cap="flat" cmpd="sng" w="12700">
            <a:solidFill>
              <a:srgbClr val="A9D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h48836ed72b515341_1_0"/>
          <p:cNvSpPr txBox="1"/>
          <p:nvPr/>
        </p:nvSpPr>
        <p:spPr>
          <a:xfrm>
            <a:off x="932688" y="5330952"/>
            <a:ext cx="3933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3F7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3F71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h48836ed72b515341_1_0"/>
          <p:cNvSpPr txBox="1"/>
          <p:nvPr/>
        </p:nvSpPr>
        <p:spPr>
          <a:xfrm>
            <a:off x="1472184" y="5330952"/>
            <a:ext cx="5943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F71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B3F71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h48836ed72b515341_1_0"/>
          <p:cNvSpPr txBox="1"/>
          <p:nvPr/>
        </p:nvSpPr>
        <p:spPr>
          <a:xfrm>
            <a:off x="2139696" y="5413248"/>
            <a:ext cx="713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C38"/>
              </a:buClr>
              <a:buSzPts val="1040"/>
              <a:buFont typeface="Arial"/>
              <a:buNone/>
            </a:pPr>
            <a:r>
              <a:rPr b="0" i="0" lang="en-US" sz="1040" u="none" cap="none" strike="noStrike">
                <a:solidFill>
                  <a:srgbClr val="1E2C38"/>
                </a:solidFill>
                <a:latin typeface="Arial"/>
                <a:ea typeface="Arial"/>
                <a:cs typeface="Arial"/>
                <a:sym typeface="Arial"/>
              </a:rPr>
              <a:t>SP totales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h48836ed72b515341_1_0"/>
          <p:cNvSpPr/>
          <p:nvPr/>
        </p:nvSpPr>
        <p:spPr>
          <a:xfrm>
            <a:off x="3172968" y="5294376"/>
            <a:ext cx="393300" cy="393300"/>
          </a:xfrm>
          <a:prstGeom prst="ellipse">
            <a:avLst/>
          </a:prstGeom>
          <a:solidFill>
            <a:srgbClr val="F0F9FF"/>
          </a:solidFill>
          <a:ln cap="flat" cmpd="sng" w="12700">
            <a:solidFill>
              <a:srgbClr val="A9D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h48836ed72b515341_1_0"/>
          <p:cNvSpPr txBox="1"/>
          <p:nvPr/>
        </p:nvSpPr>
        <p:spPr>
          <a:xfrm>
            <a:off x="3172968" y="5330952"/>
            <a:ext cx="3933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3F7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3F71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h48836ed72b515341_1_0"/>
          <p:cNvSpPr txBox="1"/>
          <p:nvPr/>
        </p:nvSpPr>
        <p:spPr>
          <a:xfrm>
            <a:off x="3730752" y="5330952"/>
            <a:ext cx="3657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D44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59D44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h48836ed72b515341_1_0"/>
          <p:cNvSpPr txBox="1"/>
          <p:nvPr/>
        </p:nvSpPr>
        <p:spPr>
          <a:xfrm>
            <a:off x="4151376" y="5413248"/>
            <a:ext cx="1014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C38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1E2C38"/>
                </a:solidFill>
                <a:latin typeface="Arial"/>
                <a:ea typeface="Arial"/>
                <a:cs typeface="Arial"/>
                <a:sym typeface="Arial"/>
              </a:rPr>
              <a:t>SP finalizados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h48836ed72b515341_1_0"/>
          <p:cNvSpPr/>
          <p:nvPr/>
        </p:nvSpPr>
        <p:spPr>
          <a:xfrm>
            <a:off x="5504688" y="5294376"/>
            <a:ext cx="393300" cy="393300"/>
          </a:xfrm>
          <a:prstGeom prst="ellipse">
            <a:avLst/>
          </a:prstGeom>
          <a:solidFill>
            <a:srgbClr val="F0F9FF"/>
          </a:solidFill>
          <a:ln cap="flat" cmpd="sng" w="12700">
            <a:solidFill>
              <a:srgbClr val="A9D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h48836ed72b515341_1_0"/>
          <p:cNvSpPr txBox="1"/>
          <p:nvPr/>
        </p:nvSpPr>
        <p:spPr>
          <a:xfrm>
            <a:off x="5504688" y="5330952"/>
            <a:ext cx="3933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3F7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3F71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h48836ed72b515341_1_0"/>
          <p:cNvSpPr txBox="1"/>
          <p:nvPr/>
        </p:nvSpPr>
        <p:spPr>
          <a:xfrm>
            <a:off x="6025896" y="5330952"/>
            <a:ext cx="7773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D44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59D44"/>
                </a:solidFill>
                <a:latin typeface="Arial"/>
                <a:ea typeface="Arial"/>
                <a:cs typeface="Arial"/>
                <a:sym typeface="Arial"/>
              </a:rPr>
              <a:t>24%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h48836ed72b515341_1_0"/>
          <p:cNvSpPr txBox="1"/>
          <p:nvPr/>
        </p:nvSpPr>
        <p:spPr>
          <a:xfrm>
            <a:off x="6803136" y="5413248"/>
            <a:ext cx="713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C38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1E2C38"/>
                </a:solidFill>
                <a:latin typeface="Arial"/>
                <a:ea typeface="Arial"/>
                <a:cs typeface="Arial"/>
                <a:sym typeface="Arial"/>
              </a:rPr>
              <a:t>finalizado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h48836ed72b515341_1_0"/>
          <p:cNvSpPr/>
          <p:nvPr/>
        </p:nvSpPr>
        <p:spPr>
          <a:xfrm>
            <a:off x="7863840" y="1143000"/>
            <a:ext cx="3602700" cy="932700"/>
          </a:xfrm>
          <a:prstGeom prst="roundRect">
            <a:avLst>
              <a:gd fmla="val 7843" name="adj"/>
            </a:avLst>
          </a:prstGeom>
          <a:solidFill>
            <a:srgbClr val="FFFFFF"/>
          </a:solidFill>
          <a:ln cap="flat" cmpd="sng" w="15225">
            <a:solidFill>
              <a:srgbClr val="A9D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h48836ed72b515341_1_0"/>
          <p:cNvSpPr txBox="1"/>
          <p:nvPr/>
        </p:nvSpPr>
        <p:spPr>
          <a:xfrm>
            <a:off x="8074152" y="1307592"/>
            <a:ext cx="146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F71"/>
              </a:buClr>
              <a:buSzPts val="1240"/>
              <a:buFont typeface="Arial"/>
              <a:buNone/>
            </a:pPr>
            <a:r>
              <a:rPr b="1" i="0" lang="en-US" sz="1240" u="none" cap="none" strike="noStrike">
                <a:solidFill>
                  <a:srgbClr val="0B3F7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h48836ed72b515341_1_0"/>
          <p:cNvSpPr txBox="1"/>
          <p:nvPr/>
        </p:nvSpPr>
        <p:spPr>
          <a:xfrm>
            <a:off x="8330184" y="1307592"/>
            <a:ext cx="256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F71"/>
              </a:buClr>
              <a:buSzPts val="1270"/>
              <a:buFont typeface="Arial"/>
              <a:buNone/>
            </a:pPr>
            <a:r>
              <a:rPr b="1" i="0" lang="en-US" sz="1270" u="none" cap="none" strike="noStrike">
                <a:solidFill>
                  <a:srgbClr val="0B3F71"/>
                </a:solidFill>
                <a:latin typeface="Arial"/>
                <a:ea typeface="Arial"/>
                <a:cs typeface="Arial"/>
                <a:sym typeface="Arial"/>
              </a:rPr>
              <a:t>Estado del sprint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h48836ed72b515341_1_0"/>
          <p:cNvSpPr/>
          <p:nvPr/>
        </p:nvSpPr>
        <p:spPr>
          <a:xfrm>
            <a:off x="8046720" y="1636776"/>
            <a:ext cx="3237000" cy="301800"/>
          </a:xfrm>
          <a:prstGeom prst="roundRect">
            <a:avLst>
              <a:gd fmla="val 18182" name="adj"/>
            </a:avLst>
          </a:prstGeom>
          <a:solidFill>
            <a:srgbClr val="E5F7E9"/>
          </a:solidFill>
          <a:ln cap="flat" cmpd="sng" w="9525">
            <a:solidFill>
              <a:srgbClr val="E5F7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h48836ed72b515341_1_0"/>
          <p:cNvSpPr txBox="1"/>
          <p:nvPr/>
        </p:nvSpPr>
        <p:spPr>
          <a:xfrm>
            <a:off x="8229600" y="1700784"/>
            <a:ext cx="17649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D44"/>
              </a:buClr>
              <a:buSzPts val="1110"/>
              <a:buFont typeface="Arial"/>
              <a:buNone/>
            </a:pPr>
            <a:r>
              <a:rPr b="1" i="0" lang="en-US" sz="1110" u="none" cap="none" strike="noStrike">
                <a:solidFill>
                  <a:srgbClr val="159D44"/>
                </a:solidFill>
                <a:latin typeface="Arial"/>
                <a:ea typeface="Arial"/>
                <a:cs typeface="Arial"/>
                <a:sym typeface="Arial"/>
              </a:rPr>
              <a:t>Sprint 4 en curso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h48836ed72b515341_1_0"/>
          <p:cNvSpPr txBox="1"/>
          <p:nvPr/>
        </p:nvSpPr>
        <p:spPr>
          <a:xfrm>
            <a:off x="10122408" y="1700784"/>
            <a:ext cx="8688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C38"/>
              </a:buClr>
              <a:buSzPct val="100000"/>
              <a:buFont typeface="Arial"/>
              <a:buNone/>
            </a:pPr>
            <a:r>
              <a:rPr b="1" i="0" lang="en-US" sz="1040" u="none" cap="none" strike="noStrike">
                <a:solidFill>
                  <a:srgbClr val="1E2C38"/>
                </a:solidFill>
                <a:latin typeface="Arial"/>
                <a:ea typeface="Arial"/>
                <a:cs typeface="Arial"/>
                <a:sym typeface="Arial"/>
              </a:rPr>
              <a:t>24% finalizado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h48836ed72b515341_1_0"/>
          <p:cNvSpPr/>
          <p:nvPr/>
        </p:nvSpPr>
        <p:spPr>
          <a:xfrm>
            <a:off x="7863840" y="2258568"/>
            <a:ext cx="3602700" cy="1033200"/>
          </a:xfrm>
          <a:prstGeom prst="roundRect">
            <a:avLst>
              <a:gd fmla="val 7080" name="adj"/>
            </a:avLst>
          </a:prstGeom>
          <a:solidFill>
            <a:srgbClr val="FFFFFF"/>
          </a:solidFill>
          <a:ln cap="flat" cmpd="sng" w="15225">
            <a:solidFill>
              <a:srgbClr val="A9D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h48836ed72b515341_1_0"/>
          <p:cNvSpPr txBox="1"/>
          <p:nvPr/>
        </p:nvSpPr>
        <p:spPr>
          <a:xfrm>
            <a:off x="8074152" y="2395728"/>
            <a:ext cx="164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F71"/>
              </a:buClr>
              <a:buSzPts val="1210"/>
              <a:buFont typeface="Arial"/>
              <a:buNone/>
            </a:pPr>
            <a:r>
              <a:rPr b="1" i="0" lang="en-US" sz="1210" u="none" cap="none" strike="noStrike">
                <a:solidFill>
                  <a:srgbClr val="0B3F7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h48836ed72b515341_1_0"/>
          <p:cNvSpPr txBox="1"/>
          <p:nvPr/>
        </p:nvSpPr>
        <p:spPr>
          <a:xfrm>
            <a:off x="8330184" y="2395728"/>
            <a:ext cx="256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F71"/>
              </a:buClr>
              <a:buSzPts val="1270"/>
              <a:buFont typeface="Arial"/>
              <a:buNone/>
            </a:pPr>
            <a:r>
              <a:rPr b="1" i="0" lang="en-US" sz="1270" u="none" cap="none" strike="noStrike">
                <a:solidFill>
                  <a:srgbClr val="0B3F71"/>
                </a:solidFill>
                <a:latin typeface="Arial"/>
                <a:ea typeface="Arial"/>
                <a:cs typeface="Arial"/>
                <a:sym typeface="Arial"/>
              </a:rPr>
              <a:t>Indicadores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h48836ed72b515341_1_0"/>
          <p:cNvSpPr/>
          <p:nvPr/>
        </p:nvSpPr>
        <p:spPr>
          <a:xfrm>
            <a:off x="8046720" y="2624328"/>
            <a:ext cx="3237000" cy="521100"/>
          </a:xfrm>
          <a:prstGeom prst="roundRect">
            <a:avLst>
              <a:gd fmla="val 10526" name="adj"/>
            </a:avLst>
          </a:prstGeom>
          <a:solidFill>
            <a:srgbClr val="E8F3FB"/>
          </a:solidFill>
          <a:ln cap="flat" cmpd="sng" w="9525">
            <a:solidFill>
              <a:srgbClr val="E8F3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h48836ed72b515341_1_0"/>
          <p:cNvSpPr txBox="1"/>
          <p:nvPr/>
        </p:nvSpPr>
        <p:spPr>
          <a:xfrm>
            <a:off x="8257032" y="2660904"/>
            <a:ext cx="2743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C38"/>
              </a:buClr>
              <a:buSzPts val="1060"/>
              <a:buFont typeface="Arial"/>
              <a:buNone/>
            </a:pPr>
            <a:r>
              <a:rPr b="0" i="0" lang="en-US" sz="1060" u="none" cap="none" strike="noStrike">
                <a:solidFill>
                  <a:srgbClr val="1E2C38"/>
                </a:solidFill>
                <a:latin typeface="Arial"/>
                <a:ea typeface="Arial"/>
                <a:cs typeface="Arial"/>
                <a:sym typeface="Arial"/>
              </a:rPr>
              <a:t>Por hacer:        8 SP  (24%)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h48836ed72b515341_1_0"/>
          <p:cNvSpPr txBox="1"/>
          <p:nvPr/>
        </p:nvSpPr>
        <p:spPr>
          <a:xfrm>
            <a:off x="8257032" y="2816352"/>
            <a:ext cx="2743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C38"/>
              </a:buClr>
              <a:buSzPts val="1060"/>
              <a:buFont typeface="Arial"/>
              <a:buNone/>
            </a:pPr>
            <a:r>
              <a:rPr b="0" i="0" lang="en-US" sz="1060" u="none" cap="none" strike="noStrike">
                <a:solidFill>
                  <a:srgbClr val="1E2C38"/>
                </a:solidFill>
                <a:latin typeface="Arial"/>
                <a:ea typeface="Arial"/>
                <a:cs typeface="Arial"/>
                <a:sym typeface="Arial"/>
              </a:rPr>
              <a:t>En curso:       17 SP  (52%)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h48836ed72b515341_1_0"/>
          <p:cNvSpPr txBox="1"/>
          <p:nvPr/>
        </p:nvSpPr>
        <p:spPr>
          <a:xfrm>
            <a:off x="8257032" y="2971800"/>
            <a:ext cx="2743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C38"/>
              </a:buClr>
              <a:buSzPts val="1060"/>
              <a:buFont typeface="Arial"/>
              <a:buNone/>
            </a:pPr>
            <a:r>
              <a:rPr b="0" i="0" lang="en-US" sz="1060" u="none" cap="none" strike="noStrike">
                <a:solidFill>
                  <a:srgbClr val="1E2C38"/>
                </a:solidFill>
                <a:latin typeface="Arial"/>
                <a:ea typeface="Arial"/>
                <a:cs typeface="Arial"/>
                <a:sym typeface="Arial"/>
              </a:rPr>
              <a:t>Finalizado:       8 SP  (24%)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h48836ed72b515341_1_0"/>
          <p:cNvSpPr/>
          <p:nvPr/>
        </p:nvSpPr>
        <p:spPr>
          <a:xfrm>
            <a:off x="7863840" y="3456432"/>
            <a:ext cx="3602700" cy="1188600"/>
          </a:xfrm>
          <a:prstGeom prst="roundRect">
            <a:avLst>
              <a:gd fmla="val 6154" name="adj"/>
            </a:avLst>
          </a:prstGeom>
          <a:solidFill>
            <a:srgbClr val="FFFFFF"/>
          </a:solidFill>
          <a:ln cap="flat" cmpd="sng" w="15225">
            <a:solidFill>
              <a:srgbClr val="A9D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h48836ed72b515341_1_0"/>
          <p:cNvSpPr txBox="1"/>
          <p:nvPr/>
        </p:nvSpPr>
        <p:spPr>
          <a:xfrm>
            <a:off x="8074152" y="3602736"/>
            <a:ext cx="164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F71"/>
              </a:buClr>
              <a:buSzPts val="1210"/>
              <a:buFont typeface="Arial"/>
              <a:buNone/>
            </a:pPr>
            <a:r>
              <a:rPr b="1" i="0" lang="en-US" sz="1210" u="none" cap="none" strike="noStrike">
                <a:solidFill>
                  <a:srgbClr val="0B3F7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h48836ed72b515341_1_0"/>
          <p:cNvSpPr txBox="1"/>
          <p:nvPr/>
        </p:nvSpPr>
        <p:spPr>
          <a:xfrm>
            <a:off x="8330184" y="3602736"/>
            <a:ext cx="2743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F71"/>
              </a:buClr>
              <a:buSzPts val="1270"/>
              <a:buFont typeface="Arial"/>
              <a:buNone/>
            </a:pPr>
            <a:r>
              <a:rPr b="1" i="0" lang="en-US" sz="1270" u="none" cap="none" strike="noStrike">
                <a:solidFill>
                  <a:srgbClr val="0B3F71"/>
                </a:solidFill>
                <a:latin typeface="Arial"/>
                <a:ea typeface="Arial"/>
                <a:cs typeface="Arial"/>
                <a:sym typeface="Arial"/>
              </a:rPr>
              <a:t>Estado actual del sprint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h48836ed72b515341_1_0"/>
          <p:cNvSpPr/>
          <p:nvPr/>
        </p:nvSpPr>
        <p:spPr>
          <a:xfrm>
            <a:off x="8046720" y="3849624"/>
            <a:ext cx="3237000" cy="658500"/>
          </a:xfrm>
          <a:prstGeom prst="roundRect">
            <a:avLst>
              <a:gd fmla="val 6944" name="adj"/>
            </a:avLst>
          </a:prstGeom>
          <a:solidFill>
            <a:srgbClr val="FFF6DF"/>
          </a:solidFill>
          <a:ln cap="flat" cmpd="sng" w="9525">
            <a:solidFill>
              <a:srgbClr val="FFF6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h48836ed72b515341_1_0"/>
          <p:cNvSpPr txBox="1"/>
          <p:nvPr/>
        </p:nvSpPr>
        <p:spPr>
          <a:xfrm>
            <a:off x="8193024" y="3922776"/>
            <a:ext cx="2013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D44"/>
              </a:buClr>
              <a:buSzPct val="100000"/>
              <a:buFont typeface="Arial"/>
              <a:buNone/>
            </a:pPr>
            <a:r>
              <a:rPr b="1" i="0" lang="en-US" sz="1170" u="none" cap="none" strike="noStrike">
                <a:solidFill>
                  <a:srgbClr val="159D44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h48836ed72b515341_1_0"/>
          <p:cNvSpPr txBox="1"/>
          <p:nvPr/>
        </p:nvSpPr>
        <p:spPr>
          <a:xfrm>
            <a:off x="8421624" y="3904488"/>
            <a:ext cx="2496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C38"/>
              </a:buClr>
              <a:buSzPct val="100000"/>
              <a:buFont typeface="Arial"/>
              <a:buNone/>
            </a:pPr>
            <a:r>
              <a:rPr b="0" i="0" lang="en-US" sz="935" u="none" cap="none" strike="noStrike">
                <a:solidFill>
                  <a:srgbClr val="1E2C38"/>
                </a:solidFill>
                <a:latin typeface="Arial"/>
                <a:ea typeface="Arial"/>
                <a:cs typeface="Arial"/>
                <a:sym typeface="Arial"/>
              </a:rPr>
              <a:t>Documentación, UAT, evidencias y backlog · 8 SP</a:t>
            </a:r>
            <a:endParaRPr b="0" i="0" sz="9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h48836ed72b515341_1_0"/>
          <p:cNvSpPr txBox="1"/>
          <p:nvPr/>
        </p:nvSpPr>
        <p:spPr>
          <a:xfrm>
            <a:off x="8193024" y="4123944"/>
            <a:ext cx="2013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900"/>
              </a:buClr>
              <a:buSzPct val="100000"/>
              <a:buFont typeface="Arial"/>
              <a:buNone/>
            </a:pPr>
            <a:r>
              <a:rPr b="1" i="0" lang="en-US" sz="1170" u="none" cap="none" strike="noStrike">
                <a:solidFill>
                  <a:srgbClr val="E87900"/>
                </a:solidFill>
                <a:latin typeface="Arial"/>
                <a:ea typeface="Arial"/>
                <a:cs typeface="Arial"/>
                <a:sym typeface="Arial"/>
              </a:rPr>
              <a:t>◔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h48836ed72b515341_1_0"/>
          <p:cNvSpPr txBox="1"/>
          <p:nvPr/>
        </p:nvSpPr>
        <p:spPr>
          <a:xfrm>
            <a:off x="8421624" y="4114800"/>
            <a:ext cx="2505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C38"/>
              </a:buClr>
              <a:buSzPct val="100000"/>
              <a:buFont typeface="Arial"/>
              <a:buNone/>
            </a:pPr>
            <a:r>
              <a:rPr b="0" i="0" lang="en-US" sz="935" u="none" cap="none" strike="noStrike">
                <a:solidFill>
                  <a:srgbClr val="1E2C38"/>
                </a:solidFill>
                <a:latin typeface="Arial"/>
                <a:ea typeface="Arial"/>
                <a:cs typeface="Arial"/>
                <a:sym typeface="Arial"/>
              </a:rPr>
              <a:t>Pruebas, persistencia, roles, HDU y perfil · 17 SP</a:t>
            </a:r>
            <a:endParaRPr b="0" i="0" sz="9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h48836ed72b515341_1_0"/>
          <p:cNvSpPr txBox="1"/>
          <p:nvPr/>
        </p:nvSpPr>
        <p:spPr>
          <a:xfrm>
            <a:off x="8193024" y="4325112"/>
            <a:ext cx="2013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975"/>
              </a:buClr>
              <a:buSzPct val="100000"/>
              <a:buFont typeface="Arial"/>
              <a:buNone/>
            </a:pPr>
            <a:r>
              <a:rPr b="1" i="0" lang="en-US" sz="1170" u="none" cap="none" strike="noStrike">
                <a:solidFill>
                  <a:srgbClr val="5C6975"/>
                </a:solidFill>
                <a:latin typeface="Arial"/>
                <a:ea typeface="Arial"/>
                <a:cs typeface="Arial"/>
                <a:sym typeface="Arial"/>
              </a:rPr>
              <a:t>○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h48836ed72b515341_1_0"/>
          <p:cNvSpPr txBox="1"/>
          <p:nvPr/>
        </p:nvSpPr>
        <p:spPr>
          <a:xfrm>
            <a:off x="8421624" y="4315968"/>
            <a:ext cx="2505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C38"/>
              </a:buClr>
              <a:buSzPct val="100000"/>
              <a:buFont typeface="Arial"/>
              <a:buNone/>
            </a:pPr>
            <a:r>
              <a:rPr b="0" i="0" lang="en-US" sz="935" u="none" cap="none" strike="noStrike">
                <a:solidFill>
                  <a:srgbClr val="1E2C38"/>
                </a:solidFill>
                <a:latin typeface="Arial"/>
                <a:ea typeface="Arial"/>
                <a:cs typeface="Arial"/>
                <a:sym typeface="Arial"/>
              </a:rPr>
              <a:t>API roles/usuarios e integración frontend · 8 SP</a:t>
            </a:r>
            <a:endParaRPr b="0" i="0" sz="9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h48836ed72b515341_1_0"/>
          <p:cNvSpPr/>
          <p:nvPr/>
        </p:nvSpPr>
        <p:spPr>
          <a:xfrm>
            <a:off x="7863840" y="4828032"/>
            <a:ext cx="360270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225">
            <a:solidFill>
              <a:srgbClr val="A9D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h48836ed72b515341_1_0"/>
          <p:cNvSpPr txBox="1"/>
          <p:nvPr/>
        </p:nvSpPr>
        <p:spPr>
          <a:xfrm>
            <a:off x="8074152" y="4965192"/>
            <a:ext cx="164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F71"/>
              </a:buClr>
              <a:buSzPts val="1210"/>
              <a:buFont typeface="Arial"/>
              <a:buNone/>
            </a:pPr>
            <a:r>
              <a:rPr b="1" i="0" lang="en-US" sz="1210" u="none" cap="none" strike="noStrike">
                <a:solidFill>
                  <a:srgbClr val="0B3F7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h48836ed72b515341_1_0"/>
          <p:cNvSpPr txBox="1"/>
          <p:nvPr/>
        </p:nvSpPr>
        <p:spPr>
          <a:xfrm>
            <a:off x="8330184" y="4965192"/>
            <a:ext cx="2743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F71"/>
              </a:buClr>
              <a:buSzPts val="1270"/>
              <a:buFont typeface="Arial"/>
              <a:buNone/>
            </a:pPr>
            <a:r>
              <a:rPr b="1" i="0" lang="en-US" sz="1270" u="none" cap="none" strike="noStrike">
                <a:solidFill>
                  <a:srgbClr val="0B3F71"/>
                </a:solidFill>
                <a:latin typeface="Arial"/>
                <a:ea typeface="Arial"/>
                <a:cs typeface="Arial"/>
                <a:sym typeface="Arial"/>
              </a:rPr>
              <a:t>Sprints cerrados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h48836ed72b515341_1_0"/>
          <p:cNvSpPr/>
          <p:nvPr/>
        </p:nvSpPr>
        <p:spPr>
          <a:xfrm>
            <a:off x="8046720" y="5257800"/>
            <a:ext cx="3237000" cy="329100"/>
          </a:xfrm>
          <a:prstGeom prst="roundRect">
            <a:avLst>
              <a:gd fmla="val 13889" name="adj"/>
            </a:avLst>
          </a:prstGeom>
          <a:solidFill>
            <a:srgbClr val="E8F3FB"/>
          </a:solidFill>
          <a:ln cap="flat" cmpd="sng" w="9525">
            <a:solidFill>
              <a:srgbClr val="E8F3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h48836ed72b515341_1_0"/>
          <p:cNvSpPr txBox="1"/>
          <p:nvPr/>
        </p:nvSpPr>
        <p:spPr>
          <a:xfrm>
            <a:off x="8302752" y="5312664"/>
            <a:ext cx="731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F71"/>
              </a:buClr>
              <a:buSzPct val="100000"/>
              <a:buFont typeface="Arial"/>
              <a:buNone/>
            </a:pPr>
            <a:r>
              <a:rPr b="1" i="0" lang="en-US" sz="1910" u="none" cap="none" strike="noStrike">
                <a:solidFill>
                  <a:srgbClr val="0B3F71"/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  <a:endParaRPr b="0" i="0" sz="1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h48836ed72b515341_1_0"/>
          <p:cNvSpPr txBox="1"/>
          <p:nvPr/>
        </p:nvSpPr>
        <p:spPr>
          <a:xfrm>
            <a:off x="9180576" y="5358384"/>
            <a:ext cx="1801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C38"/>
              </a:buClr>
              <a:buSzPts val="1070"/>
              <a:buFont typeface="Arial"/>
              <a:buNone/>
            </a:pPr>
            <a:r>
              <a:rPr b="0" i="0" lang="en-US" sz="1070" u="none" cap="none" strike="noStrike">
                <a:solidFill>
                  <a:srgbClr val="1E2C38"/>
                </a:solidFill>
                <a:latin typeface="Arial"/>
                <a:ea typeface="Arial"/>
                <a:cs typeface="Arial"/>
                <a:sym typeface="Arial"/>
              </a:rPr>
              <a:t>3 de 6 sprints cerrados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h48836ed72b515341_1_0"/>
          <p:cNvSpPr/>
          <p:nvPr/>
        </p:nvSpPr>
        <p:spPr>
          <a:xfrm>
            <a:off x="685800" y="6318504"/>
            <a:ext cx="10762500" cy="329100"/>
          </a:xfrm>
          <a:prstGeom prst="roundRect">
            <a:avLst>
              <a:gd fmla="val 11111" name="adj"/>
            </a:avLst>
          </a:prstGeom>
          <a:solidFill>
            <a:srgbClr val="E7F8FC"/>
          </a:solidFill>
          <a:ln cap="flat" cmpd="sng" w="11425">
            <a:solidFill>
              <a:srgbClr val="04B7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h48836ed72b515341_1_0"/>
          <p:cNvSpPr txBox="1"/>
          <p:nvPr/>
        </p:nvSpPr>
        <p:spPr>
          <a:xfrm>
            <a:off x="987552" y="6391656"/>
            <a:ext cx="101589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C38"/>
              </a:buClr>
              <a:buSzPts val="989"/>
              <a:buFont typeface="Arial"/>
              <a:buNone/>
            </a:pPr>
            <a:r>
              <a:rPr b="0" i="0" lang="en-US" sz="990" u="none" cap="none" strike="noStrike">
                <a:solidFill>
                  <a:srgbClr val="1E2C38"/>
                </a:solidFill>
                <a:latin typeface="Arial"/>
                <a:ea typeface="Arial"/>
                <a:cs typeface="Arial"/>
                <a:sym typeface="Arial"/>
              </a:rPr>
              <a:t>Fuente: Jira Cloud Q360-Sprint 4 · 11 actividades, 33 SP de alcance, 8 SP finalizados y 25 SP pendientes al 30/10. Burndown: 27 → 25 SP.</a:t>
            </a:r>
            <a:endParaRPr b="0" i="0" sz="9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h4e82ad7d59cc63f1_3_24"/>
          <p:cNvSpPr/>
          <p:nvPr/>
        </p:nvSpPr>
        <p:spPr>
          <a:xfrm>
            <a:off x="3451850" y="1394374"/>
            <a:ext cx="1326000" cy="1216200"/>
          </a:xfrm>
          <a:prstGeom prst="rect">
            <a:avLst/>
          </a:prstGeom>
          <a:solidFill>
            <a:srgbClr val="F4A3A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h4e82ad7d59cc63f1_3_24"/>
          <p:cNvSpPr/>
          <p:nvPr/>
        </p:nvSpPr>
        <p:spPr>
          <a:xfrm>
            <a:off x="438912" y="128016"/>
            <a:ext cx="7955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Matriz de riesgos detectados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h4e82ad7d59cc63f1_3_24"/>
          <p:cNvSpPr/>
          <p:nvPr/>
        </p:nvSpPr>
        <p:spPr>
          <a:xfrm>
            <a:off x="457200" y="758952"/>
            <a:ext cx="6675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6277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E6277"/>
                </a:solidFill>
                <a:latin typeface="Arial"/>
                <a:ea typeface="Arial"/>
                <a:cs typeface="Arial"/>
                <a:sym typeface="Arial"/>
              </a:rPr>
              <a:t>Sprint </a:t>
            </a:r>
            <a:r>
              <a:rPr lang="en-US" sz="1100">
                <a:solidFill>
                  <a:srgbClr val="4E6277"/>
                </a:solidFill>
              </a:rPr>
              <a:t>4 </a:t>
            </a:r>
            <a:r>
              <a:rPr b="0" i="0" lang="en-US" sz="1100" u="none" cap="none" strike="noStrike">
                <a:solidFill>
                  <a:srgbClr val="4E6277"/>
                </a:solidFill>
                <a:latin typeface="Arial"/>
                <a:ea typeface="Arial"/>
                <a:cs typeface="Arial"/>
                <a:sym typeface="Arial"/>
              </a:rPr>
              <a:t>· Probabilidad × Impacto · Corte 16/10/2026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h4e82ad7d59cc63f1_3_24"/>
          <p:cNvSpPr/>
          <p:nvPr/>
        </p:nvSpPr>
        <p:spPr>
          <a:xfrm>
            <a:off x="777240" y="1115568"/>
            <a:ext cx="228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Matriz 3 × 3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h4e82ad7d59cc63f1_3_24"/>
          <p:cNvSpPr/>
          <p:nvPr/>
        </p:nvSpPr>
        <p:spPr>
          <a:xfrm>
            <a:off x="2103045" y="3886195"/>
            <a:ext cx="1326000" cy="1216200"/>
          </a:xfrm>
          <a:prstGeom prst="rect">
            <a:avLst/>
          </a:prstGeom>
          <a:solidFill>
            <a:srgbClr val="EAF2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h4e82ad7d59cc63f1_3_24"/>
          <p:cNvSpPr/>
          <p:nvPr/>
        </p:nvSpPr>
        <p:spPr>
          <a:xfrm>
            <a:off x="777240" y="2633472"/>
            <a:ext cx="1326000" cy="1216200"/>
          </a:xfrm>
          <a:prstGeom prst="rect">
            <a:avLst/>
          </a:prstGeom>
          <a:solidFill>
            <a:srgbClr val="EAF2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h4e82ad7d59cc63f1_3_24"/>
          <p:cNvSpPr/>
          <p:nvPr/>
        </p:nvSpPr>
        <p:spPr>
          <a:xfrm>
            <a:off x="2125845" y="2624235"/>
            <a:ext cx="1326000" cy="1216200"/>
          </a:xfrm>
          <a:prstGeom prst="rect">
            <a:avLst/>
          </a:prstGeom>
          <a:solidFill>
            <a:srgbClr val="F8E8A7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h4e82ad7d59cc63f1_3_24"/>
          <p:cNvSpPr/>
          <p:nvPr/>
        </p:nvSpPr>
        <p:spPr>
          <a:xfrm>
            <a:off x="3451850" y="2624235"/>
            <a:ext cx="1326000" cy="1216200"/>
          </a:xfrm>
          <a:prstGeom prst="rect">
            <a:avLst/>
          </a:prstGeom>
          <a:solidFill>
            <a:srgbClr val="F8C79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h4e82ad7d59cc63f1_3_24"/>
          <p:cNvSpPr/>
          <p:nvPr/>
        </p:nvSpPr>
        <p:spPr>
          <a:xfrm>
            <a:off x="3428990" y="3886199"/>
            <a:ext cx="1326000" cy="1216200"/>
          </a:xfrm>
          <a:prstGeom prst="rect">
            <a:avLst/>
          </a:prstGeom>
          <a:solidFill>
            <a:srgbClr val="F8E8A7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h4e82ad7d59cc63f1_3_24"/>
          <p:cNvSpPr/>
          <p:nvPr/>
        </p:nvSpPr>
        <p:spPr>
          <a:xfrm>
            <a:off x="2125858" y="1394386"/>
            <a:ext cx="1326000" cy="1216200"/>
          </a:xfrm>
          <a:prstGeom prst="rect">
            <a:avLst/>
          </a:prstGeom>
          <a:solidFill>
            <a:srgbClr val="F8C79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h4e82ad7d59cc63f1_3_24"/>
          <p:cNvSpPr/>
          <p:nvPr/>
        </p:nvSpPr>
        <p:spPr>
          <a:xfrm>
            <a:off x="777240" y="5138928"/>
            <a:ext cx="132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475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0475E"/>
                </a:solidFill>
                <a:latin typeface="Arial"/>
                <a:ea typeface="Arial"/>
                <a:cs typeface="Arial"/>
                <a:sym typeface="Arial"/>
              </a:rPr>
              <a:t>Bajo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h4e82ad7d59cc63f1_3_24"/>
          <p:cNvSpPr/>
          <p:nvPr/>
        </p:nvSpPr>
        <p:spPr>
          <a:xfrm>
            <a:off x="2103120" y="5138928"/>
            <a:ext cx="132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475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0475E"/>
                </a:solidFill>
                <a:latin typeface="Arial"/>
                <a:ea typeface="Arial"/>
                <a:cs typeface="Arial"/>
                <a:sym typeface="Arial"/>
              </a:rPr>
              <a:t>Medio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h4e82ad7d59cc63f1_3_24"/>
          <p:cNvSpPr/>
          <p:nvPr/>
        </p:nvSpPr>
        <p:spPr>
          <a:xfrm>
            <a:off x="3429000" y="5138928"/>
            <a:ext cx="132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475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0475E"/>
                </a:solidFill>
                <a:latin typeface="Arial"/>
                <a:ea typeface="Arial"/>
                <a:cs typeface="Arial"/>
                <a:sym typeface="Arial"/>
              </a:rPr>
              <a:t>Alto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h4e82ad7d59cc63f1_3_24"/>
          <p:cNvSpPr/>
          <p:nvPr/>
        </p:nvSpPr>
        <p:spPr>
          <a:xfrm>
            <a:off x="1508760" y="5449824"/>
            <a:ext cx="256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IMPACTO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h4e82ad7d59cc63f1_3_24"/>
          <p:cNvSpPr/>
          <p:nvPr/>
        </p:nvSpPr>
        <p:spPr>
          <a:xfrm>
            <a:off x="320040" y="1847088"/>
            <a:ext cx="384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475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0475E"/>
                </a:solidFill>
                <a:latin typeface="Arial"/>
                <a:ea typeface="Arial"/>
                <a:cs typeface="Arial"/>
                <a:sym typeface="Arial"/>
              </a:rPr>
              <a:t>Alta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h4e82ad7d59cc63f1_3_24"/>
          <p:cNvSpPr/>
          <p:nvPr/>
        </p:nvSpPr>
        <p:spPr>
          <a:xfrm>
            <a:off x="320040" y="3063240"/>
            <a:ext cx="384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475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0475E"/>
                </a:solidFill>
                <a:latin typeface="Arial"/>
                <a:ea typeface="Arial"/>
                <a:cs typeface="Arial"/>
                <a:sym typeface="Arial"/>
              </a:rPr>
              <a:t>Media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h4e82ad7d59cc63f1_3_24"/>
          <p:cNvSpPr/>
          <p:nvPr/>
        </p:nvSpPr>
        <p:spPr>
          <a:xfrm>
            <a:off x="320040" y="4279392"/>
            <a:ext cx="384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475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0475E"/>
                </a:solidFill>
                <a:latin typeface="Arial"/>
                <a:ea typeface="Arial"/>
                <a:cs typeface="Arial"/>
                <a:sym typeface="Arial"/>
              </a:rPr>
              <a:t>Baja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h4e82ad7d59cc63f1_3_24"/>
          <p:cNvSpPr/>
          <p:nvPr/>
        </p:nvSpPr>
        <p:spPr>
          <a:xfrm rot="-5400000">
            <a:off x="-855030" y="2729430"/>
            <a:ext cx="20118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PROBABILIDAD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h4e82ad7d59cc63f1_3_24"/>
          <p:cNvSpPr/>
          <p:nvPr/>
        </p:nvSpPr>
        <p:spPr>
          <a:xfrm>
            <a:off x="3591282" y="2779774"/>
            <a:ext cx="402300" cy="402300"/>
          </a:xfrm>
          <a:prstGeom prst="ellipse">
            <a:avLst/>
          </a:prstGeom>
          <a:solidFill>
            <a:srgbClr val="FF9900"/>
          </a:solidFill>
          <a:ln cap="flat" cmpd="sng" w="152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h4e82ad7d59cc63f1_3_24"/>
          <p:cNvSpPr/>
          <p:nvPr/>
        </p:nvSpPr>
        <p:spPr>
          <a:xfrm>
            <a:off x="3595807" y="2877324"/>
            <a:ext cx="40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4" name="Google Shape;514;h4e82ad7d59cc63f1_3_24"/>
          <p:cNvGrpSpPr/>
          <p:nvPr/>
        </p:nvGrpSpPr>
        <p:grpSpPr>
          <a:xfrm>
            <a:off x="3998089" y="3272123"/>
            <a:ext cx="402300" cy="402300"/>
            <a:chOff x="4055364" y="3223260"/>
            <a:chExt cx="402300" cy="402300"/>
          </a:xfrm>
        </p:grpSpPr>
        <p:sp>
          <p:nvSpPr>
            <p:cNvPr id="515" name="Google Shape;515;h4e82ad7d59cc63f1_3_24"/>
            <p:cNvSpPr/>
            <p:nvPr/>
          </p:nvSpPr>
          <p:spPr>
            <a:xfrm>
              <a:off x="4055364" y="3223260"/>
              <a:ext cx="402300" cy="402300"/>
            </a:xfrm>
            <a:prstGeom prst="ellipse">
              <a:avLst/>
            </a:prstGeom>
            <a:solidFill>
              <a:srgbClr val="FF9900"/>
            </a:solidFill>
            <a:ln cap="flat" cmpd="sng" w="152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h4e82ad7d59cc63f1_3_24"/>
            <p:cNvSpPr/>
            <p:nvPr/>
          </p:nvSpPr>
          <p:spPr>
            <a:xfrm>
              <a:off x="4055364" y="3316117"/>
              <a:ext cx="402300" cy="1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R-05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7" name="Google Shape;517;h4e82ad7d59cc63f1_3_24"/>
          <p:cNvSpPr/>
          <p:nvPr/>
        </p:nvSpPr>
        <p:spPr>
          <a:xfrm>
            <a:off x="2247092" y="3291805"/>
            <a:ext cx="402300" cy="402300"/>
          </a:xfrm>
          <a:prstGeom prst="ellipse">
            <a:avLst/>
          </a:prstGeom>
          <a:solidFill>
            <a:srgbClr val="FFFF00"/>
          </a:solidFill>
          <a:ln cap="flat" cmpd="sng" w="152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h4e82ad7d59cc63f1_3_24"/>
          <p:cNvSpPr/>
          <p:nvPr/>
        </p:nvSpPr>
        <p:spPr>
          <a:xfrm>
            <a:off x="2258592" y="3392254"/>
            <a:ext cx="40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R-04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h4e82ad7d59cc63f1_3_24"/>
          <p:cNvSpPr/>
          <p:nvPr/>
        </p:nvSpPr>
        <p:spPr>
          <a:xfrm>
            <a:off x="777240" y="5623560"/>
            <a:ext cx="502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77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2677A"/>
                </a:solidFill>
                <a:latin typeface="Arial"/>
                <a:ea typeface="Arial"/>
                <a:cs typeface="Arial"/>
                <a:sym typeface="Arial"/>
              </a:rPr>
              <a:t>Nivel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h4e82ad7d59cc63f1_3_24"/>
          <p:cNvSpPr/>
          <p:nvPr/>
        </p:nvSpPr>
        <p:spPr>
          <a:xfrm>
            <a:off x="1325880" y="5614416"/>
            <a:ext cx="164700" cy="164700"/>
          </a:xfrm>
          <a:prstGeom prst="ellipse">
            <a:avLst/>
          </a:prstGeom>
          <a:solidFill>
            <a:srgbClr val="B3261E"/>
          </a:solidFill>
          <a:ln cap="flat" cmpd="sng" w="1270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h4e82ad7d59cc63f1_3_24"/>
          <p:cNvSpPr/>
          <p:nvPr/>
        </p:nvSpPr>
        <p:spPr>
          <a:xfrm>
            <a:off x="1536192" y="5596128"/>
            <a:ext cx="685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7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2677A"/>
                </a:solidFill>
                <a:latin typeface="Arial"/>
                <a:ea typeface="Arial"/>
                <a:cs typeface="Arial"/>
                <a:sym typeface="Arial"/>
              </a:rPr>
              <a:t>Crítico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h4e82ad7d59cc63f1_3_24"/>
          <p:cNvSpPr/>
          <p:nvPr/>
        </p:nvSpPr>
        <p:spPr>
          <a:xfrm>
            <a:off x="2350008" y="5614416"/>
            <a:ext cx="164700" cy="164700"/>
          </a:xfrm>
          <a:prstGeom prst="ellipse">
            <a:avLst/>
          </a:prstGeom>
          <a:solidFill>
            <a:srgbClr val="D86B00"/>
          </a:solidFill>
          <a:ln cap="flat" cmpd="sng" w="12700">
            <a:solidFill>
              <a:srgbClr val="D8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h4e82ad7d59cc63f1_3_24"/>
          <p:cNvSpPr/>
          <p:nvPr/>
        </p:nvSpPr>
        <p:spPr>
          <a:xfrm>
            <a:off x="2560320" y="5596128"/>
            <a:ext cx="685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7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2677A"/>
                </a:solidFill>
                <a:latin typeface="Arial"/>
                <a:ea typeface="Arial"/>
                <a:cs typeface="Arial"/>
                <a:sym typeface="Arial"/>
              </a:rPr>
              <a:t>Alto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h4e82ad7d59cc63f1_3_24"/>
          <p:cNvSpPr/>
          <p:nvPr/>
        </p:nvSpPr>
        <p:spPr>
          <a:xfrm>
            <a:off x="3374136" y="5614416"/>
            <a:ext cx="164700" cy="1647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rgbClr val="9A6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h4e82ad7d59cc63f1_3_24"/>
          <p:cNvSpPr/>
          <p:nvPr/>
        </p:nvSpPr>
        <p:spPr>
          <a:xfrm>
            <a:off x="3584448" y="5596128"/>
            <a:ext cx="685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7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2677A"/>
                </a:solidFill>
                <a:latin typeface="Arial"/>
                <a:ea typeface="Arial"/>
                <a:cs typeface="Arial"/>
                <a:sym typeface="Arial"/>
              </a:rPr>
              <a:t>Medio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h4e82ad7d59cc63f1_3_24"/>
          <p:cNvSpPr/>
          <p:nvPr/>
        </p:nvSpPr>
        <p:spPr>
          <a:xfrm>
            <a:off x="5143535" y="1170370"/>
            <a:ext cx="6492300" cy="4892100"/>
          </a:xfrm>
          <a:prstGeom prst="roundRect">
            <a:avLst>
              <a:gd fmla="val 1495" name="adj"/>
            </a:avLst>
          </a:prstGeom>
          <a:solidFill>
            <a:srgbClr val="FFFFFF"/>
          </a:solidFill>
          <a:ln cap="flat" cmpd="sng" w="15225">
            <a:solidFill>
              <a:srgbClr val="C7D7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h4e82ad7d59cc63f1_3_24"/>
          <p:cNvSpPr/>
          <p:nvPr/>
        </p:nvSpPr>
        <p:spPr>
          <a:xfrm>
            <a:off x="5440680" y="1389888"/>
            <a:ext cx="347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Riesgos y mitigación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h4e82ad7d59cc63f1_3_24"/>
          <p:cNvSpPr/>
          <p:nvPr/>
        </p:nvSpPr>
        <p:spPr>
          <a:xfrm>
            <a:off x="10497312" y="1417320"/>
            <a:ext cx="841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B7C8F"/>
                </a:solidFill>
                <a:latin typeface="Arial"/>
                <a:ea typeface="Arial"/>
                <a:cs typeface="Arial"/>
                <a:sym typeface="Arial"/>
              </a:rPr>
              <a:t>Prioridad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h4e82ad7d59cc63f1_3_24"/>
          <p:cNvSpPr/>
          <p:nvPr/>
        </p:nvSpPr>
        <p:spPr>
          <a:xfrm>
            <a:off x="5852160" y="1783080"/>
            <a:ext cx="3520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B5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Cambio reciente de arquitectura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h4e82ad7d59cc63f1_3_24"/>
          <p:cNvSpPr/>
          <p:nvPr/>
        </p:nvSpPr>
        <p:spPr>
          <a:xfrm>
            <a:off x="5852160" y="2066544"/>
            <a:ext cx="4160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7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2677A"/>
                </a:solidFill>
                <a:latin typeface="Arial"/>
                <a:ea typeface="Arial"/>
                <a:cs typeface="Arial"/>
                <a:sym typeface="Arial"/>
              </a:rPr>
              <a:t>Congelar stack y ADR; no reabrir decisiones salvo bloqueo.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h4e82ad7d59cc63f1_3_24"/>
          <p:cNvSpPr/>
          <p:nvPr/>
        </p:nvSpPr>
        <p:spPr>
          <a:xfrm>
            <a:off x="10543032" y="1856232"/>
            <a:ext cx="786300" cy="274200"/>
          </a:xfrm>
          <a:prstGeom prst="roundRect">
            <a:avLst>
              <a:gd fmla="val 20000" name="adj"/>
            </a:avLst>
          </a:prstGeom>
          <a:solidFill>
            <a:srgbClr val="D86B00"/>
          </a:solidFill>
          <a:ln cap="flat" cmpd="sng" w="12700">
            <a:solidFill>
              <a:srgbClr val="D8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h4e82ad7d59cc63f1_3_24"/>
          <p:cNvSpPr/>
          <p:nvPr/>
        </p:nvSpPr>
        <p:spPr>
          <a:xfrm>
            <a:off x="10543032" y="1915668"/>
            <a:ext cx="7863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ALTO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3" name="Google Shape;533;h4e82ad7d59cc63f1_3_24"/>
          <p:cNvCxnSpPr/>
          <p:nvPr/>
        </p:nvCxnSpPr>
        <p:spPr>
          <a:xfrm>
            <a:off x="5440680" y="2414016"/>
            <a:ext cx="5898000" cy="0"/>
          </a:xfrm>
          <a:prstGeom prst="straightConnector1">
            <a:avLst/>
          </a:prstGeom>
          <a:noFill/>
          <a:ln cap="flat" cmpd="sng" w="12700">
            <a:solidFill>
              <a:srgbClr val="E2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4" name="Google Shape;534;h4e82ad7d59cc63f1_3_24"/>
          <p:cNvSpPr/>
          <p:nvPr/>
        </p:nvSpPr>
        <p:spPr>
          <a:xfrm>
            <a:off x="5852160" y="2487168"/>
            <a:ext cx="3520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B5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Integración end-to-end incompleta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h4e82ad7d59cc63f1_3_24"/>
          <p:cNvSpPr/>
          <p:nvPr/>
        </p:nvSpPr>
        <p:spPr>
          <a:xfrm>
            <a:off x="5852160" y="2770632"/>
            <a:ext cx="4160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7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2677A"/>
                </a:solidFill>
                <a:latin typeface="Arial"/>
                <a:ea typeface="Arial"/>
                <a:cs typeface="Arial"/>
                <a:sym typeface="Arial"/>
              </a:rPr>
              <a:t>Priorizar un flujo demostrable completo antes de ampliar funciones.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h4e82ad7d59cc63f1_3_24"/>
          <p:cNvSpPr/>
          <p:nvPr/>
        </p:nvSpPr>
        <p:spPr>
          <a:xfrm>
            <a:off x="10543032" y="2560320"/>
            <a:ext cx="786300" cy="274200"/>
          </a:xfrm>
          <a:prstGeom prst="roundRect">
            <a:avLst>
              <a:gd fmla="val 20000" name="adj"/>
            </a:avLst>
          </a:prstGeom>
          <a:solidFill>
            <a:srgbClr val="B3261E"/>
          </a:solidFill>
          <a:ln cap="flat" cmpd="sng" w="1270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h4e82ad7d59cc63f1_3_24"/>
          <p:cNvSpPr/>
          <p:nvPr/>
        </p:nvSpPr>
        <p:spPr>
          <a:xfrm>
            <a:off x="10543032" y="2619756"/>
            <a:ext cx="7863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CRÍTICO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8" name="Google Shape;538;h4e82ad7d59cc63f1_3_24"/>
          <p:cNvCxnSpPr/>
          <p:nvPr/>
        </p:nvCxnSpPr>
        <p:spPr>
          <a:xfrm>
            <a:off x="5440680" y="3118104"/>
            <a:ext cx="5898000" cy="0"/>
          </a:xfrm>
          <a:prstGeom prst="straightConnector1">
            <a:avLst/>
          </a:prstGeom>
          <a:noFill/>
          <a:ln cap="flat" cmpd="sng" w="12700">
            <a:solidFill>
              <a:srgbClr val="E2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9" name="Google Shape;539;h4e82ad7d59cc63f1_3_24"/>
          <p:cNvSpPr/>
          <p:nvPr/>
        </p:nvSpPr>
        <p:spPr>
          <a:xfrm>
            <a:off x="5852160" y="3191256"/>
            <a:ext cx="3520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B5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Crecimiento de alcance / sobrearquitectura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h4e82ad7d59cc63f1_3_24"/>
          <p:cNvSpPr/>
          <p:nvPr/>
        </p:nvSpPr>
        <p:spPr>
          <a:xfrm>
            <a:off x="5852160" y="3474720"/>
            <a:ext cx="4160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7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2677A"/>
                </a:solidFill>
                <a:latin typeface="Arial"/>
                <a:ea typeface="Arial"/>
                <a:cs typeface="Arial"/>
                <a:sym typeface="Arial"/>
              </a:rPr>
              <a:t>Control de backlog y criterios de aceptación por Sprint.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h4e82ad7d59cc63f1_3_24"/>
          <p:cNvSpPr/>
          <p:nvPr/>
        </p:nvSpPr>
        <p:spPr>
          <a:xfrm>
            <a:off x="10543032" y="3264408"/>
            <a:ext cx="786300" cy="274200"/>
          </a:xfrm>
          <a:prstGeom prst="roundRect">
            <a:avLst>
              <a:gd fmla="val 20000" name="adj"/>
            </a:avLst>
          </a:prstGeom>
          <a:solidFill>
            <a:srgbClr val="B3261E"/>
          </a:solidFill>
          <a:ln cap="flat" cmpd="sng" w="1270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h4e82ad7d59cc63f1_3_24"/>
          <p:cNvSpPr/>
          <p:nvPr/>
        </p:nvSpPr>
        <p:spPr>
          <a:xfrm>
            <a:off x="10543032" y="3323844"/>
            <a:ext cx="7863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CRÍTICO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3" name="Google Shape;543;h4e82ad7d59cc63f1_3_24"/>
          <p:cNvCxnSpPr/>
          <p:nvPr/>
        </p:nvCxnSpPr>
        <p:spPr>
          <a:xfrm>
            <a:off x="5440680" y="3822192"/>
            <a:ext cx="5898000" cy="0"/>
          </a:xfrm>
          <a:prstGeom prst="straightConnector1">
            <a:avLst/>
          </a:prstGeom>
          <a:noFill/>
          <a:ln cap="flat" cmpd="sng" w="12700">
            <a:solidFill>
              <a:srgbClr val="E2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4" name="Google Shape;544;h4e82ad7d59cc63f1_3_24"/>
          <p:cNvSpPr/>
          <p:nvPr/>
        </p:nvSpPr>
        <p:spPr>
          <a:xfrm>
            <a:off x="5852160" y="3895344"/>
            <a:ext cx="3520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B5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Desfase del seguimiento en Jira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h4e82ad7d59cc63f1_3_24"/>
          <p:cNvSpPr/>
          <p:nvPr/>
        </p:nvSpPr>
        <p:spPr>
          <a:xfrm>
            <a:off x="5852160" y="4178808"/>
            <a:ext cx="4160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7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2677A"/>
                </a:solidFill>
                <a:latin typeface="Arial"/>
                <a:ea typeface="Arial"/>
                <a:cs typeface="Arial"/>
                <a:sym typeface="Arial"/>
              </a:rPr>
              <a:t>Actualizar estados/SP diariamente y documentar el desfase.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h4e82ad7d59cc63f1_3_24"/>
          <p:cNvSpPr/>
          <p:nvPr/>
        </p:nvSpPr>
        <p:spPr>
          <a:xfrm>
            <a:off x="10543032" y="3968496"/>
            <a:ext cx="786300" cy="274200"/>
          </a:xfrm>
          <a:prstGeom prst="roundRect">
            <a:avLst>
              <a:gd fmla="val 20000" name="adj"/>
            </a:avLst>
          </a:prstGeom>
          <a:solidFill>
            <a:srgbClr val="FFFF00"/>
          </a:solidFill>
          <a:ln cap="flat" cmpd="sng" w="12700">
            <a:solidFill>
              <a:srgbClr val="9A6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h4e82ad7d59cc63f1_3_24"/>
          <p:cNvSpPr/>
          <p:nvPr/>
        </p:nvSpPr>
        <p:spPr>
          <a:xfrm>
            <a:off x="10543032" y="4027932"/>
            <a:ext cx="7863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MEDIO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8" name="Google Shape;548;h4e82ad7d59cc63f1_3_24"/>
          <p:cNvCxnSpPr/>
          <p:nvPr/>
        </p:nvCxnSpPr>
        <p:spPr>
          <a:xfrm>
            <a:off x="5440680" y="4526280"/>
            <a:ext cx="5898000" cy="0"/>
          </a:xfrm>
          <a:prstGeom prst="straightConnector1">
            <a:avLst/>
          </a:prstGeom>
          <a:noFill/>
          <a:ln cap="flat" cmpd="sng" w="12700">
            <a:solidFill>
              <a:srgbClr val="E2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9" name="Google Shape;549;h4e82ad7d59cc63f1_3_24"/>
          <p:cNvSpPr/>
          <p:nvPr/>
        </p:nvSpPr>
        <p:spPr>
          <a:xfrm>
            <a:off x="5852160" y="4599432"/>
            <a:ext cx="3520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B5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Dependencia de Supabase / configuración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h4e82ad7d59cc63f1_3_24"/>
          <p:cNvSpPr/>
          <p:nvPr/>
        </p:nvSpPr>
        <p:spPr>
          <a:xfrm>
            <a:off x="5852160" y="4882896"/>
            <a:ext cx="4160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7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2677A"/>
                </a:solidFill>
                <a:latin typeface="Arial"/>
                <a:ea typeface="Arial"/>
                <a:cs typeface="Arial"/>
                <a:sym typeface="Arial"/>
              </a:rPr>
              <a:t>Backups, variables seguras y procedimiento de recuperación.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h4e82ad7d59cc63f1_3_24"/>
          <p:cNvSpPr/>
          <p:nvPr/>
        </p:nvSpPr>
        <p:spPr>
          <a:xfrm>
            <a:off x="10543032" y="4672584"/>
            <a:ext cx="786300" cy="274200"/>
          </a:xfrm>
          <a:prstGeom prst="roundRect">
            <a:avLst>
              <a:gd fmla="val 20000" name="adj"/>
            </a:avLst>
          </a:prstGeom>
          <a:solidFill>
            <a:srgbClr val="D86B00"/>
          </a:solidFill>
          <a:ln cap="flat" cmpd="sng" w="12700">
            <a:solidFill>
              <a:srgbClr val="D8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h4e82ad7d59cc63f1_3_24"/>
          <p:cNvSpPr/>
          <p:nvPr/>
        </p:nvSpPr>
        <p:spPr>
          <a:xfrm>
            <a:off x="10543032" y="4732020"/>
            <a:ext cx="7863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ALTO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3" name="Google Shape;553;h4e82ad7d59cc63f1_3_24"/>
          <p:cNvCxnSpPr/>
          <p:nvPr/>
        </p:nvCxnSpPr>
        <p:spPr>
          <a:xfrm>
            <a:off x="5440680" y="5230368"/>
            <a:ext cx="5898000" cy="0"/>
          </a:xfrm>
          <a:prstGeom prst="straightConnector1">
            <a:avLst/>
          </a:prstGeom>
          <a:noFill/>
          <a:ln cap="flat" cmpd="sng" w="12700">
            <a:solidFill>
              <a:srgbClr val="E2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4" name="Google Shape;554;h4e82ad7d59cc63f1_3_24"/>
          <p:cNvSpPr/>
          <p:nvPr/>
        </p:nvSpPr>
        <p:spPr>
          <a:xfrm>
            <a:off x="5852160" y="5303520"/>
            <a:ext cx="3520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B5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Cobertura de pruebas insuficiente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h4e82ad7d59cc63f1_3_24"/>
          <p:cNvSpPr/>
          <p:nvPr/>
        </p:nvSpPr>
        <p:spPr>
          <a:xfrm>
            <a:off x="5852160" y="5586984"/>
            <a:ext cx="4160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7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2677A"/>
                </a:solidFill>
                <a:latin typeface="Arial"/>
                <a:ea typeface="Arial"/>
                <a:cs typeface="Arial"/>
                <a:sym typeface="Arial"/>
              </a:rPr>
              <a:t>Plan de pruebas, regresión y evidencia funcional/no funcional.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h4e82ad7d59cc63f1_3_24"/>
          <p:cNvSpPr/>
          <p:nvPr/>
        </p:nvSpPr>
        <p:spPr>
          <a:xfrm>
            <a:off x="10543032" y="5376672"/>
            <a:ext cx="786300" cy="274200"/>
          </a:xfrm>
          <a:prstGeom prst="roundRect">
            <a:avLst>
              <a:gd fmla="val 20000" name="adj"/>
            </a:avLst>
          </a:prstGeom>
          <a:solidFill>
            <a:srgbClr val="B3261E"/>
          </a:solidFill>
          <a:ln cap="flat" cmpd="sng" w="1270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h4e82ad7d59cc63f1_3_24"/>
          <p:cNvSpPr/>
          <p:nvPr/>
        </p:nvSpPr>
        <p:spPr>
          <a:xfrm>
            <a:off x="10543032" y="5436108"/>
            <a:ext cx="7863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CRÍTICO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h4e82ad7d59cc63f1_3_24"/>
          <p:cNvSpPr/>
          <p:nvPr/>
        </p:nvSpPr>
        <p:spPr>
          <a:xfrm>
            <a:off x="777240" y="6062472"/>
            <a:ext cx="10881300" cy="329100"/>
          </a:xfrm>
          <a:prstGeom prst="roundRect">
            <a:avLst>
              <a:gd fmla="val 16667" name="adj"/>
            </a:avLst>
          </a:prstGeom>
          <a:solidFill>
            <a:srgbClr val="E9F8FA"/>
          </a:solidFill>
          <a:ln cap="flat" cmpd="sng" w="12700">
            <a:solidFill>
              <a:srgbClr val="24B7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h4e82ad7d59cc63f1_3_24"/>
          <p:cNvSpPr/>
          <p:nvPr/>
        </p:nvSpPr>
        <p:spPr>
          <a:xfrm>
            <a:off x="932688" y="6144768"/>
            <a:ext cx="10470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5B65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75B65"/>
                </a:solidFill>
                <a:latin typeface="Arial"/>
                <a:ea typeface="Arial"/>
                <a:cs typeface="Arial"/>
                <a:sym typeface="Arial"/>
              </a:rPr>
              <a:t>Decisión de mitigación: arquitectura congelada; foco en integración, pruebas, estabilización y evidencia.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h4e82ad7d59cc63f1_3_24"/>
          <p:cNvSpPr txBox="1"/>
          <p:nvPr>
            <p:ph idx="12" type="sldNum"/>
          </p:nvPr>
        </p:nvSpPr>
        <p:spPr>
          <a:xfrm>
            <a:off x="11475720" y="6510528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B87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h4e82ad7d59cc63f1_3_24"/>
          <p:cNvSpPr/>
          <p:nvPr/>
        </p:nvSpPr>
        <p:spPr>
          <a:xfrm>
            <a:off x="777240" y="3886195"/>
            <a:ext cx="1326000" cy="1216200"/>
          </a:xfrm>
          <a:prstGeom prst="rect">
            <a:avLst/>
          </a:prstGeom>
          <a:solidFill>
            <a:srgbClr val="D9EF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h4e82ad7d59cc63f1_3_24"/>
          <p:cNvSpPr/>
          <p:nvPr/>
        </p:nvSpPr>
        <p:spPr>
          <a:xfrm>
            <a:off x="791341" y="1394374"/>
            <a:ext cx="1326000" cy="1216200"/>
          </a:xfrm>
          <a:prstGeom prst="rect">
            <a:avLst/>
          </a:prstGeom>
          <a:solidFill>
            <a:srgbClr val="F8E8A7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h4e82ad7d59cc63f1_3_24"/>
          <p:cNvSpPr/>
          <p:nvPr/>
        </p:nvSpPr>
        <p:spPr>
          <a:xfrm>
            <a:off x="5328475" y="2654038"/>
            <a:ext cx="38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1" lang="en-US" sz="850">
                <a:solidFill>
                  <a:srgbClr val="FFFFFF"/>
                </a:solidFill>
              </a:rPr>
              <a:t>M-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h4e82ad7d59cc63f1_3_24"/>
          <p:cNvSpPr/>
          <p:nvPr/>
        </p:nvSpPr>
        <p:spPr>
          <a:xfrm>
            <a:off x="5336600" y="3267500"/>
            <a:ext cx="38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1" lang="en-US" sz="850">
                <a:solidFill>
                  <a:srgbClr val="FFFFFF"/>
                </a:solidFill>
              </a:rPr>
              <a:t>-03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h4e82ad7d59cc63f1_3_24"/>
          <p:cNvSpPr/>
          <p:nvPr/>
        </p:nvSpPr>
        <p:spPr>
          <a:xfrm>
            <a:off x="5328475" y="4720125"/>
            <a:ext cx="38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1" lang="en-US" sz="850">
                <a:solidFill>
                  <a:srgbClr val="FFFFFF"/>
                </a:solidFill>
              </a:rPr>
              <a:t>-05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h4e82ad7d59cc63f1_3_24"/>
          <p:cNvSpPr/>
          <p:nvPr/>
        </p:nvSpPr>
        <p:spPr>
          <a:xfrm>
            <a:off x="4094270" y="1618386"/>
            <a:ext cx="402300" cy="402300"/>
          </a:xfrm>
          <a:prstGeom prst="ellipse">
            <a:avLst/>
          </a:prstGeom>
          <a:solidFill>
            <a:srgbClr val="B3261E"/>
          </a:solidFill>
          <a:ln cap="flat" cmpd="sng" w="152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h4e82ad7d59cc63f1_3_24"/>
          <p:cNvSpPr/>
          <p:nvPr/>
        </p:nvSpPr>
        <p:spPr>
          <a:xfrm>
            <a:off x="4098795" y="1715937"/>
            <a:ext cx="40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R-0</a:t>
            </a:r>
            <a:r>
              <a:rPr b="1" lang="en-US" sz="1000">
                <a:solidFill>
                  <a:schemeClr val="dk1"/>
                </a:solidFill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h4e82ad7d59cc63f1_3_24"/>
          <p:cNvSpPr/>
          <p:nvPr/>
        </p:nvSpPr>
        <p:spPr>
          <a:xfrm>
            <a:off x="3888583" y="2090199"/>
            <a:ext cx="402300" cy="402300"/>
          </a:xfrm>
          <a:prstGeom prst="ellipse">
            <a:avLst/>
          </a:prstGeom>
          <a:solidFill>
            <a:srgbClr val="B3261E"/>
          </a:solidFill>
          <a:ln cap="flat" cmpd="sng" w="152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h4e82ad7d59cc63f1_3_24"/>
          <p:cNvSpPr/>
          <p:nvPr/>
        </p:nvSpPr>
        <p:spPr>
          <a:xfrm>
            <a:off x="3893108" y="2187749"/>
            <a:ext cx="40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R-0</a:t>
            </a:r>
            <a:r>
              <a:rPr b="1" lang="en-US" sz="1000">
                <a:solidFill>
                  <a:schemeClr val="dk1"/>
                </a:solidFill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h4e82ad7d59cc63f1_3_24"/>
          <p:cNvSpPr/>
          <p:nvPr/>
        </p:nvSpPr>
        <p:spPr>
          <a:xfrm>
            <a:off x="2498635" y="2800264"/>
            <a:ext cx="402300" cy="402300"/>
          </a:xfrm>
          <a:prstGeom prst="ellipse">
            <a:avLst/>
          </a:prstGeom>
          <a:solidFill>
            <a:srgbClr val="FFFF00"/>
          </a:solidFill>
          <a:ln cap="flat" cmpd="sng" w="152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         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h4e82ad7d59cc63f1_3_24"/>
          <p:cNvSpPr/>
          <p:nvPr/>
        </p:nvSpPr>
        <p:spPr>
          <a:xfrm>
            <a:off x="2498635" y="2884765"/>
            <a:ext cx="40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R-01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h4e82ad7d59cc63f1_3_24"/>
          <p:cNvSpPr/>
          <p:nvPr/>
        </p:nvSpPr>
        <p:spPr>
          <a:xfrm>
            <a:off x="5312990" y="1873113"/>
            <a:ext cx="402300" cy="402300"/>
          </a:xfrm>
          <a:prstGeom prst="ellipse">
            <a:avLst/>
          </a:prstGeom>
          <a:solidFill>
            <a:srgbClr val="FFFF00"/>
          </a:solidFill>
          <a:ln cap="flat" cmpd="sng" w="152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         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h4e82ad7d59cc63f1_3_24"/>
          <p:cNvSpPr/>
          <p:nvPr/>
        </p:nvSpPr>
        <p:spPr>
          <a:xfrm>
            <a:off x="5312990" y="1957615"/>
            <a:ext cx="40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R-01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h4e82ad7d59cc63f1_3_24"/>
          <p:cNvSpPr/>
          <p:nvPr/>
        </p:nvSpPr>
        <p:spPr>
          <a:xfrm>
            <a:off x="5321683" y="2564912"/>
            <a:ext cx="402300" cy="402300"/>
          </a:xfrm>
          <a:prstGeom prst="ellipse">
            <a:avLst/>
          </a:prstGeom>
          <a:solidFill>
            <a:srgbClr val="FF9900"/>
          </a:solidFill>
          <a:ln cap="flat" cmpd="sng" w="152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h4e82ad7d59cc63f1_3_24"/>
          <p:cNvSpPr/>
          <p:nvPr/>
        </p:nvSpPr>
        <p:spPr>
          <a:xfrm>
            <a:off x="5326208" y="2662462"/>
            <a:ext cx="40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R-02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h4e82ad7d59cc63f1_3_24"/>
          <p:cNvSpPr/>
          <p:nvPr/>
        </p:nvSpPr>
        <p:spPr>
          <a:xfrm>
            <a:off x="5321670" y="3275524"/>
            <a:ext cx="402300" cy="402300"/>
          </a:xfrm>
          <a:prstGeom prst="ellipse">
            <a:avLst/>
          </a:prstGeom>
          <a:solidFill>
            <a:srgbClr val="B3261E"/>
          </a:solidFill>
          <a:ln cap="flat" cmpd="sng" w="152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h4e82ad7d59cc63f1_3_24"/>
          <p:cNvSpPr/>
          <p:nvPr/>
        </p:nvSpPr>
        <p:spPr>
          <a:xfrm>
            <a:off x="5326195" y="3373074"/>
            <a:ext cx="40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R-0</a:t>
            </a:r>
            <a:r>
              <a:rPr b="1" lang="en-US" sz="1000">
                <a:solidFill>
                  <a:schemeClr val="dk1"/>
                </a:solidFill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h4e82ad7d59cc63f1_3_24"/>
          <p:cNvSpPr/>
          <p:nvPr/>
        </p:nvSpPr>
        <p:spPr>
          <a:xfrm>
            <a:off x="5328267" y="3973080"/>
            <a:ext cx="402300" cy="402300"/>
          </a:xfrm>
          <a:prstGeom prst="ellipse">
            <a:avLst/>
          </a:prstGeom>
          <a:solidFill>
            <a:srgbClr val="FFFF00"/>
          </a:solidFill>
          <a:ln cap="flat" cmpd="sng" w="152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h4e82ad7d59cc63f1_3_24"/>
          <p:cNvSpPr/>
          <p:nvPr/>
        </p:nvSpPr>
        <p:spPr>
          <a:xfrm>
            <a:off x="5339767" y="4073529"/>
            <a:ext cx="40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R-04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0" name="Google Shape;580;h4e82ad7d59cc63f1_3_24"/>
          <p:cNvGrpSpPr/>
          <p:nvPr/>
        </p:nvGrpSpPr>
        <p:grpSpPr>
          <a:xfrm>
            <a:off x="5328264" y="4694860"/>
            <a:ext cx="402300" cy="402300"/>
            <a:chOff x="4055364" y="3223260"/>
            <a:chExt cx="402300" cy="402300"/>
          </a:xfrm>
        </p:grpSpPr>
        <p:sp>
          <p:nvSpPr>
            <p:cNvPr id="581" name="Google Shape;581;h4e82ad7d59cc63f1_3_24"/>
            <p:cNvSpPr/>
            <p:nvPr/>
          </p:nvSpPr>
          <p:spPr>
            <a:xfrm>
              <a:off x="4055364" y="3223260"/>
              <a:ext cx="402300" cy="402300"/>
            </a:xfrm>
            <a:prstGeom prst="ellipse">
              <a:avLst/>
            </a:prstGeom>
            <a:solidFill>
              <a:srgbClr val="FF9900"/>
            </a:solidFill>
            <a:ln cap="flat" cmpd="sng" w="152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h4e82ad7d59cc63f1_3_24"/>
            <p:cNvSpPr/>
            <p:nvPr/>
          </p:nvSpPr>
          <p:spPr>
            <a:xfrm>
              <a:off x="4055364" y="3316117"/>
              <a:ext cx="402300" cy="1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R-05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3" name="Google Shape;583;h4e82ad7d59cc63f1_3_24"/>
          <p:cNvSpPr/>
          <p:nvPr/>
        </p:nvSpPr>
        <p:spPr>
          <a:xfrm>
            <a:off x="5340008" y="5445274"/>
            <a:ext cx="402300" cy="402300"/>
          </a:xfrm>
          <a:prstGeom prst="ellipse">
            <a:avLst/>
          </a:prstGeom>
          <a:solidFill>
            <a:srgbClr val="B3261E"/>
          </a:solidFill>
          <a:ln cap="flat" cmpd="sng" w="152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h4e82ad7d59cc63f1_3_24"/>
          <p:cNvSpPr/>
          <p:nvPr/>
        </p:nvSpPr>
        <p:spPr>
          <a:xfrm>
            <a:off x="5344533" y="5542824"/>
            <a:ext cx="40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R-0</a:t>
            </a:r>
            <a:r>
              <a:rPr b="1" lang="en-US" sz="1000">
                <a:solidFill>
                  <a:schemeClr val="dk1"/>
                </a:solidFill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h48836ed72b515341_1_127"/>
          <p:cNvSpPr/>
          <p:nvPr/>
        </p:nvSpPr>
        <p:spPr>
          <a:xfrm>
            <a:off x="0" y="201168"/>
            <a:ext cx="12192000" cy="73200"/>
          </a:xfrm>
          <a:prstGeom prst="rect">
            <a:avLst/>
          </a:prstGeom>
          <a:solidFill>
            <a:srgbClr val="00B7AC"/>
          </a:solidFill>
          <a:ln cap="flat" cmpd="sng" w="12700">
            <a:solidFill>
              <a:srgbClr val="00B7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h48836ed72b515341_1_127"/>
          <p:cNvSpPr/>
          <p:nvPr/>
        </p:nvSpPr>
        <p:spPr>
          <a:xfrm>
            <a:off x="521208" y="502920"/>
            <a:ext cx="8778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B61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82B61"/>
                </a:solidFill>
                <a:latin typeface="Arial"/>
                <a:ea typeface="Arial"/>
                <a:cs typeface="Arial"/>
                <a:sym typeface="Arial"/>
              </a:rPr>
              <a:t>Conclusiones y próximos pasos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h48836ed72b515341_1_127"/>
          <p:cNvSpPr/>
          <p:nvPr/>
        </p:nvSpPr>
        <p:spPr>
          <a:xfrm>
            <a:off x="530352" y="1033272"/>
            <a:ext cx="98754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6A8B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456A8B"/>
                </a:solidFill>
                <a:latin typeface="Arial"/>
                <a:ea typeface="Arial"/>
                <a:cs typeface="Arial"/>
                <a:sym typeface="Arial"/>
              </a:rPr>
              <a:t>Sprint 4 en curso · Integración de servicios, persistencia y validación QA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h48836ed72b515341_1_127"/>
          <p:cNvSpPr/>
          <p:nvPr/>
        </p:nvSpPr>
        <p:spPr>
          <a:xfrm>
            <a:off x="530352" y="1380744"/>
            <a:ext cx="603600" cy="32100"/>
          </a:xfrm>
          <a:prstGeom prst="rect">
            <a:avLst/>
          </a:prstGeom>
          <a:solidFill>
            <a:srgbClr val="00B7AC"/>
          </a:solidFill>
          <a:ln cap="flat" cmpd="sng" w="12700">
            <a:solidFill>
              <a:srgbClr val="00B7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h48836ed72b515341_1_127"/>
          <p:cNvSpPr/>
          <p:nvPr/>
        </p:nvSpPr>
        <p:spPr>
          <a:xfrm>
            <a:off x="10835640" y="374904"/>
            <a:ext cx="457200" cy="4572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B7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h48836ed72b515341_1_127"/>
          <p:cNvSpPr/>
          <p:nvPr/>
        </p:nvSpPr>
        <p:spPr>
          <a:xfrm>
            <a:off x="10936224" y="603504"/>
            <a:ext cx="54900" cy="118800"/>
          </a:xfrm>
          <a:prstGeom prst="rect">
            <a:avLst/>
          </a:prstGeom>
          <a:solidFill>
            <a:srgbClr val="83CFE5"/>
          </a:solidFill>
          <a:ln cap="flat" cmpd="sng" w="12700">
            <a:solidFill>
              <a:srgbClr val="83CF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h48836ed72b515341_1_127"/>
          <p:cNvSpPr/>
          <p:nvPr/>
        </p:nvSpPr>
        <p:spPr>
          <a:xfrm>
            <a:off x="11036808" y="539496"/>
            <a:ext cx="54900" cy="183000"/>
          </a:xfrm>
          <a:prstGeom prst="rect">
            <a:avLst/>
          </a:prstGeom>
          <a:solidFill>
            <a:srgbClr val="2EA7CF"/>
          </a:solidFill>
          <a:ln cap="flat" cmpd="sng" w="12700">
            <a:solidFill>
              <a:srgbClr val="2EA7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h48836ed72b515341_1_127"/>
          <p:cNvSpPr/>
          <p:nvPr/>
        </p:nvSpPr>
        <p:spPr>
          <a:xfrm>
            <a:off x="11137392" y="475488"/>
            <a:ext cx="54900" cy="246900"/>
          </a:xfrm>
          <a:prstGeom prst="rect">
            <a:avLst/>
          </a:prstGeom>
          <a:solidFill>
            <a:srgbClr val="0864E9"/>
          </a:solidFill>
          <a:ln cap="flat" cmpd="sng" w="12700">
            <a:solidFill>
              <a:srgbClr val="0864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98" name="Google Shape;598;h48836ed72b515341_1_127"/>
          <p:cNvCxnSpPr/>
          <p:nvPr/>
        </p:nvCxnSpPr>
        <p:spPr>
          <a:xfrm>
            <a:off x="11109960" y="731520"/>
            <a:ext cx="63900" cy="45600"/>
          </a:xfrm>
          <a:prstGeom prst="straightConnector1">
            <a:avLst/>
          </a:prstGeom>
          <a:noFill/>
          <a:ln cap="flat" cmpd="sng" w="25400">
            <a:solidFill>
              <a:srgbClr val="082B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9" name="Google Shape;599;h48836ed72b515341_1_127"/>
          <p:cNvCxnSpPr/>
          <p:nvPr/>
        </p:nvCxnSpPr>
        <p:spPr>
          <a:xfrm flipH="1" rot="10800000">
            <a:off x="11173968" y="585240"/>
            <a:ext cx="173700" cy="192000"/>
          </a:xfrm>
          <a:prstGeom prst="straightConnector1">
            <a:avLst/>
          </a:prstGeom>
          <a:noFill/>
          <a:ln cap="flat" cmpd="sng" w="25400">
            <a:solidFill>
              <a:srgbClr val="082B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0" name="Google Shape;600;h48836ed72b515341_1_127"/>
          <p:cNvSpPr/>
          <p:nvPr/>
        </p:nvSpPr>
        <p:spPr>
          <a:xfrm>
            <a:off x="10424160" y="914400"/>
            <a:ext cx="160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B6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82B61"/>
                </a:solidFill>
                <a:latin typeface="Arial"/>
                <a:ea typeface="Arial"/>
                <a:cs typeface="Arial"/>
                <a:sym typeface="Arial"/>
              </a:rPr>
              <a:t>Quality360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h48836ed72b515341_1_127"/>
          <p:cNvSpPr/>
          <p:nvPr/>
        </p:nvSpPr>
        <p:spPr>
          <a:xfrm>
            <a:off x="521208" y="1627632"/>
            <a:ext cx="2770500" cy="1581900"/>
          </a:xfrm>
          <a:prstGeom prst="roundRect">
            <a:avLst>
              <a:gd fmla="val 5780" name="adj"/>
            </a:avLst>
          </a:prstGeom>
          <a:solidFill>
            <a:srgbClr val="FFFFFF"/>
          </a:solidFill>
          <a:ln cap="flat" cmpd="sng" w="12700">
            <a:solidFill>
              <a:srgbClr val="CADFF5"/>
            </a:solidFill>
            <a:prstDash val="solid"/>
            <a:round/>
            <a:headEnd len="sm" w="sm" type="none"/>
            <a:tailEnd len="sm" w="sm" type="none"/>
          </a:ln>
          <a:effectLst>
            <a:outerShdw blurRad="27940" rotWithShape="0" algn="bl" dir="2700000" dist="50800">
              <a:srgbClr val="9FC4E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h48836ed72b515341_1_127"/>
          <p:cNvSpPr/>
          <p:nvPr/>
        </p:nvSpPr>
        <p:spPr>
          <a:xfrm>
            <a:off x="667512" y="1783080"/>
            <a:ext cx="493800" cy="493800"/>
          </a:xfrm>
          <a:prstGeom prst="ellipse">
            <a:avLst/>
          </a:prstGeom>
          <a:solidFill>
            <a:srgbClr val="EAF3FF"/>
          </a:solidFill>
          <a:ln cap="flat" cmpd="sng" w="12700">
            <a:solidFill>
              <a:srgbClr val="EAF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3" name="Google Shape;603;h48836ed72b515341_1_127"/>
          <p:cNvCxnSpPr/>
          <p:nvPr/>
        </p:nvCxnSpPr>
        <p:spPr>
          <a:xfrm>
            <a:off x="809244" y="2034540"/>
            <a:ext cx="75000" cy="68700"/>
          </a:xfrm>
          <a:prstGeom prst="straightConnector1">
            <a:avLst/>
          </a:prstGeom>
          <a:noFill/>
          <a:ln cap="flat" cmpd="sng" w="25400">
            <a:solidFill>
              <a:srgbClr val="0864E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4" name="Google Shape;604;h48836ed72b515341_1_127"/>
          <p:cNvCxnSpPr/>
          <p:nvPr/>
        </p:nvCxnSpPr>
        <p:spPr>
          <a:xfrm flipH="1" rot="10800000">
            <a:off x="884225" y="1947720"/>
            <a:ext cx="132600" cy="155400"/>
          </a:xfrm>
          <a:prstGeom prst="straightConnector1">
            <a:avLst/>
          </a:prstGeom>
          <a:noFill/>
          <a:ln cap="flat" cmpd="sng" w="25400">
            <a:solidFill>
              <a:srgbClr val="0864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5" name="Google Shape;605;h48836ed72b515341_1_127"/>
          <p:cNvSpPr/>
          <p:nvPr/>
        </p:nvSpPr>
        <p:spPr>
          <a:xfrm>
            <a:off x="1225296" y="1810512"/>
            <a:ext cx="1874400" cy="347400"/>
          </a:xfrm>
          <a:prstGeom prst="roundRect">
            <a:avLst>
              <a:gd fmla="val 26316" name="adj"/>
            </a:avLst>
          </a:prstGeom>
          <a:solidFill>
            <a:srgbClr val="0864E9"/>
          </a:solidFill>
          <a:ln cap="flat" cmpd="sng" w="12700">
            <a:solidFill>
              <a:srgbClr val="0864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h48836ed72b515341_1_127"/>
          <p:cNvSpPr/>
          <p:nvPr/>
        </p:nvSpPr>
        <p:spPr>
          <a:xfrm>
            <a:off x="1335024" y="1833372"/>
            <a:ext cx="16641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Avance Sprint 4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7" name="Google Shape;607;h48836ed72b515341_1_127"/>
          <p:cNvCxnSpPr/>
          <p:nvPr/>
        </p:nvCxnSpPr>
        <p:spPr>
          <a:xfrm>
            <a:off x="1234440" y="2267712"/>
            <a:ext cx="539400" cy="0"/>
          </a:xfrm>
          <a:prstGeom prst="straightConnector1">
            <a:avLst/>
          </a:prstGeom>
          <a:noFill/>
          <a:ln cap="flat" cmpd="sng" w="15225">
            <a:solidFill>
              <a:srgbClr val="CDE2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8" name="Google Shape;608;h48836ed72b515341_1_127"/>
          <p:cNvSpPr/>
          <p:nvPr/>
        </p:nvSpPr>
        <p:spPr>
          <a:xfrm>
            <a:off x="1225296" y="2368296"/>
            <a:ext cx="18561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8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132948"/>
                </a:solidFill>
                <a:latin typeface="Arial"/>
                <a:ea typeface="Arial"/>
                <a:cs typeface="Arial"/>
                <a:sym typeface="Arial"/>
              </a:rPr>
              <a:t>33 SP de alcance total.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8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132948"/>
                </a:solidFill>
                <a:latin typeface="Arial"/>
                <a:ea typeface="Arial"/>
                <a:cs typeface="Arial"/>
                <a:sym typeface="Arial"/>
              </a:rPr>
              <a:t>8 SP finalizados (24%).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8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132948"/>
                </a:solidFill>
                <a:latin typeface="Arial"/>
                <a:ea typeface="Arial"/>
                <a:cs typeface="Arial"/>
                <a:sym typeface="Arial"/>
              </a:rPr>
              <a:t>17 SP en curso y 8 pendientes.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h48836ed72b515341_1_127"/>
          <p:cNvSpPr/>
          <p:nvPr/>
        </p:nvSpPr>
        <p:spPr>
          <a:xfrm>
            <a:off x="3401568" y="1627632"/>
            <a:ext cx="2770500" cy="1581900"/>
          </a:xfrm>
          <a:prstGeom prst="roundRect">
            <a:avLst>
              <a:gd fmla="val 5780" name="adj"/>
            </a:avLst>
          </a:prstGeom>
          <a:solidFill>
            <a:srgbClr val="FFFFFF"/>
          </a:solidFill>
          <a:ln cap="flat" cmpd="sng" w="12700">
            <a:solidFill>
              <a:srgbClr val="CADFF5"/>
            </a:solidFill>
            <a:prstDash val="solid"/>
            <a:round/>
            <a:headEnd len="sm" w="sm" type="none"/>
            <a:tailEnd len="sm" w="sm" type="none"/>
          </a:ln>
          <a:effectLst>
            <a:outerShdw blurRad="27940" rotWithShape="0" algn="bl" dir="2700000" dist="50800">
              <a:srgbClr val="9FC4E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h48836ed72b515341_1_127"/>
          <p:cNvSpPr/>
          <p:nvPr/>
        </p:nvSpPr>
        <p:spPr>
          <a:xfrm>
            <a:off x="3547872" y="1783080"/>
            <a:ext cx="493800" cy="493800"/>
          </a:xfrm>
          <a:prstGeom prst="ellipse">
            <a:avLst/>
          </a:prstGeom>
          <a:solidFill>
            <a:srgbClr val="E5F9F7"/>
          </a:solidFill>
          <a:ln cap="flat" cmpd="sng" w="12700">
            <a:solidFill>
              <a:srgbClr val="E5F9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1" name="Google Shape;611;h48836ed72b515341_1_127"/>
          <p:cNvCxnSpPr/>
          <p:nvPr/>
        </p:nvCxnSpPr>
        <p:spPr>
          <a:xfrm flipH="1" rot="10800000">
            <a:off x="3703320" y="1920276"/>
            <a:ext cx="183000" cy="173700"/>
          </a:xfrm>
          <a:prstGeom prst="straightConnector1">
            <a:avLst/>
          </a:prstGeom>
          <a:noFill/>
          <a:ln cap="flat" cmpd="sng" w="25400">
            <a:solidFill>
              <a:srgbClr val="00B7A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2" name="Google Shape;612;h48836ed72b515341_1_127"/>
          <p:cNvCxnSpPr/>
          <p:nvPr/>
        </p:nvCxnSpPr>
        <p:spPr>
          <a:xfrm>
            <a:off x="3771900" y="1920240"/>
            <a:ext cx="114300" cy="0"/>
          </a:xfrm>
          <a:prstGeom prst="straightConnector1">
            <a:avLst/>
          </a:prstGeom>
          <a:noFill/>
          <a:ln cap="flat" cmpd="sng" w="25400">
            <a:solidFill>
              <a:srgbClr val="00B7A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3" name="Google Shape;613;h48836ed72b515341_1_127"/>
          <p:cNvCxnSpPr/>
          <p:nvPr/>
        </p:nvCxnSpPr>
        <p:spPr>
          <a:xfrm>
            <a:off x="3886200" y="1920240"/>
            <a:ext cx="0" cy="114300"/>
          </a:xfrm>
          <a:prstGeom prst="straightConnector1">
            <a:avLst/>
          </a:prstGeom>
          <a:noFill/>
          <a:ln cap="flat" cmpd="sng" w="25400">
            <a:solidFill>
              <a:srgbClr val="00B7A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4" name="Google Shape;614;h48836ed72b515341_1_127"/>
          <p:cNvSpPr/>
          <p:nvPr/>
        </p:nvSpPr>
        <p:spPr>
          <a:xfrm>
            <a:off x="4105656" y="1810512"/>
            <a:ext cx="1874400" cy="347400"/>
          </a:xfrm>
          <a:prstGeom prst="roundRect">
            <a:avLst>
              <a:gd fmla="val 26316" name="adj"/>
            </a:avLst>
          </a:prstGeom>
          <a:solidFill>
            <a:srgbClr val="00B7AC"/>
          </a:solidFill>
          <a:ln cap="flat" cmpd="sng" w="12700">
            <a:solidFill>
              <a:srgbClr val="00B7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h48836ed72b515341_1_127"/>
          <p:cNvSpPr/>
          <p:nvPr/>
        </p:nvSpPr>
        <p:spPr>
          <a:xfrm>
            <a:off x="4215384" y="1833372"/>
            <a:ext cx="16641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Portal y APIs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6" name="Google Shape;616;h48836ed72b515341_1_127"/>
          <p:cNvCxnSpPr/>
          <p:nvPr/>
        </p:nvCxnSpPr>
        <p:spPr>
          <a:xfrm>
            <a:off x="4114800" y="2267712"/>
            <a:ext cx="539400" cy="0"/>
          </a:xfrm>
          <a:prstGeom prst="straightConnector1">
            <a:avLst/>
          </a:prstGeom>
          <a:noFill/>
          <a:ln cap="flat" cmpd="sng" w="15225">
            <a:solidFill>
              <a:srgbClr val="CDE2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7" name="Google Shape;617;h48836ed72b515341_1_127"/>
          <p:cNvSpPr/>
          <p:nvPr/>
        </p:nvSpPr>
        <p:spPr>
          <a:xfrm>
            <a:off x="4105656" y="2368296"/>
            <a:ext cx="18561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8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132948"/>
                </a:solidFill>
                <a:latin typeface="Arial"/>
                <a:ea typeface="Arial"/>
                <a:cs typeface="Arial"/>
                <a:sym typeface="Arial"/>
              </a:rPr>
              <a:t>Acceso y navegación por roles probados. Integración React/Vite, NestJS y Supabase en validación.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h48836ed72b515341_1_127"/>
          <p:cNvSpPr/>
          <p:nvPr/>
        </p:nvSpPr>
        <p:spPr>
          <a:xfrm>
            <a:off x="521208" y="3392424"/>
            <a:ext cx="2770500" cy="1581900"/>
          </a:xfrm>
          <a:prstGeom prst="roundRect">
            <a:avLst>
              <a:gd fmla="val 5780" name="adj"/>
            </a:avLst>
          </a:prstGeom>
          <a:solidFill>
            <a:srgbClr val="FFFFFF"/>
          </a:solidFill>
          <a:ln cap="flat" cmpd="sng" w="12700">
            <a:solidFill>
              <a:srgbClr val="CADFF5"/>
            </a:solidFill>
            <a:prstDash val="solid"/>
            <a:round/>
            <a:headEnd len="sm" w="sm" type="none"/>
            <a:tailEnd len="sm" w="sm" type="none"/>
          </a:ln>
          <a:effectLst>
            <a:outerShdw blurRad="27940" rotWithShape="0" algn="bl" dir="2700000" dist="50800">
              <a:srgbClr val="9FC4E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h48836ed72b515341_1_127"/>
          <p:cNvSpPr/>
          <p:nvPr/>
        </p:nvSpPr>
        <p:spPr>
          <a:xfrm>
            <a:off x="667512" y="3547872"/>
            <a:ext cx="493800" cy="493800"/>
          </a:xfrm>
          <a:prstGeom prst="ellipse">
            <a:avLst/>
          </a:prstGeom>
          <a:solidFill>
            <a:srgbClr val="E7F7ED"/>
          </a:solidFill>
          <a:ln cap="flat" cmpd="sng" w="12700">
            <a:solidFill>
              <a:srgbClr val="E7F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h48836ed72b515341_1_127"/>
          <p:cNvSpPr/>
          <p:nvPr/>
        </p:nvSpPr>
        <p:spPr>
          <a:xfrm>
            <a:off x="832104" y="3712464"/>
            <a:ext cx="164700" cy="164700"/>
          </a:xfrm>
          <a:prstGeom prst="ellipse">
            <a:avLst/>
          </a:prstGeom>
          <a:solidFill>
            <a:srgbClr val="E7F7ED"/>
          </a:solidFill>
          <a:ln cap="flat" cmpd="sng" w="27925">
            <a:solidFill>
              <a:srgbClr val="13A9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1" name="Google Shape;621;h48836ed72b515341_1_127"/>
          <p:cNvCxnSpPr/>
          <p:nvPr/>
        </p:nvCxnSpPr>
        <p:spPr>
          <a:xfrm>
            <a:off x="1033272" y="3794760"/>
            <a:ext cx="45600" cy="0"/>
          </a:xfrm>
          <a:prstGeom prst="straightConnector1">
            <a:avLst/>
          </a:prstGeom>
          <a:noFill/>
          <a:ln cap="flat" cmpd="sng" w="20300">
            <a:solidFill>
              <a:srgbClr val="13A95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2" name="Google Shape;622;h48836ed72b515341_1_127"/>
          <p:cNvCxnSpPr/>
          <p:nvPr/>
        </p:nvCxnSpPr>
        <p:spPr>
          <a:xfrm>
            <a:off x="998455" y="3878815"/>
            <a:ext cx="32400" cy="32400"/>
          </a:xfrm>
          <a:prstGeom prst="straightConnector1">
            <a:avLst/>
          </a:prstGeom>
          <a:noFill/>
          <a:ln cap="flat" cmpd="sng" w="20300">
            <a:solidFill>
              <a:srgbClr val="13A95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3" name="Google Shape;623;h48836ed72b515341_1_127"/>
          <p:cNvCxnSpPr/>
          <p:nvPr/>
        </p:nvCxnSpPr>
        <p:spPr>
          <a:xfrm>
            <a:off x="914400" y="3913632"/>
            <a:ext cx="0" cy="45600"/>
          </a:xfrm>
          <a:prstGeom prst="straightConnector1">
            <a:avLst/>
          </a:prstGeom>
          <a:noFill/>
          <a:ln cap="flat" cmpd="sng" w="20300">
            <a:solidFill>
              <a:srgbClr val="13A95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4" name="Google Shape;624;h48836ed72b515341_1_127"/>
          <p:cNvCxnSpPr/>
          <p:nvPr/>
        </p:nvCxnSpPr>
        <p:spPr>
          <a:xfrm flipH="1">
            <a:off x="797945" y="3878815"/>
            <a:ext cx="32400" cy="32400"/>
          </a:xfrm>
          <a:prstGeom prst="straightConnector1">
            <a:avLst/>
          </a:prstGeom>
          <a:noFill/>
          <a:ln cap="flat" cmpd="sng" w="20300">
            <a:solidFill>
              <a:srgbClr val="13A95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5" name="Google Shape;625;h48836ed72b515341_1_127"/>
          <p:cNvCxnSpPr/>
          <p:nvPr/>
        </p:nvCxnSpPr>
        <p:spPr>
          <a:xfrm rot="10800000">
            <a:off x="749928" y="3794760"/>
            <a:ext cx="45600" cy="0"/>
          </a:xfrm>
          <a:prstGeom prst="straightConnector1">
            <a:avLst/>
          </a:prstGeom>
          <a:noFill/>
          <a:ln cap="flat" cmpd="sng" w="20300">
            <a:solidFill>
              <a:srgbClr val="13A95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6" name="Google Shape;626;h48836ed72b515341_1_127"/>
          <p:cNvCxnSpPr/>
          <p:nvPr/>
        </p:nvCxnSpPr>
        <p:spPr>
          <a:xfrm rot="10800000">
            <a:off x="797945" y="3678305"/>
            <a:ext cx="32400" cy="32400"/>
          </a:xfrm>
          <a:prstGeom prst="straightConnector1">
            <a:avLst/>
          </a:prstGeom>
          <a:noFill/>
          <a:ln cap="flat" cmpd="sng" w="20300">
            <a:solidFill>
              <a:srgbClr val="13A95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7" name="Google Shape;627;h48836ed72b515341_1_127"/>
          <p:cNvCxnSpPr/>
          <p:nvPr/>
        </p:nvCxnSpPr>
        <p:spPr>
          <a:xfrm rot="10800000">
            <a:off x="914400" y="3630288"/>
            <a:ext cx="0" cy="45600"/>
          </a:xfrm>
          <a:prstGeom prst="straightConnector1">
            <a:avLst/>
          </a:prstGeom>
          <a:noFill/>
          <a:ln cap="flat" cmpd="sng" w="20300">
            <a:solidFill>
              <a:srgbClr val="13A95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8" name="Google Shape;628;h48836ed72b515341_1_127"/>
          <p:cNvCxnSpPr/>
          <p:nvPr/>
        </p:nvCxnSpPr>
        <p:spPr>
          <a:xfrm flipH="1" rot="10800000">
            <a:off x="998455" y="3678305"/>
            <a:ext cx="32400" cy="32400"/>
          </a:xfrm>
          <a:prstGeom prst="straightConnector1">
            <a:avLst/>
          </a:prstGeom>
          <a:noFill/>
          <a:ln cap="flat" cmpd="sng" w="20300">
            <a:solidFill>
              <a:srgbClr val="13A9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9" name="Google Shape;629;h48836ed72b515341_1_127"/>
          <p:cNvSpPr/>
          <p:nvPr/>
        </p:nvSpPr>
        <p:spPr>
          <a:xfrm>
            <a:off x="1225296" y="3575304"/>
            <a:ext cx="1874400" cy="347400"/>
          </a:xfrm>
          <a:prstGeom prst="roundRect">
            <a:avLst>
              <a:gd fmla="val 26316" name="adj"/>
            </a:avLst>
          </a:prstGeom>
          <a:solidFill>
            <a:srgbClr val="13A957"/>
          </a:solidFill>
          <a:ln cap="flat" cmpd="sng" w="12700">
            <a:solidFill>
              <a:srgbClr val="13A9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h48836ed72b515341_1_127"/>
          <p:cNvSpPr/>
          <p:nvPr/>
        </p:nvSpPr>
        <p:spPr>
          <a:xfrm>
            <a:off x="1335024" y="3598164"/>
            <a:ext cx="16641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Entregables cerrados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1" name="Google Shape;631;h48836ed72b515341_1_127"/>
          <p:cNvCxnSpPr/>
          <p:nvPr/>
        </p:nvCxnSpPr>
        <p:spPr>
          <a:xfrm>
            <a:off x="1234440" y="4032504"/>
            <a:ext cx="539400" cy="0"/>
          </a:xfrm>
          <a:prstGeom prst="straightConnector1">
            <a:avLst/>
          </a:prstGeom>
          <a:noFill/>
          <a:ln cap="flat" cmpd="sng" w="15225">
            <a:solidFill>
              <a:srgbClr val="CDE2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2" name="Google Shape;632;h48836ed72b515341_1_127"/>
          <p:cNvSpPr/>
          <p:nvPr/>
        </p:nvSpPr>
        <p:spPr>
          <a:xfrm>
            <a:off x="1225296" y="4133088"/>
            <a:ext cx="18561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8"/>
              </a:buClr>
              <a:buSzPts val="1240"/>
              <a:buFont typeface="Arial"/>
              <a:buNone/>
            </a:pPr>
            <a:r>
              <a:rPr b="0" i="0" lang="en-US" sz="1240" u="none" cap="none" strike="noStrike">
                <a:solidFill>
                  <a:srgbClr val="132948"/>
                </a:solidFill>
                <a:latin typeface="Arial"/>
                <a:ea typeface="Arial"/>
                <a:cs typeface="Arial"/>
                <a:sym typeface="Arial"/>
              </a:rPr>
              <a:t>Documentación Fase 2, flujo UAT, evidencias de Burndown y definición del backlog (8 SP).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h48836ed72b515341_1_127"/>
          <p:cNvSpPr/>
          <p:nvPr/>
        </p:nvSpPr>
        <p:spPr>
          <a:xfrm>
            <a:off x="3401568" y="3392424"/>
            <a:ext cx="2770500" cy="1581900"/>
          </a:xfrm>
          <a:prstGeom prst="roundRect">
            <a:avLst>
              <a:gd fmla="val 5780" name="adj"/>
            </a:avLst>
          </a:prstGeom>
          <a:solidFill>
            <a:srgbClr val="FFFFFF"/>
          </a:solidFill>
          <a:ln cap="flat" cmpd="sng" w="12700">
            <a:solidFill>
              <a:srgbClr val="CADFF5"/>
            </a:solidFill>
            <a:prstDash val="solid"/>
            <a:round/>
            <a:headEnd len="sm" w="sm" type="none"/>
            <a:tailEnd len="sm" w="sm" type="none"/>
          </a:ln>
          <a:effectLst>
            <a:outerShdw blurRad="27940" rotWithShape="0" algn="bl" dir="2700000" dist="50800">
              <a:srgbClr val="9FC4E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h48836ed72b515341_1_127"/>
          <p:cNvSpPr/>
          <p:nvPr/>
        </p:nvSpPr>
        <p:spPr>
          <a:xfrm>
            <a:off x="3547872" y="3547872"/>
            <a:ext cx="493800" cy="493800"/>
          </a:xfrm>
          <a:prstGeom prst="ellipse">
            <a:avLst/>
          </a:prstGeom>
          <a:solidFill>
            <a:srgbClr val="EAF3FF"/>
          </a:solidFill>
          <a:ln cap="flat" cmpd="sng" w="12700">
            <a:solidFill>
              <a:srgbClr val="EAF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h48836ed72b515341_1_127"/>
          <p:cNvSpPr/>
          <p:nvPr/>
        </p:nvSpPr>
        <p:spPr>
          <a:xfrm rot="2700000">
            <a:off x="3675894" y="3694229"/>
            <a:ext cx="210435" cy="201101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EAF3FF">
              <a:alpha val="0"/>
            </a:srgbClr>
          </a:solidFill>
          <a:ln cap="flat" cmpd="sng" w="22850">
            <a:solidFill>
              <a:srgbClr val="0864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36" name="Google Shape;636;h48836ed72b515341_1_127"/>
          <p:cNvCxnSpPr/>
          <p:nvPr/>
        </p:nvCxnSpPr>
        <p:spPr>
          <a:xfrm flipH="1" rot="10800000">
            <a:off x="3767328" y="3739980"/>
            <a:ext cx="109800" cy="100500"/>
          </a:xfrm>
          <a:prstGeom prst="straightConnector1">
            <a:avLst/>
          </a:prstGeom>
          <a:noFill/>
          <a:ln cap="flat" cmpd="sng" w="21575">
            <a:solidFill>
              <a:srgbClr val="0864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7" name="Google Shape;637;h48836ed72b515341_1_127"/>
          <p:cNvSpPr/>
          <p:nvPr/>
        </p:nvSpPr>
        <p:spPr>
          <a:xfrm>
            <a:off x="4105656" y="3575304"/>
            <a:ext cx="1874400" cy="347400"/>
          </a:xfrm>
          <a:prstGeom prst="roundRect">
            <a:avLst>
              <a:gd fmla="val 26316" name="adj"/>
            </a:avLst>
          </a:prstGeom>
          <a:solidFill>
            <a:srgbClr val="0864E9"/>
          </a:solidFill>
          <a:ln cap="flat" cmpd="sng" w="12700">
            <a:solidFill>
              <a:srgbClr val="0864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h48836ed72b515341_1_127"/>
          <p:cNvSpPr/>
          <p:nvPr/>
        </p:nvSpPr>
        <p:spPr>
          <a:xfrm>
            <a:off x="4215384" y="3598164"/>
            <a:ext cx="16641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HDU y pruebas QA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9" name="Google Shape;639;h48836ed72b515341_1_127"/>
          <p:cNvCxnSpPr/>
          <p:nvPr/>
        </p:nvCxnSpPr>
        <p:spPr>
          <a:xfrm>
            <a:off x="4114800" y="4032504"/>
            <a:ext cx="539400" cy="0"/>
          </a:xfrm>
          <a:prstGeom prst="straightConnector1">
            <a:avLst/>
          </a:prstGeom>
          <a:noFill/>
          <a:ln cap="flat" cmpd="sng" w="15225">
            <a:solidFill>
              <a:srgbClr val="CDE2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0" name="Google Shape;640;h48836ed72b515341_1_127"/>
          <p:cNvSpPr/>
          <p:nvPr/>
        </p:nvSpPr>
        <p:spPr>
          <a:xfrm>
            <a:off x="4105656" y="4133088"/>
            <a:ext cx="18561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8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32948"/>
                </a:solidFill>
                <a:latin typeface="Arial"/>
                <a:ea typeface="Arial"/>
                <a:cs typeface="Arial"/>
                <a:sym typeface="Arial"/>
              </a:rPr>
              <a:t>Flujo de evidencias y aprobaciones probado. Continúan la gestión de HDU y las pruebas funcionales.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h48836ed72b515341_1_127"/>
          <p:cNvSpPr/>
          <p:nvPr/>
        </p:nvSpPr>
        <p:spPr>
          <a:xfrm>
            <a:off x="6327648" y="1627632"/>
            <a:ext cx="5340000" cy="3346800"/>
          </a:xfrm>
          <a:prstGeom prst="roundRect">
            <a:avLst>
              <a:gd fmla="val 2732" name="adj"/>
            </a:avLst>
          </a:prstGeom>
          <a:solidFill>
            <a:srgbClr val="EAFBF9"/>
          </a:solidFill>
          <a:ln cap="flat" cmpd="sng" w="12700">
            <a:solidFill>
              <a:srgbClr val="75D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h48836ed72b515341_1_127"/>
          <p:cNvSpPr/>
          <p:nvPr/>
        </p:nvSpPr>
        <p:spPr>
          <a:xfrm>
            <a:off x="6510528" y="1755648"/>
            <a:ext cx="4974300" cy="466200"/>
          </a:xfrm>
          <a:prstGeom prst="roundRect">
            <a:avLst>
              <a:gd fmla="val 19608" name="adj"/>
            </a:avLst>
          </a:prstGeom>
          <a:solidFill>
            <a:srgbClr val="00B7AC"/>
          </a:solidFill>
          <a:ln cap="flat" cmpd="sng" w="12700">
            <a:solidFill>
              <a:srgbClr val="00B7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h48836ed72b515341_1_127"/>
          <p:cNvSpPr/>
          <p:nvPr/>
        </p:nvSpPr>
        <p:spPr>
          <a:xfrm>
            <a:off x="6720840" y="1842516"/>
            <a:ext cx="459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20"/>
              <a:buFont typeface="Arial"/>
              <a:buNone/>
            </a:pPr>
            <a:r>
              <a:rPr b="1" i="0" lang="en-US" sz="18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Próximos pasos</a:t>
            </a:r>
            <a:endParaRPr b="0" i="0" sz="1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h48836ed72b515341_1_127"/>
          <p:cNvSpPr/>
          <p:nvPr/>
        </p:nvSpPr>
        <p:spPr>
          <a:xfrm>
            <a:off x="6620256" y="2427732"/>
            <a:ext cx="310800" cy="310800"/>
          </a:xfrm>
          <a:prstGeom prst="ellipse">
            <a:avLst/>
          </a:prstGeom>
          <a:solidFill>
            <a:srgbClr val="D8F3F0"/>
          </a:solidFill>
          <a:ln cap="flat" cmpd="sng" w="12700">
            <a:solidFill>
              <a:srgbClr val="D8F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h48836ed72b515341_1_127"/>
          <p:cNvSpPr/>
          <p:nvPr/>
        </p:nvSpPr>
        <p:spPr>
          <a:xfrm>
            <a:off x="6620256" y="2450592"/>
            <a:ext cx="310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9A1"/>
              </a:buClr>
              <a:buSzPts val="1060"/>
              <a:buFont typeface="Arial"/>
              <a:buNone/>
            </a:pPr>
            <a:r>
              <a:rPr b="1" i="0" lang="en-US" sz="1060" u="none" cap="none" strike="noStrike">
                <a:solidFill>
                  <a:srgbClr val="00A9A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h48836ed72b515341_1_127"/>
          <p:cNvSpPr/>
          <p:nvPr/>
        </p:nvSpPr>
        <p:spPr>
          <a:xfrm>
            <a:off x="7077456" y="2446020"/>
            <a:ext cx="4325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8"/>
              </a:buClr>
              <a:buSzPts val="1230"/>
              <a:buFont typeface="Arial"/>
              <a:buNone/>
            </a:pPr>
            <a:r>
              <a:rPr b="0" i="0" lang="en-US" sz="1230" u="none" cap="none" strike="noStrike">
                <a:solidFill>
                  <a:srgbClr val="132948"/>
                </a:solidFill>
                <a:latin typeface="Arial"/>
                <a:ea typeface="Arial"/>
                <a:cs typeface="Arial"/>
                <a:sym typeface="Arial"/>
              </a:rPr>
              <a:t>Completar API REST de roles y usuarios.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7" name="Google Shape;647;h48836ed72b515341_1_127"/>
          <p:cNvCxnSpPr/>
          <p:nvPr/>
        </p:nvCxnSpPr>
        <p:spPr>
          <a:xfrm>
            <a:off x="6592824" y="2794406"/>
            <a:ext cx="4827900" cy="0"/>
          </a:xfrm>
          <a:prstGeom prst="straightConnector1">
            <a:avLst/>
          </a:prstGeom>
          <a:noFill/>
          <a:ln cap="flat" cmpd="sng" w="9525">
            <a:solidFill>
              <a:srgbClr val="B7EB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8" name="Google Shape;648;h48836ed72b515341_1_127"/>
          <p:cNvSpPr/>
          <p:nvPr/>
        </p:nvSpPr>
        <p:spPr>
          <a:xfrm>
            <a:off x="6620256" y="2845613"/>
            <a:ext cx="310800" cy="310800"/>
          </a:xfrm>
          <a:prstGeom prst="ellipse">
            <a:avLst/>
          </a:prstGeom>
          <a:solidFill>
            <a:srgbClr val="D8F3F0"/>
          </a:solidFill>
          <a:ln cap="flat" cmpd="sng" w="12700">
            <a:solidFill>
              <a:srgbClr val="D8F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h48836ed72b515341_1_127"/>
          <p:cNvSpPr/>
          <p:nvPr/>
        </p:nvSpPr>
        <p:spPr>
          <a:xfrm>
            <a:off x="6620256" y="2868473"/>
            <a:ext cx="310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9A1"/>
              </a:buClr>
              <a:buSzPts val="1060"/>
              <a:buFont typeface="Arial"/>
              <a:buNone/>
            </a:pPr>
            <a:r>
              <a:rPr b="1" i="0" lang="en-US" sz="1060" u="none" cap="none" strike="noStrike">
                <a:solidFill>
                  <a:srgbClr val="00A9A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h48836ed72b515341_1_127"/>
          <p:cNvSpPr/>
          <p:nvPr/>
        </p:nvSpPr>
        <p:spPr>
          <a:xfrm>
            <a:off x="7077456" y="2863901"/>
            <a:ext cx="4325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8"/>
              </a:buClr>
              <a:buSzPts val="1230"/>
              <a:buFont typeface="Arial"/>
              <a:buNone/>
            </a:pPr>
            <a:r>
              <a:rPr b="0" i="0" lang="en-US" sz="1230" u="none" cap="none" strike="noStrike">
                <a:solidFill>
                  <a:srgbClr val="132948"/>
                </a:solidFill>
                <a:latin typeface="Arial"/>
                <a:ea typeface="Arial"/>
                <a:cs typeface="Arial"/>
                <a:sym typeface="Arial"/>
              </a:rPr>
              <a:t>Integrar React/Vite con la API de usuarios.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1" name="Google Shape;651;h48836ed72b515341_1_127"/>
          <p:cNvCxnSpPr/>
          <p:nvPr/>
        </p:nvCxnSpPr>
        <p:spPr>
          <a:xfrm>
            <a:off x="6592824" y="3212287"/>
            <a:ext cx="4827900" cy="0"/>
          </a:xfrm>
          <a:prstGeom prst="straightConnector1">
            <a:avLst/>
          </a:prstGeom>
          <a:noFill/>
          <a:ln cap="flat" cmpd="sng" w="9525">
            <a:solidFill>
              <a:srgbClr val="B7EB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2" name="Google Shape;652;h48836ed72b515341_1_127"/>
          <p:cNvSpPr/>
          <p:nvPr/>
        </p:nvSpPr>
        <p:spPr>
          <a:xfrm>
            <a:off x="6620256" y="3263494"/>
            <a:ext cx="310800" cy="310800"/>
          </a:xfrm>
          <a:prstGeom prst="ellipse">
            <a:avLst/>
          </a:prstGeom>
          <a:solidFill>
            <a:srgbClr val="D8F3F0"/>
          </a:solidFill>
          <a:ln cap="flat" cmpd="sng" w="12700">
            <a:solidFill>
              <a:srgbClr val="D8F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h48836ed72b515341_1_127"/>
          <p:cNvSpPr/>
          <p:nvPr/>
        </p:nvSpPr>
        <p:spPr>
          <a:xfrm>
            <a:off x="6620256" y="3286354"/>
            <a:ext cx="310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9A1"/>
              </a:buClr>
              <a:buSzPts val="1060"/>
              <a:buFont typeface="Arial"/>
              <a:buNone/>
            </a:pPr>
            <a:r>
              <a:rPr b="1" i="0" lang="en-US" sz="1060" u="none" cap="none" strike="noStrike">
                <a:solidFill>
                  <a:srgbClr val="00A9A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h48836ed72b515341_1_127"/>
          <p:cNvSpPr/>
          <p:nvPr/>
        </p:nvSpPr>
        <p:spPr>
          <a:xfrm>
            <a:off x="7077456" y="3281782"/>
            <a:ext cx="4325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8"/>
              </a:buClr>
              <a:buSzPts val="1230"/>
              <a:buFont typeface="Arial"/>
              <a:buNone/>
            </a:pPr>
            <a:r>
              <a:rPr b="0" i="0" lang="en-US" sz="1230" u="none" cap="none" strike="noStrike">
                <a:solidFill>
                  <a:srgbClr val="132948"/>
                </a:solidFill>
                <a:latin typeface="Arial"/>
                <a:ea typeface="Arial"/>
                <a:cs typeface="Arial"/>
                <a:sym typeface="Arial"/>
              </a:rPr>
              <a:t>Consolidar persistencia Prisma y Supabase.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5" name="Google Shape;655;h48836ed72b515341_1_127"/>
          <p:cNvCxnSpPr/>
          <p:nvPr/>
        </p:nvCxnSpPr>
        <p:spPr>
          <a:xfrm>
            <a:off x="6592824" y="3630168"/>
            <a:ext cx="4827900" cy="0"/>
          </a:xfrm>
          <a:prstGeom prst="straightConnector1">
            <a:avLst/>
          </a:prstGeom>
          <a:noFill/>
          <a:ln cap="flat" cmpd="sng" w="9525">
            <a:solidFill>
              <a:srgbClr val="B7EB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6" name="Google Shape;656;h48836ed72b515341_1_127"/>
          <p:cNvSpPr/>
          <p:nvPr/>
        </p:nvSpPr>
        <p:spPr>
          <a:xfrm>
            <a:off x="6620256" y="3681374"/>
            <a:ext cx="310800" cy="310800"/>
          </a:xfrm>
          <a:prstGeom prst="ellipse">
            <a:avLst/>
          </a:prstGeom>
          <a:solidFill>
            <a:srgbClr val="D8F3F0"/>
          </a:solidFill>
          <a:ln cap="flat" cmpd="sng" w="12700">
            <a:solidFill>
              <a:srgbClr val="D8F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h48836ed72b515341_1_127"/>
          <p:cNvSpPr/>
          <p:nvPr/>
        </p:nvSpPr>
        <p:spPr>
          <a:xfrm>
            <a:off x="6620256" y="3704234"/>
            <a:ext cx="310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9A1"/>
              </a:buClr>
              <a:buSzPts val="1060"/>
              <a:buFont typeface="Arial"/>
              <a:buNone/>
            </a:pPr>
            <a:r>
              <a:rPr b="1" i="0" lang="en-US" sz="1060" u="none" cap="none" strike="noStrike">
                <a:solidFill>
                  <a:srgbClr val="00A9A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h48836ed72b515341_1_127"/>
          <p:cNvSpPr/>
          <p:nvPr/>
        </p:nvSpPr>
        <p:spPr>
          <a:xfrm>
            <a:off x="7077456" y="3699662"/>
            <a:ext cx="4325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8"/>
              </a:buClr>
              <a:buSzPts val="1230"/>
              <a:buFont typeface="Arial"/>
              <a:buNone/>
            </a:pPr>
            <a:r>
              <a:rPr b="0" i="0" lang="en-US" sz="1230" u="none" cap="none" strike="noStrike">
                <a:solidFill>
                  <a:srgbClr val="132948"/>
                </a:solidFill>
                <a:latin typeface="Arial"/>
                <a:ea typeface="Arial"/>
                <a:cs typeface="Arial"/>
                <a:sym typeface="Arial"/>
              </a:rPr>
              <a:t>Finalizar autenticación y autorización por roles.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9" name="Google Shape;659;h48836ed72b515341_1_127"/>
          <p:cNvCxnSpPr/>
          <p:nvPr/>
        </p:nvCxnSpPr>
        <p:spPr>
          <a:xfrm>
            <a:off x="6592824" y="4048049"/>
            <a:ext cx="4827900" cy="0"/>
          </a:xfrm>
          <a:prstGeom prst="straightConnector1">
            <a:avLst/>
          </a:prstGeom>
          <a:noFill/>
          <a:ln cap="flat" cmpd="sng" w="9525">
            <a:solidFill>
              <a:srgbClr val="B7EB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0" name="Google Shape;660;h48836ed72b515341_1_127"/>
          <p:cNvSpPr/>
          <p:nvPr/>
        </p:nvSpPr>
        <p:spPr>
          <a:xfrm>
            <a:off x="6620256" y="4099255"/>
            <a:ext cx="310800" cy="310800"/>
          </a:xfrm>
          <a:prstGeom prst="ellipse">
            <a:avLst/>
          </a:prstGeom>
          <a:solidFill>
            <a:srgbClr val="D8F3F0"/>
          </a:solidFill>
          <a:ln cap="flat" cmpd="sng" w="12700">
            <a:solidFill>
              <a:srgbClr val="D8F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h48836ed72b515341_1_127"/>
          <p:cNvSpPr/>
          <p:nvPr/>
        </p:nvSpPr>
        <p:spPr>
          <a:xfrm>
            <a:off x="6620256" y="4122115"/>
            <a:ext cx="310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9A1"/>
              </a:buClr>
              <a:buSzPts val="1060"/>
              <a:buFont typeface="Arial"/>
              <a:buNone/>
            </a:pPr>
            <a:r>
              <a:rPr b="1" i="0" lang="en-US" sz="1060" u="none" cap="none" strike="noStrike">
                <a:solidFill>
                  <a:srgbClr val="00A9A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h48836ed72b515341_1_127"/>
          <p:cNvSpPr/>
          <p:nvPr/>
        </p:nvSpPr>
        <p:spPr>
          <a:xfrm>
            <a:off x="7077456" y="4117543"/>
            <a:ext cx="4325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8"/>
              </a:buClr>
              <a:buSzPts val="1230"/>
              <a:buFont typeface="Arial"/>
              <a:buNone/>
            </a:pPr>
            <a:r>
              <a:rPr b="0" i="0" lang="en-US" sz="1230" u="none" cap="none" strike="noStrike">
                <a:solidFill>
                  <a:srgbClr val="132948"/>
                </a:solidFill>
                <a:latin typeface="Arial"/>
                <a:ea typeface="Arial"/>
                <a:cs typeface="Arial"/>
                <a:sym typeface="Arial"/>
              </a:rPr>
              <a:t>Completar gestión de HDU y perfil Administrador.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3" name="Google Shape;663;h48836ed72b515341_1_127"/>
          <p:cNvCxnSpPr/>
          <p:nvPr/>
        </p:nvCxnSpPr>
        <p:spPr>
          <a:xfrm>
            <a:off x="6592824" y="4465930"/>
            <a:ext cx="4827900" cy="0"/>
          </a:xfrm>
          <a:prstGeom prst="straightConnector1">
            <a:avLst/>
          </a:prstGeom>
          <a:noFill/>
          <a:ln cap="flat" cmpd="sng" w="9525">
            <a:solidFill>
              <a:srgbClr val="B7EB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4" name="Google Shape;664;h48836ed72b515341_1_127"/>
          <p:cNvSpPr/>
          <p:nvPr/>
        </p:nvSpPr>
        <p:spPr>
          <a:xfrm>
            <a:off x="6620256" y="4517136"/>
            <a:ext cx="310800" cy="310800"/>
          </a:xfrm>
          <a:prstGeom prst="ellipse">
            <a:avLst/>
          </a:prstGeom>
          <a:solidFill>
            <a:srgbClr val="D8F3F0"/>
          </a:solidFill>
          <a:ln cap="flat" cmpd="sng" w="12700">
            <a:solidFill>
              <a:srgbClr val="D8F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h48836ed72b515341_1_127"/>
          <p:cNvSpPr/>
          <p:nvPr/>
        </p:nvSpPr>
        <p:spPr>
          <a:xfrm>
            <a:off x="6620256" y="4539996"/>
            <a:ext cx="310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9A1"/>
              </a:buClr>
              <a:buSzPts val="1060"/>
              <a:buFont typeface="Arial"/>
              <a:buNone/>
            </a:pPr>
            <a:r>
              <a:rPr b="1" i="0" lang="en-US" sz="1060" u="none" cap="none" strike="noStrike">
                <a:solidFill>
                  <a:srgbClr val="00A9A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h48836ed72b515341_1_127"/>
          <p:cNvSpPr/>
          <p:nvPr/>
        </p:nvSpPr>
        <p:spPr>
          <a:xfrm>
            <a:off x="7077456" y="4535424"/>
            <a:ext cx="4325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8"/>
              </a:buClr>
              <a:buSzPts val="1230"/>
              <a:buFont typeface="Arial"/>
              <a:buNone/>
            </a:pPr>
            <a:r>
              <a:rPr b="0" i="0" lang="en-US" sz="1230" u="none" cap="none" strike="noStrike">
                <a:solidFill>
                  <a:srgbClr val="132948"/>
                </a:solidFill>
                <a:latin typeface="Arial"/>
                <a:ea typeface="Arial"/>
                <a:cs typeface="Arial"/>
                <a:sym typeface="Arial"/>
              </a:rPr>
              <a:t>Ejecutar pruebas de integración y registrar evidencias.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h48836ed72b515341_1_127"/>
          <p:cNvSpPr/>
          <p:nvPr/>
        </p:nvSpPr>
        <p:spPr>
          <a:xfrm>
            <a:off x="521208" y="5285232"/>
            <a:ext cx="11146500" cy="877800"/>
          </a:xfrm>
          <a:prstGeom prst="roundRect">
            <a:avLst>
              <a:gd fmla="val 10417" name="adj"/>
            </a:avLst>
          </a:prstGeom>
          <a:solidFill>
            <a:srgbClr val="EBF7FF"/>
          </a:solidFill>
          <a:ln cap="flat" cmpd="sng" w="12700">
            <a:solidFill>
              <a:srgbClr val="C6E2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h48836ed72b515341_1_127"/>
          <p:cNvSpPr/>
          <p:nvPr/>
        </p:nvSpPr>
        <p:spPr>
          <a:xfrm>
            <a:off x="813816" y="5449824"/>
            <a:ext cx="502800" cy="502800"/>
          </a:xfrm>
          <a:prstGeom prst="ellipse">
            <a:avLst/>
          </a:prstGeom>
          <a:solidFill>
            <a:srgbClr val="D8EFFF"/>
          </a:solidFill>
          <a:ln cap="flat" cmpd="sng" w="12700">
            <a:solidFill>
              <a:srgbClr val="D8E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h48836ed72b515341_1_127"/>
          <p:cNvSpPr/>
          <p:nvPr/>
        </p:nvSpPr>
        <p:spPr>
          <a:xfrm>
            <a:off x="955548" y="5586984"/>
            <a:ext cx="219600" cy="219600"/>
          </a:xfrm>
          <a:prstGeom prst="ellipse">
            <a:avLst/>
          </a:prstGeom>
          <a:solidFill>
            <a:srgbClr val="D8EFFF"/>
          </a:solidFill>
          <a:ln cap="flat" cmpd="sng" w="17775">
            <a:solidFill>
              <a:srgbClr val="0D70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h48836ed72b515341_1_127"/>
          <p:cNvSpPr/>
          <p:nvPr/>
        </p:nvSpPr>
        <p:spPr>
          <a:xfrm>
            <a:off x="1018642" y="5650992"/>
            <a:ext cx="91500" cy="91500"/>
          </a:xfrm>
          <a:prstGeom prst="ellipse">
            <a:avLst/>
          </a:prstGeom>
          <a:solidFill>
            <a:srgbClr val="0864E9"/>
          </a:solidFill>
          <a:ln cap="flat" cmpd="sng" w="12700">
            <a:solidFill>
              <a:srgbClr val="0864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1" name="Google Shape;671;h48836ed72b515341_1_127"/>
          <p:cNvCxnSpPr/>
          <p:nvPr/>
        </p:nvCxnSpPr>
        <p:spPr>
          <a:xfrm>
            <a:off x="1618488" y="5404104"/>
            <a:ext cx="0" cy="640200"/>
          </a:xfrm>
          <a:prstGeom prst="straightConnector1">
            <a:avLst/>
          </a:prstGeom>
          <a:noFill/>
          <a:ln cap="flat" cmpd="sng" w="16500">
            <a:solidFill>
              <a:srgbClr val="B9D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2" name="Google Shape;672;h48836ed72b515341_1_127"/>
          <p:cNvSpPr/>
          <p:nvPr/>
        </p:nvSpPr>
        <p:spPr>
          <a:xfrm>
            <a:off x="1865376" y="5449824"/>
            <a:ext cx="9418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B6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82B61"/>
                </a:solidFill>
                <a:latin typeface="Arial"/>
                <a:ea typeface="Arial"/>
                <a:cs typeface="Arial"/>
                <a:sym typeface="Arial"/>
              </a:rPr>
              <a:t>Sprint 4: 8 de 33 SP finalizados (24%), con 17 SP en ejecución.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h48836ed72b515341_1_127"/>
          <p:cNvSpPr/>
          <p:nvPr/>
        </p:nvSpPr>
        <p:spPr>
          <a:xfrm>
            <a:off x="1865376" y="5724144"/>
            <a:ext cx="9418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B61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82B61"/>
                </a:solidFill>
                <a:latin typeface="Arial"/>
                <a:ea typeface="Arial"/>
                <a:cs typeface="Arial"/>
                <a:sym typeface="Arial"/>
              </a:rPr>
              <a:t>Prioridad: consolidar la integración y las pruebas antes del cierre del 06/11/2026.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h48836ed72b515341_1_127"/>
          <p:cNvSpPr/>
          <p:nvPr/>
        </p:nvSpPr>
        <p:spPr>
          <a:xfrm>
            <a:off x="539496" y="6565392"/>
            <a:ext cx="47550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8AA5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6C8AA5"/>
                </a:solidFill>
                <a:latin typeface="Arial"/>
                <a:ea typeface="Arial"/>
                <a:cs typeface="Arial"/>
                <a:sym typeface="Arial"/>
              </a:rPr>
              <a:t>Quality360 · Capstone Grupo 8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h48836ed72b515341_1_127"/>
          <p:cNvSpPr/>
          <p:nvPr/>
        </p:nvSpPr>
        <p:spPr>
          <a:xfrm>
            <a:off x="8558784" y="6565392"/>
            <a:ext cx="3108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8AA5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6C8AA5"/>
                </a:solidFill>
                <a:latin typeface="Arial"/>
                <a:ea typeface="Arial"/>
                <a:cs typeface="Arial"/>
                <a:sym typeface="Arial"/>
              </a:rPr>
              <a:t>Sprint 4 en curso · Corte 30/10/2026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2026-09-24T23:02:06Z</dcterms:created>
  <dc:creator>OpenAI</dc:creator>
</cp:coreProperties>
</file>