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52" r:id="rId2"/>
  </p:sldMasterIdLst>
  <p:notesMasterIdLst>
    <p:notesMasterId r:id="rId12"/>
  </p:notesMasterIdLst>
  <p:sldIdLst>
    <p:sldId id="256" r:id="rId3"/>
    <p:sldId id="257" r:id="rId4"/>
    <p:sldId id="258" r:id="rId5"/>
    <p:sldId id="268" r:id="rId6"/>
    <p:sldId id="266" r:id="rId7"/>
    <p:sldId id="262" r:id="rId8"/>
    <p:sldId id="263" r:id="rId9"/>
    <p:sldId id="267" r:id="rId10"/>
    <p:sldId id="265" r:id="rId11"/>
  </p:sldIdLst>
  <p:sldSz cx="12192000" cy="6858000"/>
  <p:notesSz cx="6858000" cy="12192000"/>
  <p:embeddedFontLst>
    <p:embeddedFont>
      <p:font typeface="Play" panose="020B0604020202020204" charset="0"/>
      <p:regular r:id="rId13"/>
      <p:bold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8" roundtripDataSignature="AMtx7miBzX0iT82rKRclVpP+gLhsIzBId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5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font" Target="fonts/font1.fntdata"/><Relationship Id="rId18" Type="http://customschemas.google.com/relationships/presentationmetadata" Target="metadata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2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914400"/>
            <a:ext cx="4572225" cy="4572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h5adcd0903d5cb179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" name="Google Shape;16;h5adcd0903d5cb179_3_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h5adcd0903d5cb179_3_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h5adcd0903d5cb179_4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" name="Google Shape;35;h5adcd0903d5cb179_4_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h5adcd0903d5cb179_4_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h5adcd0903d5cb179_4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0" name="Google Shape;80;h5adcd0903d5cb179_4_83:notes"/>
          <p:cNvSpPr txBox="1">
            <a:spLocks noGrp="1"/>
          </p:cNvSpPr>
          <p:nvPr>
            <p:ph type="body" idx="1"/>
          </p:nvPr>
        </p:nvSpPr>
        <p:spPr>
          <a:xfrm>
            <a:off x="685800" y="4400667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1" name="Google Shape;81;h5adcd0903d5cb179_4_83:notes"/>
          <p:cNvSpPr txBox="1">
            <a:spLocks noGrp="1"/>
          </p:cNvSpPr>
          <p:nvPr>
            <p:ph type="sldNum" idx="12"/>
          </p:nvPr>
        </p:nvSpPr>
        <p:spPr>
          <a:xfrm>
            <a:off x="3884613" y="8685445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h1af1b7e802a7d6b2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4" name="Google Shape;364;h1af1b7e802a7d6b2_1_5:notes"/>
          <p:cNvSpPr txBox="1"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h20b37650884cf90a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9" name="Google Shape;369;h20b37650884cf90a_0_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70" name="Google Shape;370;h20b37650884cf90a_0_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h56ab5dad46e2c1f2_0_3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89" name="Google Shape;489;h56ab5dad46e2c1f2_0_342:notes"/>
          <p:cNvSpPr txBox="1">
            <a:spLocks noGrp="1"/>
          </p:cNvSpPr>
          <p:nvPr>
            <p:ph type="body" idx="1"/>
          </p:nvPr>
        </p:nvSpPr>
        <p:spPr>
          <a:xfrm>
            <a:off x="685800" y="4400667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h56ab5dad46e2c1f2_0_342:notes"/>
          <p:cNvSpPr txBox="1">
            <a:spLocks noGrp="1"/>
          </p:cNvSpPr>
          <p:nvPr>
            <p:ph type="sldNum" idx="12"/>
          </p:nvPr>
        </p:nvSpPr>
        <p:spPr>
          <a:xfrm>
            <a:off x="3884613" y="8685445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bg>
      <p:bgPr>
        <a:solidFill>
          <a:srgbClr val="F6FAFD"/>
        </a:solidFill>
        <a:effectLst/>
      </p:bgPr>
    </p:bg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2589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3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B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h5adcd0903d5cb179_3_0"/>
          <p:cNvSpPr/>
          <p:nvPr/>
        </p:nvSpPr>
        <p:spPr>
          <a:xfrm>
            <a:off x="0" y="0"/>
            <a:ext cx="12191700" cy="82200"/>
          </a:xfrm>
          <a:prstGeom prst="rect">
            <a:avLst/>
          </a:prstGeom>
          <a:solidFill>
            <a:srgbClr val="20B8B4"/>
          </a:solidFill>
          <a:ln w="12700" cap="flat" cmpd="sng">
            <a:solidFill>
              <a:srgbClr val="20B8B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Google Shape;20;h5adcd0903d5cb179_3_0"/>
          <p:cNvSpPr/>
          <p:nvPr/>
        </p:nvSpPr>
        <p:spPr>
          <a:xfrm>
            <a:off x="10515600" y="5577840"/>
            <a:ext cx="2286000" cy="2286000"/>
          </a:xfrm>
          <a:prstGeom prst="arc">
            <a:avLst>
              <a:gd name="adj1" fmla="val 16200000"/>
              <a:gd name="adj2" fmla="val 0"/>
            </a:avLst>
          </a:prstGeom>
          <a:solidFill>
            <a:srgbClr val="F4F8FB">
              <a:alpha val="0"/>
            </a:srgbClr>
          </a:solidFill>
          <a:ln w="25400" cap="flat" cmpd="sng">
            <a:solidFill>
              <a:srgbClr val="D6F3F1">
                <a:alpha val="8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" name="Google Shape;21;h5adcd0903d5cb179_3_0" descr="/mnt/data/logo_corporativo_quality360_en_azul_y_turquesa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64240" y="246888"/>
            <a:ext cx="566927" cy="566927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h5adcd0903d5cb179_3_0"/>
          <p:cNvSpPr/>
          <p:nvPr/>
        </p:nvSpPr>
        <p:spPr>
          <a:xfrm>
            <a:off x="0" y="0"/>
            <a:ext cx="3840600" cy="6858000"/>
          </a:xfrm>
          <a:prstGeom prst="rect">
            <a:avLst/>
          </a:prstGeom>
          <a:solidFill>
            <a:srgbClr val="0B2559"/>
          </a:solidFill>
          <a:ln w="12700" cap="flat" cmpd="sng">
            <a:solidFill>
              <a:srgbClr val="0B25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h5adcd0903d5cb179_3_0"/>
          <p:cNvSpPr/>
          <p:nvPr/>
        </p:nvSpPr>
        <p:spPr>
          <a:xfrm>
            <a:off x="457200" y="548640"/>
            <a:ext cx="3017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E7F1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BFE7F1"/>
                </a:solidFill>
                <a:latin typeface="Arial"/>
                <a:ea typeface="Arial"/>
                <a:cs typeface="Arial"/>
                <a:sym typeface="Arial"/>
              </a:rPr>
              <a:t>CAPSTONE · GRUPO 8</a:t>
            </a:r>
            <a:endParaRPr sz="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h5adcd0903d5cb179_3_0"/>
          <p:cNvSpPr/>
          <p:nvPr/>
        </p:nvSpPr>
        <p:spPr>
          <a:xfrm>
            <a:off x="457200" y="1417320"/>
            <a:ext cx="2926200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Arial"/>
              <a:buNone/>
            </a:pPr>
            <a:r>
              <a:rPr lang="en-US" sz="31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Quality360</a:t>
            </a:r>
            <a:endParaRPr sz="3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h5adcd0903d5cb179_3_0"/>
          <p:cNvSpPr/>
          <p:nvPr/>
        </p:nvSpPr>
        <p:spPr>
          <a:xfrm>
            <a:off x="457200" y="2130552"/>
            <a:ext cx="2926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Presentación de avance y seguimiento</a:t>
            </a: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h5adcd0903d5cb179_3_0"/>
          <p:cNvSpPr/>
          <p:nvPr/>
        </p:nvSpPr>
        <p:spPr>
          <a:xfrm>
            <a:off x="457200" y="2606040"/>
            <a:ext cx="2743200" cy="73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CEBFA"/>
              </a:buClr>
              <a:buSzPts val="1200"/>
              <a:buFont typeface="Arial"/>
              <a:buNone/>
            </a:pPr>
            <a:r>
              <a:rPr lang="en-US" sz="1200" dirty="0">
                <a:solidFill>
                  <a:srgbClr val="DCEBFA"/>
                </a:solidFill>
              </a:rPr>
              <a:t>Avance del Sprint 2, </a:t>
            </a:r>
            <a:r>
              <a:rPr lang="en-US" sz="1200" dirty="0" err="1">
                <a:solidFill>
                  <a:srgbClr val="DCEBFA"/>
                </a:solidFill>
              </a:rPr>
              <a:t>arquitectura</a:t>
            </a:r>
            <a:r>
              <a:rPr lang="en-US" sz="1200" dirty="0">
                <a:solidFill>
                  <a:srgbClr val="DCEBFA"/>
                </a:solidFill>
              </a:rPr>
              <a:t> 4+1, </a:t>
            </a:r>
            <a:r>
              <a:rPr lang="en-US" sz="1200" dirty="0" err="1">
                <a:solidFill>
                  <a:srgbClr val="DCEBFA"/>
                </a:solidFill>
              </a:rPr>
              <a:t>casos</a:t>
            </a:r>
            <a:r>
              <a:rPr lang="en-US" sz="1200" dirty="0">
                <a:solidFill>
                  <a:srgbClr val="DCEBFA"/>
                </a:solidFill>
              </a:rPr>
              <a:t> de </a:t>
            </a:r>
            <a:r>
              <a:rPr lang="en-US" sz="1200" dirty="0" err="1">
                <a:solidFill>
                  <a:srgbClr val="DCEBFA"/>
                </a:solidFill>
              </a:rPr>
              <a:t>uso</a:t>
            </a:r>
            <a:r>
              <a:rPr lang="en-US" sz="1200" dirty="0">
                <a:solidFill>
                  <a:srgbClr val="DCEBFA"/>
                </a:solidFill>
              </a:rPr>
              <a:t>, </a:t>
            </a:r>
            <a:r>
              <a:rPr lang="en-US" sz="1200" dirty="0" err="1">
                <a:solidFill>
                  <a:srgbClr val="DCEBFA"/>
                </a:solidFill>
              </a:rPr>
              <a:t>modelo</a:t>
            </a:r>
            <a:r>
              <a:rPr lang="en-US" sz="1200" dirty="0">
                <a:solidFill>
                  <a:srgbClr val="DCEBFA"/>
                </a:solidFill>
              </a:rPr>
              <a:t> ER  y </a:t>
            </a:r>
            <a:r>
              <a:rPr lang="en-US" sz="1200" dirty="0" err="1">
                <a:solidFill>
                  <a:srgbClr val="DCEBFA"/>
                </a:solidFill>
              </a:rPr>
              <a:t>evolución</a:t>
            </a:r>
            <a:r>
              <a:rPr lang="en-US" sz="1200" dirty="0">
                <a:solidFill>
                  <a:srgbClr val="DCEBFA"/>
                </a:solidFill>
              </a:rPr>
              <a:t> de Quality360 </a:t>
            </a:r>
            <a:endParaRPr sz="1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h5adcd0903d5cb179_3_0"/>
          <p:cNvSpPr/>
          <p:nvPr/>
        </p:nvSpPr>
        <p:spPr>
          <a:xfrm>
            <a:off x="457200" y="3703320"/>
            <a:ext cx="1554600" cy="320100"/>
          </a:xfrm>
          <a:prstGeom prst="roundRect">
            <a:avLst>
              <a:gd name="adj" fmla="val 22857"/>
            </a:avLst>
          </a:prstGeom>
          <a:solidFill>
            <a:srgbClr val="176CCB"/>
          </a:solidFill>
          <a:ln w="12700" cap="flat" cmpd="sng">
            <a:solidFill>
              <a:srgbClr val="176CC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h5adcd0903d5cb179_3_0"/>
          <p:cNvSpPr/>
          <p:nvPr/>
        </p:nvSpPr>
        <p:spPr>
          <a:xfrm>
            <a:off x="457200" y="3753612"/>
            <a:ext cx="1554600" cy="24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0"/>
              <a:buFont typeface="Arial"/>
              <a:buNone/>
            </a:pPr>
            <a:r>
              <a:rPr lang="en-US" sz="82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CORTE </a:t>
            </a:r>
            <a:r>
              <a:rPr lang="en-US" sz="820" b="1" dirty="0">
                <a:solidFill>
                  <a:srgbClr val="FFFFFF"/>
                </a:solidFill>
              </a:rPr>
              <a:t>09</a:t>
            </a:r>
            <a:r>
              <a:rPr lang="en-US" sz="82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//</a:t>
            </a:r>
            <a:r>
              <a:rPr lang="en-US" sz="820" b="1" dirty="0">
                <a:solidFill>
                  <a:srgbClr val="FFFFFF"/>
                </a:solidFill>
              </a:rPr>
              <a:t>10</a:t>
            </a:r>
            <a:r>
              <a:rPr lang="en-US" sz="82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/2026</a:t>
            </a:r>
            <a:endParaRPr sz="82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h5adcd0903d5cb179_3_0"/>
          <p:cNvSpPr/>
          <p:nvPr/>
        </p:nvSpPr>
        <p:spPr>
          <a:xfrm>
            <a:off x="457200" y="5440680"/>
            <a:ext cx="29262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B93B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rgbClr val="F6B93B"/>
                </a:solidFill>
                <a:latin typeface="Arial"/>
                <a:ea typeface="Arial"/>
                <a:cs typeface="Arial"/>
                <a:sym typeface="Arial"/>
              </a:rPr>
              <a:t>José Seguel · Jonathan Choque · Matías Araos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" name="Google Shape;30;h5adcd0903d5cb179_3_0" descr="/mnt/data/logo_corporativo_quality360_en_azul_y_turquesa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303520" y="960120"/>
            <a:ext cx="4389119" cy="4389119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h5adcd0903d5cb179_3_0"/>
          <p:cNvSpPr/>
          <p:nvPr/>
        </p:nvSpPr>
        <p:spPr>
          <a:xfrm>
            <a:off x="4800600" y="5715000"/>
            <a:ext cx="53949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CCB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176CCB"/>
                </a:solidFill>
                <a:latin typeface="Arial"/>
                <a:ea typeface="Arial"/>
                <a:cs typeface="Arial"/>
                <a:sym typeface="Arial"/>
              </a:rPr>
              <a:t>CALIDAD · VISIBILIDAD · ANÁLISIS · IMPACTO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h5adcd0903d5cb179_3_0"/>
          <p:cNvSpPr/>
          <p:nvPr/>
        </p:nvSpPr>
        <p:spPr>
          <a:xfrm>
            <a:off x="11631168" y="6473952"/>
            <a:ext cx="2286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6F8B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5D6F8B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7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B"/>
        </a:solid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h5adcd0903d5cb179_4_8"/>
          <p:cNvSpPr/>
          <p:nvPr/>
        </p:nvSpPr>
        <p:spPr>
          <a:xfrm>
            <a:off x="0" y="0"/>
            <a:ext cx="12191700" cy="82200"/>
          </a:xfrm>
          <a:prstGeom prst="rect">
            <a:avLst/>
          </a:prstGeom>
          <a:solidFill>
            <a:srgbClr val="20B8B4"/>
          </a:solidFill>
          <a:ln w="12700" cap="flat" cmpd="sng">
            <a:solidFill>
              <a:srgbClr val="20B8B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h5adcd0903d5cb179_4_8"/>
          <p:cNvSpPr/>
          <p:nvPr/>
        </p:nvSpPr>
        <p:spPr>
          <a:xfrm>
            <a:off x="502920" y="6492240"/>
            <a:ext cx="3657600" cy="1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6F8B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5D6F8B"/>
                </a:solidFill>
                <a:latin typeface="Arial"/>
                <a:ea typeface="Arial"/>
                <a:cs typeface="Arial"/>
                <a:sym typeface="Arial"/>
              </a:rPr>
              <a:t>Quality360 · Capstone Grupo 8</a:t>
            </a:r>
            <a:endParaRPr sz="7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0" name="Google Shape;40;h5adcd0903d5cb179_4_8" descr="/mnt/data/logo_corporativo_quality360_en_azul_y_turquesa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64240" y="246888"/>
            <a:ext cx="566927" cy="566927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h5adcd0903d5cb179_4_8"/>
          <p:cNvSpPr/>
          <p:nvPr/>
        </p:nvSpPr>
        <p:spPr>
          <a:xfrm>
            <a:off x="530352" y="420624"/>
            <a:ext cx="97842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2559"/>
              </a:buClr>
              <a:buSzPts val="2600"/>
              <a:buFont typeface="Play"/>
              <a:buNone/>
            </a:pPr>
            <a:r>
              <a:rPr lang="en-US" sz="2600" b="1" i="0" u="none" strike="noStrike" cap="none">
                <a:solidFill>
                  <a:srgbClr val="0B2559"/>
                </a:solidFill>
                <a:latin typeface="Play"/>
                <a:ea typeface="Play"/>
                <a:cs typeface="Play"/>
                <a:sym typeface="Play"/>
              </a:rPr>
              <a:t>Contenidos</a:t>
            </a:r>
            <a:endParaRPr sz="2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h5adcd0903d5cb179_4_8"/>
          <p:cNvSpPr/>
          <p:nvPr/>
        </p:nvSpPr>
        <p:spPr>
          <a:xfrm>
            <a:off x="11631168" y="6473952"/>
            <a:ext cx="2286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6F8B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5D6F8B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7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h5adcd0903d5cb179_4_8"/>
          <p:cNvSpPr/>
          <p:nvPr/>
        </p:nvSpPr>
        <p:spPr>
          <a:xfrm>
            <a:off x="5943538" y="1210508"/>
            <a:ext cx="5120700" cy="96000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 cap="flat" cmpd="sng">
            <a:solidFill>
              <a:srgbClr val="D6E3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h5adcd0903d5cb179_4_8"/>
          <p:cNvSpPr/>
          <p:nvPr/>
        </p:nvSpPr>
        <p:spPr>
          <a:xfrm>
            <a:off x="6172138" y="1439108"/>
            <a:ext cx="384000" cy="384000"/>
          </a:xfrm>
          <a:prstGeom prst="ellipse">
            <a:avLst/>
          </a:prstGeom>
          <a:solidFill>
            <a:srgbClr val="88C846"/>
          </a:solidFill>
          <a:ln w="12700" cap="flat" cmpd="sng">
            <a:solidFill>
              <a:srgbClr val="88C8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h5adcd0903d5cb179_4_8"/>
          <p:cNvSpPr/>
          <p:nvPr/>
        </p:nvSpPr>
        <p:spPr>
          <a:xfrm>
            <a:off x="6172138" y="1457395"/>
            <a:ext cx="3840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h5adcd0903d5cb179_4_8"/>
          <p:cNvSpPr/>
          <p:nvPr/>
        </p:nvSpPr>
        <p:spPr>
          <a:xfrm>
            <a:off x="6720777" y="1375100"/>
            <a:ext cx="40233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2559"/>
              </a:buClr>
              <a:buSzPts val="1250"/>
              <a:buFont typeface="Arial"/>
              <a:buNone/>
            </a:pPr>
            <a:r>
              <a:rPr lang="en-US" sz="1250" b="1" dirty="0">
                <a:solidFill>
                  <a:srgbClr val="0B2559"/>
                </a:solidFill>
              </a:rPr>
              <a:t>Modelo ER</a:t>
            </a:r>
            <a:endParaRPr sz="125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h5adcd0903d5cb179_4_8"/>
          <p:cNvSpPr/>
          <p:nvPr/>
        </p:nvSpPr>
        <p:spPr>
          <a:xfrm>
            <a:off x="6720777" y="1649420"/>
            <a:ext cx="3977700" cy="3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6F8B"/>
              </a:buClr>
              <a:buSzPts val="960"/>
              <a:buFont typeface="Arial"/>
              <a:buNone/>
            </a:pPr>
            <a:r>
              <a:rPr lang="en-US" sz="960">
                <a:solidFill>
                  <a:srgbClr val="5D6F8B"/>
                </a:solidFill>
              </a:rPr>
              <a:t>Organización y trazabilidad del proceso QA</a:t>
            </a:r>
            <a:endParaRPr sz="96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h5adcd0903d5cb179_4_8"/>
          <p:cNvSpPr/>
          <p:nvPr/>
        </p:nvSpPr>
        <p:spPr>
          <a:xfrm>
            <a:off x="530358" y="2460295"/>
            <a:ext cx="5120700" cy="96000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 cap="flat" cmpd="sng">
            <a:solidFill>
              <a:srgbClr val="D6E3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h5adcd0903d5cb179_4_8"/>
          <p:cNvSpPr/>
          <p:nvPr/>
        </p:nvSpPr>
        <p:spPr>
          <a:xfrm>
            <a:off x="758958" y="2688895"/>
            <a:ext cx="384000" cy="384000"/>
          </a:xfrm>
          <a:prstGeom prst="ellipse">
            <a:avLst/>
          </a:prstGeom>
          <a:solidFill>
            <a:srgbClr val="88C846"/>
          </a:solidFill>
          <a:ln w="12700" cap="flat" cmpd="sng">
            <a:solidFill>
              <a:srgbClr val="88C8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h5adcd0903d5cb179_4_8"/>
          <p:cNvSpPr/>
          <p:nvPr/>
        </p:nvSpPr>
        <p:spPr>
          <a:xfrm>
            <a:off x="758958" y="2707183"/>
            <a:ext cx="3840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h5adcd0903d5cb179_4_8"/>
          <p:cNvSpPr/>
          <p:nvPr/>
        </p:nvSpPr>
        <p:spPr>
          <a:xfrm>
            <a:off x="1307597" y="2624887"/>
            <a:ext cx="40233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2559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0B2559"/>
                </a:solidFill>
                <a:latin typeface="Arial"/>
                <a:ea typeface="Arial"/>
                <a:cs typeface="Arial"/>
                <a:sym typeface="Arial"/>
              </a:rPr>
              <a:t>Roadmap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h5adcd0903d5cb179_4_8"/>
          <p:cNvSpPr/>
          <p:nvPr/>
        </p:nvSpPr>
        <p:spPr>
          <a:xfrm>
            <a:off x="1307597" y="2899207"/>
            <a:ext cx="3977700" cy="3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6F8B"/>
              </a:buClr>
              <a:buSzPts val="960"/>
              <a:buFont typeface="Arial"/>
              <a:buNone/>
            </a:pPr>
            <a:r>
              <a:rPr lang="en-US" sz="960" b="0" i="0" u="none" strike="noStrike" cap="none">
                <a:solidFill>
                  <a:srgbClr val="5D6F8B"/>
                </a:solidFill>
                <a:latin typeface="Arial"/>
                <a:ea typeface="Arial"/>
                <a:cs typeface="Arial"/>
                <a:sym typeface="Arial"/>
              </a:rPr>
              <a:t>Seguimiento semanal y dettale de cada Sprint </a:t>
            </a:r>
            <a:endParaRPr sz="96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h5adcd0903d5cb179_4_8"/>
          <p:cNvSpPr/>
          <p:nvPr/>
        </p:nvSpPr>
        <p:spPr>
          <a:xfrm>
            <a:off x="5943538" y="2486700"/>
            <a:ext cx="5120700" cy="96000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 cap="flat" cmpd="sng">
            <a:solidFill>
              <a:srgbClr val="D6E3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h5adcd0903d5cb179_4_8"/>
          <p:cNvSpPr/>
          <p:nvPr/>
        </p:nvSpPr>
        <p:spPr>
          <a:xfrm>
            <a:off x="6172138" y="2715300"/>
            <a:ext cx="384000" cy="384000"/>
          </a:xfrm>
          <a:prstGeom prst="ellipse">
            <a:avLst/>
          </a:prstGeom>
          <a:solidFill>
            <a:srgbClr val="88C846"/>
          </a:solidFill>
          <a:ln w="12700" cap="flat" cmpd="sng">
            <a:solidFill>
              <a:srgbClr val="88C8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h5adcd0903d5cb179_4_8"/>
          <p:cNvSpPr/>
          <p:nvPr/>
        </p:nvSpPr>
        <p:spPr>
          <a:xfrm>
            <a:off x="6172138" y="2733588"/>
            <a:ext cx="3840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h5adcd0903d5cb179_4_8"/>
          <p:cNvSpPr/>
          <p:nvPr/>
        </p:nvSpPr>
        <p:spPr>
          <a:xfrm>
            <a:off x="6720777" y="2651292"/>
            <a:ext cx="40233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2559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0B2559"/>
                </a:solidFill>
                <a:latin typeface="Arial"/>
                <a:ea typeface="Arial"/>
                <a:cs typeface="Arial"/>
                <a:sym typeface="Arial"/>
              </a:rPr>
              <a:t>Roadmap agil por Sprint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h5adcd0903d5cb179_4_8"/>
          <p:cNvSpPr/>
          <p:nvPr/>
        </p:nvSpPr>
        <p:spPr>
          <a:xfrm>
            <a:off x="6720777" y="2925612"/>
            <a:ext cx="3977700" cy="3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6F8B"/>
              </a:buClr>
              <a:buSzPts val="960"/>
              <a:buFont typeface="Arial"/>
              <a:buNone/>
            </a:pPr>
            <a:r>
              <a:rPr lang="en-US" sz="960" b="0" i="0" u="none" strike="noStrike" cap="none">
                <a:solidFill>
                  <a:srgbClr val="5D6F8B"/>
                </a:solidFill>
                <a:latin typeface="Arial"/>
                <a:ea typeface="Arial"/>
                <a:cs typeface="Arial"/>
                <a:sym typeface="Arial"/>
              </a:rPr>
              <a:t>Actividades y entregables por Sprint </a:t>
            </a:r>
            <a:endParaRPr sz="96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h5adcd0903d5cb179_4_8"/>
          <p:cNvSpPr/>
          <p:nvPr/>
        </p:nvSpPr>
        <p:spPr>
          <a:xfrm>
            <a:off x="6059008" y="3537200"/>
            <a:ext cx="5120700" cy="96000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 cap="flat" cmpd="sng">
            <a:solidFill>
              <a:srgbClr val="D6E3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h5adcd0903d5cb179_4_8"/>
          <p:cNvSpPr/>
          <p:nvPr/>
        </p:nvSpPr>
        <p:spPr>
          <a:xfrm>
            <a:off x="6287608" y="3765800"/>
            <a:ext cx="384000" cy="384000"/>
          </a:xfrm>
          <a:prstGeom prst="ellipse">
            <a:avLst/>
          </a:prstGeom>
          <a:solidFill>
            <a:srgbClr val="88C846"/>
          </a:solidFill>
          <a:ln w="12700" cap="flat" cmpd="sng">
            <a:solidFill>
              <a:srgbClr val="88C8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h5adcd0903d5cb179_4_8"/>
          <p:cNvSpPr/>
          <p:nvPr/>
        </p:nvSpPr>
        <p:spPr>
          <a:xfrm>
            <a:off x="6287608" y="3784088"/>
            <a:ext cx="3840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h5adcd0903d5cb179_4_8"/>
          <p:cNvSpPr/>
          <p:nvPr/>
        </p:nvSpPr>
        <p:spPr>
          <a:xfrm>
            <a:off x="6836248" y="3701792"/>
            <a:ext cx="40233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2559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0B2559"/>
                </a:solidFill>
                <a:latin typeface="Arial"/>
                <a:ea typeface="Arial"/>
                <a:cs typeface="Arial"/>
                <a:sym typeface="Arial"/>
              </a:rPr>
              <a:t>Burndown y estado actual del proyecto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h5adcd0903d5cb179_4_8"/>
          <p:cNvSpPr/>
          <p:nvPr/>
        </p:nvSpPr>
        <p:spPr>
          <a:xfrm>
            <a:off x="6836248" y="3976112"/>
            <a:ext cx="3977700" cy="3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6F8B"/>
              </a:buClr>
              <a:buSzPts val="960"/>
              <a:buFont typeface="Arial"/>
              <a:buNone/>
            </a:pPr>
            <a:r>
              <a:rPr lang="en-US" sz="960" b="0" i="0" u="none" strike="noStrike" cap="none">
                <a:solidFill>
                  <a:srgbClr val="5D6F8B"/>
                </a:solidFill>
                <a:latin typeface="Arial"/>
                <a:ea typeface="Arial"/>
                <a:cs typeface="Arial"/>
                <a:sym typeface="Arial"/>
              </a:rPr>
              <a:t>Seguimiento del sprint </a:t>
            </a:r>
            <a:r>
              <a:rPr lang="en-US" sz="960">
                <a:solidFill>
                  <a:srgbClr val="5D6F8B"/>
                </a:solidFill>
              </a:rPr>
              <a:t>2</a:t>
            </a:r>
            <a:endParaRPr sz="96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h5adcd0903d5cb179_4_8"/>
          <p:cNvSpPr/>
          <p:nvPr/>
        </p:nvSpPr>
        <p:spPr>
          <a:xfrm>
            <a:off x="530338" y="1210508"/>
            <a:ext cx="5120700" cy="96000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 cap="flat" cmpd="sng">
            <a:solidFill>
              <a:srgbClr val="D6E3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h5adcd0903d5cb179_4_8"/>
          <p:cNvSpPr/>
          <p:nvPr/>
        </p:nvSpPr>
        <p:spPr>
          <a:xfrm>
            <a:off x="758938" y="1439108"/>
            <a:ext cx="384000" cy="384000"/>
          </a:xfrm>
          <a:prstGeom prst="ellipse">
            <a:avLst/>
          </a:prstGeom>
          <a:solidFill>
            <a:srgbClr val="88C846"/>
          </a:solidFill>
          <a:ln w="12700" cap="flat" cmpd="sng">
            <a:solidFill>
              <a:srgbClr val="88C8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h5adcd0903d5cb179_4_8"/>
          <p:cNvSpPr/>
          <p:nvPr/>
        </p:nvSpPr>
        <p:spPr>
          <a:xfrm>
            <a:off x="758938" y="1457395"/>
            <a:ext cx="3840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h5adcd0903d5cb179_4_8"/>
          <p:cNvSpPr/>
          <p:nvPr/>
        </p:nvSpPr>
        <p:spPr>
          <a:xfrm>
            <a:off x="1307578" y="1375100"/>
            <a:ext cx="40233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2559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0B2559"/>
                </a:solidFill>
                <a:latin typeface="Arial"/>
                <a:ea typeface="Arial"/>
                <a:cs typeface="Arial"/>
                <a:sym typeface="Arial"/>
              </a:rPr>
              <a:t>Cliente Objetivo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h5adcd0903d5cb179_4_8"/>
          <p:cNvSpPr/>
          <p:nvPr/>
        </p:nvSpPr>
        <p:spPr>
          <a:xfrm>
            <a:off x="1307578" y="1649420"/>
            <a:ext cx="3977700" cy="3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6F8B"/>
              </a:buClr>
              <a:buSzPts val="960"/>
              <a:buFont typeface="Arial"/>
              <a:buNone/>
            </a:pPr>
            <a:r>
              <a:rPr lang="en-US" sz="960" b="0" i="0" u="none" strike="noStrike" cap="none">
                <a:solidFill>
                  <a:srgbClr val="5D6F8B"/>
                </a:solidFill>
                <a:latin typeface="Arial"/>
                <a:ea typeface="Arial"/>
                <a:cs typeface="Arial"/>
                <a:sym typeface="Arial"/>
              </a:rPr>
              <a:t>Identificación del cliente,usuarios clave y necesidades.</a:t>
            </a:r>
            <a:endParaRPr sz="96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h5adcd0903d5cb179_4_8"/>
          <p:cNvSpPr/>
          <p:nvPr/>
        </p:nvSpPr>
        <p:spPr>
          <a:xfrm>
            <a:off x="3403538" y="4841025"/>
            <a:ext cx="5120700" cy="96000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 cap="flat" cmpd="sng">
            <a:solidFill>
              <a:srgbClr val="D6E3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h5adcd0903d5cb179_4_8"/>
          <p:cNvSpPr/>
          <p:nvPr/>
        </p:nvSpPr>
        <p:spPr>
          <a:xfrm>
            <a:off x="3632138" y="5069625"/>
            <a:ext cx="384000" cy="384000"/>
          </a:xfrm>
          <a:prstGeom prst="ellipse">
            <a:avLst/>
          </a:prstGeom>
          <a:solidFill>
            <a:srgbClr val="88C846"/>
          </a:solidFill>
          <a:ln w="12700" cap="flat" cmpd="sng">
            <a:solidFill>
              <a:srgbClr val="88C8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h5adcd0903d5cb179_4_8"/>
          <p:cNvSpPr/>
          <p:nvPr/>
        </p:nvSpPr>
        <p:spPr>
          <a:xfrm>
            <a:off x="3632138" y="5087913"/>
            <a:ext cx="3840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h5adcd0903d5cb179_4_8"/>
          <p:cNvSpPr/>
          <p:nvPr/>
        </p:nvSpPr>
        <p:spPr>
          <a:xfrm>
            <a:off x="4180778" y="5005617"/>
            <a:ext cx="40233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2559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0B2559"/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h5adcd0903d5cb179_4_8"/>
          <p:cNvSpPr/>
          <p:nvPr/>
        </p:nvSpPr>
        <p:spPr>
          <a:xfrm>
            <a:off x="4180778" y="5279937"/>
            <a:ext cx="3977700" cy="3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6F8B"/>
              </a:buClr>
              <a:buSzPts val="960"/>
              <a:buFont typeface="Arial"/>
              <a:buNone/>
            </a:pPr>
            <a:r>
              <a:rPr lang="en-US" sz="960" b="0" i="0" u="none" strike="noStrike" cap="none">
                <a:solidFill>
                  <a:srgbClr val="5D6F8B"/>
                </a:solidFill>
                <a:latin typeface="Arial"/>
                <a:ea typeface="Arial"/>
                <a:cs typeface="Arial"/>
                <a:sym typeface="Arial"/>
              </a:rPr>
              <a:t>Valor del proyecto,avances</a:t>
            </a:r>
            <a:endParaRPr sz="96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h5adcd0903d5cb179_4_8"/>
          <p:cNvSpPr/>
          <p:nvPr/>
        </p:nvSpPr>
        <p:spPr>
          <a:xfrm>
            <a:off x="530358" y="3540788"/>
            <a:ext cx="5120700" cy="96000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 cap="flat" cmpd="sng">
            <a:solidFill>
              <a:srgbClr val="D6E3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h5adcd0903d5cb179_4_8"/>
          <p:cNvSpPr/>
          <p:nvPr/>
        </p:nvSpPr>
        <p:spPr>
          <a:xfrm>
            <a:off x="758958" y="3769388"/>
            <a:ext cx="384000" cy="384000"/>
          </a:xfrm>
          <a:prstGeom prst="ellipse">
            <a:avLst/>
          </a:prstGeom>
          <a:solidFill>
            <a:srgbClr val="88C846"/>
          </a:solidFill>
          <a:ln w="12700" cap="flat" cmpd="sng">
            <a:solidFill>
              <a:srgbClr val="88C8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h5adcd0903d5cb179_4_8"/>
          <p:cNvSpPr/>
          <p:nvPr/>
        </p:nvSpPr>
        <p:spPr>
          <a:xfrm>
            <a:off x="758958" y="3787676"/>
            <a:ext cx="3840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h5adcd0903d5cb179_4_8"/>
          <p:cNvSpPr/>
          <p:nvPr/>
        </p:nvSpPr>
        <p:spPr>
          <a:xfrm>
            <a:off x="1307597" y="3705380"/>
            <a:ext cx="40233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2559"/>
              </a:buClr>
              <a:buSzPts val="1250"/>
              <a:buFont typeface="Arial"/>
              <a:buNone/>
            </a:pPr>
            <a:r>
              <a:rPr lang="en-US" sz="1250" b="1">
                <a:solidFill>
                  <a:srgbClr val="0B2559"/>
                </a:solidFill>
              </a:rPr>
              <a:t>Modelo 4+1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h5adcd0903d5cb179_4_8"/>
          <p:cNvSpPr/>
          <p:nvPr/>
        </p:nvSpPr>
        <p:spPr>
          <a:xfrm>
            <a:off x="1307597" y="3979700"/>
            <a:ext cx="3977700" cy="3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6F8B"/>
              </a:buClr>
              <a:buSzPts val="960"/>
              <a:buFont typeface="Arial"/>
              <a:buNone/>
            </a:pPr>
            <a:r>
              <a:rPr lang="en-US" sz="960" dirty="0">
                <a:solidFill>
                  <a:schemeClr val="dk1"/>
                </a:solidFill>
              </a:rPr>
              <a:t>Vista general de la </a:t>
            </a:r>
            <a:r>
              <a:rPr lang="en-US" sz="960" dirty="0" err="1">
                <a:solidFill>
                  <a:schemeClr val="dk1"/>
                </a:solidFill>
              </a:rPr>
              <a:t>arquitectura</a:t>
            </a:r>
            <a:r>
              <a:rPr lang="en-US" sz="960" dirty="0">
                <a:solidFill>
                  <a:schemeClr val="dk1"/>
                </a:solidFill>
              </a:rPr>
              <a:t> de la </a:t>
            </a:r>
            <a:r>
              <a:rPr lang="en-US" sz="960" dirty="0" err="1">
                <a:solidFill>
                  <a:schemeClr val="dk1"/>
                </a:solidFill>
              </a:rPr>
              <a:t>solución</a:t>
            </a:r>
            <a:endParaRPr sz="96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h5adcd0903d5cb179_4_83"/>
          <p:cNvSpPr/>
          <p:nvPr/>
        </p:nvSpPr>
        <p:spPr>
          <a:xfrm>
            <a:off x="0" y="0"/>
            <a:ext cx="12192000" cy="73200"/>
          </a:xfrm>
          <a:prstGeom prst="rect">
            <a:avLst/>
          </a:prstGeom>
          <a:solidFill>
            <a:srgbClr val="18BDB7"/>
          </a:solidFill>
          <a:ln w="12700" cap="flat" cmpd="sng">
            <a:solidFill>
              <a:srgbClr val="333333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h5adcd0903d5cb179_4_83" descr="/mnt/data/logo_corporativo_quality360_en_azul_y_turquesa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34755" y="164592"/>
            <a:ext cx="1142999" cy="1142999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h5adcd0903d5cb179_4_83"/>
          <p:cNvSpPr/>
          <p:nvPr/>
        </p:nvSpPr>
        <p:spPr>
          <a:xfrm>
            <a:off x="502933" y="438912"/>
            <a:ext cx="7041300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1B49"/>
              </a:buClr>
              <a:buSzPts val="3200"/>
              <a:buFont typeface="Play"/>
              <a:buNone/>
            </a:pPr>
            <a:r>
              <a:rPr lang="en-US" sz="3200" b="1" i="0" u="none" strike="noStrike" cap="none">
                <a:solidFill>
                  <a:srgbClr val="061B49"/>
                </a:solidFill>
                <a:latin typeface="Play"/>
                <a:ea typeface="Play"/>
                <a:cs typeface="Play"/>
                <a:sym typeface="Play"/>
              </a:rPr>
              <a:t>Cliente objetivo de Quality360</a:t>
            </a:r>
            <a:endParaRPr sz="3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h5adcd0903d5cb179_4_83"/>
          <p:cNvSpPr/>
          <p:nvPr/>
        </p:nvSpPr>
        <p:spPr>
          <a:xfrm>
            <a:off x="530366" y="941832"/>
            <a:ext cx="81384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0627A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50627A"/>
                </a:solidFill>
                <a:latin typeface="Arial"/>
                <a:ea typeface="Arial"/>
                <a:cs typeface="Arial"/>
                <a:sym typeface="Arial"/>
              </a:rPr>
              <a:t>Identificación del cliente, usuarios clave y necesidad que resuelve la plataforma.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" name="Google Shape;87;h5adcd0903d5cb179_4_83"/>
          <p:cNvCxnSpPr/>
          <p:nvPr/>
        </p:nvCxnSpPr>
        <p:spPr>
          <a:xfrm>
            <a:off x="530366" y="1325880"/>
            <a:ext cx="1005900" cy="0"/>
          </a:xfrm>
          <a:prstGeom prst="straightConnector1">
            <a:avLst/>
          </a:prstGeom>
          <a:noFill/>
          <a:ln w="38100" cap="flat" cmpd="sng">
            <a:solidFill>
              <a:srgbClr val="18BDB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8" name="Google Shape;88;h5adcd0903d5cb179_4_83"/>
          <p:cNvSpPr/>
          <p:nvPr/>
        </p:nvSpPr>
        <p:spPr>
          <a:xfrm>
            <a:off x="502933" y="1600200"/>
            <a:ext cx="3703200" cy="35205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 cap="flat" cmpd="sng">
            <a:solidFill>
              <a:srgbClr val="CFE1F2"/>
            </a:solidFill>
            <a:prstDash val="solid"/>
            <a:round/>
            <a:headEnd type="none" w="sm" len="sm"/>
            <a:tailEnd type="none" w="sm" len="sm"/>
          </a:ln>
          <a:effectLst>
            <a:outerShdw blurRad="19050" dist="50800" dir="2700000" algn="bl" rotWithShape="0">
              <a:srgbClr val="D8E6F3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h5adcd0903d5cb179_4_83"/>
          <p:cNvSpPr/>
          <p:nvPr/>
        </p:nvSpPr>
        <p:spPr>
          <a:xfrm>
            <a:off x="777261" y="1874520"/>
            <a:ext cx="1691700" cy="320100"/>
          </a:xfrm>
          <a:prstGeom prst="roundRect">
            <a:avLst>
              <a:gd name="adj" fmla="val 22857"/>
            </a:avLst>
          </a:prstGeom>
          <a:solidFill>
            <a:srgbClr val="1266D6"/>
          </a:solidFill>
          <a:ln w="12700" cap="flat" cmpd="sng">
            <a:solidFill>
              <a:srgbClr val="1266D6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h5adcd0903d5cb179_4_83"/>
          <p:cNvSpPr/>
          <p:nvPr/>
        </p:nvSpPr>
        <p:spPr>
          <a:xfrm>
            <a:off x="777261" y="1883664"/>
            <a:ext cx="1691700" cy="3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CLIENTE OBJETIVO</a:t>
            </a:r>
            <a:endParaRPr sz="10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h5adcd0903d5cb179_4_83"/>
          <p:cNvSpPr/>
          <p:nvPr/>
        </p:nvSpPr>
        <p:spPr>
          <a:xfrm>
            <a:off x="777261" y="2359152"/>
            <a:ext cx="567000" cy="567000"/>
          </a:xfrm>
          <a:prstGeom prst="ellipse">
            <a:avLst/>
          </a:prstGeom>
          <a:solidFill>
            <a:srgbClr val="EEF6FF"/>
          </a:solidFill>
          <a:ln w="12700" cap="flat" cmpd="sng">
            <a:solidFill>
              <a:srgbClr val="EEF6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h5adcd0903d5cb179_4_83"/>
          <p:cNvSpPr/>
          <p:nvPr/>
        </p:nvSpPr>
        <p:spPr>
          <a:xfrm>
            <a:off x="777261" y="2368296"/>
            <a:ext cx="5670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266D6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1266D6"/>
                </a:solidFill>
                <a:latin typeface="Arial"/>
                <a:ea typeface="Arial"/>
                <a:cs typeface="Arial"/>
                <a:sym typeface="Arial"/>
              </a:rPr>
              <a:t>🏢</a:t>
            </a: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h5adcd0903d5cb179_4_83"/>
          <p:cNvSpPr/>
          <p:nvPr/>
        </p:nvSpPr>
        <p:spPr>
          <a:xfrm>
            <a:off x="1444791" y="2331720"/>
            <a:ext cx="2395800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1B49"/>
              </a:buClr>
              <a:buSzPts val="1800"/>
              <a:buFont typeface="Arial"/>
              <a:buNone/>
            </a:pPr>
            <a:r>
              <a:rPr lang="en-US" sz="1500" b="1" i="0" u="none" strike="noStrike" cap="none">
                <a:solidFill>
                  <a:srgbClr val="061B49"/>
                </a:solidFill>
                <a:latin typeface="Arial"/>
                <a:ea typeface="Arial"/>
                <a:cs typeface="Arial"/>
                <a:sym typeface="Arial"/>
              </a:rPr>
              <a:t>Área de Aseguramiento de Calidad (QA)</a:t>
            </a:r>
            <a:endParaRPr sz="15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h5adcd0903d5cb179_4_83"/>
          <p:cNvSpPr/>
          <p:nvPr/>
        </p:nvSpPr>
        <p:spPr>
          <a:xfrm>
            <a:off x="777261" y="2971800"/>
            <a:ext cx="2926200" cy="4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0627A"/>
              </a:buClr>
              <a:buSzPts val="1250"/>
              <a:buFont typeface="Arial"/>
              <a:buNone/>
            </a:pPr>
            <a:r>
              <a:rPr lang="en-US" sz="1250" b="0" i="0" u="none" strike="noStrike" cap="none">
                <a:solidFill>
                  <a:srgbClr val="50627A"/>
                </a:solidFill>
                <a:latin typeface="Arial"/>
                <a:ea typeface="Arial"/>
                <a:cs typeface="Arial"/>
                <a:sym typeface="Arial"/>
              </a:rPr>
              <a:t>Organización del sector financiero con equipos ágiles de certificación de software.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5" name="Google Shape;95;h5adcd0903d5cb179_4_83"/>
          <p:cNvCxnSpPr/>
          <p:nvPr/>
        </p:nvCxnSpPr>
        <p:spPr>
          <a:xfrm>
            <a:off x="777261" y="3593592"/>
            <a:ext cx="2971800" cy="0"/>
          </a:xfrm>
          <a:prstGeom prst="straightConnector1">
            <a:avLst/>
          </a:prstGeom>
          <a:noFill/>
          <a:ln w="12700" cap="flat" cmpd="sng">
            <a:solidFill>
              <a:srgbClr val="DDEAF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6" name="Google Shape;96;h5adcd0903d5cb179_4_83"/>
          <p:cNvSpPr/>
          <p:nvPr/>
        </p:nvSpPr>
        <p:spPr>
          <a:xfrm>
            <a:off x="777261" y="3767328"/>
            <a:ext cx="2926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0627A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50627A"/>
                </a:solidFill>
                <a:latin typeface="Arial"/>
                <a:ea typeface="Arial"/>
                <a:cs typeface="Arial"/>
                <a:sym typeface="Arial"/>
              </a:rPr>
              <a:t>Dueño de la necesidad</a:t>
            </a:r>
            <a:endParaRPr sz="10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h5adcd0903d5cb179_4_83"/>
          <p:cNvSpPr/>
          <p:nvPr/>
        </p:nvSpPr>
        <p:spPr>
          <a:xfrm>
            <a:off x="777261" y="4005072"/>
            <a:ext cx="29262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1B49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061B49"/>
                </a:solidFill>
                <a:latin typeface="Arial"/>
                <a:ea typeface="Arial"/>
                <a:cs typeface="Arial"/>
                <a:sym typeface="Arial"/>
              </a:rPr>
              <a:t>Líder QA / Quality Engineer</a:t>
            </a: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h5adcd0903d5cb179_4_83"/>
          <p:cNvSpPr/>
          <p:nvPr/>
        </p:nvSpPr>
        <p:spPr>
          <a:xfrm>
            <a:off x="4480679" y="1600200"/>
            <a:ext cx="3383400" cy="3520500"/>
          </a:xfrm>
          <a:prstGeom prst="roundRect">
            <a:avLst>
              <a:gd name="adj" fmla="val 3243"/>
            </a:avLst>
          </a:prstGeom>
          <a:solidFill>
            <a:srgbClr val="E9FBF9"/>
          </a:solidFill>
          <a:ln w="12700" cap="flat" cmpd="sng">
            <a:solidFill>
              <a:srgbClr val="A7E7E2"/>
            </a:solidFill>
            <a:prstDash val="solid"/>
            <a:round/>
            <a:headEnd type="none" w="sm" len="sm"/>
            <a:tailEnd type="none" w="sm" len="sm"/>
          </a:ln>
          <a:effectLst>
            <a:outerShdw blurRad="19050" dist="50800" dir="2700000" algn="bl" rotWithShape="0">
              <a:srgbClr val="D8E6F3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h5adcd0903d5cb179_4_83"/>
          <p:cNvSpPr/>
          <p:nvPr/>
        </p:nvSpPr>
        <p:spPr>
          <a:xfrm>
            <a:off x="4755007" y="1874520"/>
            <a:ext cx="1508700" cy="320100"/>
          </a:xfrm>
          <a:prstGeom prst="roundRect">
            <a:avLst>
              <a:gd name="adj" fmla="val 22857"/>
            </a:avLst>
          </a:prstGeom>
          <a:solidFill>
            <a:srgbClr val="18BDB7"/>
          </a:solidFill>
          <a:ln w="12700" cap="flat" cmpd="sng">
            <a:solidFill>
              <a:srgbClr val="18BDB7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h5adcd0903d5cb179_4_83"/>
          <p:cNvSpPr/>
          <p:nvPr/>
        </p:nvSpPr>
        <p:spPr>
          <a:xfrm>
            <a:off x="4755007" y="1883664"/>
            <a:ext cx="1508700" cy="3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USUARIOS CLAVE</a:t>
            </a:r>
            <a:endParaRPr sz="10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h5adcd0903d5cb179_4_83"/>
          <p:cNvSpPr/>
          <p:nvPr/>
        </p:nvSpPr>
        <p:spPr>
          <a:xfrm>
            <a:off x="4782439" y="2395728"/>
            <a:ext cx="658500" cy="658500"/>
          </a:xfrm>
          <a:prstGeom prst="ellipse">
            <a:avLst/>
          </a:prstGeom>
          <a:solidFill>
            <a:srgbClr val="061B49"/>
          </a:solidFill>
          <a:ln w="12700" cap="flat" cmpd="sng">
            <a:solidFill>
              <a:srgbClr val="061B49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h5adcd0903d5cb179_4_83"/>
          <p:cNvSpPr/>
          <p:nvPr/>
        </p:nvSpPr>
        <p:spPr>
          <a:xfrm>
            <a:off x="4782439" y="2404872"/>
            <a:ext cx="6585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QE</a:t>
            </a: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h5adcd0903d5cb179_4_83"/>
          <p:cNvSpPr/>
          <p:nvPr/>
        </p:nvSpPr>
        <p:spPr>
          <a:xfrm>
            <a:off x="5559700" y="2386584"/>
            <a:ext cx="1664100" cy="3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1B49"/>
              </a:buClr>
              <a:buSzPts val="1550"/>
              <a:buFont typeface="Arial"/>
              <a:buNone/>
            </a:pPr>
            <a:r>
              <a:rPr lang="en-US" sz="1550" b="1" i="0" u="none" strike="noStrike" cap="none">
                <a:solidFill>
                  <a:srgbClr val="061B49"/>
                </a:solidFill>
                <a:latin typeface="Arial"/>
                <a:ea typeface="Arial"/>
                <a:cs typeface="Arial"/>
                <a:sym typeface="Arial"/>
              </a:rPr>
              <a:t>Quality Engineer</a:t>
            </a:r>
            <a:endParaRPr sz="15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h5adcd0903d5cb179_4_83"/>
          <p:cNvSpPr/>
          <p:nvPr/>
        </p:nvSpPr>
        <p:spPr>
          <a:xfrm>
            <a:off x="5559700" y="2724912"/>
            <a:ext cx="16917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0627A"/>
              </a:buClr>
              <a:buSzPts val="1080"/>
              <a:buFont typeface="Arial"/>
              <a:buNone/>
            </a:pPr>
            <a:r>
              <a:rPr lang="en-US" sz="1080" b="0" i="0" u="none" strike="noStrike" cap="none">
                <a:solidFill>
                  <a:srgbClr val="50627A"/>
                </a:solidFill>
                <a:latin typeface="Arial"/>
                <a:ea typeface="Arial"/>
                <a:cs typeface="Arial"/>
                <a:sym typeface="Arial"/>
              </a:rPr>
              <a:t>Supervisa avance, riesgos, cumplimiento y decisiones operativas.</a:t>
            </a:r>
            <a:endParaRPr sz="108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h5adcd0903d5cb179_4_83"/>
          <p:cNvSpPr/>
          <p:nvPr/>
        </p:nvSpPr>
        <p:spPr>
          <a:xfrm>
            <a:off x="5532267" y="3337560"/>
            <a:ext cx="292500" cy="228600"/>
          </a:xfrm>
          <a:prstGeom prst="chevron">
            <a:avLst>
              <a:gd name="adj" fmla="val 50000"/>
            </a:avLst>
          </a:prstGeom>
          <a:solidFill>
            <a:srgbClr val="18BDB7"/>
          </a:solidFill>
          <a:ln w="12700" cap="flat" cmpd="sng">
            <a:solidFill>
              <a:srgbClr val="18BDB7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h5adcd0903d5cb179_4_83"/>
          <p:cNvSpPr/>
          <p:nvPr/>
        </p:nvSpPr>
        <p:spPr>
          <a:xfrm>
            <a:off x="4782439" y="3703320"/>
            <a:ext cx="658500" cy="658500"/>
          </a:xfrm>
          <a:prstGeom prst="ellipse">
            <a:avLst/>
          </a:prstGeom>
          <a:solidFill>
            <a:srgbClr val="1266D6"/>
          </a:solidFill>
          <a:ln w="12700" cap="flat" cmpd="sng">
            <a:solidFill>
              <a:srgbClr val="1266D6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h5adcd0903d5cb179_4_83"/>
          <p:cNvSpPr/>
          <p:nvPr/>
        </p:nvSpPr>
        <p:spPr>
          <a:xfrm>
            <a:off x="4782439" y="3712464"/>
            <a:ext cx="6585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QA</a:t>
            </a: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h5adcd0903d5cb179_4_83"/>
          <p:cNvSpPr/>
          <p:nvPr/>
        </p:nvSpPr>
        <p:spPr>
          <a:xfrm>
            <a:off x="5559700" y="3703320"/>
            <a:ext cx="1664100" cy="3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1B49"/>
              </a:buClr>
              <a:buSzPts val="1550"/>
              <a:buFont typeface="Arial"/>
              <a:buNone/>
            </a:pPr>
            <a:r>
              <a:rPr lang="en-US" sz="1550" b="1" i="0" u="none" strike="noStrike" cap="none">
                <a:solidFill>
                  <a:srgbClr val="061B49"/>
                </a:solidFill>
                <a:latin typeface="Arial"/>
                <a:ea typeface="Arial"/>
                <a:cs typeface="Arial"/>
                <a:sym typeface="Arial"/>
              </a:rPr>
              <a:t>Analista QA</a:t>
            </a:r>
            <a:endParaRPr sz="15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h5adcd0903d5cb179_4_83"/>
          <p:cNvSpPr/>
          <p:nvPr/>
        </p:nvSpPr>
        <p:spPr>
          <a:xfrm>
            <a:off x="5559700" y="4041648"/>
            <a:ext cx="16917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0627A"/>
              </a:buClr>
              <a:buSzPts val="1080"/>
              <a:buFont typeface="Arial"/>
              <a:buNone/>
            </a:pPr>
            <a:r>
              <a:rPr lang="en-US" sz="1080" b="0" i="0" u="none" strike="noStrike" cap="none">
                <a:solidFill>
                  <a:srgbClr val="50627A"/>
                </a:solidFill>
                <a:latin typeface="Arial"/>
                <a:ea typeface="Arial"/>
                <a:cs typeface="Arial"/>
                <a:sym typeface="Arial"/>
              </a:rPr>
              <a:t>Actualiza estado de HU, checklist y evidencias de certificación.</a:t>
            </a:r>
            <a:endParaRPr sz="108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h5adcd0903d5cb179_4_83"/>
          <p:cNvSpPr/>
          <p:nvPr/>
        </p:nvSpPr>
        <p:spPr>
          <a:xfrm>
            <a:off x="8138377" y="1600200"/>
            <a:ext cx="3520500" cy="35205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 cap="flat" cmpd="sng">
            <a:solidFill>
              <a:srgbClr val="CFE1F2"/>
            </a:solidFill>
            <a:prstDash val="solid"/>
            <a:round/>
            <a:headEnd type="none" w="sm" len="sm"/>
            <a:tailEnd type="none" w="sm" len="sm"/>
          </a:ln>
          <a:effectLst>
            <a:outerShdw blurRad="19050" dist="50800" dir="2700000" algn="bl" rotWithShape="0">
              <a:srgbClr val="D8E6F3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h5adcd0903d5cb179_4_83"/>
          <p:cNvSpPr/>
          <p:nvPr/>
        </p:nvSpPr>
        <p:spPr>
          <a:xfrm>
            <a:off x="8412704" y="1874520"/>
            <a:ext cx="1920300" cy="320100"/>
          </a:xfrm>
          <a:prstGeom prst="roundRect">
            <a:avLst>
              <a:gd name="adj" fmla="val 22857"/>
            </a:avLst>
          </a:prstGeom>
          <a:solidFill>
            <a:srgbClr val="FFB547"/>
          </a:solidFill>
          <a:ln w="12700" cap="flat" cmpd="sng">
            <a:solidFill>
              <a:srgbClr val="FFB547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h5adcd0903d5cb179_4_83"/>
          <p:cNvSpPr/>
          <p:nvPr/>
        </p:nvSpPr>
        <p:spPr>
          <a:xfrm>
            <a:off x="8412704" y="1883664"/>
            <a:ext cx="1920300" cy="3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1B49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061B49"/>
                </a:solidFill>
                <a:latin typeface="Arial"/>
                <a:ea typeface="Arial"/>
                <a:cs typeface="Arial"/>
                <a:sym typeface="Arial"/>
              </a:rPr>
              <a:t>NECESIDAD DEL CLIENTE</a:t>
            </a:r>
            <a:endParaRPr sz="10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h5adcd0903d5cb179_4_83"/>
          <p:cNvSpPr/>
          <p:nvPr/>
        </p:nvSpPr>
        <p:spPr>
          <a:xfrm>
            <a:off x="8412704" y="2313432"/>
            <a:ext cx="2788800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1B49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061B49"/>
                </a:solidFill>
                <a:latin typeface="Arial"/>
                <a:ea typeface="Arial"/>
                <a:cs typeface="Arial"/>
                <a:sym typeface="Arial"/>
              </a:rPr>
              <a:t>De información dispersa a una visión integrada</a:t>
            </a: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h5adcd0903d5cb179_4_83"/>
          <p:cNvSpPr/>
          <p:nvPr/>
        </p:nvSpPr>
        <p:spPr>
          <a:xfrm>
            <a:off x="8412704" y="2944368"/>
            <a:ext cx="2926200" cy="9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3A4E"/>
              </a:buClr>
              <a:buSzPts val="1230"/>
              <a:buFont typeface="Arial"/>
              <a:buNone/>
            </a:pPr>
            <a:r>
              <a:rPr lang="en-US" sz="1230" b="0" i="0" u="none" strike="noStrike" cap="none">
                <a:solidFill>
                  <a:srgbClr val="2E3A4E"/>
                </a:solidFill>
                <a:latin typeface="Arial"/>
                <a:ea typeface="Arial"/>
                <a:cs typeface="Arial"/>
                <a:sym typeface="Arial"/>
              </a:rPr>
              <a:t>• Consolidar HU, responsables y estados</a:t>
            </a:r>
            <a:endParaRPr sz="12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3A4E"/>
              </a:buClr>
              <a:buSzPts val="1230"/>
              <a:buFont typeface="Arial"/>
              <a:buNone/>
            </a:pPr>
            <a:r>
              <a:rPr lang="en-US" sz="1230" b="0" i="0" u="none" strike="noStrike" cap="none">
                <a:solidFill>
                  <a:srgbClr val="2E3A4E"/>
                </a:solidFill>
                <a:latin typeface="Arial"/>
                <a:ea typeface="Arial"/>
                <a:cs typeface="Arial"/>
                <a:sym typeface="Arial"/>
              </a:rPr>
              <a:t>• Visualizar riesgos e impedimentos</a:t>
            </a:r>
            <a:endParaRPr sz="12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3A4E"/>
              </a:buClr>
              <a:buSzPts val="1230"/>
              <a:buFont typeface="Arial"/>
              <a:buNone/>
            </a:pPr>
            <a:r>
              <a:rPr lang="en-US" sz="1230" b="0" i="0" u="none" strike="noStrike" cap="none">
                <a:solidFill>
                  <a:srgbClr val="2E3A4E"/>
                </a:solidFill>
                <a:latin typeface="Arial"/>
                <a:ea typeface="Arial"/>
                <a:cs typeface="Arial"/>
                <a:sym typeface="Arial"/>
              </a:rPr>
              <a:t>• Controlar cumplimiento QA</a:t>
            </a:r>
            <a:endParaRPr sz="12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3A4E"/>
              </a:buClr>
              <a:buSzPts val="1230"/>
              <a:buFont typeface="Arial"/>
              <a:buNone/>
            </a:pPr>
            <a:r>
              <a:rPr lang="en-US" sz="1230" b="0" i="0" u="none" strike="noStrike" cap="none">
                <a:solidFill>
                  <a:srgbClr val="2E3A4E"/>
                </a:solidFill>
                <a:latin typeface="Arial"/>
                <a:ea typeface="Arial"/>
                <a:cs typeface="Arial"/>
                <a:sym typeface="Arial"/>
              </a:rPr>
              <a:t>• Priorizar acciones a tiempo</a:t>
            </a:r>
            <a:endParaRPr sz="12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h5adcd0903d5cb179_4_83"/>
          <p:cNvSpPr/>
          <p:nvPr/>
        </p:nvSpPr>
        <p:spPr>
          <a:xfrm>
            <a:off x="8412704" y="4160520"/>
            <a:ext cx="2834700" cy="530400"/>
          </a:xfrm>
          <a:prstGeom prst="roundRect">
            <a:avLst>
              <a:gd name="adj" fmla="val 13793"/>
            </a:avLst>
          </a:prstGeom>
          <a:solidFill>
            <a:srgbClr val="EEF6FF"/>
          </a:solidFill>
          <a:ln w="12700" cap="flat" cmpd="sng">
            <a:solidFill>
              <a:srgbClr val="D6E8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h5adcd0903d5cb179_4_83"/>
          <p:cNvSpPr/>
          <p:nvPr/>
        </p:nvSpPr>
        <p:spPr>
          <a:xfrm>
            <a:off x="8549868" y="4215384"/>
            <a:ext cx="25602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1B49"/>
              </a:buClr>
              <a:buSzPts val="1170"/>
              <a:buFont typeface="Arial"/>
              <a:buNone/>
            </a:pPr>
            <a:r>
              <a:rPr lang="en-US" sz="1170" b="1" i="0" u="none" strike="noStrike" cap="none">
                <a:solidFill>
                  <a:srgbClr val="061B49"/>
                </a:solidFill>
                <a:latin typeface="Arial"/>
                <a:ea typeface="Arial"/>
                <a:cs typeface="Arial"/>
                <a:sym typeface="Arial"/>
              </a:rPr>
              <a:t>Quality360 entrega visibilidad, trazabilidad y KPI para la gestión QA.</a:t>
            </a:r>
            <a:endParaRPr sz="117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h5adcd0903d5cb179_4_83"/>
          <p:cNvSpPr/>
          <p:nvPr/>
        </p:nvSpPr>
        <p:spPr>
          <a:xfrm>
            <a:off x="517958" y="5486573"/>
            <a:ext cx="11156100" cy="914400"/>
          </a:xfrm>
          <a:prstGeom prst="roundRect">
            <a:avLst>
              <a:gd name="adj" fmla="val 12000"/>
            </a:avLst>
          </a:prstGeom>
          <a:solidFill>
            <a:srgbClr val="EEF6FF"/>
          </a:solidFill>
          <a:ln w="12700" cap="flat" cmpd="sng">
            <a:solidFill>
              <a:srgbClr val="CFE1F2"/>
            </a:solidFill>
            <a:prstDash val="solid"/>
            <a:round/>
            <a:headEnd type="none" w="sm" len="sm"/>
            <a:tailEnd type="none" w="sm" len="sm"/>
          </a:ln>
          <a:effectLst>
            <a:outerShdw blurRad="19050" dist="50800" dir="2700000" algn="bl" rotWithShape="0">
              <a:srgbClr val="D8E6F3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h5adcd0903d5cb179_4_83"/>
          <p:cNvSpPr/>
          <p:nvPr/>
        </p:nvSpPr>
        <p:spPr>
          <a:xfrm>
            <a:off x="795549" y="5559552"/>
            <a:ext cx="1600200" cy="292500"/>
          </a:xfrm>
          <a:prstGeom prst="roundRect">
            <a:avLst>
              <a:gd name="adj" fmla="val 25000"/>
            </a:avLst>
          </a:prstGeom>
          <a:solidFill>
            <a:srgbClr val="061B49"/>
          </a:solidFill>
          <a:ln w="12700" cap="flat" cmpd="sng">
            <a:solidFill>
              <a:srgbClr val="061B49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h5adcd0903d5cb179_4_83"/>
          <p:cNvSpPr/>
          <p:nvPr/>
        </p:nvSpPr>
        <p:spPr>
          <a:xfrm>
            <a:off x="795549" y="5568696"/>
            <a:ext cx="16002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80"/>
              <a:buFont typeface="Arial"/>
              <a:buNone/>
            </a:pPr>
            <a:r>
              <a:rPr lang="en-US" sz="98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TRAZABILIDAD DE VALOR</a:t>
            </a:r>
            <a:endParaRPr sz="98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h5adcd0903d5cb179_4_83"/>
          <p:cNvSpPr/>
          <p:nvPr/>
        </p:nvSpPr>
        <p:spPr>
          <a:xfrm>
            <a:off x="841270" y="5888736"/>
            <a:ext cx="429900" cy="429900"/>
          </a:xfrm>
          <a:prstGeom prst="ellipse">
            <a:avLst/>
          </a:prstGeom>
          <a:solidFill>
            <a:srgbClr val="061B49"/>
          </a:solidFill>
          <a:ln w="12700" cap="flat" cmpd="sng">
            <a:solidFill>
              <a:srgbClr val="061B49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h5adcd0903d5cb179_4_83"/>
          <p:cNvSpPr/>
          <p:nvPr/>
        </p:nvSpPr>
        <p:spPr>
          <a:xfrm>
            <a:off x="841270" y="5897880"/>
            <a:ext cx="4299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🏢</a:t>
            </a: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h5adcd0903d5cb179_4_83"/>
          <p:cNvSpPr/>
          <p:nvPr/>
        </p:nvSpPr>
        <p:spPr>
          <a:xfrm>
            <a:off x="1353348" y="5879592"/>
            <a:ext cx="11703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1B49"/>
              </a:buClr>
              <a:buSzPts val="1030"/>
              <a:buFont typeface="Arial"/>
              <a:buNone/>
            </a:pPr>
            <a:r>
              <a:rPr lang="en-US" sz="1030" b="1" i="0" u="none" strike="noStrike" cap="none">
                <a:solidFill>
                  <a:srgbClr val="061B49"/>
                </a:solidFill>
                <a:latin typeface="Arial"/>
                <a:ea typeface="Arial"/>
                <a:cs typeface="Arial"/>
                <a:sym typeface="Arial"/>
              </a:rPr>
              <a:t>Cliente</a:t>
            </a:r>
            <a:endParaRPr sz="10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1B49"/>
              </a:buClr>
              <a:buSzPts val="1030"/>
              <a:buFont typeface="Arial"/>
              <a:buNone/>
            </a:pPr>
            <a:r>
              <a:rPr lang="en-US" sz="1030" b="1" i="0" u="none" strike="noStrike" cap="none">
                <a:solidFill>
                  <a:srgbClr val="061B49"/>
                </a:solidFill>
                <a:latin typeface="Arial"/>
                <a:ea typeface="Arial"/>
                <a:cs typeface="Arial"/>
                <a:sym typeface="Arial"/>
              </a:rPr>
              <a:t>QA</a:t>
            </a:r>
            <a:endParaRPr sz="10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3" name="Google Shape;123;h5adcd0903d5cb179_4_83"/>
          <p:cNvCxnSpPr/>
          <p:nvPr/>
        </p:nvCxnSpPr>
        <p:spPr>
          <a:xfrm>
            <a:off x="2532956" y="6089904"/>
            <a:ext cx="301800" cy="0"/>
          </a:xfrm>
          <a:prstGeom prst="straightConnector1">
            <a:avLst/>
          </a:prstGeom>
          <a:noFill/>
          <a:ln w="25400" cap="flat" cmpd="sng">
            <a:solidFill>
              <a:srgbClr val="18BDB7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24" name="Google Shape;124;h5adcd0903d5cb179_4_83"/>
          <p:cNvSpPr/>
          <p:nvPr/>
        </p:nvSpPr>
        <p:spPr>
          <a:xfrm>
            <a:off x="2898725" y="5888736"/>
            <a:ext cx="429900" cy="429900"/>
          </a:xfrm>
          <a:prstGeom prst="ellipse">
            <a:avLst/>
          </a:prstGeom>
          <a:solidFill>
            <a:srgbClr val="FFB547"/>
          </a:solidFill>
          <a:ln w="12700" cap="flat" cmpd="sng">
            <a:solidFill>
              <a:srgbClr val="FFB547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h5adcd0903d5cb179_4_83"/>
          <p:cNvSpPr/>
          <p:nvPr/>
        </p:nvSpPr>
        <p:spPr>
          <a:xfrm>
            <a:off x="2898725" y="5897880"/>
            <a:ext cx="4299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⚠</a:t>
            </a: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h5adcd0903d5cb179_4_83"/>
          <p:cNvSpPr/>
          <p:nvPr/>
        </p:nvSpPr>
        <p:spPr>
          <a:xfrm>
            <a:off x="3410803" y="5879592"/>
            <a:ext cx="11703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1B49"/>
              </a:buClr>
              <a:buSzPts val="1030"/>
              <a:buFont typeface="Arial"/>
              <a:buNone/>
            </a:pPr>
            <a:r>
              <a:rPr lang="en-US" sz="1030" b="1" i="0" u="none" strike="noStrike" cap="none">
                <a:solidFill>
                  <a:srgbClr val="061B49"/>
                </a:solidFill>
                <a:latin typeface="Arial"/>
                <a:ea typeface="Arial"/>
                <a:cs typeface="Arial"/>
                <a:sym typeface="Arial"/>
              </a:rPr>
              <a:t>Necesidad</a:t>
            </a:r>
            <a:endParaRPr sz="10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1B49"/>
              </a:buClr>
              <a:buSzPts val="1030"/>
              <a:buFont typeface="Arial"/>
              <a:buNone/>
            </a:pPr>
            <a:r>
              <a:rPr lang="en-US" sz="1030" b="1" i="0" u="none" strike="noStrike" cap="none">
                <a:solidFill>
                  <a:srgbClr val="061B49"/>
                </a:solidFill>
                <a:latin typeface="Arial"/>
                <a:ea typeface="Arial"/>
                <a:cs typeface="Arial"/>
                <a:sym typeface="Arial"/>
              </a:rPr>
              <a:t>operativa</a:t>
            </a:r>
            <a:endParaRPr sz="10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7" name="Google Shape;127;h5adcd0903d5cb179_4_83"/>
          <p:cNvCxnSpPr/>
          <p:nvPr/>
        </p:nvCxnSpPr>
        <p:spPr>
          <a:xfrm>
            <a:off x="4590410" y="6089904"/>
            <a:ext cx="301800" cy="0"/>
          </a:xfrm>
          <a:prstGeom prst="straightConnector1">
            <a:avLst/>
          </a:prstGeom>
          <a:noFill/>
          <a:ln w="25400" cap="flat" cmpd="sng">
            <a:solidFill>
              <a:srgbClr val="18BDB7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28" name="Google Shape;128;h5adcd0903d5cb179_4_83"/>
          <p:cNvSpPr/>
          <p:nvPr/>
        </p:nvSpPr>
        <p:spPr>
          <a:xfrm>
            <a:off x="4956180" y="5888736"/>
            <a:ext cx="429900" cy="429900"/>
          </a:xfrm>
          <a:prstGeom prst="ellipse">
            <a:avLst/>
          </a:prstGeom>
          <a:solidFill>
            <a:srgbClr val="18BDB7"/>
          </a:solidFill>
          <a:ln w="12700" cap="flat" cmpd="sng">
            <a:solidFill>
              <a:srgbClr val="18BDB7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h5adcd0903d5cb179_4_83"/>
          <p:cNvSpPr/>
          <p:nvPr/>
        </p:nvSpPr>
        <p:spPr>
          <a:xfrm>
            <a:off x="4956180" y="5897880"/>
            <a:ext cx="4299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h5adcd0903d5cb179_4_83"/>
          <p:cNvSpPr/>
          <p:nvPr/>
        </p:nvSpPr>
        <p:spPr>
          <a:xfrm>
            <a:off x="5468258" y="5879592"/>
            <a:ext cx="11703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1B49"/>
              </a:buClr>
              <a:buSzPts val="1030"/>
              <a:buFont typeface="Arial"/>
              <a:buNone/>
            </a:pPr>
            <a:r>
              <a:rPr lang="en-US" sz="1030" b="1" i="0" u="none" strike="noStrike" cap="none">
                <a:solidFill>
                  <a:srgbClr val="061B49"/>
                </a:solidFill>
                <a:latin typeface="Arial"/>
                <a:ea typeface="Arial"/>
                <a:cs typeface="Arial"/>
                <a:sym typeface="Arial"/>
              </a:rPr>
              <a:t>Quality360</a:t>
            </a:r>
            <a:endParaRPr sz="10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1B49"/>
              </a:buClr>
              <a:buSzPts val="1030"/>
              <a:buFont typeface="Arial"/>
              <a:buNone/>
            </a:pPr>
            <a:r>
              <a:rPr lang="en-US" sz="1030" b="1" i="0" u="none" strike="noStrike" cap="none">
                <a:solidFill>
                  <a:srgbClr val="061B49"/>
                </a:solidFill>
                <a:latin typeface="Arial"/>
                <a:ea typeface="Arial"/>
                <a:cs typeface="Arial"/>
                <a:sym typeface="Arial"/>
              </a:rPr>
              <a:t>plataforma</a:t>
            </a:r>
            <a:endParaRPr sz="10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1" name="Google Shape;131;h5adcd0903d5cb179_4_83"/>
          <p:cNvCxnSpPr/>
          <p:nvPr/>
        </p:nvCxnSpPr>
        <p:spPr>
          <a:xfrm>
            <a:off x="6647865" y="6089904"/>
            <a:ext cx="301800" cy="0"/>
          </a:xfrm>
          <a:prstGeom prst="straightConnector1">
            <a:avLst/>
          </a:prstGeom>
          <a:noFill/>
          <a:ln w="25400" cap="flat" cmpd="sng">
            <a:solidFill>
              <a:srgbClr val="18BDB7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32" name="Google Shape;132;h5adcd0903d5cb179_4_83"/>
          <p:cNvSpPr/>
          <p:nvPr/>
        </p:nvSpPr>
        <p:spPr>
          <a:xfrm>
            <a:off x="7013635" y="5888736"/>
            <a:ext cx="429900" cy="429900"/>
          </a:xfrm>
          <a:prstGeom prst="ellipse">
            <a:avLst/>
          </a:prstGeom>
          <a:solidFill>
            <a:srgbClr val="1266D6"/>
          </a:solidFill>
          <a:ln w="12700" cap="flat" cmpd="sng">
            <a:solidFill>
              <a:srgbClr val="1266D6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h5adcd0903d5cb179_4_83"/>
          <p:cNvSpPr/>
          <p:nvPr/>
        </p:nvSpPr>
        <p:spPr>
          <a:xfrm>
            <a:off x="7013635" y="5897880"/>
            <a:ext cx="4299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↗</a:t>
            </a: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h5adcd0903d5cb179_4_83"/>
          <p:cNvSpPr/>
          <p:nvPr/>
        </p:nvSpPr>
        <p:spPr>
          <a:xfrm>
            <a:off x="7525713" y="5879592"/>
            <a:ext cx="11703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1B49"/>
              </a:buClr>
              <a:buSzPts val="1030"/>
              <a:buFont typeface="Arial"/>
              <a:buNone/>
            </a:pPr>
            <a:r>
              <a:rPr lang="en-US" sz="1030" b="1" i="0" u="none" strike="noStrike" cap="none">
                <a:solidFill>
                  <a:srgbClr val="061B49"/>
                </a:solidFill>
                <a:latin typeface="Arial"/>
                <a:ea typeface="Arial"/>
                <a:cs typeface="Arial"/>
                <a:sym typeface="Arial"/>
              </a:rPr>
              <a:t>KPI y</a:t>
            </a:r>
            <a:endParaRPr sz="10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1B49"/>
              </a:buClr>
              <a:buSzPts val="1030"/>
              <a:buFont typeface="Arial"/>
              <a:buNone/>
            </a:pPr>
            <a:r>
              <a:rPr lang="en-US" sz="1030" b="1" i="0" u="none" strike="noStrike" cap="none">
                <a:solidFill>
                  <a:srgbClr val="061B49"/>
                </a:solidFill>
                <a:latin typeface="Arial"/>
                <a:ea typeface="Arial"/>
                <a:cs typeface="Arial"/>
                <a:sym typeface="Arial"/>
              </a:rPr>
              <a:t>alertas</a:t>
            </a:r>
            <a:endParaRPr sz="10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5" name="Google Shape;135;h5adcd0903d5cb179_4_83"/>
          <p:cNvCxnSpPr/>
          <p:nvPr/>
        </p:nvCxnSpPr>
        <p:spPr>
          <a:xfrm>
            <a:off x="8705320" y="6089904"/>
            <a:ext cx="301800" cy="0"/>
          </a:xfrm>
          <a:prstGeom prst="straightConnector1">
            <a:avLst/>
          </a:prstGeom>
          <a:noFill/>
          <a:ln w="25400" cap="flat" cmpd="sng">
            <a:solidFill>
              <a:srgbClr val="18BDB7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36" name="Google Shape;136;h5adcd0903d5cb179_4_83"/>
          <p:cNvSpPr/>
          <p:nvPr/>
        </p:nvSpPr>
        <p:spPr>
          <a:xfrm>
            <a:off x="9071090" y="5888736"/>
            <a:ext cx="429900" cy="429900"/>
          </a:xfrm>
          <a:prstGeom prst="ellipse">
            <a:avLst/>
          </a:prstGeom>
          <a:solidFill>
            <a:srgbClr val="26B36B"/>
          </a:solidFill>
          <a:ln w="12700" cap="flat" cmpd="sng">
            <a:solidFill>
              <a:srgbClr val="26B36B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h5adcd0903d5cb179_4_83"/>
          <p:cNvSpPr/>
          <p:nvPr/>
        </p:nvSpPr>
        <p:spPr>
          <a:xfrm>
            <a:off x="9071090" y="5897880"/>
            <a:ext cx="4299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🎯</a:t>
            </a: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h5adcd0903d5cb179_4_83"/>
          <p:cNvSpPr/>
          <p:nvPr/>
        </p:nvSpPr>
        <p:spPr>
          <a:xfrm>
            <a:off x="9583167" y="5879592"/>
            <a:ext cx="11703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1B49"/>
              </a:buClr>
              <a:buSzPts val="1030"/>
              <a:buFont typeface="Arial"/>
              <a:buNone/>
            </a:pPr>
            <a:r>
              <a:rPr lang="en-US" sz="1030" b="1" i="0" u="none" strike="noStrike" cap="none">
                <a:solidFill>
                  <a:srgbClr val="061B49"/>
                </a:solidFill>
                <a:latin typeface="Arial"/>
                <a:ea typeface="Arial"/>
                <a:cs typeface="Arial"/>
                <a:sym typeface="Arial"/>
              </a:rPr>
              <a:t>Decisión</a:t>
            </a:r>
            <a:endParaRPr sz="10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1B49"/>
              </a:buClr>
              <a:buSzPts val="1030"/>
              <a:buFont typeface="Arial"/>
              <a:buNone/>
            </a:pPr>
            <a:r>
              <a:rPr lang="en-US" sz="1030" b="1" i="0" u="none" strike="noStrike" cap="none">
                <a:solidFill>
                  <a:srgbClr val="061B49"/>
                </a:solidFill>
                <a:latin typeface="Arial"/>
                <a:ea typeface="Arial"/>
                <a:cs typeface="Arial"/>
                <a:sym typeface="Arial"/>
              </a:rPr>
              <a:t>oportuna</a:t>
            </a:r>
            <a:endParaRPr sz="10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h5adcd0903d5cb179_4_83"/>
          <p:cNvSpPr/>
          <p:nvPr/>
        </p:nvSpPr>
        <p:spPr>
          <a:xfrm>
            <a:off x="530366" y="6519672"/>
            <a:ext cx="3657600" cy="1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0" tIns="750" rIns="750" bIns="7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0627A"/>
              </a:buClr>
              <a:buSzPts val="850"/>
              <a:buFont typeface="Arial"/>
              <a:buNone/>
            </a:pPr>
            <a:r>
              <a:rPr lang="en-US" sz="850" b="0" i="0" u="none" strike="noStrike" cap="none">
                <a:solidFill>
                  <a:srgbClr val="50627A"/>
                </a:solidFill>
                <a:latin typeface="Arial"/>
                <a:ea typeface="Arial"/>
                <a:cs typeface="Arial"/>
                <a:sym typeface="Arial"/>
              </a:rPr>
              <a:t>Quality360 · Capstone Grupo 8</a:t>
            </a:r>
            <a:endParaRPr sz="8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23B69"/>
          </a:solidFill>
          <a:ln w="8890">
            <a:solidFill>
              <a:srgbClr val="123B6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" name="Text 1"/>
          <p:cNvSpPr/>
          <p:nvPr/>
        </p:nvSpPr>
        <p:spPr>
          <a:xfrm>
            <a:off x="320040" y="109728"/>
            <a:ext cx="74980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 de seguimiento semanal · Quality360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29184" y="448056"/>
            <a:ext cx="804672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D7E7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 X: semanas · Eje Y: Sprints · Corte 10/10/2026 · Comisión 27/11–04/12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11173968" y="73152"/>
            <a:ext cx="685800" cy="530352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6" name="Image 0" descr="/mnt/data/logo_corporativo_quality360_en_azul_y_turques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4552" y="100584"/>
            <a:ext cx="475488" cy="47548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841248"/>
            <a:ext cx="9098280" cy="384048"/>
          </a:xfrm>
          <a:prstGeom prst="roundRect">
            <a:avLst/>
          </a:prstGeom>
          <a:solidFill>
            <a:srgbClr val="EAF7FF"/>
          </a:solidFill>
          <a:ln w="10160">
            <a:solidFill>
              <a:srgbClr val="A8D4E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Text 5"/>
          <p:cNvSpPr/>
          <p:nvPr/>
        </p:nvSpPr>
        <p:spPr>
          <a:xfrm>
            <a:off x="502920" y="950976"/>
            <a:ext cx="1051560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123B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Estado actualizado</a:t>
            </a:r>
            <a:endParaRPr lang="en-US" sz="820" dirty="0"/>
          </a:p>
        </p:txBody>
      </p:sp>
      <p:sp>
        <p:nvSpPr>
          <p:cNvPr id="9" name="Text 6"/>
          <p:cNvSpPr/>
          <p:nvPr/>
        </p:nvSpPr>
        <p:spPr>
          <a:xfrm>
            <a:off x="1600200" y="932688"/>
            <a:ext cx="7406640" cy="1463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0B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Sprint 1 y Sprint 2 cerrados al 100% · Sprint 3 en curso: Modelo ER, backend base y persistencia inicial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9646920" y="923544"/>
            <a:ext cx="868680" cy="219456"/>
          </a:xfrm>
          <a:prstGeom prst="roundRect">
            <a:avLst/>
          </a:prstGeom>
          <a:solidFill>
            <a:srgbClr val="179FE3"/>
          </a:solidFill>
          <a:ln w="10160">
            <a:solidFill>
              <a:srgbClr val="179FE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Text 8"/>
          <p:cNvSpPr/>
          <p:nvPr/>
        </p:nvSpPr>
        <p:spPr>
          <a:xfrm>
            <a:off x="9665208" y="960120"/>
            <a:ext cx="8321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</a:t>
            </a:r>
            <a:endParaRPr lang="en-US" sz="620" dirty="0"/>
          </a:p>
        </p:txBody>
      </p:sp>
      <p:sp>
        <p:nvSpPr>
          <p:cNvPr id="12" name="Shape 9"/>
          <p:cNvSpPr/>
          <p:nvPr/>
        </p:nvSpPr>
        <p:spPr>
          <a:xfrm>
            <a:off x="10991088" y="923544"/>
            <a:ext cx="868680" cy="219456"/>
          </a:xfrm>
          <a:prstGeom prst="roundRect">
            <a:avLst/>
          </a:prstGeom>
          <a:solidFill>
            <a:srgbClr val="13B889"/>
          </a:solidFill>
          <a:ln w="10160">
            <a:solidFill>
              <a:srgbClr val="13B88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" name="Text 10"/>
          <p:cNvSpPr/>
          <p:nvPr/>
        </p:nvSpPr>
        <p:spPr>
          <a:xfrm>
            <a:off x="11009376" y="960120"/>
            <a:ext cx="8321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2/6 cerrados</a:t>
            </a:r>
            <a:endParaRPr lang="en-US" sz="620" dirty="0"/>
          </a:p>
        </p:txBody>
      </p:sp>
      <p:sp>
        <p:nvSpPr>
          <p:cNvPr id="14" name="Shape 11"/>
          <p:cNvSpPr/>
          <p:nvPr/>
        </p:nvSpPr>
        <p:spPr>
          <a:xfrm>
            <a:off x="320040" y="1335024"/>
            <a:ext cx="1737360" cy="685800"/>
          </a:xfrm>
          <a:prstGeom prst="rect">
            <a:avLst/>
          </a:prstGeom>
          <a:solidFill>
            <a:srgbClr val="123B69"/>
          </a:solidFill>
          <a:ln w="8890">
            <a:solidFill>
              <a:srgbClr val="123B6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" name="Shape 12"/>
          <p:cNvSpPr/>
          <p:nvPr/>
        </p:nvSpPr>
        <p:spPr>
          <a:xfrm>
            <a:off x="2057400" y="1335024"/>
            <a:ext cx="1417320" cy="685800"/>
          </a:xfrm>
          <a:prstGeom prst="rect">
            <a:avLst/>
          </a:prstGeom>
          <a:solidFill>
            <a:srgbClr val="123B69"/>
          </a:solidFill>
          <a:ln w="8890">
            <a:solidFill>
              <a:srgbClr val="123B6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Text 13"/>
          <p:cNvSpPr/>
          <p:nvPr/>
        </p:nvSpPr>
        <p:spPr>
          <a:xfrm>
            <a:off x="320040" y="1517904"/>
            <a:ext cx="173736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Sprint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057400" y="1517904"/>
            <a:ext cx="1417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Objetivo</a:t>
            </a:r>
            <a:endParaRPr lang="en-US" sz="920" dirty="0"/>
          </a:p>
        </p:txBody>
      </p:sp>
      <p:sp>
        <p:nvSpPr>
          <p:cNvPr id="18" name="Shape 15"/>
          <p:cNvSpPr/>
          <p:nvPr/>
        </p:nvSpPr>
        <p:spPr>
          <a:xfrm>
            <a:off x="3474720" y="1335024"/>
            <a:ext cx="786384" cy="292608"/>
          </a:xfrm>
          <a:prstGeom prst="rect">
            <a:avLst/>
          </a:prstGeom>
          <a:solidFill>
            <a:srgbClr val="0BA7A4"/>
          </a:solidFill>
          <a:ln w="8890">
            <a:solidFill>
              <a:srgbClr val="0BA7A4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9" name="Text 16"/>
          <p:cNvSpPr/>
          <p:nvPr/>
        </p:nvSpPr>
        <p:spPr>
          <a:xfrm>
            <a:off x="3474720" y="1408176"/>
            <a:ext cx="786384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8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SEP/OCT</a:t>
            </a:r>
            <a:endParaRPr lang="en-US" sz="830" dirty="0"/>
          </a:p>
        </p:txBody>
      </p:sp>
      <p:sp>
        <p:nvSpPr>
          <p:cNvPr id="20" name="Shape 17"/>
          <p:cNvSpPr/>
          <p:nvPr/>
        </p:nvSpPr>
        <p:spPr>
          <a:xfrm>
            <a:off x="4261104" y="1335024"/>
            <a:ext cx="3145536" cy="292608"/>
          </a:xfrm>
          <a:prstGeom prst="rect">
            <a:avLst/>
          </a:prstGeom>
          <a:solidFill>
            <a:srgbClr val="0BA7A4"/>
          </a:solidFill>
          <a:ln w="8890">
            <a:solidFill>
              <a:srgbClr val="0BA7A4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1" name="Text 18"/>
          <p:cNvSpPr/>
          <p:nvPr/>
        </p:nvSpPr>
        <p:spPr>
          <a:xfrm>
            <a:off x="4261104" y="1408176"/>
            <a:ext cx="3145536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8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OCT</a:t>
            </a:r>
            <a:endParaRPr lang="en-US" sz="830" dirty="0"/>
          </a:p>
        </p:txBody>
      </p:sp>
      <p:sp>
        <p:nvSpPr>
          <p:cNvPr id="22" name="Shape 19"/>
          <p:cNvSpPr/>
          <p:nvPr/>
        </p:nvSpPr>
        <p:spPr>
          <a:xfrm>
            <a:off x="7406640" y="1335024"/>
            <a:ext cx="3145536" cy="292608"/>
          </a:xfrm>
          <a:prstGeom prst="rect">
            <a:avLst/>
          </a:prstGeom>
          <a:solidFill>
            <a:srgbClr val="0BA7A4"/>
          </a:solidFill>
          <a:ln w="8890">
            <a:solidFill>
              <a:srgbClr val="0BA7A4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3" name="Text 20"/>
          <p:cNvSpPr/>
          <p:nvPr/>
        </p:nvSpPr>
        <p:spPr>
          <a:xfrm>
            <a:off x="7406640" y="1408176"/>
            <a:ext cx="3145536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8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NOV</a:t>
            </a:r>
            <a:endParaRPr lang="en-US" sz="830" dirty="0"/>
          </a:p>
        </p:txBody>
      </p:sp>
      <p:sp>
        <p:nvSpPr>
          <p:cNvPr id="24" name="Shape 21"/>
          <p:cNvSpPr/>
          <p:nvPr/>
        </p:nvSpPr>
        <p:spPr>
          <a:xfrm>
            <a:off x="10552176" y="1335024"/>
            <a:ext cx="786384" cy="292608"/>
          </a:xfrm>
          <a:prstGeom prst="rect">
            <a:avLst/>
          </a:prstGeom>
          <a:solidFill>
            <a:srgbClr val="0BA7A4"/>
          </a:solidFill>
          <a:ln w="8890">
            <a:solidFill>
              <a:srgbClr val="0BA7A4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5" name="Text 22"/>
          <p:cNvSpPr/>
          <p:nvPr/>
        </p:nvSpPr>
        <p:spPr>
          <a:xfrm>
            <a:off x="10552176" y="1408176"/>
            <a:ext cx="786384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8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NOV/DIC</a:t>
            </a:r>
            <a:endParaRPr lang="en-US" sz="830" dirty="0"/>
          </a:p>
        </p:txBody>
      </p:sp>
      <p:sp>
        <p:nvSpPr>
          <p:cNvPr id="26" name="Shape 23"/>
          <p:cNvSpPr/>
          <p:nvPr/>
        </p:nvSpPr>
        <p:spPr>
          <a:xfrm>
            <a:off x="3474720" y="1627632"/>
            <a:ext cx="786384" cy="393192"/>
          </a:xfrm>
          <a:prstGeom prst="rect">
            <a:avLst/>
          </a:prstGeom>
          <a:solidFill>
            <a:srgbClr val="0E8C8C"/>
          </a:solidFill>
          <a:ln w="8890">
            <a:solidFill>
              <a:srgbClr val="BFD7E5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7" name="Text 24"/>
          <p:cNvSpPr/>
          <p:nvPr/>
        </p:nvSpPr>
        <p:spPr>
          <a:xfrm>
            <a:off x="3493008" y="1709928"/>
            <a:ext cx="749808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 Sep</a:t>
            </a:r>
            <a:endParaRPr lang="en-US" sz="640" dirty="0"/>
          </a:p>
          <a:p>
            <a:pPr marL="0" indent="0" algn="ctr">
              <a:buNone/>
            </a:pPr>
            <a:r>
              <a:rPr lang="en-US" sz="6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Oct</a:t>
            </a:r>
            <a:endParaRPr lang="en-US" sz="640" dirty="0"/>
          </a:p>
        </p:txBody>
      </p:sp>
      <p:sp>
        <p:nvSpPr>
          <p:cNvPr id="28" name="Shape 25"/>
          <p:cNvSpPr/>
          <p:nvPr/>
        </p:nvSpPr>
        <p:spPr>
          <a:xfrm>
            <a:off x="4261104" y="1627632"/>
            <a:ext cx="786384" cy="393192"/>
          </a:xfrm>
          <a:prstGeom prst="rect">
            <a:avLst/>
          </a:prstGeom>
          <a:solidFill>
            <a:srgbClr val="0E8C8C"/>
          </a:solidFill>
          <a:ln w="8890">
            <a:solidFill>
              <a:srgbClr val="BFD7E5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9" name="Text 26"/>
          <p:cNvSpPr/>
          <p:nvPr/>
        </p:nvSpPr>
        <p:spPr>
          <a:xfrm>
            <a:off x="4279392" y="1709928"/>
            <a:ext cx="749808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02–09</a:t>
            </a:r>
            <a:endParaRPr lang="en-US" sz="640" dirty="0"/>
          </a:p>
          <a:p>
            <a:pPr marL="0" indent="0" algn="ctr">
              <a:buNone/>
            </a:pPr>
            <a:r>
              <a:rPr lang="en-US" sz="6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Oct</a:t>
            </a:r>
            <a:endParaRPr lang="en-US" sz="640" dirty="0"/>
          </a:p>
        </p:txBody>
      </p:sp>
      <p:sp>
        <p:nvSpPr>
          <p:cNvPr id="30" name="Shape 27"/>
          <p:cNvSpPr/>
          <p:nvPr/>
        </p:nvSpPr>
        <p:spPr>
          <a:xfrm>
            <a:off x="5047488" y="1627632"/>
            <a:ext cx="786384" cy="393192"/>
          </a:xfrm>
          <a:prstGeom prst="rect">
            <a:avLst/>
          </a:prstGeom>
          <a:solidFill>
            <a:srgbClr val="FEEAA4"/>
          </a:solidFill>
          <a:ln w="8890">
            <a:solidFill>
              <a:srgbClr val="BFD7E5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1" name="Text 28"/>
          <p:cNvSpPr/>
          <p:nvPr/>
        </p:nvSpPr>
        <p:spPr>
          <a:xfrm>
            <a:off x="5065776" y="1709928"/>
            <a:ext cx="749808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40" b="1" dirty="0">
                <a:solidFill>
                  <a:srgbClr val="123B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10–15</a:t>
            </a:r>
            <a:endParaRPr lang="en-US" sz="640" dirty="0"/>
          </a:p>
          <a:p>
            <a:pPr marL="0" indent="0" algn="ctr">
              <a:buNone/>
            </a:pPr>
            <a:r>
              <a:rPr lang="en-US" sz="640" b="1" dirty="0">
                <a:solidFill>
                  <a:srgbClr val="123B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Oct</a:t>
            </a:r>
            <a:endParaRPr lang="en-US" sz="640" dirty="0"/>
          </a:p>
        </p:txBody>
      </p:sp>
      <p:sp>
        <p:nvSpPr>
          <p:cNvPr id="32" name="Shape 29"/>
          <p:cNvSpPr/>
          <p:nvPr/>
        </p:nvSpPr>
        <p:spPr>
          <a:xfrm>
            <a:off x="5833872" y="1627632"/>
            <a:ext cx="786384" cy="393192"/>
          </a:xfrm>
          <a:prstGeom prst="rect">
            <a:avLst/>
          </a:prstGeom>
          <a:solidFill>
            <a:srgbClr val="0E8C8C"/>
          </a:solidFill>
          <a:ln w="8890">
            <a:solidFill>
              <a:srgbClr val="BFD7E5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3" name="Text 30"/>
          <p:cNvSpPr/>
          <p:nvPr/>
        </p:nvSpPr>
        <p:spPr>
          <a:xfrm>
            <a:off x="5852160" y="1709928"/>
            <a:ext cx="749808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16–22</a:t>
            </a:r>
            <a:endParaRPr lang="en-US" sz="640" dirty="0"/>
          </a:p>
          <a:p>
            <a:pPr marL="0" indent="0" algn="ctr">
              <a:buNone/>
            </a:pPr>
            <a:r>
              <a:rPr lang="en-US" sz="6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Oct</a:t>
            </a:r>
            <a:endParaRPr lang="en-US" sz="640" dirty="0"/>
          </a:p>
        </p:txBody>
      </p:sp>
      <p:sp>
        <p:nvSpPr>
          <p:cNvPr id="34" name="Shape 31"/>
          <p:cNvSpPr/>
          <p:nvPr/>
        </p:nvSpPr>
        <p:spPr>
          <a:xfrm>
            <a:off x="6620256" y="1627632"/>
            <a:ext cx="786384" cy="393192"/>
          </a:xfrm>
          <a:prstGeom prst="rect">
            <a:avLst/>
          </a:prstGeom>
          <a:solidFill>
            <a:srgbClr val="0E8C8C"/>
          </a:solidFill>
          <a:ln w="8890">
            <a:solidFill>
              <a:srgbClr val="BFD7E5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5" name="Text 32"/>
          <p:cNvSpPr/>
          <p:nvPr/>
        </p:nvSpPr>
        <p:spPr>
          <a:xfrm>
            <a:off x="6638544" y="1709928"/>
            <a:ext cx="749808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23–29</a:t>
            </a:r>
            <a:endParaRPr lang="en-US" sz="640" dirty="0"/>
          </a:p>
          <a:p>
            <a:pPr marL="0" indent="0" algn="ctr">
              <a:buNone/>
            </a:pPr>
            <a:r>
              <a:rPr lang="en-US" sz="6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Oct</a:t>
            </a:r>
            <a:endParaRPr lang="en-US" sz="640" dirty="0"/>
          </a:p>
        </p:txBody>
      </p:sp>
      <p:sp>
        <p:nvSpPr>
          <p:cNvPr id="36" name="Shape 33"/>
          <p:cNvSpPr/>
          <p:nvPr/>
        </p:nvSpPr>
        <p:spPr>
          <a:xfrm>
            <a:off x="7406640" y="1627632"/>
            <a:ext cx="786384" cy="393192"/>
          </a:xfrm>
          <a:prstGeom prst="rect">
            <a:avLst/>
          </a:prstGeom>
          <a:solidFill>
            <a:srgbClr val="0E8C8C"/>
          </a:solidFill>
          <a:ln w="8890">
            <a:solidFill>
              <a:srgbClr val="BFD7E5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7" name="Text 34"/>
          <p:cNvSpPr/>
          <p:nvPr/>
        </p:nvSpPr>
        <p:spPr>
          <a:xfrm>
            <a:off x="7424928" y="1709928"/>
            <a:ext cx="749808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 Oct</a:t>
            </a:r>
            <a:endParaRPr lang="en-US" sz="640" dirty="0"/>
          </a:p>
          <a:p>
            <a:pPr marL="0" indent="0" algn="ctr">
              <a:buNone/>
            </a:pPr>
            <a:r>
              <a:rPr lang="en-US" sz="6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Nov</a:t>
            </a:r>
            <a:endParaRPr lang="en-US" sz="640" dirty="0"/>
          </a:p>
        </p:txBody>
      </p:sp>
      <p:sp>
        <p:nvSpPr>
          <p:cNvPr id="38" name="Shape 35"/>
          <p:cNvSpPr/>
          <p:nvPr/>
        </p:nvSpPr>
        <p:spPr>
          <a:xfrm>
            <a:off x="8193024" y="1627632"/>
            <a:ext cx="786384" cy="393192"/>
          </a:xfrm>
          <a:prstGeom prst="rect">
            <a:avLst/>
          </a:prstGeom>
          <a:solidFill>
            <a:srgbClr val="0E8C8C"/>
          </a:solidFill>
          <a:ln w="8890">
            <a:solidFill>
              <a:srgbClr val="BFD7E5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9" name="Text 36"/>
          <p:cNvSpPr/>
          <p:nvPr/>
        </p:nvSpPr>
        <p:spPr>
          <a:xfrm>
            <a:off x="8211312" y="1709928"/>
            <a:ext cx="749808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06–12</a:t>
            </a:r>
            <a:endParaRPr lang="en-US" sz="640" dirty="0"/>
          </a:p>
          <a:p>
            <a:pPr marL="0" indent="0" algn="ctr">
              <a:buNone/>
            </a:pPr>
            <a:r>
              <a:rPr lang="en-US" sz="6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Nov</a:t>
            </a:r>
            <a:endParaRPr lang="en-US" sz="640" dirty="0"/>
          </a:p>
        </p:txBody>
      </p:sp>
      <p:sp>
        <p:nvSpPr>
          <p:cNvPr id="40" name="Shape 37"/>
          <p:cNvSpPr/>
          <p:nvPr/>
        </p:nvSpPr>
        <p:spPr>
          <a:xfrm>
            <a:off x="8979408" y="1627632"/>
            <a:ext cx="786384" cy="393192"/>
          </a:xfrm>
          <a:prstGeom prst="rect">
            <a:avLst/>
          </a:prstGeom>
          <a:solidFill>
            <a:srgbClr val="0E8C8C"/>
          </a:solidFill>
          <a:ln w="8890">
            <a:solidFill>
              <a:srgbClr val="BFD7E5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1" name="Text 38"/>
          <p:cNvSpPr/>
          <p:nvPr/>
        </p:nvSpPr>
        <p:spPr>
          <a:xfrm>
            <a:off x="8997696" y="1709928"/>
            <a:ext cx="749808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13–19</a:t>
            </a:r>
            <a:endParaRPr lang="en-US" sz="640" dirty="0"/>
          </a:p>
          <a:p>
            <a:pPr marL="0" indent="0" algn="ctr">
              <a:buNone/>
            </a:pPr>
            <a:r>
              <a:rPr lang="en-US" sz="6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Nov</a:t>
            </a:r>
            <a:endParaRPr lang="en-US" sz="640" dirty="0"/>
          </a:p>
        </p:txBody>
      </p:sp>
      <p:sp>
        <p:nvSpPr>
          <p:cNvPr id="42" name="Shape 39"/>
          <p:cNvSpPr/>
          <p:nvPr/>
        </p:nvSpPr>
        <p:spPr>
          <a:xfrm>
            <a:off x="9765792" y="1627632"/>
            <a:ext cx="786384" cy="393192"/>
          </a:xfrm>
          <a:prstGeom prst="rect">
            <a:avLst/>
          </a:prstGeom>
          <a:solidFill>
            <a:srgbClr val="0E8C8C"/>
          </a:solidFill>
          <a:ln w="8890">
            <a:solidFill>
              <a:srgbClr val="BFD7E5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3" name="Text 40"/>
          <p:cNvSpPr/>
          <p:nvPr/>
        </p:nvSpPr>
        <p:spPr>
          <a:xfrm>
            <a:off x="9784080" y="1709928"/>
            <a:ext cx="749808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20–26</a:t>
            </a:r>
            <a:endParaRPr lang="en-US" sz="640" dirty="0"/>
          </a:p>
          <a:p>
            <a:pPr marL="0" indent="0" algn="ctr">
              <a:buNone/>
            </a:pPr>
            <a:r>
              <a:rPr lang="en-US" sz="6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Nov</a:t>
            </a:r>
            <a:endParaRPr lang="en-US" sz="640" dirty="0"/>
          </a:p>
        </p:txBody>
      </p:sp>
      <p:sp>
        <p:nvSpPr>
          <p:cNvPr id="44" name="Shape 41"/>
          <p:cNvSpPr/>
          <p:nvPr/>
        </p:nvSpPr>
        <p:spPr>
          <a:xfrm>
            <a:off x="10552176" y="1627632"/>
            <a:ext cx="786384" cy="393192"/>
          </a:xfrm>
          <a:prstGeom prst="rect">
            <a:avLst/>
          </a:prstGeom>
          <a:solidFill>
            <a:srgbClr val="0E8C8C"/>
          </a:solidFill>
          <a:ln w="8890">
            <a:solidFill>
              <a:srgbClr val="BFD7E5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5" name="Text 42"/>
          <p:cNvSpPr/>
          <p:nvPr/>
        </p:nvSpPr>
        <p:spPr>
          <a:xfrm>
            <a:off x="10570464" y="1709928"/>
            <a:ext cx="749808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 Nov</a:t>
            </a:r>
            <a:endParaRPr lang="en-US" sz="640" dirty="0"/>
          </a:p>
          <a:p>
            <a:pPr marL="0" indent="0" algn="ctr">
              <a:buNone/>
            </a:pPr>
            <a:r>
              <a:rPr lang="en-US" sz="6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Dic</a:t>
            </a:r>
            <a:endParaRPr lang="en-US" sz="640" dirty="0"/>
          </a:p>
        </p:txBody>
      </p:sp>
      <p:sp>
        <p:nvSpPr>
          <p:cNvPr id="46" name="Shape 43"/>
          <p:cNvSpPr/>
          <p:nvPr/>
        </p:nvSpPr>
        <p:spPr>
          <a:xfrm>
            <a:off x="320040" y="2020824"/>
            <a:ext cx="1737360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7" name="Shape 44"/>
          <p:cNvSpPr/>
          <p:nvPr/>
        </p:nvSpPr>
        <p:spPr>
          <a:xfrm>
            <a:off x="2057400" y="2020824"/>
            <a:ext cx="1417320" cy="484632"/>
          </a:xfrm>
          <a:prstGeom prst="rect">
            <a:avLst/>
          </a:prstGeom>
          <a:solidFill>
            <a:srgbClr val="F9FC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8" name="Text 45"/>
          <p:cNvSpPr/>
          <p:nvPr/>
        </p:nvSpPr>
        <p:spPr>
          <a:xfrm>
            <a:off x="374904" y="2130552"/>
            <a:ext cx="162763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0B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Sprint 1 · Cierre base técnica</a:t>
            </a:r>
            <a:endParaRPr lang="en-US" sz="680" dirty="0"/>
          </a:p>
        </p:txBody>
      </p:sp>
      <p:sp>
        <p:nvSpPr>
          <p:cNvPr id="49" name="Text 46"/>
          <p:cNvSpPr/>
          <p:nvPr/>
        </p:nvSpPr>
        <p:spPr>
          <a:xfrm>
            <a:off x="2112264" y="2148840"/>
            <a:ext cx="1307592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590" dirty="0">
                <a:solidFill>
                  <a:srgbClr val="4F6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Arquitectura · Modelo · Prototipo</a:t>
            </a:r>
            <a:endParaRPr lang="en-US" sz="590" dirty="0"/>
          </a:p>
        </p:txBody>
      </p:sp>
      <p:sp>
        <p:nvSpPr>
          <p:cNvPr id="50" name="Shape 47"/>
          <p:cNvSpPr/>
          <p:nvPr/>
        </p:nvSpPr>
        <p:spPr>
          <a:xfrm>
            <a:off x="3474720" y="2020824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1" name="Shape 48"/>
          <p:cNvSpPr/>
          <p:nvPr/>
        </p:nvSpPr>
        <p:spPr>
          <a:xfrm>
            <a:off x="4261104" y="2020824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2" name="Shape 49"/>
          <p:cNvSpPr/>
          <p:nvPr/>
        </p:nvSpPr>
        <p:spPr>
          <a:xfrm>
            <a:off x="5047488" y="2020824"/>
            <a:ext cx="786384" cy="484632"/>
          </a:xfrm>
          <a:prstGeom prst="rect">
            <a:avLst/>
          </a:prstGeom>
          <a:solidFill>
            <a:srgbClr val="FFF9DB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3" name="Shape 50"/>
          <p:cNvSpPr/>
          <p:nvPr/>
        </p:nvSpPr>
        <p:spPr>
          <a:xfrm>
            <a:off x="5833872" y="2020824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4" name="Shape 51"/>
          <p:cNvSpPr/>
          <p:nvPr/>
        </p:nvSpPr>
        <p:spPr>
          <a:xfrm>
            <a:off x="6620256" y="2020824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5" name="Shape 52"/>
          <p:cNvSpPr/>
          <p:nvPr/>
        </p:nvSpPr>
        <p:spPr>
          <a:xfrm>
            <a:off x="7406640" y="2020824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6" name="Shape 53"/>
          <p:cNvSpPr/>
          <p:nvPr/>
        </p:nvSpPr>
        <p:spPr>
          <a:xfrm>
            <a:off x="8193024" y="2020824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7" name="Shape 54"/>
          <p:cNvSpPr/>
          <p:nvPr/>
        </p:nvSpPr>
        <p:spPr>
          <a:xfrm>
            <a:off x="8979408" y="2020824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8" name="Shape 55"/>
          <p:cNvSpPr/>
          <p:nvPr/>
        </p:nvSpPr>
        <p:spPr>
          <a:xfrm>
            <a:off x="9765792" y="2020824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9" name="Shape 56"/>
          <p:cNvSpPr/>
          <p:nvPr/>
        </p:nvSpPr>
        <p:spPr>
          <a:xfrm>
            <a:off x="10552176" y="2020824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0" name="Shape 57"/>
          <p:cNvSpPr/>
          <p:nvPr/>
        </p:nvSpPr>
        <p:spPr>
          <a:xfrm>
            <a:off x="320040" y="2505456"/>
            <a:ext cx="1737360" cy="484632"/>
          </a:xfrm>
          <a:prstGeom prst="rect">
            <a:avLst/>
          </a:prstGeom>
          <a:solidFill>
            <a:srgbClr val="F6FAFD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1" name="Shape 58"/>
          <p:cNvSpPr/>
          <p:nvPr/>
        </p:nvSpPr>
        <p:spPr>
          <a:xfrm>
            <a:off x="2057400" y="2505456"/>
            <a:ext cx="1417320" cy="484632"/>
          </a:xfrm>
          <a:prstGeom prst="rect">
            <a:avLst/>
          </a:prstGeom>
          <a:solidFill>
            <a:srgbClr val="EEF6FB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2" name="Text 59"/>
          <p:cNvSpPr/>
          <p:nvPr/>
        </p:nvSpPr>
        <p:spPr>
          <a:xfrm>
            <a:off x="374904" y="2615184"/>
            <a:ext cx="162763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0B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Sprint 2 · Arquitectura y diseño</a:t>
            </a:r>
            <a:endParaRPr lang="en-US" sz="680" dirty="0"/>
          </a:p>
        </p:txBody>
      </p:sp>
      <p:sp>
        <p:nvSpPr>
          <p:cNvPr id="63" name="Text 60"/>
          <p:cNvSpPr/>
          <p:nvPr/>
        </p:nvSpPr>
        <p:spPr>
          <a:xfrm>
            <a:off x="2112264" y="2633472"/>
            <a:ext cx="1307592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590" dirty="0">
                <a:solidFill>
                  <a:srgbClr val="4F6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Casos uso · 4+1 · Modelo conceptual</a:t>
            </a:r>
            <a:endParaRPr lang="en-US" sz="590" dirty="0"/>
          </a:p>
        </p:txBody>
      </p:sp>
      <p:sp>
        <p:nvSpPr>
          <p:cNvPr id="64" name="Shape 61"/>
          <p:cNvSpPr/>
          <p:nvPr/>
        </p:nvSpPr>
        <p:spPr>
          <a:xfrm>
            <a:off x="3474720" y="2505456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5" name="Shape 62"/>
          <p:cNvSpPr/>
          <p:nvPr/>
        </p:nvSpPr>
        <p:spPr>
          <a:xfrm>
            <a:off x="4261104" y="2505456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6" name="Shape 63"/>
          <p:cNvSpPr/>
          <p:nvPr/>
        </p:nvSpPr>
        <p:spPr>
          <a:xfrm>
            <a:off x="5047488" y="2505456"/>
            <a:ext cx="786384" cy="484632"/>
          </a:xfrm>
          <a:prstGeom prst="rect">
            <a:avLst/>
          </a:prstGeom>
          <a:solidFill>
            <a:srgbClr val="FFF9DB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7" name="Shape 64"/>
          <p:cNvSpPr/>
          <p:nvPr/>
        </p:nvSpPr>
        <p:spPr>
          <a:xfrm>
            <a:off x="5833872" y="2505456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8" name="Shape 65"/>
          <p:cNvSpPr/>
          <p:nvPr/>
        </p:nvSpPr>
        <p:spPr>
          <a:xfrm>
            <a:off x="6620256" y="2505456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9" name="Shape 66"/>
          <p:cNvSpPr/>
          <p:nvPr/>
        </p:nvSpPr>
        <p:spPr>
          <a:xfrm>
            <a:off x="7406640" y="2505456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0" name="Shape 67"/>
          <p:cNvSpPr/>
          <p:nvPr/>
        </p:nvSpPr>
        <p:spPr>
          <a:xfrm>
            <a:off x="8193024" y="2505456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1" name="Shape 68"/>
          <p:cNvSpPr/>
          <p:nvPr/>
        </p:nvSpPr>
        <p:spPr>
          <a:xfrm>
            <a:off x="8979408" y="2505456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2" name="Shape 69"/>
          <p:cNvSpPr/>
          <p:nvPr/>
        </p:nvSpPr>
        <p:spPr>
          <a:xfrm>
            <a:off x="9765792" y="2505456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3" name="Shape 70"/>
          <p:cNvSpPr/>
          <p:nvPr/>
        </p:nvSpPr>
        <p:spPr>
          <a:xfrm>
            <a:off x="10552176" y="2505456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4" name="Shape 71"/>
          <p:cNvSpPr/>
          <p:nvPr/>
        </p:nvSpPr>
        <p:spPr>
          <a:xfrm>
            <a:off x="320040" y="2990088"/>
            <a:ext cx="1737360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5" name="Shape 72"/>
          <p:cNvSpPr/>
          <p:nvPr/>
        </p:nvSpPr>
        <p:spPr>
          <a:xfrm>
            <a:off x="2057400" y="2990088"/>
            <a:ext cx="1417320" cy="484632"/>
          </a:xfrm>
          <a:prstGeom prst="rect">
            <a:avLst/>
          </a:prstGeom>
          <a:solidFill>
            <a:srgbClr val="F9FC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6" name="Text 73"/>
          <p:cNvSpPr/>
          <p:nvPr/>
        </p:nvSpPr>
        <p:spPr>
          <a:xfrm>
            <a:off x="374904" y="3099816"/>
            <a:ext cx="162763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0B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Sprint 3 · Implementación base</a:t>
            </a:r>
            <a:endParaRPr lang="en-US" sz="680" dirty="0"/>
          </a:p>
        </p:txBody>
      </p:sp>
      <p:sp>
        <p:nvSpPr>
          <p:cNvPr id="77" name="Text 74"/>
          <p:cNvSpPr/>
          <p:nvPr/>
        </p:nvSpPr>
        <p:spPr>
          <a:xfrm>
            <a:off x="2112264" y="3118104"/>
            <a:ext cx="1307592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590" dirty="0">
                <a:solidFill>
                  <a:srgbClr val="4F6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 ER · Spring Boot · BD</a:t>
            </a:r>
            <a:endParaRPr lang="en-US" sz="590" dirty="0"/>
          </a:p>
        </p:txBody>
      </p:sp>
      <p:sp>
        <p:nvSpPr>
          <p:cNvPr id="78" name="Shape 75"/>
          <p:cNvSpPr/>
          <p:nvPr/>
        </p:nvSpPr>
        <p:spPr>
          <a:xfrm>
            <a:off x="3474720" y="2990088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9" name="Shape 76"/>
          <p:cNvSpPr/>
          <p:nvPr/>
        </p:nvSpPr>
        <p:spPr>
          <a:xfrm>
            <a:off x="4261104" y="2990088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0" name="Shape 77"/>
          <p:cNvSpPr/>
          <p:nvPr/>
        </p:nvSpPr>
        <p:spPr>
          <a:xfrm>
            <a:off x="5047488" y="2990088"/>
            <a:ext cx="786384" cy="484632"/>
          </a:xfrm>
          <a:prstGeom prst="rect">
            <a:avLst/>
          </a:prstGeom>
          <a:solidFill>
            <a:srgbClr val="FFF9DB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1" name="Shape 78"/>
          <p:cNvSpPr/>
          <p:nvPr/>
        </p:nvSpPr>
        <p:spPr>
          <a:xfrm>
            <a:off x="5833872" y="2990088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2" name="Shape 79"/>
          <p:cNvSpPr/>
          <p:nvPr/>
        </p:nvSpPr>
        <p:spPr>
          <a:xfrm>
            <a:off x="6620256" y="2990088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3" name="Shape 80"/>
          <p:cNvSpPr/>
          <p:nvPr/>
        </p:nvSpPr>
        <p:spPr>
          <a:xfrm>
            <a:off x="7406640" y="2990088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4" name="Shape 81"/>
          <p:cNvSpPr/>
          <p:nvPr/>
        </p:nvSpPr>
        <p:spPr>
          <a:xfrm>
            <a:off x="8193024" y="2990088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5" name="Shape 82"/>
          <p:cNvSpPr/>
          <p:nvPr/>
        </p:nvSpPr>
        <p:spPr>
          <a:xfrm>
            <a:off x="8979408" y="2990088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6" name="Shape 83"/>
          <p:cNvSpPr/>
          <p:nvPr/>
        </p:nvSpPr>
        <p:spPr>
          <a:xfrm>
            <a:off x="9765792" y="2990088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7" name="Shape 84"/>
          <p:cNvSpPr/>
          <p:nvPr/>
        </p:nvSpPr>
        <p:spPr>
          <a:xfrm>
            <a:off x="10552176" y="2990088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8" name="Shape 85"/>
          <p:cNvSpPr/>
          <p:nvPr/>
        </p:nvSpPr>
        <p:spPr>
          <a:xfrm>
            <a:off x="320040" y="3474720"/>
            <a:ext cx="1737360" cy="484632"/>
          </a:xfrm>
          <a:prstGeom prst="rect">
            <a:avLst/>
          </a:prstGeom>
          <a:solidFill>
            <a:srgbClr val="F6FAFD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9" name="Shape 86"/>
          <p:cNvSpPr/>
          <p:nvPr/>
        </p:nvSpPr>
        <p:spPr>
          <a:xfrm>
            <a:off x="2057400" y="3474720"/>
            <a:ext cx="1417320" cy="484632"/>
          </a:xfrm>
          <a:prstGeom prst="rect">
            <a:avLst/>
          </a:prstGeom>
          <a:solidFill>
            <a:srgbClr val="EEF6FB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0" name="Text 87"/>
          <p:cNvSpPr/>
          <p:nvPr/>
        </p:nvSpPr>
        <p:spPr>
          <a:xfrm>
            <a:off x="374904" y="3584448"/>
            <a:ext cx="162763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0B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Sprint 4 · Jira / dashboards</a:t>
            </a:r>
            <a:endParaRPr lang="en-US" sz="680" dirty="0"/>
          </a:p>
        </p:txBody>
      </p:sp>
      <p:sp>
        <p:nvSpPr>
          <p:cNvPr id="91" name="Text 88"/>
          <p:cNvSpPr/>
          <p:nvPr/>
        </p:nvSpPr>
        <p:spPr>
          <a:xfrm>
            <a:off x="2112264" y="3602736"/>
            <a:ext cx="1307592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590" dirty="0">
                <a:solidFill>
                  <a:srgbClr val="4F6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Integración · KPI QE</a:t>
            </a:r>
            <a:endParaRPr lang="en-US" sz="590" dirty="0"/>
          </a:p>
        </p:txBody>
      </p:sp>
      <p:sp>
        <p:nvSpPr>
          <p:cNvPr id="92" name="Shape 89"/>
          <p:cNvSpPr/>
          <p:nvPr/>
        </p:nvSpPr>
        <p:spPr>
          <a:xfrm>
            <a:off x="3474720" y="3474720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3" name="Shape 90"/>
          <p:cNvSpPr/>
          <p:nvPr/>
        </p:nvSpPr>
        <p:spPr>
          <a:xfrm>
            <a:off x="4261104" y="3474720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4" name="Shape 91"/>
          <p:cNvSpPr/>
          <p:nvPr/>
        </p:nvSpPr>
        <p:spPr>
          <a:xfrm>
            <a:off x="5047488" y="3474720"/>
            <a:ext cx="786384" cy="484632"/>
          </a:xfrm>
          <a:prstGeom prst="rect">
            <a:avLst/>
          </a:prstGeom>
          <a:solidFill>
            <a:srgbClr val="FFF9DB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5" name="Shape 92"/>
          <p:cNvSpPr/>
          <p:nvPr/>
        </p:nvSpPr>
        <p:spPr>
          <a:xfrm>
            <a:off x="5833872" y="3474720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6" name="Shape 93"/>
          <p:cNvSpPr/>
          <p:nvPr/>
        </p:nvSpPr>
        <p:spPr>
          <a:xfrm>
            <a:off x="6620256" y="3474720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7" name="Shape 94"/>
          <p:cNvSpPr/>
          <p:nvPr/>
        </p:nvSpPr>
        <p:spPr>
          <a:xfrm>
            <a:off x="7406640" y="3474720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8" name="Shape 95"/>
          <p:cNvSpPr/>
          <p:nvPr/>
        </p:nvSpPr>
        <p:spPr>
          <a:xfrm>
            <a:off x="8193024" y="3474720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9" name="Shape 96"/>
          <p:cNvSpPr/>
          <p:nvPr/>
        </p:nvSpPr>
        <p:spPr>
          <a:xfrm>
            <a:off x="8979408" y="3474720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0" name="Shape 97"/>
          <p:cNvSpPr/>
          <p:nvPr/>
        </p:nvSpPr>
        <p:spPr>
          <a:xfrm>
            <a:off x="9765792" y="3474720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1" name="Shape 98"/>
          <p:cNvSpPr/>
          <p:nvPr/>
        </p:nvSpPr>
        <p:spPr>
          <a:xfrm>
            <a:off x="10552176" y="3474720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2" name="Shape 99"/>
          <p:cNvSpPr/>
          <p:nvPr/>
        </p:nvSpPr>
        <p:spPr>
          <a:xfrm>
            <a:off x="320040" y="3959352"/>
            <a:ext cx="1737360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3" name="Shape 100"/>
          <p:cNvSpPr/>
          <p:nvPr/>
        </p:nvSpPr>
        <p:spPr>
          <a:xfrm>
            <a:off x="2057400" y="3959352"/>
            <a:ext cx="1417320" cy="484632"/>
          </a:xfrm>
          <a:prstGeom prst="rect">
            <a:avLst/>
          </a:prstGeom>
          <a:solidFill>
            <a:srgbClr val="F9FC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4" name="Text 101"/>
          <p:cNvSpPr/>
          <p:nvPr/>
        </p:nvSpPr>
        <p:spPr>
          <a:xfrm>
            <a:off x="374904" y="4069080"/>
            <a:ext cx="162763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0B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Sprint 5 · Validación funcional</a:t>
            </a:r>
            <a:endParaRPr lang="en-US" sz="680" dirty="0"/>
          </a:p>
        </p:txBody>
      </p:sp>
      <p:sp>
        <p:nvSpPr>
          <p:cNvPr id="105" name="Text 102"/>
          <p:cNvSpPr/>
          <p:nvPr/>
        </p:nvSpPr>
        <p:spPr>
          <a:xfrm>
            <a:off x="2112264" y="4087368"/>
            <a:ext cx="1307592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590" dirty="0">
                <a:solidFill>
                  <a:srgbClr val="4F6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Pruebas · Medición SIN/CON</a:t>
            </a:r>
            <a:endParaRPr lang="en-US" sz="590" dirty="0"/>
          </a:p>
        </p:txBody>
      </p:sp>
      <p:sp>
        <p:nvSpPr>
          <p:cNvPr id="106" name="Shape 103"/>
          <p:cNvSpPr/>
          <p:nvPr/>
        </p:nvSpPr>
        <p:spPr>
          <a:xfrm>
            <a:off x="3474720" y="3959352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7" name="Shape 104"/>
          <p:cNvSpPr/>
          <p:nvPr/>
        </p:nvSpPr>
        <p:spPr>
          <a:xfrm>
            <a:off x="4261104" y="3959352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8" name="Shape 105"/>
          <p:cNvSpPr/>
          <p:nvPr/>
        </p:nvSpPr>
        <p:spPr>
          <a:xfrm>
            <a:off x="5047488" y="3959352"/>
            <a:ext cx="786384" cy="484632"/>
          </a:xfrm>
          <a:prstGeom prst="rect">
            <a:avLst/>
          </a:prstGeom>
          <a:solidFill>
            <a:srgbClr val="FFF9DB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9" name="Shape 106"/>
          <p:cNvSpPr/>
          <p:nvPr/>
        </p:nvSpPr>
        <p:spPr>
          <a:xfrm>
            <a:off x="5833872" y="3959352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0" name="Shape 107"/>
          <p:cNvSpPr/>
          <p:nvPr/>
        </p:nvSpPr>
        <p:spPr>
          <a:xfrm>
            <a:off x="6620256" y="3959352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1" name="Shape 108"/>
          <p:cNvSpPr/>
          <p:nvPr/>
        </p:nvSpPr>
        <p:spPr>
          <a:xfrm>
            <a:off x="7406640" y="3959352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2" name="Shape 109"/>
          <p:cNvSpPr/>
          <p:nvPr/>
        </p:nvSpPr>
        <p:spPr>
          <a:xfrm>
            <a:off x="8193024" y="3959352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3" name="Shape 110"/>
          <p:cNvSpPr/>
          <p:nvPr/>
        </p:nvSpPr>
        <p:spPr>
          <a:xfrm>
            <a:off x="8979408" y="3959352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4" name="Shape 111"/>
          <p:cNvSpPr/>
          <p:nvPr/>
        </p:nvSpPr>
        <p:spPr>
          <a:xfrm>
            <a:off x="9765792" y="3959352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5" name="Shape 112"/>
          <p:cNvSpPr/>
          <p:nvPr/>
        </p:nvSpPr>
        <p:spPr>
          <a:xfrm>
            <a:off x="10552176" y="3959352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6" name="Shape 113"/>
          <p:cNvSpPr/>
          <p:nvPr/>
        </p:nvSpPr>
        <p:spPr>
          <a:xfrm>
            <a:off x="320040" y="4443984"/>
            <a:ext cx="1737360" cy="484632"/>
          </a:xfrm>
          <a:prstGeom prst="rect">
            <a:avLst/>
          </a:prstGeom>
          <a:solidFill>
            <a:srgbClr val="F6FAFD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7" name="Shape 114"/>
          <p:cNvSpPr/>
          <p:nvPr/>
        </p:nvSpPr>
        <p:spPr>
          <a:xfrm>
            <a:off x="2057400" y="4443984"/>
            <a:ext cx="1417320" cy="484632"/>
          </a:xfrm>
          <a:prstGeom prst="rect">
            <a:avLst/>
          </a:prstGeom>
          <a:solidFill>
            <a:srgbClr val="EEF6FB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8" name="Text 115"/>
          <p:cNvSpPr/>
          <p:nvPr/>
        </p:nvSpPr>
        <p:spPr>
          <a:xfrm>
            <a:off x="374904" y="4553712"/>
            <a:ext cx="162763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0B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Sprint 6 · Cierre técnico</a:t>
            </a:r>
            <a:endParaRPr lang="en-US" sz="680" dirty="0"/>
          </a:p>
        </p:txBody>
      </p:sp>
      <p:sp>
        <p:nvSpPr>
          <p:cNvPr id="119" name="Text 116"/>
          <p:cNvSpPr/>
          <p:nvPr/>
        </p:nvSpPr>
        <p:spPr>
          <a:xfrm>
            <a:off x="2112264" y="4572000"/>
            <a:ext cx="1307592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590" dirty="0">
                <a:solidFill>
                  <a:srgbClr val="4F6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Docs · Costos · Release freeze</a:t>
            </a:r>
            <a:endParaRPr lang="en-US" sz="590" dirty="0"/>
          </a:p>
        </p:txBody>
      </p:sp>
      <p:sp>
        <p:nvSpPr>
          <p:cNvPr id="120" name="Shape 117"/>
          <p:cNvSpPr/>
          <p:nvPr/>
        </p:nvSpPr>
        <p:spPr>
          <a:xfrm>
            <a:off x="3474720" y="4443984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1" name="Shape 118"/>
          <p:cNvSpPr/>
          <p:nvPr/>
        </p:nvSpPr>
        <p:spPr>
          <a:xfrm>
            <a:off x="4261104" y="4443984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2" name="Shape 119"/>
          <p:cNvSpPr/>
          <p:nvPr/>
        </p:nvSpPr>
        <p:spPr>
          <a:xfrm>
            <a:off x="5047488" y="4443984"/>
            <a:ext cx="786384" cy="484632"/>
          </a:xfrm>
          <a:prstGeom prst="rect">
            <a:avLst/>
          </a:prstGeom>
          <a:solidFill>
            <a:srgbClr val="FFF9DB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3" name="Shape 120"/>
          <p:cNvSpPr/>
          <p:nvPr/>
        </p:nvSpPr>
        <p:spPr>
          <a:xfrm>
            <a:off x="5833872" y="4443984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4" name="Shape 121"/>
          <p:cNvSpPr/>
          <p:nvPr/>
        </p:nvSpPr>
        <p:spPr>
          <a:xfrm>
            <a:off x="6620256" y="4443984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5" name="Shape 122"/>
          <p:cNvSpPr/>
          <p:nvPr/>
        </p:nvSpPr>
        <p:spPr>
          <a:xfrm>
            <a:off x="7406640" y="4443984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6" name="Shape 123"/>
          <p:cNvSpPr/>
          <p:nvPr/>
        </p:nvSpPr>
        <p:spPr>
          <a:xfrm>
            <a:off x="8193024" y="4443984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7" name="Shape 124"/>
          <p:cNvSpPr/>
          <p:nvPr/>
        </p:nvSpPr>
        <p:spPr>
          <a:xfrm>
            <a:off x="8979408" y="4443984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8" name="Shape 125"/>
          <p:cNvSpPr/>
          <p:nvPr/>
        </p:nvSpPr>
        <p:spPr>
          <a:xfrm>
            <a:off x="9765792" y="4443984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9" name="Shape 126"/>
          <p:cNvSpPr/>
          <p:nvPr/>
        </p:nvSpPr>
        <p:spPr>
          <a:xfrm>
            <a:off x="10552176" y="4443984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0" name="Shape 127"/>
          <p:cNvSpPr/>
          <p:nvPr/>
        </p:nvSpPr>
        <p:spPr>
          <a:xfrm>
            <a:off x="320040" y="4928616"/>
            <a:ext cx="1737360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1" name="Shape 128"/>
          <p:cNvSpPr/>
          <p:nvPr/>
        </p:nvSpPr>
        <p:spPr>
          <a:xfrm>
            <a:off x="2057400" y="4928616"/>
            <a:ext cx="1417320" cy="484632"/>
          </a:xfrm>
          <a:prstGeom prst="rect">
            <a:avLst/>
          </a:prstGeom>
          <a:solidFill>
            <a:srgbClr val="F9FC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2" name="Text 129"/>
          <p:cNvSpPr/>
          <p:nvPr/>
        </p:nvSpPr>
        <p:spPr>
          <a:xfrm>
            <a:off x="374904" y="5038344"/>
            <a:ext cx="162763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0B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Comisión · Presentación</a:t>
            </a:r>
            <a:endParaRPr lang="en-US" sz="680" dirty="0"/>
          </a:p>
        </p:txBody>
      </p:sp>
      <p:sp>
        <p:nvSpPr>
          <p:cNvPr id="133" name="Text 130"/>
          <p:cNvSpPr/>
          <p:nvPr/>
        </p:nvSpPr>
        <p:spPr>
          <a:xfrm>
            <a:off x="2112264" y="5056632"/>
            <a:ext cx="1307592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590" dirty="0">
                <a:solidFill>
                  <a:srgbClr val="4F6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· Defensa · Entrega</a:t>
            </a:r>
            <a:endParaRPr lang="en-US" sz="590" dirty="0"/>
          </a:p>
        </p:txBody>
      </p:sp>
      <p:sp>
        <p:nvSpPr>
          <p:cNvPr id="134" name="Shape 131"/>
          <p:cNvSpPr/>
          <p:nvPr/>
        </p:nvSpPr>
        <p:spPr>
          <a:xfrm>
            <a:off x="3474720" y="4928616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5" name="Shape 132"/>
          <p:cNvSpPr/>
          <p:nvPr/>
        </p:nvSpPr>
        <p:spPr>
          <a:xfrm>
            <a:off x="4261104" y="4928616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6" name="Shape 133"/>
          <p:cNvSpPr/>
          <p:nvPr/>
        </p:nvSpPr>
        <p:spPr>
          <a:xfrm>
            <a:off x="5047488" y="4928616"/>
            <a:ext cx="786384" cy="484632"/>
          </a:xfrm>
          <a:prstGeom prst="rect">
            <a:avLst/>
          </a:prstGeom>
          <a:solidFill>
            <a:srgbClr val="FFF9DB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7" name="Shape 134"/>
          <p:cNvSpPr/>
          <p:nvPr/>
        </p:nvSpPr>
        <p:spPr>
          <a:xfrm>
            <a:off x="5833872" y="4928616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8" name="Shape 135"/>
          <p:cNvSpPr/>
          <p:nvPr/>
        </p:nvSpPr>
        <p:spPr>
          <a:xfrm>
            <a:off x="6620256" y="4928616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9" name="Shape 136"/>
          <p:cNvSpPr/>
          <p:nvPr/>
        </p:nvSpPr>
        <p:spPr>
          <a:xfrm>
            <a:off x="7406640" y="4928616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0" name="Shape 137"/>
          <p:cNvSpPr/>
          <p:nvPr/>
        </p:nvSpPr>
        <p:spPr>
          <a:xfrm>
            <a:off x="8193024" y="4928616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1" name="Shape 138"/>
          <p:cNvSpPr/>
          <p:nvPr/>
        </p:nvSpPr>
        <p:spPr>
          <a:xfrm>
            <a:off x="8979408" y="4928616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2" name="Shape 139"/>
          <p:cNvSpPr/>
          <p:nvPr/>
        </p:nvSpPr>
        <p:spPr>
          <a:xfrm>
            <a:off x="9765792" y="4928616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3" name="Shape 140"/>
          <p:cNvSpPr/>
          <p:nvPr/>
        </p:nvSpPr>
        <p:spPr>
          <a:xfrm>
            <a:off x="10552176" y="4928616"/>
            <a:ext cx="786384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D4E3E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4" name="Shape 141"/>
          <p:cNvSpPr/>
          <p:nvPr/>
        </p:nvSpPr>
        <p:spPr>
          <a:xfrm>
            <a:off x="3511296" y="2103120"/>
            <a:ext cx="713232" cy="320040"/>
          </a:xfrm>
          <a:prstGeom prst="roundRect">
            <a:avLst/>
          </a:prstGeom>
          <a:solidFill>
            <a:srgbClr val="13B889"/>
          </a:solidFill>
          <a:ln w="10160">
            <a:solidFill>
              <a:srgbClr val="13B88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5" name="Text 142"/>
          <p:cNvSpPr/>
          <p:nvPr/>
        </p:nvSpPr>
        <p:spPr>
          <a:xfrm>
            <a:off x="3538728" y="2139696"/>
            <a:ext cx="658368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100%</a:t>
            </a:r>
            <a:endParaRPr lang="en-US" sz="610" dirty="0"/>
          </a:p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Sprint 1</a:t>
            </a:r>
            <a:endParaRPr lang="en-US" sz="610" dirty="0"/>
          </a:p>
        </p:txBody>
      </p:sp>
      <p:sp>
        <p:nvSpPr>
          <p:cNvPr id="146" name="Shape 143"/>
          <p:cNvSpPr/>
          <p:nvPr/>
        </p:nvSpPr>
        <p:spPr>
          <a:xfrm>
            <a:off x="4297680" y="2587752"/>
            <a:ext cx="713232" cy="320040"/>
          </a:xfrm>
          <a:prstGeom prst="roundRect">
            <a:avLst/>
          </a:prstGeom>
          <a:solidFill>
            <a:srgbClr val="13B889"/>
          </a:solidFill>
          <a:ln w="10160">
            <a:solidFill>
              <a:srgbClr val="13B88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7" name="Text 144"/>
          <p:cNvSpPr/>
          <p:nvPr/>
        </p:nvSpPr>
        <p:spPr>
          <a:xfrm>
            <a:off x="4325112" y="2624328"/>
            <a:ext cx="658368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100%</a:t>
            </a:r>
            <a:endParaRPr lang="en-US" sz="610" dirty="0"/>
          </a:p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Sprint 2</a:t>
            </a:r>
            <a:endParaRPr lang="en-US" sz="610" dirty="0"/>
          </a:p>
        </p:txBody>
      </p:sp>
      <p:sp>
        <p:nvSpPr>
          <p:cNvPr id="148" name="Shape 145"/>
          <p:cNvSpPr/>
          <p:nvPr/>
        </p:nvSpPr>
        <p:spPr>
          <a:xfrm>
            <a:off x="5084064" y="3072384"/>
            <a:ext cx="713232" cy="320040"/>
          </a:xfrm>
          <a:prstGeom prst="roundRect">
            <a:avLst/>
          </a:prstGeom>
          <a:solidFill>
            <a:srgbClr val="179FE3"/>
          </a:solidFill>
          <a:ln w="10160">
            <a:solidFill>
              <a:srgbClr val="179FE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9" name="Text 146"/>
          <p:cNvSpPr/>
          <p:nvPr/>
        </p:nvSpPr>
        <p:spPr>
          <a:xfrm>
            <a:off x="5111496" y="3108960"/>
            <a:ext cx="658368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curso</a:t>
            </a:r>
            <a:endParaRPr lang="en-US" sz="610" dirty="0"/>
          </a:p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 + API</a:t>
            </a:r>
            <a:endParaRPr lang="en-US" sz="610" dirty="0"/>
          </a:p>
        </p:txBody>
      </p:sp>
      <p:sp>
        <p:nvSpPr>
          <p:cNvPr id="150" name="Shape 147"/>
          <p:cNvSpPr/>
          <p:nvPr/>
        </p:nvSpPr>
        <p:spPr>
          <a:xfrm>
            <a:off x="5870448" y="3072384"/>
            <a:ext cx="713232" cy="320040"/>
          </a:xfrm>
          <a:prstGeom prst="roundRect">
            <a:avLst/>
          </a:prstGeom>
          <a:solidFill>
            <a:srgbClr val="179FE3"/>
          </a:solidFill>
          <a:ln w="10160">
            <a:solidFill>
              <a:srgbClr val="179FE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1" name="Text 148"/>
          <p:cNvSpPr/>
          <p:nvPr/>
        </p:nvSpPr>
        <p:spPr>
          <a:xfrm>
            <a:off x="5897880" y="3108960"/>
            <a:ext cx="658368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Persist.</a:t>
            </a:r>
            <a:endParaRPr lang="en-US" sz="610" dirty="0"/>
          </a:p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CRUD + BD</a:t>
            </a:r>
            <a:endParaRPr lang="en-US" sz="610" dirty="0"/>
          </a:p>
        </p:txBody>
      </p:sp>
      <p:sp>
        <p:nvSpPr>
          <p:cNvPr id="152" name="Shape 149"/>
          <p:cNvSpPr/>
          <p:nvPr/>
        </p:nvSpPr>
        <p:spPr>
          <a:xfrm>
            <a:off x="6656832" y="3072384"/>
            <a:ext cx="713232" cy="320040"/>
          </a:xfrm>
          <a:prstGeom prst="roundRect">
            <a:avLst/>
          </a:prstGeom>
          <a:solidFill>
            <a:srgbClr val="1F78D1"/>
          </a:solidFill>
          <a:ln w="10160">
            <a:solidFill>
              <a:srgbClr val="1F78D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3" name="Text 150"/>
          <p:cNvSpPr/>
          <p:nvPr/>
        </p:nvSpPr>
        <p:spPr>
          <a:xfrm>
            <a:off x="6684264" y="3108960"/>
            <a:ext cx="658368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610" dirty="0"/>
          </a:p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Sprint 3</a:t>
            </a:r>
            <a:endParaRPr lang="en-US" sz="610" dirty="0"/>
          </a:p>
        </p:txBody>
      </p:sp>
      <p:sp>
        <p:nvSpPr>
          <p:cNvPr id="154" name="Shape 151"/>
          <p:cNvSpPr/>
          <p:nvPr/>
        </p:nvSpPr>
        <p:spPr>
          <a:xfrm>
            <a:off x="6656832" y="3557016"/>
            <a:ext cx="713232" cy="320040"/>
          </a:xfrm>
          <a:prstGeom prst="roundRect">
            <a:avLst/>
          </a:prstGeom>
          <a:solidFill>
            <a:srgbClr val="7C56E8"/>
          </a:solidFill>
          <a:ln w="10160">
            <a:solidFill>
              <a:srgbClr val="7C56E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5" name="Text 152"/>
          <p:cNvSpPr/>
          <p:nvPr/>
        </p:nvSpPr>
        <p:spPr>
          <a:xfrm>
            <a:off x="6684264" y="3593592"/>
            <a:ext cx="658368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Jira / CSV</a:t>
            </a:r>
            <a:endParaRPr lang="en-US" sz="610" dirty="0"/>
          </a:p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</a:t>
            </a:r>
            <a:endParaRPr lang="en-US" sz="610" dirty="0"/>
          </a:p>
        </p:txBody>
      </p:sp>
      <p:sp>
        <p:nvSpPr>
          <p:cNvPr id="156" name="Shape 153"/>
          <p:cNvSpPr/>
          <p:nvPr/>
        </p:nvSpPr>
        <p:spPr>
          <a:xfrm>
            <a:off x="7443216" y="3557016"/>
            <a:ext cx="713232" cy="320040"/>
          </a:xfrm>
          <a:prstGeom prst="roundRect">
            <a:avLst/>
          </a:prstGeom>
          <a:solidFill>
            <a:srgbClr val="7C56E8"/>
          </a:solidFill>
          <a:ln w="10160">
            <a:solidFill>
              <a:srgbClr val="7C56E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7" name="Text 154"/>
          <p:cNvSpPr/>
          <p:nvPr/>
        </p:nvSpPr>
        <p:spPr>
          <a:xfrm>
            <a:off x="7470648" y="3593592"/>
            <a:ext cx="658368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+</a:t>
            </a:r>
            <a:endParaRPr lang="en-US" sz="610" dirty="0"/>
          </a:p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</a:t>
            </a:r>
            <a:endParaRPr lang="en-US" sz="610" dirty="0"/>
          </a:p>
        </p:txBody>
      </p:sp>
      <p:sp>
        <p:nvSpPr>
          <p:cNvPr id="158" name="Shape 155"/>
          <p:cNvSpPr/>
          <p:nvPr/>
        </p:nvSpPr>
        <p:spPr>
          <a:xfrm>
            <a:off x="8229600" y="4041648"/>
            <a:ext cx="713232" cy="320040"/>
          </a:xfrm>
          <a:prstGeom prst="roundRect">
            <a:avLst/>
          </a:prstGeom>
          <a:solidFill>
            <a:srgbClr val="F59E0B"/>
          </a:solidFill>
          <a:ln w="101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9" name="Text 156"/>
          <p:cNvSpPr/>
          <p:nvPr/>
        </p:nvSpPr>
        <p:spPr>
          <a:xfrm>
            <a:off x="8257032" y="4078224"/>
            <a:ext cx="658368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Pruebas</a:t>
            </a:r>
            <a:endParaRPr lang="en-US" sz="610" dirty="0"/>
          </a:p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funcionales</a:t>
            </a:r>
            <a:endParaRPr lang="en-US" sz="610" dirty="0"/>
          </a:p>
        </p:txBody>
      </p:sp>
      <p:sp>
        <p:nvSpPr>
          <p:cNvPr id="160" name="Shape 157"/>
          <p:cNvSpPr/>
          <p:nvPr/>
        </p:nvSpPr>
        <p:spPr>
          <a:xfrm>
            <a:off x="9015984" y="4041648"/>
            <a:ext cx="713232" cy="320040"/>
          </a:xfrm>
          <a:prstGeom prst="roundRect">
            <a:avLst/>
          </a:prstGeom>
          <a:solidFill>
            <a:srgbClr val="F59E0B"/>
          </a:solidFill>
          <a:ln w="101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1" name="Text 158"/>
          <p:cNvSpPr/>
          <p:nvPr/>
        </p:nvSpPr>
        <p:spPr>
          <a:xfrm>
            <a:off x="9043416" y="4078224"/>
            <a:ext cx="658368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SIN/CON</a:t>
            </a:r>
            <a:endParaRPr lang="en-US" sz="610" dirty="0"/>
          </a:p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 ajustes</a:t>
            </a:r>
            <a:endParaRPr lang="en-US" sz="610" dirty="0"/>
          </a:p>
        </p:txBody>
      </p:sp>
      <p:sp>
        <p:nvSpPr>
          <p:cNvPr id="162" name="Shape 159"/>
          <p:cNvSpPr/>
          <p:nvPr/>
        </p:nvSpPr>
        <p:spPr>
          <a:xfrm>
            <a:off x="9802368" y="4526280"/>
            <a:ext cx="713232" cy="320040"/>
          </a:xfrm>
          <a:prstGeom prst="roundRect">
            <a:avLst/>
          </a:prstGeom>
          <a:solidFill>
            <a:srgbClr val="13B889"/>
          </a:solidFill>
          <a:ln w="10160">
            <a:solidFill>
              <a:srgbClr val="13B88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3" name="Text 160"/>
          <p:cNvSpPr/>
          <p:nvPr/>
        </p:nvSpPr>
        <p:spPr>
          <a:xfrm>
            <a:off x="9829800" y="4562856"/>
            <a:ext cx="658368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Release</a:t>
            </a:r>
            <a:endParaRPr lang="en-US" sz="610" dirty="0"/>
          </a:p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freeze 26/11</a:t>
            </a:r>
            <a:endParaRPr lang="en-US" sz="610" dirty="0"/>
          </a:p>
        </p:txBody>
      </p:sp>
      <p:sp>
        <p:nvSpPr>
          <p:cNvPr id="164" name="Shape 161"/>
          <p:cNvSpPr/>
          <p:nvPr/>
        </p:nvSpPr>
        <p:spPr>
          <a:xfrm>
            <a:off x="10588752" y="5010912"/>
            <a:ext cx="713232" cy="320040"/>
          </a:xfrm>
          <a:prstGeom prst="roundRect">
            <a:avLst/>
          </a:prstGeom>
          <a:solidFill>
            <a:srgbClr val="E11D48"/>
          </a:solidFill>
          <a:ln w="10160">
            <a:solidFill>
              <a:srgbClr val="E11D4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5" name="Text 162"/>
          <p:cNvSpPr/>
          <p:nvPr/>
        </p:nvSpPr>
        <p:spPr>
          <a:xfrm>
            <a:off x="10616184" y="5047488"/>
            <a:ext cx="658368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Present.</a:t>
            </a:r>
            <a:endParaRPr lang="en-US" sz="610" dirty="0"/>
          </a:p>
          <a:p>
            <a:pPr marL="0" indent="0" algn="ctr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Comisión</a:t>
            </a:r>
            <a:endParaRPr lang="en-US" sz="610" dirty="0"/>
          </a:p>
        </p:txBody>
      </p:sp>
      <p:sp>
        <p:nvSpPr>
          <p:cNvPr id="166" name="Shape 163"/>
          <p:cNvSpPr/>
          <p:nvPr/>
        </p:nvSpPr>
        <p:spPr>
          <a:xfrm>
            <a:off x="320040" y="5742432"/>
            <a:ext cx="11567160" cy="457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E4F4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7" name="Text 164"/>
          <p:cNvSpPr/>
          <p:nvPr/>
        </p:nvSpPr>
        <p:spPr>
          <a:xfrm>
            <a:off x="502920" y="5888736"/>
            <a:ext cx="640080" cy="1463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23B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Leyenda</a:t>
            </a:r>
            <a:endParaRPr lang="en-US" sz="800" dirty="0"/>
          </a:p>
        </p:txBody>
      </p:sp>
      <p:sp>
        <p:nvSpPr>
          <p:cNvPr id="168" name="Shape 165"/>
          <p:cNvSpPr/>
          <p:nvPr/>
        </p:nvSpPr>
        <p:spPr>
          <a:xfrm>
            <a:off x="1234440" y="5870448"/>
            <a:ext cx="868680" cy="219456"/>
          </a:xfrm>
          <a:prstGeom prst="roundRect">
            <a:avLst/>
          </a:prstGeom>
          <a:solidFill>
            <a:srgbClr val="13B889"/>
          </a:solidFill>
          <a:ln w="10160">
            <a:solidFill>
              <a:srgbClr val="13B88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9" name="Text 166"/>
          <p:cNvSpPr/>
          <p:nvPr/>
        </p:nvSpPr>
        <p:spPr>
          <a:xfrm>
            <a:off x="1252728" y="5907024"/>
            <a:ext cx="8321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Finalizado</a:t>
            </a:r>
            <a:endParaRPr lang="en-US" sz="620" dirty="0"/>
          </a:p>
        </p:txBody>
      </p:sp>
      <p:sp>
        <p:nvSpPr>
          <p:cNvPr id="170" name="Shape 167"/>
          <p:cNvSpPr/>
          <p:nvPr/>
        </p:nvSpPr>
        <p:spPr>
          <a:xfrm>
            <a:off x="2240280" y="5870448"/>
            <a:ext cx="868680" cy="219456"/>
          </a:xfrm>
          <a:prstGeom prst="roundRect">
            <a:avLst/>
          </a:prstGeom>
          <a:solidFill>
            <a:srgbClr val="179FE3"/>
          </a:solidFill>
          <a:ln w="10160">
            <a:solidFill>
              <a:srgbClr val="179FE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71" name="Text 168"/>
          <p:cNvSpPr/>
          <p:nvPr/>
        </p:nvSpPr>
        <p:spPr>
          <a:xfrm>
            <a:off x="2258568" y="5907024"/>
            <a:ext cx="8321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curso</a:t>
            </a:r>
            <a:endParaRPr lang="en-US" sz="620" dirty="0"/>
          </a:p>
        </p:txBody>
      </p:sp>
      <p:sp>
        <p:nvSpPr>
          <p:cNvPr id="172" name="Shape 169"/>
          <p:cNvSpPr/>
          <p:nvPr/>
        </p:nvSpPr>
        <p:spPr>
          <a:xfrm>
            <a:off x="3246120" y="5870448"/>
            <a:ext cx="868680" cy="219456"/>
          </a:xfrm>
          <a:prstGeom prst="roundRect">
            <a:avLst/>
          </a:prstGeom>
          <a:solidFill>
            <a:srgbClr val="7C56E8"/>
          </a:solidFill>
          <a:ln w="10160">
            <a:solidFill>
              <a:srgbClr val="7C56E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73" name="Text 170"/>
          <p:cNvSpPr/>
          <p:nvPr/>
        </p:nvSpPr>
        <p:spPr>
          <a:xfrm>
            <a:off x="3264408" y="5907024"/>
            <a:ext cx="8321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Planificado</a:t>
            </a:r>
            <a:endParaRPr lang="en-US" sz="620" dirty="0"/>
          </a:p>
        </p:txBody>
      </p:sp>
      <p:sp>
        <p:nvSpPr>
          <p:cNvPr id="174" name="Shape 171"/>
          <p:cNvSpPr/>
          <p:nvPr/>
        </p:nvSpPr>
        <p:spPr>
          <a:xfrm>
            <a:off x="4343400" y="5870448"/>
            <a:ext cx="868680" cy="219456"/>
          </a:xfrm>
          <a:prstGeom prst="roundRect">
            <a:avLst/>
          </a:prstGeom>
          <a:solidFill>
            <a:srgbClr val="E11D48"/>
          </a:solidFill>
          <a:ln w="10160">
            <a:solidFill>
              <a:srgbClr val="E11D4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75" name="Text 172"/>
          <p:cNvSpPr/>
          <p:nvPr/>
        </p:nvSpPr>
        <p:spPr>
          <a:xfrm>
            <a:off x="4361688" y="5907024"/>
            <a:ext cx="8321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Hito crítico</a:t>
            </a:r>
            <a:endParaRPr lang="en-US" sz="620" dirty="0"/>
          </a:p>
        </p:txBody>
      </p:sp>
      <p:sp>
        <p:nvSpPr>
          <p:cNvPr id="176" name="Text 173"/>
          <p:cNvSpPr/>
          <p:nvPr/>
        </p:nvSpPr>
        <p:spPr>
          <a:xfrm>
            <a:off x="5486400" y="5861304"/>
            <a:ext cx="525780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730" b="1" dirty="0">
                <a:solidFill>
                  <a:srgbClr val="0B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Uso esperado: actualizar semanalmente según Jira Cloud y GitHub. Este roadmap distingue actividades concluidas, en curso y por comenzar.</a:t>
            </a:r>
            <a:endParaRPr lang="en-US" sz="730" dirty="0"/>
          </a:p>
        </p:txBody>
      </p:sp>
      <p:sp>
        <p:nvSpPr>
          <p:cNvPr id="177" name="Text 174"/>
          <p:cNvSpPr/>
          <p:nvPr/>
        </p:nvSpPr>
        <p:spPr>
          <a:xfrm>
            <a:off x="10561320" y="6053328"/>
            <a:ext cx="960120" cy="731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560" dirty="0">
                <a:solidFill>
                  <a:srgbClr val="4F6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Quality360 · Capstone Grupo 8</a:t>
            </a:r>
            <a:endParaRPr lang="en-US" sz="560" dirty="0"/>
          </a:p>
        </p:txBody>
      </p:sp>
      <p:sp>
        <p:nvSpPr>
          <p:cNvPr id="178" name="Text 175"/>
          <p:cNvSpPr/>
          <p:nvPr/>
        </p:nvSpPr>
        <p:spPr>
          <a:xfrm>
            <a:off x="11658600" y="6510528"/>
            <a:ext cx="182880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700" dirty="0">
                <a:solidFill>
                  <a:srgbClr val="4F6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5F8D5062-2B79-F898-2E6A-94C5CF18F3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530" y="463924"/>
            <a:ext cx="9286293" cy="6394076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10AAAD50-510C-F8EE-A481-0077F1FB3873}"/>
              </a:ext>
            </a:extLst>
          </p:cNvPr>
          <p:cNvSpPr txBox="1"/>
          <p:nvPr/>
        </p:nvSpPr>
        <p:spPr>
          <a:xfrm>
            <a:off x="3698407" y="0"/>
            <a:ext cx="19768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Modelo ER Quality360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9501000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6" name="Google Shape;366;h1af1b7e802a7d6b2_1_5" title="Modelo 4+1 de Arquitectura Quality36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8019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h20b37650884cf90a_0_2" descr="/mnt/data/logo_quality360_cropp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880650" y="0"/>
            <a:ext cx="2152174" cy="885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23D6B"/>
          </a:solidFill>
          <a:ln>
            <a:solidFill>
              <a:srgbClr val="123D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78638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"/>
              </a:rPr>
              <a:t>Burndown y estado actual del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84632"/>
            <a:ext cx="6858000" cy="2103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500" b="0">
                <a:solidFill>
                  <a:srgbClr val="D7E6F6"/>
                </a:solidFill>
                <a:latin typeface="Arial"/>
              </a:rPr>
              <a:t>Seguimiento del Sprint 2 · Corte 09/10/2026</a:t>
            </a:r>
          </a:p>
        </p:txBody>
      </p:sp>
      <p:pic>
        <p:nvPicPr>
          <p:cNvPr id="5" name="Picture 4" descr="logo_quality360_crop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6496" y="54864"/>
            <a:ext cx="1143000" cy="6400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19456" y="960120"/>
            <a:ext cx="7845552" cy="5166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0DA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19456" y="960120"/>
            <a:ext cx="7845552" cy="502920"/>
          </a:xfrm>
          <a:prstGeom prst="rect">
            <a:avLst/>
          </a:prstGeom>
          <a:solidFill>
            <a:srgbClr val="F6FCFF"/>
          </a:solidFill>
          <a:ln w="12700">
            <a:solidFill>
              <a:srgbClr val="C0D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38912" y="1097280"/>
            <a:ext cx="3657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23D6B"/>
                </a:solidFill>
                <a:latin typeface="Arial"/>
              </a:rPr>
              <a:t>▮  Burndown del Sprint 2</a:t>
            </a:r>
          </a:p>
        </p:txBody>
      </p:sp>
      <p:sp>
        <p:nvSpPr>
          <p:cNvPr id="9" name="Oval 8"/>
          <p:cNvSpPr/>
          <p:nvPr/>
        </p:nvSpPr>
        <p:spPr>
          <a:xfrm>
            <a:off x="502920" y="1600200"/>
            <a:ext cx="411480" cy="411480"/>
          </a:xfrm>
          <a:prstGeom prst="ellipse">
            <a:avLst/>
          </a:prstGeom>
          <a:solidFill>
            <a:srgbClr val="DDF1FA"/>
          </a:solidFill>
          <a:ln>
            <a:solidFill>
              <a:srgbClr val="C0D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2648" y="1691640"/>
            <a:ext cx="22860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123D6B"/>
                </a:solidFill>
                <a:latin typeface="Arial"/>
              </a:rPr>
              <a:t>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645920"/>
            <a:ext cx="155448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0D2444"/>
                </a:solidFill>
                <a:latin typeface="Arial"/>
              </a:rPr>
              <a:t>Sprint: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865376"/>
            <a:ext cx="18288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00" b="0">
                <a:solidFill>
                  <a:srgbClr val="0D2444"/>
                </a:solidFill>
                <a:latin typeface="Arial"/>
              </a:rPr>
              <a:t>Q360-Sprint 2</a:t>
            </a:r>
          </a:p>
        </p:txBody>
      </p:sp>
      <p:sp>
        <p:nvSpPr>
          <p:cNvPr id="13" name="Oval 12"/>
          <p:cNvSpPr/>
          <p:nvPr/>
        </p:nvSpPr>
        <p:spPr>
          <a:xfrm>
            <a:off x="2240280" y="1600200"/>
            <a:ext cx="411480" cy="411480"/>
          </a:xfrm>
          <a:prstGeom prst="ellipse">
            <a:avLst/>
          </a:prstGeom>
          <a:solidFill>
            <a:srgbClr val="DDF1FA"/>
          </a:solidFill>
          <a:ln>
            <a:solidFill>
              <a:srgbClr val="C0D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350008" y="1691640"/>
            <a:ext cx="22860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123D6B"/>
                </a:solidFill>
                <a:latin typeface="Arial"/>
              </a:rPr>
              <a:t>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1645920"/>
            <a:ext cx="155448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0D2444"/>
                </a:solidFill>
                <a:latin typeface="Arial"/>
              </a:rPr>
              <a:t>Periodo: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1865376"/>
            <a:ext cx="18288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00" b="0">
                <a:solidFill>
                  <a:srgbClr val="0D2444"/>
                </a:solidFill>
                <a:latin typeface="Arial"/>
              </a:rPr>
              <a:t>25 sep 2026 – 09 oct 2026</a:t>
            </a:r>
          </a:p>
        </p:txBody>
      </p:sp>
      <p:sp>
        <p:nvSpPr>
          <p:cNvPr id="17" name="Oval 16"/>
          <p:cNvSpPr/>
          <p:nvPr/>
        </p:nvSpPr>
        <p:spPr>
          <a:xfrm>
            <a:off x="4617720" y="1600200"/>
            <a:ext cx="411480" cy="411480"/>
          </a:xfrm>
          <a:prstGeom prst="ellipse">
            <a:avLst/>
          </a:prstGeom>
          <a:solidFill>
            <a:srgbClr val="DDF1FA"/>
          </a:solidFill>
          <a:ln>
            <a:solidFill>
              <a:srgbClr val="C0D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27448" y="1691640"/>
            <a:ext cx="22860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123D6B"/>
                </a:solidFill>
                <a:latin typeface="Arial"/>
              </a:rPr>
              <a:t>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1645920"/>
            <a:ext cx="27432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0D2444"/>
                </a:solidFill>
                <a:latin typeface="Arial"/>
              </a:rPr>
              <a:t>Meta del sprint: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39" y="1865376"/>
            <a:ext cx="2926079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dirty="0" err="1">
                <a:solidFill>
                  <a:srgbClr val="0D2444"/>
                </a:solidFill>
                <a:latin typeface="Arial"/>
              </a:rPr>
              <a:t>Consolidar</a:t>
            </a:r>
            <a:r>
              <a:rPr sz="900" b="0" dirty="0">
                <a:solidFill>
                  <a:srgbClr val="0D2444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0D2444"/>
                </a:solidFill>
                <a:latin typeface="Arial"/>
              </a:rPr>
              <a:t>arquitectura</a:t>
            </a:r>
            <a:r>
              <a:rPr sz="900" b="0" dirty="0">
                <a:solidFill>
                  <a:srgbClr val="0D2444"/>
                </a:solidFill>
                <a:latin typeface="Arial"/>
              </a:rPr>
              <a:t>, </a:t>
            </a:r>
            <a:r>
              <a:rPr sz="900" b="0" dirty="0" err="1">
                <a:solidFill>
                  <a:srgbClr val="0D2444"/>
                </a:solidFill>
                <a:latin typeface="Arial"/>
              </a:rPr>
              <a:t>casos</a:t>
            </a:r>
            <a:r>
              <a:rPr sz="900" b="0" dirty="0">
                <a:solidFill>
                  <a:srgbClr val="0D2444"/>
                </a:solidFill>
                <a:latin typeface="Arial"/>
              </a:rPr>
              <a:t> de </a:t>
            </a:r>
            <a:r>
              <a:rPr sz="900" b="0" dirty="0" err="1">
                <a:solidFill>
                  <a:srgbClr val="0D2444"/>
                </a:solidFill>
                <a:latin typeface="Arial"/>
              </a:rPr>
              <a:t>uso</a:t>
            </a:r>
            <a:r>
              <a:rPr sz="900" b="0" dirty="0">
                <a:solidFill>
                  <a:srgbClr val="0D2444"/>
                </a:solidFill>
                <a:latin typeface="Arial"/>
              </a:rPr>
              <a:t> y </a:t>
            </a:r>
            <a:r>
              <a:rPr sz="900" b="0" dirty="0" err="1">
                <a:solidFill>
                  <a:srgbClr val="0D2444"/>
                </a:solidFill>
                <a:latin typeface="Arial"/>
              </a:rPr>
              <a:t>modelo</a:t>
            </a:r>
            <a:r>
              <a:rPr sz="900" b="0" dirty="0">
                <a:solidFill>
                  <a:srgbClr val="0D2444"/>
                </a:solidFill>
                <a:latin typeface="Arial"/>
              </a:rPr>
              <a:t> conceptual de </a:t>
            </a:r>
            <a:r>
              <a:rPr sz="900" b="0" dirty="0" err="1">
                <a:solidFill>
                  <a:srgbClr val="0D2444"/>
                </a:solidFill>
                <a:latin typeface="Arial"/>
              </a:rPr>
              <a:t>datos</a:t>
            </a:r>
            <a:r>
              <a:rPr lang="es-ES" sz="900" b="0" dirty="0">
                <a:solidFill>
                  <a:srgbClr val="0D2444"/>
                </a:solidFill>
                <a:latin typeface="Arial"/>
              </a:rPr>
              <a:t> y modelo ER</a:t>
            </a:r>
            <a:r>
              <a:rPr sz="900" b="0" dirty="0">
                <a:solidFill>
                  <a:srgbClr val="0D2444"/>
                </a:solidFill>
                <a:latin typeface="Arial"/>
              </a:rPr>
              <a:t> para </a:t>
            </a:r>
            <a:r>
              <a:rPr sz="900" b="0" dirty="0" err="1">
                <a:solidFill>
                  <a:srgbClr val="0D2444"/>
                </a:solidFill>
                <a:latin typeface="Arial"/>
              </a:rPr>
              <a:t>habilitar</a:t>
            </a:r>
            <a:r>
              <a:rPr sz="900" b="0" dirty="0">
                <a:solidFill>
                  <a:srgbClr val="0D2444"/>
                </a:solidFill>
                <a:latin typeface="Arial"/>
              </a:rPr>
              <a:t> backend y </a:t>
            </a:r>
            <a:r>
              <a:rPr sz="900" b="0" dirty="0" err="1">
                <a:solidFill>
                  <a:srgbClr val="0D2444"/>
                </a:solidFill>
                <a:latin typeface="Arial"/>
              </a:rPr>
              <a:t>persistencia</a:t>
            </a:r>
            <a:r>
              <a:rPr sz="900" b="0" dirty="0">
                <a:solidFill>
                  <a:srgbClr val="0D2444"/>
                </a:solidFill>
                <a:latin typeface="Arial"/>
              </a:rPr>
              <a:t>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65960" y="1627632"/>
            <a:ext cx="18288" cy="502920"/>
          </a:xfrm>
          <a:prstGeom prst="rect">
            <a:avLst/>
          </a:prstGeom>
          <a:solidFill>
            <a:srgbClr val="C0DAEB"/>
          </a:solidFill>
          <a:ln>
            <a:solidFill>
              <a:srgbClr val="C0D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434840" y="1627632"/>
            <a:ext cx="18288" cy="502920"/>
          </a:xfrm>
          <a:prstGeom prst="rect">
            <a:avLst/>
          </a:prstGeom>
          <a:solidFill>
            <a:srgbClr val="C0DAEB"/>
          </a:solidFill>
          <a:ln>
            <a:solidFill>
              <a:srgbClr val="C0D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94360" y="2487168"/>
            <a:ext cx="384048" cy="32004"/>
          </a:xfrm>
          <a:prstGeom prst="rect">
            <a:avLst/>
          </a:prstGeom>
          <a:solidFill>
            <a:srgbClr val="E63742"/>
          </a:solidFill>
          <a:ln>
            <a:solidFill>
              <a:srgbClr val="E637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143000" y="2423160"/>
            <a:ext cx="109728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00" b="1">
                <a:solidFill>
                  <a:srgbClr val="0D2444"/>
                </a:solidFill>
                <a:latin typeface="Arial"/>
              </a:rPr>
              <a:t>Trabajo restante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2615184"/>
            <a:ext cx="164592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0">
                <a:solidFill>
                  <a:srgbClr val="586982"/>
                </a:solidFill>
                <a:latin typeface="Arial"/>
              </a:rPr>
              <a:t>0 puntos pendientes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487168"/>
            <a:ext cx="384048" cy="32004"/>
          </a:xfrm>
          <a:prstGeom prst="rect">
            <a:avLst/>
          </a:prstGeom>
          <a:solidFill>
            <a:srgbClr val="828C96"/>
          </a:solidFill>
          <a:ln>
            <a:solidFill>
              <a:srgbClr val="828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566160" y="2423160"/>
            <a:ext cx="109728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00" b="1">
                <a:solidFill>
                  <a:srgbClr val="0D2444"/>
                </a:solidFill>
                <a:latin typeface="Arial"/>
              </a:rPr>
              <a:t>Directriz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2615184"/>
            <a:ext cx="164592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0">
                <a:solidFill>
                  <a:srgbClr val="586982"/>
                </a:solidFill>
                <a:latin typeface="Arial"/>
              </a:rPr>
              <a:t>Avance ideal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40680" y="2487168"/>
            <a:ext cx="384048" cy="3200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989320" y="2423160"/>
            <a:ext cx="109728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00" b="1">
                <a:solidFill>
                  <a:srgbClr val="0D2444"/>
                </a:solidFill>
                <a:latin typeface="Arial"/>
              </a:rPr>
              <a:t>Alcance del trabajo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9320" y="2615184"/>
            <a:ext cx="164592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0">
                <a:solidFill>
                  <a:srgbClr val="586982"/>
                </a:solidFill>
                <a:latin typeface="Arial"/>
              </a:rPr>
              <a:t>11 SP comprometidos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67512" y="4800600"/>
            <a:ext cx="7059167" cy="0"/>
          </a:xfrm>
          <a:prstGeom prst="line">
            <a:avLst/>
          </a:prstGeom>
          <a:ln w="10160">
            <a:solidFill>
              <a:srgbClr val="E1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47472" y="4727448"/>
            <a:ext cx="228600" cy="1188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700" b="0">
                <a:solidFill>
                  <a:srgbClr val="586982"/>
                </a:solidFill>
                <a:latin typeface="Arial"/>
              </a:rPr>
              <a:t>0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7512" y="4301836"/>
            <a:ext cx="7059167" cy="0"/>
          </a:xfrm>
          <a:prstGeom prst="line">
            <a:avLst/>
          </a:prstGeom>
          <a:ln w="10160">
            <a:solidFill>
              <a:srgbClr val="E1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47472" y="4228684"/>
            <a:ext cx="228600" cy="1188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700" b="0">
                <a:solidFill>
                  <a:srgbClr val="586982"/>
                </a:solidFill>
                <a:latin typeface="Arial"/>
              </a:rPr>
              <a:t>3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67512" y="3803072"/>
            <a:ext cx="7059167" cy="0"/>
          </a:xfrm>
          <a:prstGeom prst="line">
            <a:avLst/>
          </a:prstGeom>
          <a:ln w="10160">
            <a:solidFill>
              <a:srgbClr val="E1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47472" y="3729920"/>
            <a:ext cx="228600" cy="1188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700" b="0">
                <a:solidFill>
                  <a:srgbClr val="586982"/>
                </a:solidFill>
                <a:latin typeface="Arial"/>
              </a:rPr>
              <a:t>6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67512" y="3304309"/>
            <a:ext cx="7059167" cy="0"/>
          </a:xfrm>
          <a:prstGeom prst="line">
            <a:avLst/>
          </a:prstGeom>
          <a:ln w="10160">
            <a:solidFill>
              <a:srgbClr val="E1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47472" y="3231157"/>
            <a:ext cx="228600" cy="1188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700" b="0">
                <a:solidFill>
                  <a:srgbClr val="586982"/>
                </a:solidFill>
                <a:latin typeface="Arial"/>
              </a:rPr>
              <a:t>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67512" y="2971800"/>
            <a:ext cx="7059167" cy="0"/>
          </a:xfrm>
          <a:prstGeom prst="line">
            <a:avLst/>
          </a:prstGeom>
          <a:ln w="10160">
            <a:solidFill>
              <a:srgbClr val="E1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47472" y="2898648"/>
            <a:ext cx="228600" cy="1188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700" b="0">
                <a:solidFill>
                  <a:srgbClr val="586982"/>
                </a:solidFill>
                <a:latin typeface="Arial"/>
              </a:rPr>
              <a:t>11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67512" y="2971800"/>
            <a:ext cx="0" cy="1828800"/>
          </a:xfrm>
          <a:prstGeom prst="line">
            <a:avLst/>
          </a:prstGeom>
          <a:ln w="10160">
            <a:solidFill>
              <a:srgbClr val="E1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48056" y="4882896"/>
            <a:ext cx="502920" cy="1371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00" b="0">
                <a:solidFill>
                  <a:srgbClr val="586982"/>
                </a:solidFill>
                <a:latin typeface="Arial"/>
              </a:rPr>
              <a:t>25 sep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2432304" y="2971800"/>
            <a:ext cx="0" cy="1828800"/>
          </a:xfrm>
          <a:prstGeom prst="line">
            <a:avLst/>
          </a:prstGeom>
          <a:ln w="10160">
            <a:solidFill>
              <a:srgbClr val="E1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212848" y="4882896"/>
            <a:ext cx="502920" cy="1371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00" b="0">
                <a:solidFill>
                  <a:srgbClr val="586982"/>
                </a:solidFill>
                <a:latin typeface="Arial"/>
              </a:rPr>
              <a:t>29 sep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197096" y="2971800"/>
            <a:ext cx="0" cy="1828800"/>
          </a:xfrm>
          <a:prstGeom prst="line">
            <a:avLst/>
          </a:prstGeom>
          <a:ln w="10160">
            <a:solidFill>
              <a:srgbClr val="E1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3977639" y="4882896"/>
            <a:ext cx="502920" cy="1371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00" b="0">
                <a:solidFill>
                  <a:srgbClr val="586982"/>
                </a:solidFill>
                <a:latin typeface="Arial"/>
              </a:rPr>
              <a:t>02 oct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961888" y="2971800"/>
            <a:ext cx="0" cy="1828800"/>
          </a:xfrm>
          <a:prstGeom prst="line">
            <a:avLst/>
          </a:prstGeom>
          <a:ln w="10160">
            <a:solidFill>
              <a:srgbClr val="E1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742431" y="4882896"/>
            <a:ext cx="502920" cy="1371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00" b="0">
                <a:solidFill>
                  <a:srgbClr val="586982"/>
                </a:solidFill>
                <a:latin typeface="Arial"/>
              </a:rPr>
              <a:t>06 oct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726679" y="2971800"/>
            <a:ext cx="0" cy="1828800"/>
          </a:xfrm>
          <a:prstGeom prst="line">
            <a:avLst/>
          </a:prstGeom>
          <a:ln w="10160">
            <a:solidFill>
              <a:srgbClr val="E1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507223" y="4882896"/>
            <a:ext cx="502920" cy="1371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00" b="0">
                <a:solidFill>
                  <a:srgbClr val="586982"/>
                </a:solidFill>
                <a:latin typeface="Arial"/>
              </a:rPr>
              <a:t>09 oct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0311" y="3685032"/>
            <a:ext cx="27432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00" b="0">
                <a:solidFill>
                  <a:srgbClr val="586982"/>
                </a:solidFill>
                <a:latin typeface="Arial"/>
              </a:rPr>
              <a:t>SP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14215" y="5148072"/>
            <a:ext cx="41148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00" b="0">
                <a:solidFill>
                  <a:srgbClr val="586982"/>
                </a:solidFill>
                <a:latin typeface="Arial"/>
              </a:rPr>
              <a:t>Fecha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67512" y="2971800"/>
            <a:ext cx="7059167" cy="1828800"/>
          </a:xfrm>
          <a:prstGeom prst="line">
            <a:avLst/>
          </a:prstGeom>
          <a:ln w="25400">
            <a:solidFill>
              <a:srgbClr val="828C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67512" y="2971800"/>
            <a:ext cx="3882542" cy="0"/>
          </a:xfrm>
          <a:prstGeom prst="line">
            <a:avLst/>
          </a:prstGeom>
          <a:ln w="27940">
            <a:solidFill>
              <a:srgbClr val="E63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550054" y="2971800"/>
            <a:ext cx="0" cy="997527"/>
          </a:xfrm>
          <a:prstGeom prst="line">
            <a:avLst/>
          </a:prstGeom>
          <a:ln w="27940">
            <a:solidFill>
              <a:srgbClr val="E63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550054" y="3969327"/>
            <a:ext cx="2894259" cy="0"/>
          </a:xfrm>
          <a:prstGeom prst="line">
            <a:avLst/>
          </a:prstGeom>
          <a:ln w="27940">
            <a:solidFill>
              <a:srgbClr val="E63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7444313" y="3969327"/>
            <a:ext cx="0" cy="831273"/>
          </a:xfrm>
          <a:prstGeom prst="line">
            <a:avLst/>
          </a:prstGeom>
          <a:ln w="27940">
            <a:solidFill>
              <a:srgbClr val="E63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7444313" y="4800600"/>
            <a:ext cx="282366" cy="0"/>
          </a:xfrm>
          <a:prstGeom prst="line">
            <a:avLst/>
          </a:prstGeom>
          <a:ln w="27940">
            <a:solidFill>
              <a:srgbClr val="E63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617219" y="2921508"/>
            <a:ext cx="100584" cy="100584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758952" y="2862072"/>
            <a:ext cx="228600" cy="1371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11</a:t>
            </a:r>
          </a:p>
        </p:txBody>
      </p:sp>
      <p:sp>
        <p:nvSpPr>
          <p:cNvPr id="62" name="Oval 61"/>
          <p:cNvSpPr/>
          <p:nvPr/>
        </p:nvSpPr>
        <p:spPr>
          <a:xfrm>
            <a:off x="7676388" y="4750308"/>
            <a:ext cx="100584" cy="100584"/>
          </a:xfrm>
          <a:prstGeom prst="ellipse">
            <a:avLst/>
          </a:prstGeom>
          <a:solidFill>
            <a:srgbClr val="1FA653"/>
          </a:solidFill>
          <a:ln>
            <a:solidFill>
              <a:srgbClr val="1FA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7818119" y="4690872"/>
            <a:ext cx="228600" cy="1371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00" b="1">
                <a:solidFill>
                  <a:srgbClr val="1FA653"/>
                </a:solidFill>
                <a:latin typeface="Arial"/>
              </a:rPr>
              <a:t>0</a:t>
            </a:r>
          </a:p>
        </p:txBody>
      </p:sp>
      <p:sp>
        <p:nvSpPr>
          <p:cNvPr id="64" name="Oval 63"/>
          <p:cNvSpPr/>
          <p:nvPr/>
        </p:nvSpPr>
        <p:spPr>
          <a:xfrm>
            <a:off x="502920" y="5239512"/>
            <a:ext cx="438912" cy="438912"/>
          </a:xfrm>
          <a:prstGeom prst="ellipse">
            <a:avLst/>
          </a:prstGeom>
          <a:solidFill>
            <a:srgbClr val="DDF1FA"/>
          </a:solidFill>
          <a:ln>
            <a:solidFill>
              <a:srgbClr val="C0D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12648" y="5358384"/>
            <a:ext cx="22860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123D6B"/>
                </a:solidFill>
                <a:latin typeface="Arial"/>
              </a:rPr>
              <a:t>▣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78992" y="5312664"/>
            <a:ext cx="77724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23D6B"/>
                </a:solidFill>
                <a:latin typeface="Arial"/>
              </a:rPr>
              <a:t>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36776" y="5458968"/>
            <a:ext cx="128016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0D2444"/>
                </a:solidFill>
                <a:latin typeface="Arial"/>
              </a:rPr>
              <a:t>SP planificados</a:t>
            </a:r>
          </a:p>
        </p:txBody>
      </p:sp>
      <p:sp>
        <p:nvSpPr>
          <p:cNvPr id="68" name="Oval 67"/>
          <p:cNvSpPr/>
          <p:nvPr/>
        </p:nvSpPr>
        <p:spPr>
          <a:xfrm>
            <a:off x="3337560" y="5239512"/>
            <a:ext cx="438912" cy="438912"/>
          </a:xfrm>
          <a:prstGeom prst="ellipse">
            <a:avLst/>
          </a:prstGeom>
          <a:solidFill>
            <a:srgbClr val="DAF5E5"/>
          </a:solidFill>
          <a:ln>
            <a:solidFill>
              <a:srgbClr val="C0D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3447288" y="5358384"/>
            <a:ext cx="22860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1FA653"/>
                </a:solidFill>
                <a:latin typeface="Arial"/>
              </a:rPr>
              <a:t>✓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913632" y="5312664"/>
            <a:ext cx="77724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FA653"/>
                </a:solidFill>
                <a:latin typeface="Arial"/>
              </a:rPr>
              <a:t>11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71416" y="5458968"/>
            <a:ext cx="128016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0D2444"/>
                </a:solidFill>
                <a:latin typeface="Arial"/>
              </a:rPr>
              <a:t>SP completados</a:t>
            </a:r>
          </a:p>
        </p:txBody>
      </p:sp>
      <p:sp>
        <p:nvSpPr>
          <p:cNvPr id="72" name="Oval 71"/>
          <p:cNvSpPr/>
          <p:nvPr/>
        </p:nvSpPr>
        <p:spPr>
          <a:xfrm>
            <a:off x="5876391" y="5294376"/>
            <a:ext cx="438912" cy="438912"/>
          </a:xfrm>
          <a:prstGeom prst="ellipse">
            <a:avLst/>
          </a:prstGeom>
          <a:solidFill>
            <a:srgbClr val="DDF1FA"/>
          </a:solidFill>
          <a:ln>
            <a:solidFill>
              <a:srgbClr val="C0D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5973318" y="5408676"/>
            <a:ext cx="22860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1" dirty="0">
                <a:solidFill>
                  <a:srgbClr val="1FA653"/>
                </a:solidFill>
                <a:latin typeface="Arial"/>
              </a:rPr>
              <a:t>◎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87084" y="5358384"/>
            <a:ext cx="77724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800" b="1" dirty="0">
                <a:solidFill>
                  <a:srgbClr val="1FA653"/>
                </a:solidFill>
                <a:latin typeface="Arial"/>
              </a:rPr>
              <a:t>100%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370064" y="5458968"/>
            <a:ext cx="1179576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dirty="0" err="1">
                <a:solidFill>
                  <a:srgbClr val="0D2444"/>
                </a:solidFill>
                <a:latin typeface="Arial"/>
              </a:rPr>
              <a:t>cerrado</a:t>
            </a:r>
            <a:endParaRPr sz="1000" b="0" dirty="0">
              <a:solidFill>
                <a:srgbClr val="0D2444"/>
              </a:solidFill>
              <a:latin typeface="Arial"/>
            </a:endParaRPr>
          </a:p>
        </p:txBody>
      </p:sp>
      <p:sp>
        <p:nvSpPr>
          <p:cNvPr id="76" name="Rectangle 75"/>
          <p:cNvSpPr/>
          <p:nvPr/>
        </p:nvSpPr>
        <p:spPr>
          <a:xfrm>
            <a:off x="3017520" y="5285232"/>
            <a:ext cx="18288" cy="457200"/>
          </a:xfrm>
          <a:prstGeom prst="rect">
            <a:avLst/>
          </a:prstGeom>
          <a:solidFill>
            <a:srgbClr val="C0DAEB"/>
          </a:solidFill>
          <a:ln>
            <a:solidFill>
              <a:srgbClr val="C0D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5715000" y="5285232"/>
            <a:ext cx="18288" cy="457200"/>
          </a:xfrm>
          <a:prstGeom prst="rect">
            <a:avLst/>
          </a:prstGeom>
          <a:solidFill>
            <a:srgbClr val="C0DAEB"/>
          </a:solidFill>
          <a:ln>
            <a:solidFill>
              <a:srgbClr val="C0D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ounded Rectangle 77"/>
          <p:cNvSpPr/>
          <p:nvPr/>
        </p:nvSpPr>
        <p:spPr>
          <a:xfrm>
            <a:off x="8275320" y="960120"/>
            <a:ext cx="37033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0DA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8558784" y="1124712"/>
            <a:ext cx="164592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23D6B"/>
                </a:solidFill>
                <a:latin typeface="Arial"/>
              </a:rPr>
              <a:t>🏆  Estado del sprint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549640" y="1417320"/>
            <a:ext cx="3154680" cy="411480"/>
          </a:xfrm>
          <a:prstGeom prst="roundRect">
            <a:avLst/>
          </a:prstGeom>
          <a:solidFill>
            <a:srgbClr val="E6F8EB"/>
          </a:solidFill>
          <a:ln w="12700">
            <a:solidFill>
              <a:srgbClr val="E6F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8732520" y="1536192"/>
            <a:ext cx="192024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26F40"/>
                </a:solidFill>
                <a:latin typeface="Arial"/>
              </a:rPr>
              <a:t>Sprint 2 cerrado exitosamente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018520" y="1435608"/>
            <a:ext cx="749808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2600" b="1">
                <a:solidFill>
                  <a:srgbClr val="1FA653"/>
                </a:solidFill>
                <a:latin typeface="Arial"/>
              </a:rPr>
              <a:t>100%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275320" y="2148840"/>
            <a:ext cx="370332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0DA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8558784" y="2304288"/>
            <a:ext cx="146304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23D6B"/>
                </a:solidFill>
                <a:latin typeface="Arial"/>
              </a:rPr>
              <a:t>▮  Indicadores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462771" y="2596895"/>
            <a:ext cx="3241549" cy="707413"/>
          </a:xfrm>
          <a:prstGeom prst="roundRect">
            <a:avLst/>
          </a:prstGeom>
          <a:solidFill>
            <a:srgbClr val="EBF7FF"/>
          </a:solidFill>
          <a:ln w="12700">
            <a:solidFill>
              <a:srgbClr val="EBF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8732520" y="2651760"/>
            <a:ext cx="256032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 dirty="0">
                <a:solidFill>
                  <a:srgbClr val="0D2444"/>
                </a:solidFill>
                <a:latin typeface="Arial"/>
              </a:rPr>
              <a:t>Story points </a:t>
            </a:r>
            <a:r>
              <a:rPr sz="1000" b="0" dirty="0" err="1">
                <a:solidFill>
                  <a:srgbClr val="0D2444"/>
                </a:solidFill>
                <a:latin typeface="Arial"/>
              </a:rPr>
              <a:t>completados</a:t>
            </a:r>
            <a:r>
              <a:rPr sz="1000" b="0" dirty="0">
                <a:solidFill>
                  <a:srgbClr val="0D2444"/>
                </a:solidFill>
                <a:latin typeface="Arial"/>
              </a:rPr>
              <a:t>: 11 / 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732520" y="2862072"/>
            <a:ext cx="256032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 dirty="0" err="1">
                <a:solidFill>
                  <a:srgbClr val="0D2444"/>
                </a:solidFill>
                <a:latin typeface="Arial"/>
              </a:rPr>
              <a:t>Actividades</a:t>
            </a:r>
            <a:r>
              <a:rPr sz="1000" b="0" dirty="0">
                <a:solidFill>
                  <a:srgbClr val="0D2444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0D2444"/>
                </a:solidFill>
                <a:latin typeface="Arial"/>
              </a:rPr>
              <a:t>cerradas</a:t>
            </a:r>
            <a:r>
              <a:rPr sz="1000" b="0" dirty="0">
                <a:solidFill>
                  <a:srgbClr val="0D2444"/>
                </a:solidFill>
                <a:latin typeface="Arial"/>
              </a:rPr>
              <a:t>: 3 / 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732520" y="3063240"/>
            <a:ext cx="256032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0D2444"/>
                </a:solidFill>
                <a:latin typeface="Arial"/>
              </a:rPr>
              <a:t>Estado general: cerrado sin pendientes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8275320" y="3520440"/>
            <a:ext cx="37033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0DA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8558784" y="3675887"/>
            <a:ext cx="214884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23D6B"/>
                </a:solidFill>
                <a:latin typeface="Arial"/>
              </a:rPr>
              <a:t>▣  Estado actual del proyecto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8503920" y="3959352"/>
            <a:ext cx="3200400" cy="713232"/>
          </a:xfrm>
          <a:prstGeom prst="roundRect">
            <a:avLst/>
          </a:prstGeom>
          <a:solidFill>
            <a:srgbClr val="FFF8E7"/>
          </a:solidFill>
          <a:ln w="12700">
            <a:solidFill>
              <a:srgbClr val="FFF8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8686800" y="4032504"/>
            <a:ext cx="146304" cy="1371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FA653"/>
                </a:solidFill>
                <a:latin typeface="Arial"/>
              </a:rPr>
              <a:t>✓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942832" y="4032504"/>
            <a:ext cx="2651760" cy="1371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00" b="0">
                <a:solidFill>
                  <a:srgbClr val="0D2444"/>
                </a:solidFill>
                <a:latin typeface="Arial"/>
              </a:rPr>
              <a:t>Arquitectura por capas + 4+1 finalizada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686800" y="4251960"/>
            <a:ext cx="146304" cy="1371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FA653"/>
                </a:solidFill>
                <a:latin typeface="Arial"/>
              </a:rPr>
              <a:t>✓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942832" y="4251960"/>
            <a:ext cx="2651760" cy="1371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00" b="0">
                <a:solidFill>
                  <a:srgbClr val="0D2444"/>
                </a:solidFill>
                <a:latin typeface="Arial"/>
              </a:rPr>
              <a:t>Casos de uso finalizados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686800" y="4471416"/>
            <a:ext cx="146304" cy="1371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FA653"/>
                </a:solidFill>
                <a:latin typeface="Arial"/>
              </a:rPr>
              <a:t>✓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942832" y="4471416"/>
            <a:ext cx="2651760" cy="1371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00" b="0">
                <a:solidFill>
                  <a:srgbClr val="0D2444"/>
                </a:solidFill>
                <a:latin typeface="Arial"/>
              </a:rPr>
              <a:t>Modelo conceptual de datos finalizado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275320" y="5074920"/>
            <a:ext cx="37033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0DA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8558784" y="5212080"/>
            <a:ext cx="1417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23D6B"/>
                </a:solidFill>
                <a:latin typeface="Arial"/>
              </a:rPr>
              <a:t>◔  Avance global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8503920" y="5532120"/>
            <a:ext cx="3200400" cy="256032"/>
          </a:xfrm>
          <a:prstGeom prst="roundRect">
            <a:avLst/>
          </a:prstGeom>
          <a:solidFill>
            <a:srgbClr val="EBF7FF"/>
          </a:solidFill>
          <a:ln w="12700">
            <a:solidFill>
              <a:srgbClr val="EBF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8778240" y="5550408"/>
            <a:ext cx="82296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800" b="1">
                <a:solidFill>
                  <a:srgbClr val="123D6B"/>
                </a:solidFill>
                <a:latin typeface="Arial"/>
              </a:rPr>
              <a:t>33,3%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601200" y="5596128"/>
            <a:ext cx="1737360" cy="1371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00" b="0">
                <a:solidFill>
                  <a:srgbClr val="0D2444"/>
                </a:solidFill>
                <a:latin typeface="Arial"/>
              </a:rPr>
              <a:t>2 de 6 sprints completados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19456" y="6327648"/>
            <a:ext cx="11759184" cy="365760"/>
          </a:xfrm>
          <a:prstGeom prst="roundRect">
            <a:avLst/>
          </a:prstGeom>
          <a:solidFill>
            <a:srgbClr val="E6FCFF"/>
          </a:solidFill>
          <a:ln w="12700">
            <a:solidFill>
              <a:srgbClr val="46BE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502920" y="6419088"/>
            <a:ext cx="320040" cy="14630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300" b="0">
                <a:solidFill>
                  <a:srgbClr val="F59E0B"/>
                </a:solidFill>
                <a:latin typeface="Arial"/>
              </a:rPr>
              <a:t>💡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04672" y="6419088"/>
            <a:ext cx="10698480" cy="1371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50" b="0">
                <a:solidFill>
                  <a:srgbClr val="0D2444"/>
                </a:solidFill>
                <a:latin typeface="Arial"/>
              </a:rPr>
              <a:t>Conclusión: el Sprint 2 se completó al 100%. Se consolida la línea base arquitectónica, los casos de uso y el modelo conceptual de datos para avanzar hacia backend y persistencia.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B"/>
        </a:solidFill>
        <a:effectLst/>
      </p:bgPr>
    </p:bg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h56ab5dad46e2c1f2_0_342"/>
          <p:cNvSpPr/>
          <p:nvPr/>
        </p:nvSpPr>
        <p:spPr>
          <a:xfrm>
            <a:off x="0" y="0"/>
            <a:ext cx="12192000" cy="73200"/>
          </a:xfrm>
          <a:prstGeom prst="rect">
            <a:avLst/>
          </a:prstGeom>
          <a:solidFill>
            <a:srgbClr val="00B6AE"/>
          </a:solidFill>
          <a:ln w="12700" cap="flat" cmpd="sng">
            <a:solidFill>
              <a:srgbClr val="00B6A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93" name="Google Shape;493;h56ab5dad46e2c1f2_0_342" descr="/mnt/data/logo_quality360_cropp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771919" y="137160"/>
            <a:ext cx="914424" cy="621791"/>
          </a:xfrm>
          <a:prstGeom prst="rect">
            <a:avLst/>
          </a:prstGeom>
          <a:noFill/>
          <a:ln>
            <a:noFill/>
          </a:ln>
        </p:spPr>
      </p:pic>
      <p:sp>
        <p:nvSpPr>
          <p:cNvPr id="494" name="Google Shape;494;h56ab5dad46e2c1f2_0_342"/>
          <p:cNvSpPr/>
          <p:nvPr/>
        </p:nvSpPr>
        <p:spPr>
          <a:xfrm>
            <a:off x="347481" y="246888"/>
            <a:ext cx="80469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8245A"/>
              </a:buClr>
              <a:buSzPts val="2600"/>
              <a:buFont typeface="Play"/>
              <a:buNone/>
            </a:pPr>
            <a:r>
              <a:rPr lang="en-US" sz="2600" b="1" i="0" u="none" strike="noStrike" cap="none">
                <a:solidFill>
                  <a:srgbClr val="08245A"/>
                </a:solidFill>
                <a:latin typeface="Play"/>
                <a:ea typeface="Play"/>
                <a:cs typeface="Play"/>
                <a:sym typeface="Play"/>
              </a:rPr>
              <a:t>Conclusiones y próximos pasos</a:t>
            </a:r>
            <a:endParaRPr sz="2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h56ab5dad46e2c1f2_0_342"/>
          <p:cNvSpPr/>
          <p:nvPr/>
        </p:nvSpPr>
        <p:spPr>
          <a:xfrm>
            <a:off x="356626" y="713232"/>
            <a:ext cx="69498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F7A"/>
              </a:buClr>
              <a:buSzPts val="1280"/>
              <a:buFont typeface="Arial"/>
              <a:buNone/>
            </a:pPr>
            <a:r>
              <a:rPr lang="en-US" sz="1280" b="0" i="0" u="none" strike="noStrike" cap="none">
                <a:solidFill>
                  <a:srgbClr val="4B5F7A"/>
                </a:solidFill>
                <a:latin typeface="Arial"/>
                <a:ea typeface="Arial"/>
                <a:cs typeface="Arial"/>
                <a:sym typeface="Arial"/>
              </a:rPr>
              <a:t>Cierre del avance arquitectónico y evolución de Quality360</a:t>
            </a:r>
            <a:endParaRPr sz="128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6" name="Google Shape;496;h56ab5dad46e2c1f2_0_342"/>
          <p:cNvCxnSpPr/>
          <p:nvPr/>
        </p:nvCxnSpPr>
        <p:spPr>
          <a:xfrm>
            <a:off x="356626" y="1033272"/>
            <a:ext cx="567000" cy="0"/>
          </a:xfrm>
          <a:prstGeom prst="straightConnector1">
            <a:avLst/>
          </a:prstGeom>
          <a:noFill/>
          <a:ln w="27925" cap="flat" cmpd="sng">
            <a:solidFill>
              <a:srgbClr val="00B6A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97" name="Google Shape;497;h56ab5dad46e2c1f2_0_342"/>
          <p:cNvSpPr/>
          <p:nvPr/>
        </p:nvSpPr>
        <p:spPr>
          <a:xfrm>
            <a:off x="365759" y="1353297"/>
            <a:ext cx="2432400" cy="132510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2700" cap="flat" cmpd="sng">
            <a:solidFill>
              <a:srgbClr val="CFE0F2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50800" dir="2700000" algn="bl" rotWithShape="0">
              <a:srgbClr val="A7B9D1">
                <a:alpha val="1294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8" name="Google Shape;498;h56ab5dad46e2c1f2_0_342"/>
          <p:cNvSpPr/>
          <p:nvPr/>
        </p:nvSpPr>
        <p:spPr>
          <a:xfrm>
            <a:off x="512078" y="1517904"/>
            <a:ext cx="438900" cy="438900"/>
          </a:xfrm>
          <a:prstGeom prst="ellipse">
            <a:avLst/>
          </a:prstGeom>
          <a:solidFill>
            <a:srgbClr val="EAF4FF"/>
          </a:solidFill>
          <a:ln w="12700" cap="flat" cmpd="sng">
            <a:solidFill>
              <a:srgbClr val="EAF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h56ab5dad46e2c1f2_0_342"/>
          <p:cNvSpPr/>
          <p:nvPr/>
        </p:nvSpPr>
        <p:spPr>
          <a:xfrm>
            <a:off x="585232" y="1600200"/>
            <a:ext cx="292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B63E5"/>
              </a:buClr>
              <a:buSzPts val="1550"/>
              <a:buFont typeface="Arial"/>
              <a:buNone/>
            </a:pPr>
            <a:r>
              <a:rPr lang="en-US" sz="1550" b="1" i="0" u="none" strike="noStrike" cap="none">
                <a:solidFill>
                  <a:srgbClr val="0B63E5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sz="15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h56ab5dad46e2c1f2_0_342"/>
          <p:cNvSpPr/>
          <p:nvPr/>
        </p:nvSpPr>
        <p:spPr>
          <a:xfrm>
            <a:off x="1097309" y="1554480"/>
            <a:ext cx="1280100" cy="329100"/>
          </a:xfrm>
          <a:prstGeom prst="roundRect">
            <a:avLst>
              <a:gd name="adj" fmla="val 16667"/>
            </a:avLst>
          </a:prstGeom>
          <a:solidFill>
            <a:srgbClr val="0B63E5"/>
          </a:solidFill>
          <a:ln w="12700" cap="flat" cmpd="sng">
            <a:solidFill>
              <a:srgbClr val="0B63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1" name="Google Shape;501;h56ab5dad46e2c1f2_0_342"/>
          <p:cNvSpPr/>
          <p:nvPr/>
        </p:nvSpPr>
        <p:spPr>
          <a:xfrm>
            <a:off x="1225329" y="1618488"/>
            <a:ext cx="10515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80"/>
              <a:buFont typeface="Arial"/>
              <a:buNone/>
            </a:pPr>
            <a:r>
              <a:rPr lang="en-US" sz="108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Sprint 2 </a:t>
            </a:r>
            <a:r>
              <a:rPr lang="en-US" sz="1080" b="1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completado</a:t>
            </a:r>
            <a:endParaRPr sz="108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2" name="Google Shape;502;h56ab5dad46e2c1f2_0_342"/>
          <p:cNvCxnSpPr/>
          <p:nvPr/>
        </p:nvCxnSpPr>
        <p:spPr>
          <a:xfrm>
            <a:off x="1115598" y="2020824"/>
            <a:ext cx="384000" cy="0"/>
          </a:xfrm>
          <a:prstGeom prst="straightConnector1">
            <a:avLst/>
          </a:prstGeom>
          <a:noFill/>
          <a:ln w="19050" cap="flat" cmpd="sng">
            <a:solidFill>
              <a:srgbClr val="CFE0F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3" name="Google Shape;503;h56ab5dad46e2c1f2_0_342"/>
          <p:cNvSpPr/>
          <p:nvPr/>
        </p:nvSpPr>
        <p:spPr>
          <a:xfrm>
            <a:off x="1115605" y="1903953"/>
            <a:ext cx="1398900" cy="62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5" tIns="125" rIns="125" bIns="125" anchor="t" anchorCtr="0">
            <a:noAutofit/>
          </a:bodyPr>
          <a:lstStyle/>
          <a:p>
            <a:pPr lvl="0">
              <a:buClr>
                <a:srgbClr val="071A3A"/>
              </a:buClr>
              <a:buSzPts val="820"/>
            </a:pPr>
            <a:r>
              <a:rPr lang="en-US" sz="820" b="0" i="0" u="none" strike="noStrike" cap="none" dirty="0">
                <a:solidFill>
                  <a:srgbClr val="071A3A"/>
                </a:solidFill>
                <a:latin typeface="Arial"/>
                <a:ea typeface="Arial"/>
                <a:cs typeface="Arial"/>
                <a:sym typeface="Arial"/>
              </a:rPr>
              <a:t>11 de 11 Story Points </a:t>
            </a:r>
            <a:r>
              <a:rPr lang="en-US" sz="820" b="0" i="0" u="none" strike="noStrike" cap="none" dirty="0" err="1">
                <a:solidFill>
                  <a:srgbClr val="071A3A"/>
                </a:solidFill>
                <a:latin typeface="Arial"/>
                <a:ea typeface="Arial"/>
                <a:cs typeface="Arial"/>
                <a:sym typeface="Arial"/>
              </a:rPr>
              <a:t>finalizados</a:t>
            </a:r>
            <a:r>
              <a:rPr lang="en-US" sz="820" b="0" i="0" u="none" strike="noStrike" cap="none" dirty="0">
                <a:solidFill>
                  <a:srgbClr val="071A3A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r>
              <a:rPr lang="es-ES" sz="800" dirty="0">
                <a:solidFill>
                  <a:srgbClr val="0D2444"/>
                </a:solidFill>
              </a:rPr>
              <a:t>arquitectura, casos de uso y modelo conceptual de datos y modelo ER </a:t>
            </a:r>
            <a:endParaRPr sz="82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4" name="Google Shape;504;h56ab5dad46e2c1f2_0_342"/>
          <p:cNvSpPr/>
          <p:nvPr/>
        </p:nvSpPr>
        <p:spPr>
          <a:xfrm>
            <a:off x="3017606" y="1353296"/>
            <a:ext cx="2926200" cy="137160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2700" cap="flat" cmpd="sng">
            <a:solidFill>
              <a:srgbClr val="CFE0F2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50800" dir="2700000" algn="bl" rotWithShape="0">
              <a:srgbClr val="A7B9D1">
                <a:alpha val="1294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5" name="Google Shape;505;h56ab5dad46e2c1f2_0_342"/>
          <p:cNvSpPr/>
          <p:nvPr/>
        </p:nvSpPr>
        <p:spPr>
          <a:xfrm>
            <a:off x="3163908" y="1517904"/>
            <a:ext cx="438900" cy="438900"/>
          </a:xfrm>
          <a:prstGeom prst="ellipse">
            <a:avLst/>
          </a:prstGeom>
          <a:solidFill>
            <a:srgbClr val="E9FBF7"/>
          </a:solidFill>
          <a:ln w="12700" cap="flat" cmpd="sng">
            <a:solidFill>
              <a:srgbClr val="E9FBF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6" name="Google Shape;506;h56ab5dad46e2c1f2_0_342"/>
          <p:cNvSpPr/>
          <p:nvPr/>
        </p:nvSpPr>
        <p:spPr>
          <a:xfrm>
            <a:off x="3237062" y="1600200"/>
            <a:ext cx="292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B6AE"/>
              </a:buClr>
              <a:buSzPts val="1550"/>
              <a:buFont typeface="Arial"/>
              <a:buNone/>
            </a:pPr>
            <a:r>
              <a:rPr lang="en-US" sz="1550" b="1" i="0" u="none" strike="noStrike" cap="none">
                <a:solidFill>
                  <a:srgbClr val="00B6AE"/>
                </a:solidFill>
                <a:latin typeface="Arial"/>
                <a:ea typeface="Arial"/>
                <a:cs typeface="Arial"/>
                <a:sym typeface="Arial"/>
              </a:rPr>
              <a:t>↗</a:t>
            </a:r>
            <a:endParaRPr sz="15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" name="Google Shape;507;h56ab5dad46e2c1f2_0_342"/>
          <p:cNvSpPr/>
          <p:nvPr/>
        </p:nvSpPr>
        <p:spPr>
          <a:xfrm>
            <a:off x="3749140" y="1554480"/>
            <a:ext cx="1691700" cy="329100"/>
          </a:xfrm>
          <a:prstGeom prst="roundRect">
            <a:avLst>
              <a:gd name="adj" fmla="val 16667"/>
            </a:avLst>
          </a:prstGeom>
          <a:solidFill>
            <a:srgbClr val="00B6AE"/>
          </a:solidFill>
          <a:ln w="12700" cap="flat" cmpd="sng">
            <a:solidFill>
              <a:srgbClr val="00B6A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8" name="Google Shape;508;h56ab5dad46e2c1f2_0_342"/>
          <p:cNvSpPr/>
          <p:nvPr/>
        </p:nvSpPr>
        <p:spPr>
          <a:xfrm>
            <a:off x="3877159" y="1618488"/>
            <a:ext cx="14631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80"/>
              <a:buFont typeface="Arial"/>
              <a:buNone/>
            </a:pPr>
            <a:r>
              <a:rPr lang="en-US" sz="108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Prototipo funcional</a:t>
            </a:r>
            <a:endParaRPr sz="108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9" name="Google Shape;509;h56ab5dad46e2c1f2_0_342"/>
          <p:cNvCxnSpPr/>
          <p:nvPr/>
        </p:nvCxnSpPr>
        <p:spPr>
          <a:xfrm>
            <a:off x="3767428" y="2020824"/>
            <a:ext cx="384000" cy="0"/>
          </a:xfrm>
          <a:prstGeom prst="straightConnector1">
            <a:avLst/>
          </a:prstGeom>
          <a:noFill/>
          <a:ln w="19050" cap="flat" cmpd="sng">
            <a:solidFill>
              <a:srgbClr val="CFE0F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10" name="Google Shape;510;h56ab5dad46e2c1f2_0_342"/>
          <p:cNvSpPr/>
          <p:nvPr/>
        </p:nvSpPr>
        <p:spPr>
          <a:xfrm>
            <a:off x="3767428" y="2157984"/>
            <a:ext cx="1810500" cy="1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5" tIns="125" rIns="125" bIns="1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71A3A"/>
              </a:buClr>
              <a:buSzPts val="820"/>
              <a:buFont typeface="Arial"/>
              <a:buNone/>
            </a:pPr>
            <a:r>
              <a:rPr lang="en-US" sz="820" b="0" i="0" u="none" strike="noStrike" cap="none">
                <a:solidFill>
                  <a:srgbClr val="071A3A"/>
                </a:solidFill>
                <a:latin typeface="Arial"/>
                <a:ea typeface="Arial"/>
                <a:cs typeface="Arial"/>
                <a:sym typeface="Arial"/>
              </a:rPr>
              <a:t>Versión web desplegada en Vercel con acceso diferenciado por rol y funcionalidades iniciales de seguimiento QA.</a:t>
            </a:r>
            <a:endParaRPr sz="82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1" name="Google Shape;511;h56ab5dad46e2c1f2_0_342"/>
          <p:cNvSpPr/>
          <p:nvPr/>
        </p:nvSpPr>
        <p:spPr>
          <a:xfrm>
            <a:off x="365759" y="2826348"/>
            <a:ext cx="2432400" cy="132510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2700" cap="flat" cmpd="sng">
            <a:solidFill>
              <a:srgbClr val="CFE0F2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50800" dir="2700000" algn="bl" rotWithShape="0">
              <a:srgbClr val="A7B9D1">
                <a:alpha val="1294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2" name="Google Shape;512;h56ab5dad46e2c1f2_0_342"/>
          <p:cNvSpPr/>
          <p:nvPr/>
        </p:nvSpPr>
        <p:spPr>
          <a:xfrm>
            <a:off x="512078" y="2990948"/>
            <a:ext cx="438900" cy="438900"/>
          </a:xfrm>
          <a:prstGeom prst="ellipse">
            <a:avLst/>
          </a:prstGeom>
          <a:solidFill>
            <a:srgbClr val="EAF8EF"/>
          </a:solidFill>
          <a:ln w="12700" cap="flat" cmpd="sng">
            <a:solidFill>
              <a:srgbClr val="EAF8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3" name="Google Shape;513;h56ab5dad46e2c1f2_0_342"/>
          <p:cNvSpPr/>
          <p:nvPr/>
        </p:nvSpPr>
        <p:spPr>
          <a:xfrm>
            <a:off x="585232" y="3073244"/>
            <a:ext cx="292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1550"/>
              <a:buFont typeface="Arial"/>
              <a:buNone/>
            </a:pPr>
            <a:r>
              <a:rPr lang="en-US" sz="1550" b="1" i="0" u="none" strike="noStrike" cap="non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⚙</a:t>
            </a:r>
            <a:endParaRPr sz="15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4" name="Google Shape;514;h56ab5dad46e2c1f2_0_342"/>
          <p:cNvSpPr/>
          <p:nvPr/>
        </p:nvSpPr>
        <p:spPr>
          <a:xfrm>
            <a:off x="1097309" y="3027524"/>
            <a:ext cx="1280100" cy="329100"/>
          </a:xfrm>
          <a:prstGeom prst="roundRect">
            <a:avLst>
              <a:gd name="adj" fmla="val 16667"/>
            </a:avLst>
          </a:prstGeom>
          <a:solidFill>
            <a:srgbClr val="16A34A"/>
          </a:solidFill>
          <a:ln w="12700" cap="flat" cmpd="sng">
            <a:solidFill>
              <a:srgbClr val="16A3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5" name="Google Shape;515;h56ab5dad46e2c1f2_0_342"/>
          <p:cNvSpPr/>
          <p:nvPr/>
        </p:nvSpPr>
        <p:spPr>
          <a:xfrm>
            <a:off x="1225329" y="3091532"/>
            <a:ext cx="10515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80"/>
              <a:buFont typeface="Arial"/>
              <a:buNone/>
            </a:pPr>
            <a:r>
              <a:rPr lang="en-US" sz="108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Arquitectura en consolidación</a:t>
            </a:r>
            <a:endParaRPr sz="108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16" name="Google Shape;516;h56ab5dad46e2c1f2_0_342"/>
          <p:cNvCxnSpPr/>
          <p:nvPr/>
        </p:nvCxnSpPr>
        <p:spPr>
          <a:xfrm>
            <a:off x="1115598" y="3493868"/>
            <a:ext cx="384000" cy="0"/>
          </a:xfrm>
          <a:prstGeom prst="straightConnector1">
            <a:avLst/>
          </a:prstGeom>
          <a:noFill/>
          <a:ln w="19050" cap="flat" cmpd="sng">
            <a:solidFill>
              <a:srgbClr val="CFE0F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17" name="Google Shape;517;h56ab5dad46e2c1f2_0_342"/>
          <p:cNvSpPr/>
          <p:nvPr/>
        </p:nvSpPr>
        <p:spPr>
          <a:xfrm>
            <a:off x="1115598" y="3631028"/>
            <a:ext cx="1398900" cy="1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5" tIns="125" rIns="125" bIns="1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71A3A"/>
              </a:buClr>
              <a:buSzPts val="820"/>
              <a:buFont typeface="Arial"/>
              <a:buNone/>
            </a:pPr>
            <a:r>
              <a:rPr lang="en-US" sz="820" b="0" i="0" u="none" strike="noStrike" cap="none">
                <a:solidFill>
                  <a:srgbClr val="071A3A"/>
                </a:solidFill>
                <a:latin typeface="Arial"/>
                <a:ea typeface="Arial"/>
                <a:cs typeface="Arial"/>
                <a:sym typeface="Arial"/>
              </a:rPr>
              <a:t>Sprint 2 profundiza casos de uso, modelo 4+1 y modelo conceptual de datos.</a:t>
            </a:r>
            <a:endParaRPr sz="82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8" name="Google Shape;518;h56ab5dad46e2c1f2_0_342"/>
          <p:cNvSpPr/>
          <p:nvPr/>
        </p:nvSpPr>
        <p:spPr>
          <a:xfrm>
            <a:off x="3017605" y="2826350"/>
            <a:ext cx="2743200" cy="132510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2700" cap="flat" cmpd="sng">
            <a:solidFill>
              <a:srgbClr val="CFE0F2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50800" dir="2700000" algn="bl" rotWithShape="0">
              <a:srgbClr val="A7B9D1">
                <a:alpha val="1294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9" name="Google Shape;519;h56ab5dad46e2c1f2_0_342"/>
          <p:cNvSpPr/>
          <p:nvPr/>
        </p:nvSpPr>
        <p:spPr>
          <a:xfrm>
            <a:off x="3163908" y="2990948"/>
            <a:ext cx="438900" cy="438900"/>
          </a:xfrm>
          <a:prstGeom prst="ellipse">
            <a:avLst/>
          </a:prstGeom>
          <a:solidFill>
            <a:srgbClr val="EAF4FF"/>
          </a:solidFill>
          <a:ln w="12700" cap="flat" cmpd="sng">
            <a:solidFill>
              <a:srgbClr val="EAF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0" name="Google Shape;520;h56ab5dad46e2c1f2_0_342"/>
          <p:cNvSpPr/>
          <p:nvPr/>
        </p:nvSpPr>
        <p:spPr>
          <a:xfrm>
            <a:off x="3237062" y="3073244"/>
            <a:ext cx="292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B63E5"/>
              </a:buClr>
              <a:buSzPts val="1550"/>
              <a:buFont typeface="Arial"/>
              <a:buNone/>
            </a:pPr>
            <a:r>
              <a:rPr lang="en-US" sz="1550" b="1" i="0" u="none" strike="noStrike" cap="none">
                <a:solidFill>
                  <a:srgbClr val="0B63E5"/>
                </a:solidFill>
                <a:latin typeface="Arial"/>
                <a:ea typeface="Arial"/>
                <a:cs typeface="Arial"/>
                <a:sym typeface="Arial"/>
              </a:rPr>
              <a:t>🔗</a:t>
            </a:r>
            <a:endParaRPr sz="15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1" name="Google Shape;521;h56ab5dad46e2c1f2_0_342"/>
          <p:cNvSpPr/>
          <p:nvPr/>
        </p:nvSpPr>
        <p:spPr>
          <a:xfrm>
            <a:off x="3749140" y="3027524"/>
            <a:ext cx="1691700" cy="329100"/>
          </a:xfrm>
          <a:prstGeom prst="roundRect">
            <a:avLst>
              <a:gd name="adj" fmla="val 16667"/>
            </a:avLst>
          </a:prstGeom>
          <a:solidFill>
            <a:srgbClr val="0B63E5"/>
          </a:solidFill>
          <a:ln w="12700" cap="flat" cmpd="sng">
            <a:solidFill>
              <a:srgbClr val="0B63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2" name="Google Shape;522;h56ab5dad46e2c1f2_0_342"/>
          <p:cNvSpPr/>
          <p:nvPr/>
        </p:nvSpPr>
        <p:spPr>
          <a:xfrm>
            <a:off x="3877159" y="3091532"/>
            <a:ext cx="14631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80"/>
              <a:buFont typeface="Arial"/>
              <a:buNone/>
            </a:pPr>
            <a:r>
              <a:rPr lang="en-US" sz="108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Trazabilidad del diseño</a:t>
            </a:r>
            <a:endParaRPr sz="108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23" name="Google Shape;523;h56ab5dad46e2c1f2_0_342"/>
          <p:cNvCxnSpPr/>
          <p:nvPr/>
        </p:nvCxnSpPr>
        <p:spPr>
          <a:xfrm>
            <a:off x="3767428" y="3493868"/>
            <a:ext cx="384000" cy="0"/>
          </a:xfrm>
          <a:prstGeom prst="straightConnector1">
            <a:avLst/>
          </a:prstGeom>
          <a:noFill/>
          <a:ln w="19050" cap="flat" cmpd="sng">
            <a:solidFill>
              <a:srgbClr val="CFE0F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4" name="Google Shape;524;h56ab5dad46e2c1f2_0_342"/>
          <p:cNvSpPr/>
          <p:nvPr/>
        </p:nvSpPr>
        <p:spPr>
          <a:xfrm>
            <a:off x="3767428" y="3631028"/>
            <a:ext cx="1810500" cy="1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5" tIns="125" rIns="125" bIns="1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71A3A"/>
              </a:buClr>
              <a:buSzPts val="820"/>
              <a:buFont typeface="Arial"/>
              <a:buNone/>
            </a:pPr>
            <a:r>
              <a:rPr lang="en-US" sz="820" b="0" i="0" u="none" strike="noStrike" cap="none">
                <a:solidFill>
                  <a:srgbClr val="071A3A"/>
                </a:solidFill>
                <a:latin typeface="Arial"/>
                <a:ea typeface="Arial"/>
                <a:cs typeface="Arial"/>
                <a:sym typeface="Arial"/>
              </a:rPr>
              <a:t>Los requerimientos funcionales comienzan a relacionarse con arquitectura, datos y evidencia técnica en Jira/GitHub.</a:t>
            </a:r>
            <a:endParaRPr sz="82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5" name="Google Shape;525;h56ab5dad46e2c1f2_0_342"/>
          <p:cNvSpPr/>
          <p:nvPr/>
        </p:nvSpPr>
        <p:spPr>
          <a:xfrm>
            <a:off x="6126643" y="1454756"/>
            <a:ext cx="5577900" cy="3602700"/>
          </a:xfrm>
          <a:prstGeom prst="roundRect">
            <a:avLst>
              <a:gd name="adj" fmla="val 2538"/>
            </a:avLst>
          </a:prstGeom>
          <a:solidFill>
            <a:srgbClr val="ECFFFB"/>
          </a:solidFill>
          <a:ln w="15225" cap="flat" cmpd="sng">
            <a:solidFill>
              <a:srgbClr val="9CE7D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50800" dir="2700000" algn="bl" rotWithShape="0">
              <a:srgbClr val="A7B9D1">
                <a:alpha val="102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26" name="Google Shape;526;h56ab5dad46e2c1f2_0_342"/>
          <p:cNvSpPr/>
          <p:nvPr/>
        </p:nvSpPr>
        <p:spPr>
          <a:xfrm>
            <a:off x="6364394" y="1536192"/>
            <a:ext cx="5084100" cy="429900"/>
          </a:xfrm>
          <a:prstGeom prst="roundRect">
            <a:avLst>
              <a:gd name="adj" fmla="val 17021"/>
            </a:avLst>
          </a:prstGeom>
          <a:solidFill>
            <a:srgbClr val="00B6AE"/>
          </a:solidFill>
          <a:ln w="12700" cap="flat" cmpd="sng">
            <a:solidFill>
              <a:srgbClr val="00B6A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7" name="Google Shape;527;h56ab5dad46e2c1f2_0_342"/>
          <p:cNvSpPr/>
          <p:nvPr/>
        </p:nvSpPr>
        <p:spPr>
          <a:xfrm>
            <a:off x="6565567" y="1627632"/>
            <a:ext cx="2926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Próximos pasos</a:t>
            </a:r>
            <a:endParaRPr sz="15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8" name="Google Shape;528;h56ab5dad46e2c1f2_0_342"/>
          <p:cNvSpPr/>
          <p:nvPr/>
        </p:nvSpPr>
        <p:spPr>
          <a:xfrm>
            <a:off x="6419259" y="2185416"/>
            <a:ext cx="310800" cy="310800"/>
          </a:xfrm>
          <a:prstGeom prst="ellipse">
            <a:avLst/>
          </a:prstGeom>
          <a:solidFill>
            <a:srgbClr val="D9F6F4"/>
          </a:solidFill>
          <a:ln w="12700" cap="flat" cmpd="sng">
            <a:solidFill>
              <a:srgbClr val="D9F6F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9" name="Google Shape;529;h56ab5dad46e2c1f2_0_342"/>
          <p:cNvSpPr/>
          <p:nvPr/>
        </p:nvSpPr>
        <p:spPr>
          <a:xfrm>
            <a:off x="6419259" y="2249424"/>
            <a:ext cx="310800" cy="1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B6AE"/>
              </a:buClr>
              <a:buSzPts val="830"/>
              <a:buFont typeface="Arial"/>
              <a:buNone/>
            </a:pPr>
            <a:r>
              <a:rPr lang="en-US" sz="830" b="1" i="0" u="none" strike="noStrike" cap="none">
                <a:solidFill>
                  <a:srgbClr val="00B6AE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8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0" name="Google Shape;530;h56ab5dad46e2c1f2_0_342"/>
          <p:cNvSpPr/>
          <p:nvPr/>
        </p:nvSpPr>
        <p:spPr>
          <a:xfrm>
            <a:off x="6913048" y="2212848"/>
            <a:ext cx="42978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71A3A"/>
              </a:buClr>
              <a:buSzPts val="1040"/>
              <a:buFont typeface="Arial"/>
              <a:buNone/>
            </a:pPr>
            <a:r>
              <a:rPr lang="en-US" sz="1040" b="1" i="0" u="none" strike="noStrike" cap="none" dirty="0" err="1">
                <a:solidFill>
                  <a:srgbClr val="071A3A"/>
                </a:solidFill>
                <a:latin typeface="Arial"/>
                <a:ea typeface="Arial"/>
                <a:cs typeface="Arial"/>
                <a:sym typeface="Arial"/>
              </a:rPr>
              <a:t>Planificación</a:t>
            </a:r>
            <a:r>
              <a:rPr lang="en-US" sz="1040" b="1" i="0" u="none" strike="noStrike" cap="none" dirty="0">
                <a:solidFill>
                  <a:srgbClr val="071A3A"/>
                </a:solidFill>
                <a:latin typeface="Arial"/>
                <a:ea typeface="Arial"/>
                <a:cs typeface="Arial"/>
                <a:sym typeface="Arial"/>
              </a:rPr>
              <a:t> de  </a:t>
            </a:r>
            <a:r>
              <a:rPr lang="en-US" sz="1040" b="1" i="0" u="none" strike="noStrike" cap="none" dirty="0" err="1">
                <a:solidFill>
                  <a:srgbClr val="071A3A"/>
                </a:solidFill>
                <a:latin typeface="Arial"/>
                <a:ea typeface="Arial"/>
                <a:cs typeface="Arial"/>
                <a:sym typeface="Arial"/>
              </a:rPr>
              <a:t>actividades</a:t>
            </a:r>
            <a:r>
              <a:rPr lang="en-US" sz="1040" b="1" i="0" u="none" strike="noStrike" cap="none" dirty="0">
                <a:solidFill>
                  <a:srgbClr val="071A3A"/>
                </a:solidFill>
                <a:latin typeface="Arial"/>
                <a:ea typeface="Arial"/>
                <a:cs typeface="Arial"/>
                <a:sym typeface="Arial"/>
              </a:rPr>
              <a:t> Sprint </a:t>
            </a:r>
            <a:r>
              <a:rPr lang="en-US" sz="1040" b="1" dirty="0">
                <a:solidFill>
                  <a:srgbClr val="071A3A"/>
                </a:solidFill>
              </a:rPr>
              <a:t>3</a:t>
            </a:r>
            <a:endParaRPr sz="104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31" name="Google Shape;531;h56ab5dad46e2c1f2_0_342"/>
          <p:cNvCxnSpPr/>
          <p:nvPr/>
        </p:nvCxnSpPr>
        <p:spPr>
          <a:xfrm>
            <a:off x="6391826" y="2624328"/>
            <a:ext cx="4919400" cy="0"/>
          </a:xfrm>
          <a:prstGeom prst="straightConnector1">
            <a:avLst/>
          </a:prstGeom>
          <a:noFill/>
          <a:ln w="9525" cap="flat" cmpd="sng">
            <a:solidFill>
              <a:srgbClr val="BEEBE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2" name="Google Shape;532;h56ab5dad46e2c1f2_0_342"/>
          <p:cNvSpPr/>
          <p:nvPr/>
        </p:nvSpPr>
        <p:spPr>
          <a:xfrm>
            <a:off x="6419259" y="2660904"/>
            <a:ext cx="310800" cy="310800"/>
          </a:xfrm>
          <a:prstGeom prst="ellipse">
            <a:avLst/>
          </a:prstGeom>
          <a:solidFill>
            <a:srgbClr val="D9F6F4"/>
          </a:solidFill>
          <a:ln w="12700" cap="flat" cmpd="sng">
            <a:solidFill>
              <a:srgbClr val="D9F6F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3" name="Google Shape;533;h56ab5dad46e2c1f2_0_342"/>
          <p:cNvSpPr/>
          <p:nvPr/>
        </p:nvSpPr>
        <p:spPr>
          <a:xfrm>
            <a:off x="6419259" y="2724912"/>
            <a:ext cx="310800" cy="1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B6AE"/>
              </a:buClr>
              <a:buSzPts val="830"/>
              <a:buFont typeface="Arial"/>
              <a:buNone/>
            </a:pPr>
            <a:r>
              <a:rPr lang="en-US" sz="830" b="1" i="0" u="none" strike="noStrike" cap="none">
                <a:solidFill>
                  <a:srgbClr val="00B6AE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8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4" name="Google Shape;534;h56ab5dad46e2c1f2_0_342"/>
          <p:cNvSpPr/>
          <p:nvPr/>
        </p:nvSpPr>
        <p:spPr>
          <a:xfrm>
            <a:off x="6913048" y="2688336"/>
            <a:ext cx="42978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71A3A"/>
              </a:buClr>
              <a:buSzPts val="1040"/>
              <a:buFont typeface="Arial"/>
              <a:buNone/>
            </a:pPr>
            <a:r>
              <a:rPr lang="en-US" sz="1040" b="1" i="0" u="none" strike="noStrike" cap="none">
                <a:solidFill>
                  <a:srgbClr val="071A3A"/>
                </a:solidFill>
                <a:latin typeface="Arial"/>
                <a:ea typeface="Arial"/>
                <a:cs typeface="Arial"/>
                <a:sym typeface="Arial"/>
              </a:rPr>
              <a:t>Consolidar línea base arquitectónica</a:t>
            </a:r>
            <a:endParaRPr sz="104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35" name="Google Shape;535;h56ab5dad46e2c1f2_0_342"/>
          <p:cNvCxnSpPr/>
          <p:nvPr/>
        </p:nvCxnSpPr>
        <p:spPr>
          <a:xfrm>
            <a:off x="6391826" y="3099816"/>
            <a:ext cx="4919400" cy="0"/>
          </a:xfrm>
          <a:prstGeom prst="straightConnector1">
            <a:avLst/>
          </a:prstGeom>
          <a:noFill/>
          <a:ln w="9525" cap="flat" cmpd="sng">
            <a:solidFill>
              <a:srgbClr val="BEEBE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6" name="Google Shape;536;h56ab5dad46e2c1f2_0_342"/>
          <p:cNvSpPr/>
          <p:nvPr/>
        </p:nvSpPr>
        <p:spPr>
          <a:xfrm>
            <a:off x="6419259" y="3136392"/>
            <a:ext cx="310800" cy="310800"/>
          </a:xfrm>
          <a:prstGeom prst="ellipse">
            <a:avLst/>
          </a:prstGeom>
          <a:solidFill>
            <a:srgbClr val="D9F6F4"/>
          </a:solidFill>
          <a:ln w="12700" cap="flat" cmpd="sng">
            <a:solidFill>
              <a:srgbClr val="D9F6F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7" name="Google Shape;537;h56ab5dad46e2c1f2_0_342"/>
          <p:cNvSpPr/>
          <p:nvPr/>
        </p:nvSpPr>
        <p:spPr>
          <a:xfrm>
            <a:off x="6419259" y="3200400"/>
            <a:ext cx="310800" cy="1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B6AE"/>
              </a:buClr>
              <a:buSzPts val="830"/>
              <a:buFont typeface="Arial"/>
              <a:buNone/>
            </a:pPr>
            <a:r>
              <a:rPr lang="en-US" sz="830" b="1" i="0" u="none" strike="noStrike" cap="none">
                <a:solidFill>
                  <a:srgbClr val="00B6AE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8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8" name="Google Shape;538;h56ab5dad46e2c1f2_0_342"/>
          <p:cNvSpPr/>
          <p:nvPr/>
        </p:nvSpPr>
        <p:spPr>
          <a:xfrm>
            <a:off x="6913048" y="3163824"/>
            <a:ext cx="42978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71A3A"/>
              </a:buClr>
              <a:buSzPts val="1040"/>
              <a:buFont typeface="Arial"/>
              <a:buNone/>
            </a:pPr>
            <a:r>
              <a:rPr lang="en-US" sz="1040" b="1" i="0" u="none" strike="noStrike" cap="none">
                <a:solidFill>
                  <a:srgbClr val="071A3A"/>
                </a:solidFill>
                <a:latin typeface="Arial"/>
                <a:ea typeface="Arial"/>
                <a:cs typeface="Arial"/>
                <a:sym typeface="Arial"/>
              </a:rPr>
              <a:t>Implementar backend Spring Boot</a:t>
            </a:r>
            <a:endParaRPr sz="104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39" name="Google Shape;539;h56ab5dad46e2c1f2_0_342"/>
          <p:cNvCxnSpPr/>
          <p:nvPr/>
        </p:nvCxnSpPr>
        <p:spPr>
          <a:xfrm>
            <a:off x="6391826" y="3575304"/>
            <a:ext cx="4919400" cy="0"/>
          </a:xfrm>
          <a:prstGeom prst="straightConnector1">
            <a:avLst/>
          </a:prstGeom>
          <a:noFill/>
          <a:ln w="9525" cap="flat" cmpd="sng">
            <a:solidFill>
              <a:srgbClr val="BEEBE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0" name="Google Shape;540;h56ab5dad46e2c1f2_0_342"/>
          <p:cNvSpPr/>
          <p:nvPr/>
        </p:nvSpPr>
        <p:spPr>
          <a:xfrm>
            <a:off x="6419259" y="3611880"/>
            <a:ext cx="310800" cy="310800"/>
          </a:xfrm>
          <a:prstGeom prst="ellipse">
            <a:avLst/>
          </a:prstGeom>
          <a:solidFill>
            <a:srgbClr val="D9F6F4"/>
          </a:solidFill>
          <a:ln w="12700" cap="flat" cmpd="sng">
            <a:solidFill>
              <a:srgbClr val="D9F6F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1" name="Google Shape;541;h56ab5dad46e2c1f2_0_342"/>
          <p:cNvSpPr/>
          <p:nvPr/>
        </p:nvSpPr>
        <p:spPr>
          <a:xfrm>
            <a:off x="6419259" y="3675888"/>
            <a:ext cx="310800" cy="1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B6AE"/>
              </a:buClr>
              <a:buSzPts val="830"/>
              <a:buFont typeface="Arial"/>
              <a:buNone/>
            </a:pPr>
            <a:r>
              <a:rPr lang="en-US" sz="830" b="1" i="0" u="none" strike="noStrike" cap="none">
                <a:solidFill>
                  <a:srgbClr val="00B6AE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8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2" name="Google Shape;542;h56ab5dad46e2c1f2_0_342"/>
          <p:cNvSpPr/>
          <p:nvPr/>
        </p:nvSpPr>
        <p:spPr>
          <a:xfrm>
            <a:off x="6913048" y="3639312"/>
            <a:ext cx="42978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71A3A"/>
              </a:buClr>
              <a:buSzPts val="1040"/>
              <a:buFont typeface="Arial"/>
              <a:buNone/>
            </a:pPr>
            <a:r>
              <a:rPr lang="en-US" sz="1040" b="1" i="0" u="none" strike="noStrike" cap="none">
                <a:solidFill>
                  <a:srgbClr val="071A3A"/>
                </a:solidFill>
                <a:latin typeface="Arial"/>
                <a:ea typeface="Arial"/>
                <a:cs typeface="Arial"/>
                <a:sym typeface="Arial"/>
              </a:rPr>
              <a:t>Incorporar persistencia PostgreSQL</a:t>
            </a:r>
            <a:endParaRPr sz="104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43" name="Google Shape;543;h56ab5dad46e2c1f2_0_342"/>
          <p:cNvCxnSpPr/>
          <p:nvPr/>
        </p:nvCxnSpPr>
        <p:spPr>
          <a:xfrm>
            <a:off x="6391826" y="4050792"/>
            <a:ext cx="4919400" cy="0"/>
          </a:xfrm>
          <a:prstGeom prst="straightConnector1">
            <a:avLst/>
          </a:prstGeom>
          <a:noFill/>
          <a:ln w="9525" cap="flat" cmpd="sng">
            <a:solidFill>
              <a:srgbClr val="BEEBE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4" name="Google Shape;544;h56ab5dad46e2c1f2_0_342"/>
          <p:cNvSpPr/>
          <p:nvPr/>
        </p:nvSpPr>
        <p:spPr>
          <a:xfrm>
            <a:off x="6419259" y="4087368"/>
            <a:ext cx="310800" cy="310800"/>
          </a:xfrm>
          <a:prstGeom prst="ellipse">
            <a:avLst/>
          </a:prstGeom>
          <a:solidFill>
            <a:srgbClr val="D9F6F4"/>
          </a:solidFill>
          <a:ln w="12700" cap="flat" cmpd="sng">
            <a:solidFill>
              <a:srgbClr val="D9F6F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5" name="Google Shape;545;h56ab5dad46e2c1f2_0_342"/>
          <p:cNvSpPr/>
          <p:nvPr/>
        </p:nvSpPr>
        <p:spPr>
          <a:xfrm>
            <a:off x="6419259" y="4151376"/>
            <a:ext cx="310800" cy="1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B6AE"/>
              </a:buClr>
              <a:buSzPts val="830"/>
              <a:buFont typeface="Arial"/>
              <a:buNone/>
            </a:pPr>
            <a:r>
              <a:rPr lang="en-US" sz="830" b="1" i="0" u="none" strike="noStrike" cap="none">
                <a:solidFill>
                  <a:srgbClr val="00B6AE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8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6" name="Google Shape;546;h56ab5dad46e2c1f2_0_342"/>
          <p:cNvSpPr/>
          <p:nvPr/>
        </p:nvSpPr>
        <p:spPr>
          <a:xfrm>
            <a:off x="6913048" y="4114800"/>
            <a:ext cx="42978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71A3A"/>
              </a:buClr>
              <a:buSzPts val="1040"/>
              <a:buFont typeface="Arial"/>
              <a:buNone/>
            </a:pPr>
            <a:r>
              <a:rPr lang="en-US" sz="1040" b="1" i="0" u="none" strike="noStrike" cap="none">
                <a:solidFill>
                  <a:srgbClr val="071A3A"/>
                </a:solidFill>
                <a:latin typeface="Arial"/>
                <a:ea typeface="Arial"/>
                <a:cs typeface="Arial"/>
                <a:sym typeface="Arial"/>
              </a:rPr>
              <a:t>Integrar frontend y fuentes Jira / CSV-JSON</a:t>
            </a:r>
            <a:endParaRPr sz="104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47" name="Google Shape;547;h56ab5dad46e2c1f2_0_342"/>
          <p:cNvCxnSpPr/>
          <p:nvPr/>
        </p:nvCxnSpPr>
        <p:spPr>
          <a:xfrm>
            <a:off x="6391826" y="4526280"/>
            <a:ext cx="4919400" cy="0"/>
          </a:xfrm>
          <a:prstGeom prst="straightConnector1">
            <a:avLst/>
          </a:prstGeom>
          <a:noFill/>
          <a:ln w="9525" cap="flat" cmpd="sng">
            <a:solidFill>
              <a:srgbClr val="BEEBE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8" name="Google Shape;548;h56ab5dad46e2c1f2_0_342"/>
          <p:cNvSpPr/>
          <p:nvPr/>
        </p:nvSpPr>
        <p:spPr>
          <a:xfrm>
            <a:off x="6419259" y="4562856"/>
            <a:ext cx="310800" cy="310800"/>
          </a:xfrm>
          <a:prstGeom prst="ellipse">
            <a:avLst/>
          </a:prstGeom>
          <a:solidFill>
            <a:srgbClr val="D9F6F4"/>
          </a:solidFill>
          <a:ln w="12700" cap="flat" cmpd="sng">
            <a:solidFill>
              <a:srgbClr val="D9F6F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9" name="Google Shape;549;h56ab5dad46e2c1f2_0_342"/>
          <p:cNvSpPr/>
          <p:nvPr/>
        </p:nvSpPr>
        <p:spPr>
          <a:xfrm>
            <a:off x="6419259" y="4626864"/>
            <a:ext cx="310800" cy="1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B6AE"/>
              </a:buClr>
              <a:buSzPts val="830"/>
              <a:buFont typeface="Arial"/>
              <a:buNone/>
            </a:pPr>
            <a:r>
              <a:rPr lang="en-US" sz="830" b="1" i="0" u="none" strike="noStrike" cap="none">
                <a:solidFill>
                  <a:srgbClr val="00B6AE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sz="83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" name="Google Shape;550;h56ab5dad46e2c1f2_0_342"/>
          <p:cNvSpPr/>
          <p:nvPr/>
        </p:nvSpPr>
        <p:spPr>
          <a:xfrm>
            <a:off x="6913048" y="4590288"/>
            <a:ext cx="42978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71A3A"/>
              </a:buClr>
              <a:buSzPts val="1040"/>
              <a:buFont typeface="Arial"/>
              <a:buNone/>
            </a:pPr>
            <a:r>
              <a:rPr lang="en-US" sz="1040" b="1" i="0" u="none" strike="noStrike" cap="none">
                <a:solidFill>
                  <a:srgbClr val="071A3A"/>
                </a:solidFill>
                <a:latin typeface="Arial"/>
                <a:ea typeface="Arial"/>
                <a:cs typeface="Arial"/>
                <a:sym typeface="Arial"/>
              </a:rPr>
              <a:t>Ejecutar pruebas y medición SIN/CON Quality360</a:t>
            </a:r>
            <a:endParaRPr sz="104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1" name="Google Shape;551;h56ab5dad46e2c1f2_0_342"/>
          <p:cNvSpPr/>
          <p:nvPr/>
        </p:nvSpPr>
        <p:spPr>
          <a:xfrm>
            <a:off x="365770" y="5321808"/>
            <a:ext cx="11338800" cy="749700"/>
          </a:xfrm>
          <a:prstGeom prst="roundRect">
            <a:avLst>
              <a:gd name="adj" fmla="val 10976"/>
            </a:avLst>
          </a:prstGeom>
          <a:solidFill>
            <a:srgbClr val="EEF9FF"/>
          </a:solidFill>
          <a:ln w="12700" cap="flat" cmpd="sng">
            <a:solidFill>
              <a:srgbClr val="CFE0F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2" name="Google Shape;552;h56ab5dad46e2c1f2_0_342"/>
          <p:cNvSpPr/>
          <p:nvPr/>
        </p:nvSpPr>
        <p:spPr>
          <a:xfrm>
            <a:off x="859559" y="5477256"/>
            <a:ext cx="420600" cy="420600"/>
          </a:xfrm>
          <a:prstGeom prst="ellipse">
            <a:avLst/>
          </a:prstGeom>
          <a:solidFill>
            <a:srgbClr val="D9F0FF"/>
          </a:solidFill>
          <a:ln w="12700" cap="flat" cmpd="sng">
            <a:solidFill>
              <a:srgbClr val="D9F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3" name="Google Shape;553;h56ab5dad46e2c1f2_0_342"/>
          <p:cNvSpPr/>
          <p:nvPr/>
        </p:nvSpPr>
        <p:spPr>
          <a:xfrm>
            <a:off x="941857" y="5559552"/>
            <a:ext cx="2652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🎯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4" name="Google Shape;554;h56ab5dad46e2c1f2_0_342"/>
          <p:cNvCxnSpPr/>
          <p:nvPr/>
        </p:nvCxnSpPr>
        <p:spPr>
          <a:xfrm>
            <a:off x="1481367" y="5449824"/>
            <a:ext cx="0" cy="475500"/>
          </a:xfrm>
          <a:prstGeom prst="straightConnector1">
            <a:avLst/>
          </a:prstGeom>
          <a:noFill/>
          <a:ln w="13950" cap="flat" cmpd="sng">
            <a:solidFill>
              <a:srgbClr val="CFE0F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5" name="Google Shape;555;h56ab5dad46e2c1f2_0_342"/>
          <p:cNvSpPr/>
          <p:nvPr/>
        </p:nvSpPr>
        <p:spPr>
          <a:xfrm>
            <a:off x="1719118" y="5504688"/>
            <a:ext cx="9510000" cy="40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8245A"/>
              </a:buClr>
              <a:buSzPts val="1520"/>
              <a:buFont typeface="Arial"/>
              <a:buNone/>
            </a:pPr>
            <a:r>
              <a:rPr lang="en-US" sz="1520" b="1" i="0" u="none" strike="noStrike" cap="none">
                <a:solidFill>
                  <a:srgbClr val="08245A"/>
                </a:solidFill>
                <a:latin typeface="Arial"/>
                <a:ea typeface="Arial"/>
                <a:cs typeface="Arial"/>
                <a:sym typeface="Arial"/>
              </a:rPr>
              <a:t>Quality360 evoluciona desde un prototipo funcional hacia una solución QA trazable, </a:t>
            </a:r>
            <a:r>
              <a:rPr lang="en-US" sz="1520" b="1" i="0" u="none" strike="noStrike" cap="none">
                <a:solidFill>
                  <a:srgbClr val="00B6AE"/>
                </a:solidFill>
                <a:latin typeface="Arial"/>
                <a:ea typeface="Arial"/>
                <a:cs typeface="Arial"/>
                <a:sym typeface="Arial"/>
              </a:rPr>
              <a:t>sustentada por una arquitectura definida y un modelo de datos preparado para la implementación.</a:t>
            </a:r>
            <a:endParaRPr sz="152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" name="Google Shape;556;h56ab5dad46e2c1f2_0_342"/>
          <p:cNvSpPr/>
          <p:nvPr/>
        </p:nvSpPr>
        <p:spPr>
          <a:xfrm>
            <a:off x="365770" y="6537960"/>
            <a:ext cx="3108900" cy="1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6758A"/>
              </a:buClr>
              <a:buSzPts val="680"/>
              <a:buFont typeface="Arial"/>
              <a:buNone/>
            </a:pPr>
            <a:r>
              <a:rPr lang="en-US" sz="680" b="0" i="0" u="none" strike="noStrike" cap="none">
                <a:solidFill>
                  <a:srgbClr val="66758A"/>
                </a:solidFill>
                <a:latin typeface="Arial"/>
                <a:ea typeface="Arial"/>
                <a:cs typeface="Arial"/>
                <a:sym typeface="Arial"/>
              </a:rPr>
              <a:t>Quality360 · Capstone Grupo 8</a:t>
            </a:r>
            <a:endParaRPr sz="68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" name="Google Shape;557;h56ab5dad46e2c1f2_0_342"/>
          <p:cNvSpPr/>
          <p:nvPr/>
        </p:nvSpPr>
        <p:spPr>
          <a:xfrm>
            <a:off x="9692898" y="6537960"/>
            <a:ext cx="2011800" cy="1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6758A"/>
              </a:buClr>
              <a:buSzPts val="680"/>
              <a:buFont typeface="Arial"/>
              <a:buNone/>
            </a:pPr>
            <a:r>
              <a:rPr lang="en-US" sz="680" b="0" i="0" u="none" strike="noStrike" cap="none">
                <a:solidFill>
                  <a:srgbClr val="66758A"/>
                </a:solidFill>
                <a:latin typeface="Arial"/>
                <a:ea typeface="Arial"/>
                <a:cs typeface="Arial"/>
                <a:sym typeface="Arial"/>
              </a:rPr>
              <a:t>Cierre de avance · Sprint 2</a:t>
            </a:r>
            <a:endParaRPr sz="68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893</Words>
  <Application>Microsoft Office PowerPoint</Application>
  <PresentationFormat>Panorámica</PresentationFormat>
  <Paragraphs>245</Paragraphs>
  <Slides>9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9</vt:i4>
      </vt:variant>
    </vt:vector>
  </HeadingPairs>
  <TitlesOfParts>
    <vt:vector size="14" baseType="lpstr">
      <vt:lpstr>Arial</vt:lpstr>
      <vt:lpstr>Aptos</vt:lpstr>
      <vt:lpstr>Play</vt:lpstr>
      <vt:lpstr>Office Theme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OpenAI</dc:creator>
  <cp:lastModifiedBy>Renato Seguel</cp:lastModifiedBy>
  <cp:revision>3</cp:revision>
  <dcterms:created xsi:type="dcterms:W3CDTF">2026-09-24T23:02:06Z</dcterms:created>
  <dcterms:modified xsi:type="dcterms:W3CDTF">2026-10-10T04:06:20Z</dcterms:modified>
</cp:coreProperties>
</file>