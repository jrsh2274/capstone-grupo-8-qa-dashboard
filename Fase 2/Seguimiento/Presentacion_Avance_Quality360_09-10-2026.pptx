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2" r:id="rId2"/>
  </p:sldMasterIdLst>
  <p:notesMasterIdLst>
    <p:notesMasterId r:id="rId12"/>
  </p:notesMasterIdLst>
  <p:sldIdLst>
    <p:sldId id="256" r:id="rId3"/>
    <p:sldId id="257" r:id="rId4"/>
    <p:sldId id="258" r:id="rId5"/>
    <p:sldId id="266" r:id="rId6"/>
    <p:sldId id="260" r:id="rId7"/>
    <p:sldId id="262" r:id="rId8"/>
    <p:sldId id="263" r:id="rId9"/>
    <p:sldId id="267" r:id="rId10"/>
    <p:sldId id="265" r:id="rId11"/>
  </p:sldIdLst>
  <p:sldSz cx="12192000" cy="6858000"/>
  <p:notesSz cx="6858000" cy="12192000"/>
  <p:embeddedFontLst>
    <p:embeddedFont>
      <p:font typeface="Play" panose="020B060402020202020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BzX0iT82rKRclVpP+gLhsIzB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h5adcd0903d5cb17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" name="Google Shape;16;h5adcd0903d5cb179_3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h5adcd0903d5cb179_3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h5adcd0903d5cb179_4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h5adcd0903d5cb179_4_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h5adcd0903d5cb179_4_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5adcd0903d5cb179_4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h5adcd0903d5cb179_4_83:notes"/>
          <p:cNvSpPr txBox="1">
            <a:spLocks noGrp="1"/>
          </p:cNvSpPr>
          <p:nvPr>
            <p:ph type="body" idx="1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1" name="Google Shape;81;h5adcd0903d5cb179_4_83:notes"/>
          <p:cNvSpPr txBox="1">
            <a:spLocks noGrp="1"/>
          </p:cNvSpPr>
          <p:nvPr>
            <p:ph type="sldNum" idx="12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20b37650884cf90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h20b37650884cf90a_0_9:notes"/>
          <p:cNvSpPr txBox="1">
            <a:spLocks noGrp="1"/>
          </p:cNvSpPr>
          <p:nvPr>
            <p:ph type="body" idx="1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8" name="Google Shape;148;h20b37650884cf90a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h1af1b7e802a7d6b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h1af1b7e802a7d6b2_1_5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h20b37650884cf90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h20b37650884cf90a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0" name="Google Shape;370;h20b37650884cf90a_0_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56ab5dad46e2c1f2_0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9" name="Google Shape;489;h56ab5dad46e2c1f2_0_342:notes"/>
          <p:cNvSpPr txBox="1">
            <a:spLocks noGrp="1"/>
          </p:cNvSpPr>
          <p:nvPr>
            <p:ph type="body" idx="1"/>
          </p:nvPr>
        </p:nvSpPr>
        <p:spPr>
          <a:xfrm>
            <a:off x="685800" y="4400667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h56ab5dad46e2c1f2_0_342:notes"/>
          <p:cNvSpPr txBox="1">
            <a:spLocks noGrp="1"/>
          </p:cNvSpPr>
          <p:nvPr>
            <p:ph type="sldNum" idx="12"/>
          </p:nvPr>
        </p:nvSpPr>
        <p:spPr>
          <a:xfrm>
            <a:off x="3884613" y="8685445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bg>
      <p:bgPr>
        <a:solidFill>
          <a:srgbClr val="F6FAFD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25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h5adcd0903d5cb179_3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w="12700" cap="flat" cmpd="sng">
            <a:solidFill>
              <a:srgbClr val="20B8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h5adcd0903d5cb179_3_0"/>
          <p:cNvSpPr/>
          <p:nvPr/>
        </p:nvSpPr>
        <p:spPr>
          <a:xfrm>
            <a:off x="10515600" y="5577840"/>
            <a:ext cx="2286000" cy="2286000"/>
          </a:xfrm>
          <a:prstGeom prst="arc">
            <a:avLst>
              <a:gd name="adj1" fmla="val 16200000"/>
              <a:gd name="adj2" fmla="val 0"/>
            </a:avLst>
          </a:prstGeom>
          <a:solidFill>
            <a:srgbClr val="F4F8FB">
              <a:alpha val="0"/>
            </a:srgbClr>
          </a:solidFill>
          <a:ln w="25400" cap="flat" cmpd="sng">
            <a:solidFill>
              <a:srgbClr val="D6F3F1">
                <a:alpha val="8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h5adcd0903d5cb179_3_0" descr="/mnt/data/logo_corporativo_quality360_en_azul_y_turques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4240" y="24688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h5adcd0903d5cb179_3_0"/>
          <p:cNvSpPr/>
          <p:nvPr/>
        </p:nvSpPr>
        <p:spPr>
          <a:xfrm>
            <a:off x="0" y="0"/>
            <a:ext cx="3840600" cy="6858000"/>
          </a:xfrm>
          <a:prstGeom prst="rect">
            <a:avLst/>
          </a:prstGeom>
          <a:solidFill>
            <a:srgbClr val="0B2559"/>
          </a:solidFill>
          <a:ln w="12700" cap="flat" cmpd="sng">
            <a:solidFill>
              <a:srgbClr val="0B25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h5adcd0903d5cb179_3_0"/>
          <p:cNvSpPr/>
          <p:nvPr/>
        </p:nvSpPr>
        <p:spPr>
          <a:xfrm>
            <a:off x="457200" y="54864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E7F1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BFE7F1"/>
                </a:solidFill>
                <a:latin typeface="Arial"/>
                <a:ea typeface="Arial"/>
                <a:cs typeface="Arial"/>
                <a:sym typeface="Arial"/>
              </a:rPr>
              <a:t>CAPSTONE · GRUPO 8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h5adcd0903d5cb179_3_0"/>
          <p:cNvSpPr/>
          <p:nvPr/>
        </p:nvSpPr>
        <p:spPr>
          <a:xfrm>
            <a:off x="457200" y="1417320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lang="en-US" sz="31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sz="3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h5adcd0903d5cb179_3_0"/>
          <p:cNvSpPr/>
          <p:nvPr/>
        </p:nvSpPr>
        <p:spPr>
          <a:xfrm>
            <a:off x="457200" y="2130552"/>
            <a:ext cx="2926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Presentación de avance y seguimiento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h5adcd0903d5cb179_3_0"/>
          <p:cNvSpPr/>
          <p:nvPr/>
        </p:nvSpPr>
        <p:spPr>
          <a:xfrm>
            <a:off x="457200" y="2606040"/>
            <a:ext cx="27432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BFA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DCEBFA"/>
                </a:solidFill>
              </a:rPr>
              <a:t>Avance del Sprint 2, </a:t>
            </a:r>
            <a:r>
              <a:rPr lang="en-US" sz="1200" dirty="0" err="1">
                <a:solidFill>
                  <a:srgbClr val="DCEBFA"/>
                </a:solidFill>
              </a:rPr>
              <a:t>arquitectura</a:t>
            </a:r>
            <a:r>
              <a:rPr lang="en-US" sz="1200" dirty="0">
                <a:solidFill>
                  <a:srgbClr val="DCEBFA"/>
                </a:solidFill>
              </a:rPr>
              <a:t> 4+1, </a:t>
            </a:r>
            <a:r>
              <a:rPr lang="en-US" sz="1200" dirty="0" err="1">
                <a:solidFill>
                  <a:srgbClr val="DCEBFA"/>
                </a:solidFill>
              </a:rPr>
              <a:t>casos</a:t>
            </a:r>
            <a:r>
              <a:rPr lang="en-US" sz="1200" dirty="0">
                <a:solidFill>
                  <a:srgbClr val="DCEBFA"/>
                </a:solidFill>
              </a:rPr>
              <a:t> de </a:t>
            </a:r>
            <a:r>
              <a:rPr lang="en-US" sz="1200" dirty="0" err="1">
                <a:solidFill>
                  <a:srgbClr val="DCEBFA"/>
                </a:solidFill>
              </a:rPr>
              <a:t>uso</a:t>
            </a:r>
            <a:r>
              <a:rPr lang="en-US" sz="1200" dirty="0">
                <a:solidFill>
                  <a:srgbClr val="DCEBFA"/>
                </a:solidFill>
              </a:rPr>
              <a:t>, </a:t>
            </a:r>
            <a:r>
              <a:rPr lang="en-US" sz="1200" dirty="0" err="1">
                <a:solidFill>
                  <a:srgbClr val="DCEBFA"/>
                </a:solidFill>
              </a:rPr>
              <a:t>modelo</a:t>
            </a:r>
            <a:r>
              <a:rPr lang="en-US" sz="1200" dirty="0">
                <a:solidFill>
                  <a:srgbClr val="DCEBFA"/>
                </a:solidFill>
              </a:rPr>
              <a:t> ER  y </a:t>
            </a:r>
            <a:r>
              <a:rPr lang="en-US" sz="1200" dirty="0" err="1">
                <a:solidFill>
                  <a:srgbClr val="DCEBFA"/>
                </a:solidFill>
              </a:rPr>
              <a:t>evolución</a:t>
            </a:r>
            <a:r>
              <a:rPr lang="en-US" sz="1200" dirty="0">
                <a:solidFill>
                  <a:srgbClr val="DCEBFA"/>
                </a:solidFill>
              </a:rPr>
              <a:t> de Quality360 </a:t>
            </a:r>
            <a:endParaRPr sz="1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h5adcd0903d5cb179_3_0"/>
          <p:cNvSpPr/>
          <p:nvPr/>
        </p:nvSpPr>
        <p:spPr>
          <a:xfrm>
            <a:off x="457200" y="3703320"/>
            <a:ext cx="1554600" cy="320100"/>
          </a:xfrm>
          <a:prstGeom prst="roundRect">
            <a:avLst>
              <a:gd name="adj" fmla="val 22857"/>
            </a:avLst>
          </a:prstGeom>
          <a:solidFill>
            <a:srgbClr val="176CCB"/>
          </a:solidFill>
          <a:ln w="12700" cap="flat" cmpd="sng">
            <a:solidFill>
              <a:srgbClr val="176CC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h5adcd0903d5cb179_3_0"/>
          <p:cNvSpPr/>
          <p:nvPr/>
        </p:nvSpPr>
        <p:spPr>
          <a:xfrm>
            <a:off x="457200" y="3753612"/>
            <a:ext cx="1554600" cy="2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lang="en-US" sz="82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CORTE </a:t>
            </a:r>
            <a:r>
              <a:rPr lang="en-US" sz="820" b="1" dirty="0">
                <a:solidFill>
                  <a:srgbClr val="FFFFFF"/>
                </a:solidFill>
              </a:rPr>
              <a:t>09</a:t>
            </a:r>
            <a:r>
              <a:rPr lang="en-US" sz="82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//</a:t>
            </a:r>
            <a:r>
              <a:rPr lang="en-US" sz="820" b="1" dirty="0">
                <a:solidFill>
                  <a:srgbClr val="FFFFFF"/>
                </a:solidFill>
              </a:rPr>
              <a:t>10</a:t>
            </a:r>
            <a:r>
              <a:rPr lang="en-US" sz="82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/2026</a:t>
            </a:r>
            <a:endParaRPr sz="8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h5adcd0903d5cb179_3_0"/>
          <p:cNvSpPr/>
          <p:nvPr/>
        </p:nvSpPr>
        <p:spPr>
          <a:xfrm>
            <a:off x="457200" y="5440680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93B"/>
              </a:buClr>
              <a:buSzPts val="1000"/>
              <a:buFont typeface="Arial"/>
              <a:buNone/>
            </a:pPr>
            <a:r>
              <a:rPr lang="en-US" sz="1000" b="1" i="0" u="none" strike="noStrike" cap="none">
                <a:solidFill>
                  <a:srgbClr val="F6B93B"/>
                </a:solidFill>
                <a:latin typeface="Arial"/>
                <a:ea typeface="Arial"/>
                <a:cs typeface="Arial"/>
                <a:sym typeface="Arial"/>
              </a:rPr>
              <a:t>José Seguel · Jonathan Choque · Matías Araos</a:t>
            </a: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h5adcd0903d5cb179_3_0" descr="/mnt/data/logo_corporativo_quality360_en_azul_y_turques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03520" y="960120"/>
            <a:ext cx="4389119" cy="438911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h5adcd0903d5cb179_3_0"/>
          <p:cNvSpPr/>
          <p:nvPr/>
        </p:nvSpPr>
        <p:spPr>
          <a:xfrm>
            <a:off x="4800600" y="5715000"/>
            <a:ext cx="53949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CCB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176CCB"/>
                </a:solidFill>
                <a:latin typeface="Arial"/>
                <a:ea typeface="Arial"/>
                <a:cs typeface="Arial"/>
                <a:sym typeface="Arial"/>
              </a:rPr>
              <a:t>CALIDAD · VISIBILIDAD · ANÁLISIS · IMPACTO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h5adcd0903d5cb179_3_0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h5adcd0903d5cb179_4_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20B8B4"/>
          </a:solidFill>
          <a:ln w="12700" cap="flat" cmpd="sng">
            <a:solidFill>
              <a:srgbClr val="20B8B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h5adcd0903d5cb179_4_8"/>
          <p:cNvSpPr/>
          <p:nvPr/>
        </p:nvSpPr>
        <p:spPr>
          <a:xfrm>
            <a:off x="502920" y="6492240"/>
            <a:ext cx="36576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h5adcd0903d5cb179_4_8" descr="/mnt/data/logo_corporativo_quality360_en_azul_y_turques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4240" y="246888"/>
            <a:ext cx="566927" cy="566927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h5adcd0903d5cb179_4_8"/>
          <p:cNvSpPr/>
          <p:nvPr/>
        </p:nvSpPr>
        <p:spPr>
          <a:xfrm>
            <a:off x="530352" y="420624"/>
            <a:ext cx="9784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2600"/>
              <a:buFont typeface="Play"/>
              <a:buNone/>
            </a:pPr>
            <a:r>
              <a:rPr lang="en-US" sz="2600" b="1" i="0" u="none" strike="noStrike" cap="none">
                <a:solidFill>
                  <a:srgbClr val="0B2559"/>
                </a:solidFill>
                <a:latin typeface="Play"/>
                <a:ea typeface="Play"/>
                <a:cs typeface="Play"/>
                <a:sym typeface="Play"/>
              </a:rPr>
              <a:t>Contenidos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h5adcd0903d5cb179_4_8"/>
          <p:cNvSpPr/>
          <p:nvPr/>
        </p:nvSpPr>
        <p:spPr>
          <a:xfrm>
            <a:off x="11631168" y="6473952"/>
            <a:ext cx="2286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h5adcd0903d5cb179_4_8"/>
          <p:cNvSpPr/>
          <p:nvPr/>
        </p:nvSpPr>
        <p:spPr>
          <a:xfrm>
            <a:off x="5943538" y="1210508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h5adcd0903d5cb179_4_8"/>
          <p:cNvSpPr/>
          <p:nvPr/>
        </p:nvSpPr>
        <p:spPr>
          <a:xfrm>
            <a:off x="6172138" y="1439108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h5adcd0903d5cb179_4_8"/>
          <p:cNvSpPr/>
          <p:nvPr/>
        </p:nvSpPr>
        <p:spPr>
          <a:xfrm>
            <a:off x="61721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h5adcd0903d5cb179_4_8"/>
          <p:cNvSpPr/>
          <p:nvPr/>
        </p:nvSpPr>
        <p:spPr>
          <a:xfrm>
            <a:off x="6720777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 dirty="0">
                <a:solidFill>
                  <a:srgbClr val="0B2559"/>
                </a:solidFill>
              </a:rPr>
              <a:t>Modelo ER</a:t>
            </a:r>
            <a:endParaRPr sz="125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h5adcd0903d5cb179_4_8"/>
          <p:cNvSpPr/>
          <p:nvPr/>
        </p:nvSpPr>
        <p:spPr>
          <a:xfrm>
            <a:off x="6720777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>
                <a:solidFill>
                  <a:srgbClr val="5D6F8B"/>
                </a:solidFill>
              </a:rPr>
              <a:t>Organización y trazabilidad del proceso QA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h5adcd0903d5cb179_4_8"/>
          <p:cNvSpPr/>
          <p:nvPr/>
        </p:nvSpPr>
        <p:spPr>
          <a:xfrm>
            <a:off x="530358" y="2460295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h5adcd0903d5cb179_4_8"/>
          <p:cNvSpPr/>
          <p:nvPr/>
        </p:nvSpPr>
        <p:spPr>
          <a:xfrm>
            <a:off x="758958" y="2688895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h5adcd0903d5cb179_4_8"/>
          <p:cNvSpPr/>
          <p:nvPr/>
        </p:nvSpPr>
        <p:spPr>
          <a:xfrm>
            <a:off x="758958" y="270718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h5adcd0903d5cb179_4_8"/>
          <p:cNvSpPr/>
          <p:nvPr/>
        </p:nvSpPr>
        <p:spPr>
          <a:xfrm>
            <a:off x="1307597" y="262488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h5adcd0903d5cb179_4_8"/>
          <p:cNvSpPr/>
          <p:nvPr/>
        </p:nvSpPr>
        <p:spPr>
          <a:xfrm>
            <a:off x="1307597" y="289920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semanal y dettale de cada Sprint 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h5adcd0903d5cb179_4_8"/>
          <p:cNvSpPr/>
          <p:nvPr/>
        </p:nvSpPr>
        <p:spPr>
          <a:xfrm>
            <a:off x="5943538" y="2486700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h5adcd0903d5cb179_4_8"/>
          <p:cNvSpPr/>
          <p:nvPr/>
        </p:nvSpPr>
        <p:spPr>
          <a:xfrm>
            <a:off x="6172138" y="2715300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h5adcd0903d5cb179_4_8"/>
          <p:cNvSpPr/>
          <p:nvPr/>
        </p:nvSpPr>
        <p:spPr>
          <a:xfrm>
            <a:off x="6172138" y="273358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h5adcd0903d5cb179_4_8"/>
          <p:cNvSpPr/>
          <p:nvPr/>
        </p:nvSpPr>
        <p:spPr>
          <a:xfrm>
            <a:off x="6720777" y="265129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Roadmap agil por Sprint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h5adcd0903d5cb179_4_8"/>
          <p:cNvSpPr/>
          <p:nvPr/>
        </p:nvSpPr>
        <p:spPr>
          <a:xfrm>
            <a:off x="6720777" y="292561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Actividades y entregables por Sprint 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h5adcd0903d5cb179_4_8"/>
          <p:cNvSpPr/>
          <p:nvPr/>
        </p:nvSpPr>
        <p:spPr>
          <a:xfrm>
            <a:off x="6059008" y="3537200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h5adcd0903d5cb179_4_8"/>
          <p:cNvSpPr/>
          <p:nvPr/>
        </p:nvSpPr>
        <p:spPr>
          <a:xfrm>
            <a:off x="6287608" y="3765800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h5adcd0903d5cb179_4_8"/>
          <p:cNvSpPr/>
          <p:nvPr/>
        </p:nvSpPr>
        <p:spPr>
          <a:xfrm>
            <a:off x="6287608" y="3784088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h5adcd0903d5cb179_4_8"/>
          <p:cNvSpPr/>
          <p:nvPr/>
        </p:nvSpPr>
        <p:spPr>
          <a:xfrm>
            <a:off x="6836248" y="3701792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Burndown y estado actual del proyecto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h5adcd0903d5cb179_4_8"/>
          <p:cNvSpPr/>
          <p:nvPr/>
        </p:nvSpPr>
        <p:spPr>
          <a:xfrm>
            <a:off x="6836248" y="3976112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Seguimiento del sprint </a:t>
            </a:r>
            <a:r>
              <a:rPr lang="en-US" sz="960">
                <a:solidFill>
                  <a:srgbClr val="5D6F8B"/>
                </a:solidFill>
              </a:rPr>
              <a:t>2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h5adcd0903d5cb179_4_8"/>
          <p:cNvSpPr/>
          <p:nvPr/>
        </p:nvSpPr>
        <p:spPr>
          <a:xfrm>
            <a:off x="530338" y="1210508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h5adcd0903d5cb179_4_8"/>
          <p:cNvSpPr/>
          <p:nvPr/>
        </p:nvSpPr>
        <p:spPr>
          <a:xfrm>
            <a:off x="758938" y="1439108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h5adcd0903d5cb179_4_8"/>
          <p:cNvSpPr/>
          <p:nvPr/>
        </p:nvSpPr>
        <p:spPr>
          <a:xfrm>
            <a:off x="758938" y="1457395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h5adcd0903d5cb179_4_8"/>
          <p:cNvSpPr/>
          <p:nvPr/>
        </p:nvSpPr>
        <p:spPr>
          <a:xfrm>
            <a:off x="1307578" y="137510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h5adcd0903d5cb179_4_8"/>
          <p:cNvSpPr/>
          <p:nvPr/>
        </p:nvSpPr>
        <p:spPr>
          <a:xfrm>
            <a:off x="1307578" y="164942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Identificación del cliente,usuarios clave y necesidades.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h5adcd0903d5cb179_4_8"/>
          <p:cNvSpPr/>
          <p:nvPr/>
        </p:nvSpPr>
        <p:spPr>
          <a:xfrm>
            <a:off x="3403538" y="4841025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h5adcd0903d5cb179_4_8"/>
          <p:cNvSpPr/>
          <p:nvPr/>
        </p:nvSpPr>
        <p:spPr>
          <a:xfrm>
            <a:off x="3632138" y="5069625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h5adcd0903d5cb179_4_8"/>
          <p:cNvSpPr/>
          <p:nvPr/>
        </p:nvSpPr>
        <p:spPr>
          <a:xfrm>
            <a:off x="3632138" y="5087913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h5adcd0903d5cb179_4_8"/>
          <p:cNvSpPr/>
          <p:nvPr/>
        </p:nvSpPr>
        <p:spPr>
          <a:xfrm>
            <a:off x="4180778" y="5005617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 i="0" u="none" strike="noStrike" cap="none">
                <a:solidFill>
                  <a:srgbClr val="0B2559"/>
                </a:solidFill>
                <a:latin typeface="Arial"/>
                <a:ea typeface="Arial"/>
                <a:cs typeface="Arial"/>
                <a:sym typeface="Arial"/>
              </a:rPr>
              <a:t>Conclusiones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h5adcd0903d5cb179_4_8"/>
          <p:cNvSpPr/>
          <p:nvPr/>
        </p:nvSpPr>
        <p:spPr>
          <a:xfrm>
            <a:off x="4180778" y="5279937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 b="0" i="0" u="none" strike="noStrike" cap="none">
                <a:solidFill>
                  <a:srgbClr val="5D6F8B"/>
                </a:solidFill>
                <a:latin typeface="Arial"/>
                <a:ea typeface="Arial"/>
                <a:cs typeface="Arial"/>
                <a:sym typeface="Arial"/>
              </a:rPr>
              <a:t>Valor del proyecto,avances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h5adcd0903d5cb179_4_8"/>
          <p:cNvSpPr/>
          <p:nvPr/>
        </p:nvSpPr>
        <p:spPr>
          <a:xfrm>
            <a:off x="530358" y="3540788"/>
            <a:ext cx="5120700" cy="960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 cap="flat" cmpd="sng">
            <a:solidFill>
              <a:srgbClr val="D6E3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h5adcd0903d5cb179_4_8"/>
          <p:cNvSpPr/>
          <p:nvPr/>
        </p:nvSpPr>
        <p:spPr>
          <a:xfrm>
            <a:off x="758958" y="3769388"/>
            <a:ext cx="384000" cy="384000"/>
          </a:xfrm>
          <a:prstGeom prst="ellipse">
            <a:avLst/>
          </a:prstGeom>
          <a:solidFill>
            <a:srgbClr val="88C846"/>
          </a:solidFill>
          <a:ln w="12700" cap="flat" cmpd="sng">
            <a:solidFill>
              <a:srgbClr val="88C84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h5adcd0903d5cb179_4_8"/>
          <p:cNvSpPr/>
          <p:nvPr/>
        </p:nvSpPr>
        <p:spPr>
          <a:xfrm>
            <a:off x="758958" y="3787676"/>
            <a:ext cx="3840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h5adcd0903d5cb179_4_8"/>
          <p:cNvSpPr/>
          <p:nvPr/>
        </p:nvSpPr>
        <p:spPr>
          <a:xfrm>
            <a:off x="1307597" y="3705380"/>
            <a:ext cx="40233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559"/>
              </a:buClr>
              <a:buSzPts val="1250"/>
              <a:buFont typeface="Arial"/>
              <a:buNone/>
            </a:pPr>
            <a:r>
              <a:rPr lang="en-US" sz="1250" b="1">
                <a:solidFill>
                  <a:srgbClr val="0B2559"/>
                </a:solidFill>
              </a:rPr>
              <a:t>Modelo 4+1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h5adcd0903d5cb179_4_8"/>
          <p:cNvSpPr/>
          <p:nvPr/>
        </p:nvSpPr>
        <p:spPr>
          <a:xfrm>
            <a:off x="1307597" y="3979700"/>
            <a:ext cx="39777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F8B"/>
              </a:buClr>
              <a:buSzPts val="960"/>
              <a:buFont typeface="Arial"/>
              <a:buNone/>
            </a:pPr>
            <a:r>
              <a:rPr lang="en-US" sz="960" dirty="0">
                <a:solidFill>
                  <a:schemeClr val="dk1"/>
                </a:solidFill>
              </a:rPr>
              <a:t>Vista general de la </a:t>
            </a:r>
            <a:r>
              <a:rPr lang="en-US" sz="960" dirty="0" err="1">
                <a:solidFill>
                  <a:schemeClr val="dk1"/>
                </a:solidFill>
              </a:rPr>
              <a:t>arquitectura</a:t>
            </a:r>
            <a:r>
              <a:rPr lang="en-US" sz="960" dirty="0">
                <a:solidFill>
                  <a:schemeClr val="dk1"/>
                </a:solidFill>
              </a:rPr>
              <a:t> de la </a:t>
            </a:r>
            <a:r>
              <a:rPr lang="en-US" sz="960" dirty="0" err="1">
                <a:solidFill>
                  <a:schemeClr val="dk1"/>
                </a:solidFill>
              </a:rPr>
              <a:t>solución</a:t>
            </a:r>
            <a:endParaRPr sz="96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h5adcd0903d5cb179_4_8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18BDB7"/>
          </a:solidFill>
          <a:ln w="12700" cap="flat" cmpd="sng">
            <a:solidFill>
              <a:srgbClr val="333333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" name="Google Shape;84;h5adcd0903d5cb179_4_83" descr="/mnt/data/logo_corporativo_quality360_en_azul_y_turques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34755" y="164592"/>
            <a:ext cx="1142999" cy="1142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h5adcd0903d5cb179_4_83"/>
          <p:cNvSpPr/>
          <p:nvPr/>
        </p:nvSpPr>
        <p:spPr>
          <a:xfrm>
            <a:off x="502933" y="438912"/>
            <a:ext cx="70413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3200"/>
              <a:buFont typeface="Play"/>
              <a:buNone/>
            </a:pPr>
            <a:r>
              <a:rPr lang="en-US" sz="3200" b="1" i="0" u="none" strike="noStrike" cap="none">
                <a:solidFill>
                  <a:srgbClr val="061B49"/>
                </a:solidFill>
                <a:latin typeface="Play"/>
                <a:ea typeface="Play"/>
                <a:cs typeface="Play"/>
                <a:sym typeface="Play"/>
              </a:rPr>
              <a:t>Cliente objetivo de Quality360</a:t>
            </a:r>
            <a:endParaRPr sz="3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h5adcd0903d5cb179_4_83"/>
          <p:cNvSpPr/>
          <p:nvPr/>
        </p:nvSpPr>
        <p:spPr>
          <a:xfrm>
            <a:off x="530366" y="941832"/>
            <a:ext cx="8138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Identificación del cliente, usuarios clave y necesidad que resuelve la plataforma.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" name="Google Shape;87;h5adcd0903d5cb179_4_83"/>
          <p:cNvCxnSpPr/>
          <p:nvPr/>
        </p:nvCxnSpPr>
        <p:spPr>
          <a:xfrm>
            <a:off x="530366" y="1325880"/>
            <a:ext cx="1005900" cy="0"/>
          </a:xfrm>
          <a:prstGeom prst="straightConnector1">
            <a:avLst/>
          </a:prstGeom>
          <a:noFill/>
          <a:ln w="38100" cap="flat" cmpd="sng">
            <a:solidFill>
              <a:srgbClr val="18BDB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8" name="Google Shape;88;h5adcd0903d5cb179_4_83"/>
          <p:cNvSpPr/>
          <p:nvPr/>
        </p:nvSpPr>
        <p:spPr>
          <a:xfrm>
            <a:off x="502933" y="1600200"/>
            <a:ext cx="3703200" cy="35205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 cap="flat" cmpd="sng">
            <a:solidFill>
              <a:srgbClr val="CFE1F2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50800" dir="2700000" algn="bl" rotWithShape="0">
              <a:srgbClr val="D8E6F3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h5adcd0903d5cb179_4_83"/>
          <p:cNvSpPr/>
          <p:nvPr/>
        </p:nvSpPr>
        <p:spPr>
          <a:xfrm>
            <a:off x="777261" y="1874520"/>
            <a:ext cx="1691700" cy="320100"/>
          </a:xfrm>
          <a:prstGeom prst="roundRect">
            <a:avLst>
              <a:gd name="adj" fmla="val 22857"/>
            </a:avLst>
          </a:prstGeom>
          <a:solidFill>
            <a:srgbClr val="1266D6"/>
          </a:solidFill>
          <a:ln w="12700" cap="flat" cmpd="sng">
            <a:solidFill>
              <a:srgbClr val="1266D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5adcd0903d5cb179_4_83"/>
          <p:cNvSpPr/>
          <p:nvPr/>
        </p:nvSpPr>
        <p:spPr>
          <a:xfrm>
            <a:off x="777261" y="1883664"/>
            <a:ext cx="1691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CLIENTE OBJETIVO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h5adcd0903d5cb179_4_83"/>
          <p:cNvSpPr/>
          <p:nvPr/>
        </p:nvSpPr>
        <p:spPr>
          <a:xfrm>
            <a:off x="777261" y="2359152"/>
            <a:ext cx="567000" cy="567000"/>
          </a:xfrm>
          <a:prstGeom prst="ellipse">
            <a:avLst/>
          </a:prstGeom>
          <a:solidFill>
            <a:srgbClr val="EEF6FF"/>
          </a:solidFill>
          <a:ln w="12700" cap="flat" cmpd="sng">
            <a:solidFill>
              <a:srgbClr val="EEF6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h5adcd0903d5cb179_4_83"/>
          <p:cNvSpPr/>
          <p:nvPr/>
        </p:nvSpPr>
        <p:spPr>
          <a:xfrm>
            <a:off x="777261" y="2368296"/>
            <a:ext cx="567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6D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266D6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h5adcd0903d5cb179_4_83"/>
          <p:cNvSpPr/>
          <p:nvPr/>
        </p:nvSpPr>
        <p:spPr>
          <a:xfrm>
            <a:off x="1444791" y="2331720"/>
            <a:ext cx="2395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lang="en-US" sz="150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Área de Aseguramiento de Calidad (QA)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h5adcd0903d5cb179_4_83"/>
          <p:cNvSpPr/>
          <p:nvPr/>
        </p:nvSpPr>
        <p:spPr>
          <a:xfrm>
            <a:off x="777261" y="2971800"/>
            <a:ext cx="29262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Organización del sector financiero con equipos ágiles de certificación de software.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h5adcd0903d5cb179_4_83"/>
          <p:cNvCxnSpPr/>
          <p:nvPr/>
        </p:nvCxnSpPr>
        <p:spPr>
          <a:xfrm>
            <a:off x="777261" y="3593592"/>
            <a:ext cx="2971800" cy="0"/>
          </a:xfrm>
          <a:prstGeom prst="straightConnector1">
            <a:avLst/>
          </a:prstGeom>
          <a:noFill/>
          <a:ln w="12700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6" name="Google Shape;96;h5adcd0903d5cb179_4_83"/>
          <p:cNvSpPr/>
          <p:nvPr/>
        </p:nvSpPr>
        <p:spPr>
          <a:xfrm>
            <a:off x="777261" y="3767328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Dueño de la necesidad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h5adcd0903d5cb179_4_83"/>
          <p:cNvSpPr/>
          <p:nvPr/>
        </p:nvSpPr>
        <p:spPr>
          <a:xfrm>
            <a:off x="777261" y="4005072"/>
            <a:ext cx="2926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Líder QA / Quality Engineer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h5adcd0903d5cb179_4_83"/>
          <p:cNvSpPr/>
          <p:nvPr/>
        </p:nvSpPr>
        <p:spPr>
          <a:xfrm>
            <a:off x="4480679" y="1600200"/>
            <a:ext cx="3383400" cy="3520500"/>
          </a:xfrm>
          <a:prstGeom prst="roundRect">
            <a:avLst>
              <a:gd name="adj" fmla="val 3243"/>
            </a:avLst>
          </a:prstGeom>
          <a:solidFill>
            <a:srgbClr val="E9FBF9"/>
          </a:solidFill>
          <a:ln w="12700" cap="flat" cmpd="sng">
            <a:solidFill>
              <a:srgbClr val="A7E7E2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50800" dir="2700000" algn="bl" rotWithShape="0">
              <a:srgbClr val="D8E6F3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h5adcd0903d5cb179_4_83"/>
          <p:cNvSpPr/>
          <p:nvPr/>
        </p:nvSpPr>
        <p:spPr>
          <a:xfrm>
            <a:off x="4755007" y="1874520"/>
            <a:ext cx="1508700" cy="320100"/>
          </a:xfrm>
          <a:prstGeom prst="roundRect">
            <a:avLst>
              <a:gd name="adj" fmla="val 22857"/>
            </a:avLst>
          </a:prstGeom>
          <a:solidFill>
            <a:srgbClr val="18BDB7"/>
          </a:solidFill>
          <a:ln w="12700" cap="flat" cmpd="sng">
            <a:solidFill>
              <a:srgbClr val="18BD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h5adcd0903d5cb179_4_83"/>
          <p:cNvSpPr/>
          <p:nvPr/>
        </p:nvSpPr>
        <p:spPr>
          <a:xfrm>
            <a:off x="4755007" y="1883664"/>
            <a:ext cx="15087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USUARIOS CLAVE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h5adcd0903d5cb179_4_83"/>
          <p:cNvSpPr/>
          <p:nvPr/>
        </p:nvSpPr>
        <p:spPr>
          <a:xfrm>
            <a:off x="4782439" y="2395728"/>
            <a:ext cx="658500" cy="658500"/>
          </a:xfrm>
          <a:prstGeom prst="ellipse">
            <a:avLst/>
          </a:prstGeom>
          <a:solidFill>
            <a:srgbClr val="061B49"/>
          </a:solidFill>
          <a:ln w="12700" cap="flat" cmpd="sng">
            <a:solidFill>
              <a:srgbClr val="061B4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h5adcd0903d5cb179_4_83"/>
          <p:cNvSpPr/>
          <p:nvPr/>
        </p:nvSpPr>
        <p:spPr>
          <a:xfrm>
            <a:off x="4782439" y="2404872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h5adcd0903d5cb179_4_83"/>
          <p:cNvSpPr/>
          <p:nvPr/>
        </p:nvSpPr>
        <p:spPr>
          <a:xfrm>
            <a:off x="5559700" y="2386584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 Engineer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h5adcd0903d5cb179_4_83"/>
          <p:cNvSpPr/>
          <p:nvPr/>
        </p:nvSpPr>
        <p:spPr>
          <a:xfrm>
            <a:off x="5559700" y="2724912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Supervisa avance, riesgos, cumplimiento y decisiones operativas.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h5adcd0903d5cb179_4_83"/>
          <p:cNvSpPr/>
          <p:nvPr/>
        </p:nvSpPr>
        <p:spPr>
          <a:xfrm>
            <a:off x="5532267" y="3337560"/>
            <a:ext cx="292500" cy="228600"/>
          </a:xfrm>
          <a:prstGeom prst="chevron">
            <a:avLst>
              <a:gd name="adj" fmla="val 50000"/>
            </a:avLst>
          </a:prstGeom>
          <a:solidFill>
            <a:srgbClr val="18BDB7"/>
          </a:solidFill>
          <a:ln w="12700" cap="flat" cmpd="sng">
            <a:solidFill>
              <a:srgbClr val="18BD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h5adcd0903d5cb179_4_83"/>
          <p:cNvSpPr/>
          <p:nvPr/>
        </p:nvSpPr>
        <p:spPr>
          <a:xfrm>
            <a:off x="4782439" y="3703320"/>
            <a:ext cx="658500" cy="658500"/>
          </a:xfrm>
          <a:prstGeom prst="ellipse">
            <a:avLst/>
          </a:prstGeom>
          <a:solidFill>
            <a:srgbClr val="1266D6"/>
          </a:solidFill>
          <a:ln w="12700" cap="flat" cmpd="sng">
            <a:solidFill>
              <a:srgbClr val="1266D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h5adcd0903d5cb179_4_83"/>
          <p:cNvSpPr/>
          <p:nvPr/>
        </p:nvSpPr>
        <p:spPr>
          <a:xfrm>
            <a:off x="4782439" y="3712464"/>
            <a:ext cx="658500" cy="6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h5adcd0903d5cb179_4_83"/>
          <p:cNvSpPr/>
          <p:nvPr/>
        </p:nvSpPr>
        <p:spPr>
          <a:xfrm>
            <a:off x="5559700" y="3703320"/>
            <a:ext cx="166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Analista QA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h5adcd0903d5cb179_4_83"/>
          <p:cNvSpPr/>
          <p:nvPr/>
        </p:nvSpPr>
        <p:spPr>
          <a:xfrm>
            <a:off x="5559700" y="4041648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Actualiza estado de HU, checklist y evidencias de certificación.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h5adcd0903d5cb179_4_83"/>
          <p:cNvSpPr/>
          <p:nvPr/>
        </p:nvSpPr>
        <p:spPr>
          <a:xfrm>
            <a:off x="8138377" y="1600200"/>
            <a:ext cx="3520500" cy="352050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 cap="flat" cmpd="sng">
            <a:solidFill>
              <a:srgbClr val="CFE1F2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50800" dir="2700000" algn="bl" rotWithShape="0">
              <a:srgbClr val="D8E6F3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h5adcd0903d5cb179_4_83"/>
          <p:cNvSpPr/>
          <p:nvPr/>
        </p:nvSpPr>
        <p:spPr>
          <a:xfrm>
            <a:off x="8412704" y="1874520"/>
            <a:ext cx="1920300" cy="320100"/>
          </a:xfrm>
          <a:prstGeom prst="roundRect">
            <a:avLst>
              <a:gd name="adj" fmla="val 22857"/>
            </a:avLst>
          </a:prstGeom>
          <a:solidFill>
            <a:srgbClr val="FFB547"/>
          </a:solidFill>
          <a:ln w="12700" cap="flat" cmpd="sng">
            <a:solidFill>
              <a:srgbClr val="FFB54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h5adcd0903d5cb179_4_83"/>
          <p:cNvSpPr/>
          <p:nvPr/>
        </p:nvSpPr>
        <p:spPr>
          <a:xfrm>
            <a:off x="8412704" y="1883664"/>
            <a:ext cx="19203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 DEL CLIENTE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h5adcd0903d5cb179_4_83"/>
          <p:cNvSpPr/>
          <p:nvPr/>
        </p:nvSpPr>
        <p:spPr>
          <a:xfrm>
            <a:off x="8412704" y="2313432"/>
            <a:ext cx="27888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 información dispersa a una visión integrada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h5adcd0903d5cb179_4_83"/>
          <p:cNvSpPr/>
          <p:nvPr/>
        </p:nvSpPr>
        <p:spPr>
          <a:xfrm>
            <a:off x="8412704" y="2944368"/>
            <a:ext cx="2926200" cy="9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Consolidar HU, responsables y estados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Visualizar riesgos e impedimentos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Controlar cumplimiento QA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3A4E"/>
              </a:buClr>
              <a:buSzPts val="1230"/>
              <a:buFont typeface="Arial"/>
              <a:buNone/>
            </a:pPr>
            <a:r>
              <a:rPr lang="en-US" sz="1230" b="0" i="0" u="none" strike="noStrike" cap="none">
                <a:solidFill>
                  <a:srgbClr val="2E3A4E"/>
                </a:solidFill>
                <a:latin typeface="Arial"/>
                <a:ea typeface="Arial"/>
                <a:cs typeface="Arial"/>
                <a:sym typeface="Arial"/>
              </a:rPr>
              <a:t>• Priorizar acciones a tiempo</a:t>
            </a:r>
            <a:endParaRPr sz="12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h5adcd0903d5cb179_4_83"/>
          <p:cNvSpPr/>
          <p:nvPr/>
        </p:nvSpPr>
        <p:spPr>
          <a:xfrm>
            <a:off x="8412704" y="4160520"/>
            <a:ext cx="2834700" cy="530400"/>
          </a:xfrm>
          <a:prstGeom prst="roundRect">
            <a:avLst>
              <a:gd name="adj" fmla="val 13793"/>
            </a:avLst>
          </a:prstGeom>
          <a:solidFill>
            <a:srgbClr val="EEF6FF"/>
          </a:solidFill>
          <a:ln w="12700" cap="flat" cmpd="sng">
            <a:solidFill>
              <a:srgbClr val="D6E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h5adcd0903d5cb179_4_83"/>
          <p:cNvSpPr/>
          <p:nvPr/>
        </p:nvSpPr>
        <p:spPr>
          <a:xfrm>
            <a:off x="8549868" y="4215384"/>
            <a:ext cx="25602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170"/>
              <a:buFont typeface="Arial"/>
              <a:buNone/>
            </a:pPr>
            <a:r>
              <a:rPr lang="en-US" sz="117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 entrega visibilidad, trazabilidad y KPI para la gestión QA.</a:t>
            </a:r>
            <a:endParaRPr sz="11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h5adcd0903d5cb179_4_83"/>
          <p:cNvSpPr/>
          <p:nvPr/>
        </p:nvSpPr>
        <p:spPr>
          <a:xfrm>
            <a:off x="517958" y="5486573"/>
            <a:ext cx="11156100" cy="914400"/>
          </a:xfrm>
          <a:prstGeom prst="roundRect">
            <a:avLst>
              <a:gd name="adj" fmla="val 12000"/>
            </a:avLst>
          </a:prstGeom>
          <a:solidFill>
            <a:srgbClr val="EEF6FF"/>
          </a:solidFill>
          <a:ln w="12700" cap="flat" cmpd="sng">
            <a:solidFill>
              <a:srgbClr val="CFE1F2"/>
            </a:solidFill>
            <a:prstDash val="solid"/>
            <a:round/>
            <a:headEnd type="none" w="sm" len="sm"/>
            <a:tailEnd type="none" w="sm" len="sm"/>
          </a:ln>
          <a:effectLst>
            <a:outerShdw blurRad="19050" dist="50800" dir="2700000" algn="bl" rotWithShape="0">
              <a:srgbClr val="D8E6F3">
                <a:alpha val="25098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h5adcd0903d5cb179_4_83"/>
          <p:cNvSpPr/>
          <p:nvPr/>
        </p:nvSpPr>
        <p:spPr>
          <a:xfrm>
            <a:off x="795549" y="5559552"/>
            <a:ext cx="1600200" cy="292500"/>
          </a:xfrm>
          <a:prstGeom prst="roundRect">
            <a:avLst>
              <a:gd name="adj" fmla="val 25000"/>
            </a:avLst>
          </a:prstGeom>
          <a:solidFill>
            <a:srgbClr val="061B49"/>
          </a:solidFill>
          <a:ln w="12700" cap="flat" cmpd="sng">
            <a:solidFill>
              <a:srgbClr val="061B4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h5adcd0903d5cb179_4_83"/>
          <p:cNvSpPr/>
          <p:nvPr/>
        </p:nvSpPr>
        <p:spPr>
          <a:xfrm>
            <a:off x="795549" y="5568696"/>
            <a:ext cx="160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0"/>
              <a:buFont typeface="Arial"/>
              <a:buNone/>
            </a:pPr>
            <a:r>
              <a:rPr lang="en-US" sz="9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 VALOR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h5adcd0903d5cb179_4_83"/>
          <p:cNvSpPr/>
          <p:nvPr/>
        </p:nvSpPr>
        <p:spPr>
          <a:xfrm>
            <a:off x="841270" y="5888736"/>
            <a:ext cx="429900" cy="429900"/>
          </a:xfrm>
          <a:prstGeom prst="ellipse">
            <a:avLst/>
          </a:prstGeom>
          <a:solidFill>
            <a:srgbClr val="061B49"/>
          </a:solidFill>
          <a:ln w="12700" cap="flat" cmpd="sng">
            <a:solidFill>
              <a:srgbClr val="061B49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h5adcd0903d5cb179_4_83"/>
          <p:cNvSpPr/>
          <p:nvPr/>
        </p:nvSpPr>
        <p:spPr>
          <a:xfrm>
            <a:off x="84127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🏢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h5adcd0903d5cb179_4_83"/>
          <p:cNvSpPr/>
          <p:nvPr/>
        </p:nvSpPr>
        <p:spPr>
          <a:xfrm>
            <a:off x="135334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QA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h5adcd0903d5cb179_4_83"/>
          <p:cNvCxnSpPr/>
          <p:nvPr/>
        </p:nvCxnSpPr>
        <p:spPr>
          <a:xfrm>
            <a:off x="2532956" y="6089904"/>
            <a:ext cx="301800" cy="0"/>
          </a:xfrm>
          <a:prstGeom prst="straightConnector1">
            <a:avLst/>
          </a:prstGeom>
          <a:noFill/>
          <a:ln w="25400" cap="flat" cmpd="sng">
            <a:solidFill>
              <a:srgbClr val="18BD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4" name="Google Shape;124;h5adcd0903d5cb179_4_83"/>
          <p:cNvSpPr/>
          <p:nvPr/>
        </p:nvSpPr>
        <p:spPr>
          <a:xfrm>
            <a:off x="2898725" y="5888736"/>
            <a:ext cx="429900" cy="429900"/>
          </a:xfrm>
          <a:prstGeom prst="ellipse">
            <a:avLst/>
          </a:prstGeom>
          <a:solidFill>
            <a:srgbClr val="FFB547"/>
          </a:solidFill>
          <a:ln w="12700" cap="flat" cmpd="sng">
            <a:solidFill>
              <a:srgbClr val="FFB54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h5adcd0903d5cb179_4_83"/>
          <p:cNvSpPr/>
          <p:nvPr/>
        </p:nvSpPr>
        <p:spPr>
          <a:xfrm>
            <a:off x="289872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h5adcd0903d5cb179_4_83"/>
          <p:cNvSpPr/>
          <p:nvPr/>
        </p:nvSpPr>
        <p:spPr>
          <a:xfrm>
            <a:off x="341080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Necesidad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7" name="Google Shape;127;h5adcd0903d5cb179_4_83"/>
          <p:cNvCxnSpPr/>
          <p:nvPr/>
        </p:nvCxnSpPr>
        <p:spPr>
          <a:xfrm>
            <a:off x="4590410" y="6089904"/>
            <a:ext cx="301800" cy="0"/>
          </a:xfrm>
          <a:prstGeom prst="straightConnector1">
            <a:avLst/>
          </a:prstGeom>
          <a:noFill/>
          <a:ln w="25400" cap="flat" cmpd="sng">
            <a:solidFill>
              <a:srgbClr val="18BD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8" name="Google Shape;128;h5adcd0903d5cb179_4_83"/>
          <p:cNvSpPr/>
          <p:nvPr/>
        </p:nvSpPr>
        <p:spPr>
          <a:xfrm>
            <a:off x="4956180" y="5888736"/>
            <a:ext cx="429900" cy="429900"/>
          </a:xfrm>
          <a:prstGeom prst="ellipse">
            <a:avLst/>
          </a:prstGeom>
          <a:solidFill>
            <a:srgbClr val="18BDB7"/>
          </a:solidFill>
          <a:ln w="12700" cap="flat" cmpd="sng">
            <a:solidFill>
              <a:srgbClr val="18BDB7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h5adcd0903d5cb179_4_83"/>
          <p:cNvSpPr/>
          <p:nvPr/>
        </p:nvSpPr>
        <p:spPr>
          <a:xfrm>
            <a:off x="495618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h5adcd0903d5cb179_4_83"/>
          <p:cNvSpPr/>
          <p:nvPr/>
        </p:nvSpPr>
        <p:spPr>
          <a:xfrm>
            <a:off x="5468258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Quality360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plataforma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h5adcd0903d5cb179_4_83"/>
          <p:cNvCxnSpPr/>
          <p:nvPr/>
        </p:nvCxnSpPr>
        <p:spPr>
          <a:xfrm>
            <a:off x="6647865" y="6089904"/>
            <a:ext cx="301800" cy="0"/>
          </a:xfrm>
          <a:prstGeom prst="straightConnector1">
            <a:avLst/>
          </a:prstGeom>
          <a:noFill/>
          <a:ln w="25400" cap="flat" cmpd="sng">
            <a:solidFill>
              <a:srgbClr val="18BD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2" name="Google Shape;132;h5adcd0903d5cb179_4_83"/>
          <p:cNvSpPr/>
          <p:nvPr/>
        </p:nvSpPr>
        <p:spPr>
          <a:xfrm>
            <a:off x="7013635" y="5888736"/>
            <a:ext cx="429900" cy="429900"/>
          </a:xfrm>
          <a:prstGeom prst="ellipse">
            <a:avLst/>
          </a:prstGeom>
          <a:solidFill>
            <a:srgbClr val="1266D6"/>
          </a:solidFill>
          <a:ln w="12700" cap="flat" cmpd="sng">
            <a:solidFill>
              <a:srgbClr val="1266D6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h5adcd0903d5cb179_4_83"/>
          <p:cNvSpPr/>
          <p:nvPr/>
        </p:nvSpPr>
        <p:spPr>
          <a:xfrm>
            <a:off x="7013635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h5adcd0903d5cb179_4_83"/>
          <p:cNvSpPr/>
          <p:nvPr/>
        </p:nvSpPr>
        <p:spPr>
          <a:xfrm>
            <a:off x="7525713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KPI y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alertas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h5adcd0903d5cb179_4_83"/>
          <p:cNvCxnSpPr/>
          <p:nvPr/>
        </p:nvCxnSpPr>
        <p:spPr>
          <a:xfrm>
            <a:off x="8705320" y="6089904"/>
            <a:ext cx="301800" cy="0"/>
          </a:xfrm>
          <a:prstGeom prst="straightConnector1">
            <a:avLst/>
          </a:prstGeom>
          <a:noFill/>
          <a:ln w="25400" cap="flat" cmpd="sng">
            <a:solidFill>
              <a:srgbClr val="18BDB7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6" name="Google Shape;136;h5adcd0903d5cb179_4_83"/>
          <p:cNvSpPr/>
          <p:nvPr/>
        </p:nvSpPr>
        <p:spPr>
          <a:xfrm>
            <a:off x="9071090" y="5888736"/>
            <a:ext cx="429900" cy="429900"/>
          </a:xfrm>
          <a:prstGeom prst="ellipse">
            <a:avLst/>
          </a:prstGeom>
          <a:solidFill>
            <a:srgbClr val="26B36B"/>
          </a:solidFill>
          <a:ln w="12700" cap="flat" cmpd="sng">
            <a:solidFill>
              <a:srgbClr val="26B36B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h5adcd0903d5cb179_4_83"/>
          <p:cNvSpPr/>
          <p:nvPr/>
        </p:nvSpPr>
        <p:spPr>
          <a:xfrm>
            <a:off x="9071090" y="5897880"/>
            <a:ext cx="429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h5adcd0903d5cb179_4_83"/>
          <p:cNvSpPr/>
          <p:nvPr/>
        </p:nvSpPr>
        <p:spPr>
          <a:xfrm>
            <a:off x="9583167" y="5879592"/>
            <a:ext cx="11703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Decisión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1B49"/>
              </a:buClr>
              <a:buSzPts val="1030"/>
              <a:buFont typeface="Arial"/>
              <a:buNone/>
            </a:pPr>
            <a:r>
              <a:rPr lang="en-US" sz="1030" b="1" i="0" u="none" strike="noStrike" cap="none">
                <a:solidFill>
                  <a:srgbClr val="061B49"/>
                </a:solidFill>
                <a:latin typeface="Arial"/>
                <a:ea typeface="Arial"/>
                <a:cs typeface="Arial"/>
                <a:sym typeface="Arial"/>
              </a:rPr>
              <a:t>oportuna</a:t>
            </a:r>
            <a:endParaRPr sz="10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h5adcd0903d5cb179_4_83"/>
          <p:cNvSpPr/>
          <p:nvPr/>
        </p:nvSpPr>
        <p:spPr>
          <a:xfrm>
            <a:off x="530366" y="6519672"/>
            <a:ext cx="36576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0" tIns="750" rIns="750" bIns="7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627A"/>
              </a:buClr>
              <a:buSzPts val="850"/>
              <a:buFont typeface="Arial"/>
              <a:buNone/>
            </a:pPr>
            <a:r>
              <a:rPr lang="en-US" sz="850" b="0" i="0" u="none" strike="noStrike" cap="none">
                <a:solidFill>
                  <a:srgbClr val="50627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F8D5062-2B79-F898-2E6A-94C5CF18F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530" y="463924"/>
            <a:ext cx="9286293" cy="6394076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0AAAD50-510C-F8EE-A481-0077F1FB3873}"/>
              </a:ext>
            </a:extLst>
          </p:cNvPr>
          <p:cNvSpPr txBox="1"/>
          <p:nvPr/>
        </p:nvSpPr>
        <p:spPr>
          <a:xfrm>
            <a:off x="3003082" y="0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Modelo ER Quality360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950100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8FC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20b37650884cf90a_0_9"/>
          <p:cNvSpPr/>
          <p:nvPr/>
        </p:nvSpPr>
        <p:spPr>
          <a:xfrm>
            <a:off x="0" y="0"/>
            <a:ext cx="12192000" cy="759000"/>
          </a:xfrm>
          <a:prstGeom prst="rect">
            <a:avLst/>
          </a:prstGeom>
          <a:solidFill>
            <a:srgbClr val="0E386B"/>
          </a:solidFill>
          <a:ln w="12700" cap="flat" cmpd="sng">
            <a:solidFill>
              <a:srgbClr val="0E38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h20b37650884cf90a_0_9"/>
          <p:cNvSpPr/>
          <p:nvPr/>
        </p:nvSpPr>
        <p:spPr>
          <a:xfrm>
            <a:off x="347481" y="91440"/>
            <a:ext cx="73155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 de seguimiento semanal · Quality360</a:t>
            </a: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20b37650884cf90a_0_9"/>
          <p:cNvSpPr/>
          <p:nvPr/>
        </p:nvSpPr>
        <p:spPr>
          <a:xfrm>
            <a:off x="356626" y="448056"/>
            <a:ext cx="8778600" cy="17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6FF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EAF6FF"/>
                </a:solidFill>
                <a:latin typeface="Arial"/>
                <a:ea typeface="Arial"/>
                <a:cs typeface="Arial"/>
                <a:sym typeface="Arial"/>
              </a:rPr>
              <a:t>Eje X: semanas restantes · Eje Y: Sprints · Corte 24/09/2026 · Comisión desde 27/11/2026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h20b37650884cf90a_0_9" descr="/mnt/data/logo_quality360_cropp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82823" y="82296"/>
            <a:ext cx="512077" cy="45719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h20b37650884cf90a_0_9"/>
          <p:cNvSpPr/>
          <p:nvPr/>
        </p:nvSpPr>
        <p:spPr>
          <a:xfrm>
            <a:off x="310904" y="932688"/>
            <a:ext cx="11576700" cy="347400"/>
          </a:xfrm>
          <a:prstGeom prst="roundRect">
            <a:avLst>
              <a:gd name="adj" fmla="val 15789"/>
            </a:avLst>
          </a:prstGeom>
          <a:solidFill>
            <a:srgbClr val="EAF8FF"/>
          </a:solidFill>
          <a:ln w="10150" cap="flat" cmpd="sng">
            <a:solidFill>
              <a:srgbClr val="B7D5E9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h20b37650884cf90a_0_9"/>
          <p:cNvSpPr/>
          <p:nvPr/>
        </p:nvSpPr>
        <p:spPr>
          <a:xfrm>
            <a:off x="694963" y="1024128"/>
            <a:ext cx="640200" cy="1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86B"/>
              </a:buClr>
              <a:buSzPts val="710"/>
              <a:buFont typeface="Arial"/>
              <a:buNone/>
            </a:pPr>
            <a:r>
              <a:rPr lang="en-US" sz="710" b="1" i="0" u="none" strike="noStrike" cap="none">
                <a:solidFill>
                  <a:srgbClr val="0E386B"/>
                </a:solidFill>
                <a:latin typeface="Arial"/>
                <a:ea typeface="Arial"/>
                <a:cs typeface="Arial"/>
                <a:sym typeface="Arial"/>
              </a:rPr>
              <a:t>Hito previo</a:t>
            </a:r>
            <a:endParaRPr sz="7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h20b37650884cf90a_0_9"/>
          <p:cNvSpPr/>
          <p:nvPr/>
        </p:nvSpPr>
        <p:spPr>
          <a:xfrm>
            <a:off x="1490512" y="996696"/>
            <a:ext cx="6218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415F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25415F"/>
                </a:solidFill>
                <a:latin typeface="Arial"/>
                <a:ea typeface="Arial"/>
                <a:cs typeface="Arial"/>
                <a:sym typeface="Arial"/>
              </a:rPr>
              <a:t>Sprint 1 · 11–24 sep: 14/14 SP completados. Base técnica, prototipo Vercel, arquitectura y modelo validados.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h20b37650884cf90a_0_9"/>
          <p:cNvSpPr/>
          <p:nvPr/>
        </p:nvSpPr>
        <p:spPr>
          <a:xfrm>
            <a:off x="10771919" y="1014984"/>
            <a:ext cx="8229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60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008060"/>
                </a:solidFill>
                <a:latin typeface="Arial"/>
                <a:ea typeface="Arial"/>
                <a:cs typeface="Arial"/>
                <a:sym typeface="Arial"/>
              </a:rPr>
              <a:t>✓ cierre 100%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h20b37650884cf90a_0_9"/>
          <p:cNvSpPr/>
          <p:nvPr/>
        </p:nvSpPr>
        <p:spPr>
          <a:xfrm>
            <a:off x="310904" y="1481328"/>
            <a:ext cx="10278300" cy="4325100"/>
          </a:xfrm>
          <a:prstGeom prst="roundRect">
            <a:avLst>
              <a:gd name="adj" fmla="val 423"/>
            </a:avLst>
          </a:prstGeom>
          <a:solidFill>
            <a:srgbClr val="FFFFFF"/>
          </a:solidFill>
          <a:ln w="10150" cap="flat" cmpd="sng">
            <a:solidFill>
              <a:srgbClr val="C9D9E8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h20b37650884cf90a_0_9"/>
          <p:cNvSpPr/>
          <p:nvPr/>
        </p:nvSpPr>
        <p:spPr>
          <a:xfrm>
            <a:off x="310904" y="1481328"/>
            <a:ext cx="2121300" cy="804600"/>
          </a:xfrm>
          <a:prstGeom prst="rect">
            <a:avLst/>
          </a:prstGeom>
          <a:solidFill>
            <a:srgbClr val="0E386B"/>
          </a:solidFill>
          <a:ln w="10150" cap="flat" cmpd="sng">
            <a:solidFill>
              <a:srgbClr val="0A2D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h20b37650884cf90a_0_9"/>
          <p:cNvSpPr/>
          <p:nvPr/>
        </p:nvSpPr>
        <p:spPr>
          <a:xfrm>
            <a:off x="2432369" y="1481328"/>
            <a:ext cx="1572900" cy="804600"/>
          </a:xfrm>
          <a:prstGeom prst="rect">
            <a:avLst/>
          </a:prstGeom>
          <a:solidFill>
            <a:srgbClr val="0E386B"/>
          </a:solidFill>
          <a:ln w="10150" cap="flat" cmpd="sng">
            <a:solidFill>
              <a:srgbClr val="0A2D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h20b37650884cf90a_0_9"/>
          <p:cNvSpPr/>
          <p:nvPr/>
        </p:nvSpPr>
        <p:spPr>
          <a:xfrm>
            <a:off x="356626" y="1728216"/>
            <a:ext cx="20301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h20b37650884cf90a_0_9"/>
          <p:cNvSpPr/>
          <p:nvPr/>
        </p:nvSpPr>
        <p:spPr>
          <a:xfrm>
            <a:off x="2478090" y="1728216"/>
            <a:ext cx="14814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h20b37650884cf90a_0_9"/>
          <p:cNvSpPr/>
          <p:nvPr/>
        </p:nvSpPr>
        <p:spPr>
          <a:xfrm>
            <a:off x="4005179" y="1481328"/>
            <a:ext cx="658500" cy="384000"/>
          </a:xfrm>
          <a:prstGeom prst="rect">
            <a:avLst/>
          </a:prstGeom>
          <a:solidFill>
            <a:srgbClr val="0EA5A4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h20b37650884cf90a_0_9"/>
          <p:cNvSpPr/>
          <p:nvPr/>
        </p:nvSpPr>
        <p:spPr>
          <a:xfrm>
            <a:off x="4005179" y="1572768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SEP/OCT</a:t>
            </a:r>
            <a:endParaRPr sz="8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h20b37650884cf90a_0_9"/>
          <p:cNvSpPr/>
          <p:nvPr/>
        </p:nvSpPr>
        <p:spPr>
          <a:xfrm>
            <a:off x="4663564" y="1481328"/>
            <a:ext cx="2633400" cy="384000"/>
          </a:xfrm>
          <a:prstGeom prst="rect">
            <a:avLst/>
          </a:prstGeom>
          <a:solidFill>
            <a:srgbClr val="0EA5A4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h20b37650884cf90a_0_9"/>
          <p:cNvSpPr/>
          <p:nvPr/>
        </p:nvSpPr>
        <p:spPr>
          <a:xfrm>
            <a:off x="4663564" y="1572768"/>
            <a:ext cx="2633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8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h20b37650884cf90a_0_9"/>
          <p:cNvSpPr/>
          <p:nvPr/>
        </p:nvSpPr>
        <p:spPr>
          <a:xfrm>
            <a:off x="7297107" y="1481328"/>
            <a:ext cx="2633400" cy="384000"/>
          </a:xfrm>
          <a:prstGeom prst="rect">
            <a:avLst/>
          </a:prstGeom>
          <a:solidFill>
            <a:srgbClr val="0EA5A4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h20b37650884cf90a_0_9"/>
          <p:cNvSpPr/>
          <p:nvPr/>
        </p:nvSpPr>
        <p:spPr>
          <a:xfrm>
            <a:off x="7297107" y="1572768"/>
            <a:ext cx="26334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8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h20b37650884cf90a_0_9"/>
          <p:cNvSpPr/>
          <p:nvPr/>
        </p:nvSpPr>
        <p:spPr>
          <a:xfrm>
            <a:off x="9930649" y="1481328"/>
            <a:ext cx="658500" cy="384000"/>
          </a:xfrm>
          <a:prstGeom prst="rect">
            <a:avLst/>
          </a:prstGeom>
          <a:solidFill>
            <a:srgbClr val="0EA5A4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h20b37650884cf90a_0_9"/>
          <p:cNvSpPr/>
          <p:nvPr/>
        </p:nvSpPr>
        <p:spPr>
          <a:xfrm>
            <a:off x="9930649" y="1572768"/>
            <a:ext cx="658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Arial"/>
              <a:buNone/>
            </a:pPr>
            <a:r>
              <a:rPr lang="en-US" sz="8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NOV/DIC</a:t>
            </a:r>
            <a:endParaRPr sz="8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h20b37650884cf90a_0_9"/>
          <p:cNvSpPr/>
          <p:nvPr/>
        </p:nvSpPr>
        <p:spPr>
          <a:xfrm>
            <a:off x="4005179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h20b37650884cf90a_0_9"/>
          <p:cNvSpPr/>
          <p:nvPr/>
        </p:nvSpPr>
        <p:spPr>
          <a:xfrm>
            <a:off x="4023467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25 Sep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 Oct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h20b37650884cf90a_0_9"/>
          <p:cNvSpPr/>
          <p:nvPr/>
        </p:nvSpPr>
        <p:spPr>
          <a:xfrm>
            <a:off x="4663564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h20b37650884cf90a_0_9"/>
          <p:cNvSpPr/>
          <p:nvPr/>
        </p:nvSpPr>
        <p:spPr>
          <a:xfrm>
            <a:off x="4681853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02–08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h20b37650884cf90a_0_9"/>
          <p:cNvSpPr/>
          <p:nvPr/>
        </p:nvSpPr>
        <p:spPr>
          <a:xfrm>
            <a:off x="5321950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h20b37650884cf90a_0_9"/>
          <p:cNvSpPr/>
          <p:nvPr/>
        </p:nvSpPr>
        <p:spPr>
          <a:xfrm>
            <a:off x="5340238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09–15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0b37650884cf90a_0_9"/>
          <p:cNvSpPr/>
          <p:nvPr/>
        </p:nvSpPr>
        <p:spPr>
          <a:xfrm>
            <a:off x="5980335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h20b37650884cf90a_0_9"/>
          <p:cNvSpPr/>
          <p:nvPr/>
        </p:nvSpPr>
        <p:spPr>
          <a:xfrm>
            <a:off x="5998624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16–22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h20b37650884cf90a_0_9"/>
          <p:cNvSpPr/>
          <p:nvPr/>
        </p:nvSpPr>
        <p:spPr>
          <a:xfrm>
            <a:off x="6638721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h20b37650884cf90a_0_9"/>
          <p:cNvSpPr/>
          <p:nvPr/>
        </p:nvSpPr>
        <p:spPr>
          <a:xfrm>
            <a:off x="6657009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23–29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h20b37650884cf90a_0_9"/>
          <p:cNvSpPr/>
          <p:nvPr/>
        </p:nvSpPr>
        <p:spPr>
          <a:xfrm>
            <a:off x="7297107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h20b37650884cf90a_0_9"/>
          <p:cNvSpPr/>
          <p:nvPr/>
        </p:nvSpPr>
        <p:spPr>
          <a:xfrm>
            <a:off x="7315395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30 Oct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 Nov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h20b37650884cf90a_0_9"/>
          <p:cNvSpPr/>
          <p:nvPr/>
        </p:nvSpPr>
        <p:spPr>
          <a:xfrm>
            <a:off x="7955492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h20b37650884cf90a_0_9"/>
          <p:cNvSpPr/>
          <p:nvPr/>
        </p:nvSpPr>
        <p:spPr>
          <a:xfrm>
            <a:off x="7973781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06–12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h20b37650884cf90a_0_9"/>
          <p:cNvSpPr/>
          <p:nvPr/>
        </p:nvSpPr>
        <p:spPr>
          <a:xfrm>
            <a:off x="8613878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h20b37650884cf90a_0_9"/>
          <p:cNvSpPr/>
          <p:nvPr/>
        </p:nvSpPr>
        <p:spPr>
          <a:xfrm>
            <a:off x="8632166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13–19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h20b37650884cf90a_0_9"/>
          <p:cNvSpPr/>
          <p:nvPr/>
        </p:nvSpPr>
        <p:spPr>
          <a:xfrm>
            <a:off x="9272263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h20b37650884cf90a_0_9"/>
          <p:cNvSpPr/>
          <p:nvPr/>
        </p:nvSpPr>
        <p:spPr>
          <a:xfrm>
            <a:off x="9290552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20–26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Nov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h20b37650884cf90a_0_9"/>
          <p:cNvSpPr/>
          <p:nvPr/>
        </p:nvSpPr>
        <p:spPr>
          <a:xfrm>
            <a:off x="9930649" y="1865376"/>
            <a:ext cx="658500" cy="420600"/>
          </a:xfrm>
          <a:prstGeom prst="rect">
            <a:avLst/>
          </a:prstGeom>
          <a:solidFill>
            <a:srgbClr val="0C7F8F"/>
          </a:solidFill>
          <a:ln w="9525" cap="flat" cmpd="sng">
            <a:solidFill>
              <a:srgbClr val="CFE4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h20b37650884cf90a_0_9"/>
          <p:cNvSpPr/>
          <p:nvPr/>
        </p:nvSpPr>
        <p:spPr>
          <a:xfrm>
            <a:off x="9948937" y="1920240"/>
            <a:ext cx="621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27 Nov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"/>
              <a:buFont typeface="Arial"/>
              <a:buNone/>
            </a:pPr>
            <a:r>
              <a:rPr lang="en-US" sz="6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 Dic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h20b37650884cf90a_0_9"/>
          <p:cNvSpPr/>
          <p:nvPr/>
        </p:nvSpPr>
        <p:spPr>
          <a:xfrm>
            <a:off x="310904" y="2286000"/>
            <a:ext cx="21213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h20b37650884cf90a_0_9"/>
          <p:cNvSpPr/>
          <p:nvPr/>
        </p:nvSpPr>
        <p:spPr>
          <a:xfrm>
            <a:off x="2432369" y="2286000"/>
            <a:ext cx="15729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h20b37650884cf90a_0_9"/>
          <p:cNvSpPr/>
          <p:nvPr/>
        </p:nvSpPr>
        <p:spPr>
          <a:xfrm>
            <a:off x="384058" y="235915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1 · Cierre base técnica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h20b37650884cf90a_0_9"/>
          <p:cNvSpPr/>
          <p:nvPr/>
        </p:nvSpPr>
        <p:spPr>
          <a:xfrm>
            <a:off x="2505523" y="237744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Arquitectura · Modelo · Prototipo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h20b37650884cf90a_0_9"/>
          <p:cNvSpPr/>
          <p:nvPr/>
        </p:nvSpPr>
        <p:spPr>
          <a:xfrm>
            <a:off x="4005179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h20b37650884cf90a_0_9"/>
          <p:cNvSpPr/>
          <p:nvPr/>
        </p:nvSpPr>
        <p:spPr>
          <a:xfrm>
            <a:off x="4663564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h20b37650884cf90a_0_9"/>
          <p:cNvSpPr/>
          <p:nvPr/>
        </p:nvSpPr>
        <p:spPr>
          <a:xfrm>
            <a:off x="5321950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h20b37650884cf90a_0_9"/>
          <p:cNvSpPr/>
          <p:nvPr/>
        </p:nvSpPr>
        <p:spPr>
          <a:xfrm>
            <a:off x="5980335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h20b37650884cf90a_0_9"/>
          <p:cNvSpPr/>
          <p:nvPr/>
        </p:nvSpPr>
        <p:spPr>
          <a:xfrm>
            <a:off x="6638721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h20b37650884cf90a_0_9"/>
          <p:cNvSpPr/>
          <p:nvPr/>
        </p:nvSpPr>
        <p:spPr>
          <a:xfrm>
            <a:off x="7297107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20b37650884cf90a_0_9"/>
          <p:cNvSpPr/>
          <p:nvPr/>
        </p:nvSpPr>
        <p:spPr>
          <a:xfrm>
            <a:off x="7955492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h20b37650884cf90a_0_9"/>
          <p:cNvSpPr/>
          <p:nvPr/>
        </p:nvSpPr>
        <p:spPr>
          <a:xfrm>
            <a:off x="8613878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h20b37650884cf90a_0_9"/>
          <p:cNvSpPr/>
          <p:nvPr/>
        </p:nvSpPr>
        <p:spPr>
          <a:xfrm>
            <a:off x="9272263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h20b37650884cf90a_0_9"/>
          <p:cNvSpPr/>
          <p:nvPr/>
        </p:nvSpPr>
        <p:spPr>
          <a:xfrm>
            <a:off x="9930649" y="22860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h20b37650884cf90a_0_9"/>
          <p:cNvSpPr/>
          <p:nvPr/>
        </p:nvSpPr>
        <p:spPr>
          <a:xfrm>
            <a:off x="310904" y="2788920"/>
            <a:ext cx="2121300" cy="502800"/>
          </a:xfrm>
          <a:prstGeom prst="rect">
            <a:avLst/>
          </a:prstGeom>
          <a:solidFill>
            <a:srgbClr val="F6FAFD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h20b37650884cf90a_0_9"/>
          <p:cNvSpPr/>
          <p:nvPr/>
        </p:nvSpPr>
        <p:spPr>
          <a:xfrm>
            <a:off x="2432419" y="3337570"/>
            <a:ext cx="1572900" cy="502800"/>
          </a:xfrm>
          <a:prstGeom prst="rect">
            <a:avLst/>
          </a:prstGeom>
          <a:solidFill>
            <a:srgbClr val="F6FAFD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h20b37650884cf90a_0_9"/>
          <p:cNvSpPr/>
          <p:nvPr/>
        </p:nvSpPr>
        <p:spPr>
          <a:xfrm>
            <a:off x="384058" y="286207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2 · Arquitectura modelo de datos y casos de uso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h20b37650884cf90a_0_9"/>
          <p:cNvSpPr/>
          <p:nvPr/>
        </p:nvSpPr>
        <p:spPr>
          <a:xfrm>
            <a:off x="4005179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h20b37650884cf90a_0_9"/>
          <p:cNvSpPr/>
          <p:nvPr/>
        </p:nvSpPr>
        <p:spPr>
          <a:xfrm>
            <a:off x="4663564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h20b37650884cf90a_0_9"/>
          <p:cNvSpPr/>
          <p:nvPr/>
        </p:nvSpPr>
        <p:spPr>
          <a:xfrm>
            <a:off x="5321950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h20b37650884cf90a_0_9"/>
          <p:cNvSpPr/>
          <p:nvPr/>
        </p:nvSpPr>
        <p:spPr>
          <a:xfrm>
            <a:off x="5980335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h20b37650884cf90a_0_9"/>
          <p:cNvSpPr/>
          <p:nvPr/>
        </p:nvSpPr>
        <p:spPr>
          <a:xfrm>
            <a:off x="6638721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h20b37650884cf90a_0_9"/>
          <p:cNvSpPr/>
          <p:nvPr/>
        </p:nvSpPr>
        <p:spPr>
          <a:xfrm>
            <a:off x="7297107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h20b37650884cf90a_0_9"/>
          <p:cNvSpPr/>
          <p:nvPr/>
        </p:nvSpPr>
        <p:spPr>
          <a:xfrm>
            <a:off x="7955492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h20b37650884cf90a_0_9"/>
          <p:cNvSpPr/>
          <p:nvPr/>
        </p:nvSpPr>
        <p:spPr>
          <a:xfrm>
            <a:off x="8613878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h20b37650884cf90a_0_9"/>
          <p:cNvSpPr/>
          <p:nvPr/>
        </p:nvSpPr>
        <p:spPr>
          <a:xfrm>
            <a:off x="9272263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h20b37650884cf90a_0_9"/>
          <p:cNvSpPr/>
          <p:nvPr/>
        </p:nvSpPr>
        <p:spPr>
          <a:xfrm>
            <a:off x="9930649" y="27889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h20b37650884cf90a_0_9"/>
          <p:cNvSpPr/>
          <p:nvPr/>
        </p:nvSpPr>
        <p:spPr>
          <a:xfrm>
            <a:off x="310904" y="3291840"/>
            <a:ext cx="21213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h20b37650884cf90a_0_9"/>
          <p:cNvSpPr/>
          <p:nvPr/>
        </p:nvSpPr>
        <p:spPr>
          <a:xfrm>
            <a:off x="2432200" y="3296450"/>
            <a:ext cx="15960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Conexión · Roles · CRUD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"/>
              <a:buFont typeface="Arial"/>
              <a:buNone/>
            </a:pPr>
            <a:endParaRPr sz="620" b="0" i="0" u="none" strike="noStrike" cap="none">
              <a:solidFill>
                <a:srgbClr val="58708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API REST · PostgreSQL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h20b37650884cf90a_0_9"/>
          <p:cNvSpPr/>
          <p:nvPr/>
        </p:nvSpPr>
        <p:spPr>
          <a:xfrm>
            <a:off x="384058" y="336499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3 · Integración frontend-backend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h20b37650884cf90a_0_9"/>
          <p:cNvSpPr/>
          <p:nvPr/>
        </p:nvSpPr>
        <p:spPr>
          <a:xfrm>
            <a:off x="4016517" y="3291720"/>
            <a:ext cx="658500" cy="566547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h20b37650884cf90a_0_9"/>
          <p:cNvSpPr/>
          <p:nvPr/>
        </p:nvSpPr>
        <p:spPr>
          <a:xfrm>
            <a:off x="4663564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h20b37650884cf90a_0_9"/>
          <p:cNvSpPr/>
          <p:nvPr/>
        </p:nvSpPr>
        <p:spPr>
          <a:xfrm>
            <a:off x="5321950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h20b37650884cf90a_0_9"/>
          <p:cNvSpPr/>
          <p:nvPr/>
        </p:nvSpPr>
        <p:spPr>
          <a:xfrm>
            <a:off x="5980335" y="3291828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h20b37650884cf90a_0_9"/>
          <p:cNvSpPr/>
          <p:nvPr/>
        </p:nvSpPr>
        <p:spPr>
          <a:xfrm>
            <a:off x="6638721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h20b37650884cf90a_0_9"/>
          <p:cNvSpPr/>
          <p:nvPr/>
        </p:nvSpPr>
        <p:spPr>
          <a:xfrm>
            <a:off x="7297107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h20b37650884cf90a_0_9"/>
          <p:cNvSpPr/>
          <p:nvPr/>
        </p:nvSpPr>
        <p:spPr>
          <a:xfrm>
            <a:off x="7955492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h20b37650884cf90a_0_9"/>
          <p:cNvSpPr/>
          <p:nvPr/>
        </p:nvSpPr>
        <p:spPr>
          <a:xfrm>
            <a:off x="8613878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h20b37650884cf90a_0_9"/>
          <p:cNvSpPr/>
          <p:nvPr/>
        </p:nvSpPr>
        <p:spPr>
          <a:xfrm>
            <a:off x="9272263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h20b37650884cf90a_0_9"/>
          <p:cNvSpPr/>
          <p:nvPr/>
        </p:nvSpPr>
        <p:spPr>
          <a:xfrm>
            <a:off x="9930649" y="329184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h20b37650884cf90a_0_9"/>
          <p:cNvSpPr/>
          <p:nvPr/>
        </p:nvSpPr>
        <p:spPr>
          <a:xfrm>
            <a:off x="310904" y="3794760"/>
            <a:ext cx="2121300" cy="502800"/>
          </a:xfrm>
          <a:prstGeom prst="rect">
            <a:avLst/>
          </a:prstGeom>
          <a:solidFill>
            <a:srgbClr val="F6FAFD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h20b37650884cf90a_0_9"/>
          <p:cNvSpPr/>
          <p:nvPr/>
        </p:nvSpPr>
        <p:spPr>
          <a:xfrm>
            <a:off x="2432369" y="3794760"/>
            <a:ext cx="1572900" cy="502800"/>
          </a:xfrm>
          <a:prstGeom prst="rect">
            <a:avLst/>
          </a:prstGeom>
          <a:solidFill>
            <a:srgbClr val="F6FAFD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h20b37650884cf90a_0_9"/>
          <p:cNvSpPr/>
          <p:nvPr/>
        </p:nvSpPr>
        <p:spPr>
          <a:xfrm>
            <a:off x="384058" y="386791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4 · Jira / dashboards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h20b37650884cf90a_0_9"/>
          <p:cNvSpPr/>
          <p:nvPr/>
        </p:nvSpPr>
        <p:spPr>
          <a:xfrm>
            <a:off x="2505523" y="388620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Integración · KPI QE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h20b37650884cf90a_0_9"/>
          <p:cNvSpPr/>
          <p:nvPr/>
        </p:nvSpPr>
        <p:spPr>
          <a:xfrm>
            <a:off x="4005179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h20b37650884cf90a_0_9"/>
          <p:cNvSpPr/>
          <p:nvPr/>
        </p:nvSpPr>
        <p:spPr>
          <a:xfrm>
            <a:off x="4663564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h20b37650884cf90a_0_9"/>
          <p:cNvSpPr/>
          <p:nvPr/>
        </p:nvSpPr>
        <p:spPr>
          <a:xfrm>
            <a:off x="5321950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h20b37650884cf90a_0_9"/>
          <p:cNvSpPr/>
          <p:nvPr/>
        </p:nvSpPr>
        <p:spPr>
          <a:xfrm>
            <a:off x="5980335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h20b37650884cf90a_0_9"/>
          <p:cNvSpPr/>
          <p:nvPr/>
        </p:nvSpPr>
        <p:spPr>
          <a:xfrm>
            <a:off x="6638721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h20b37650884cf90a_0_9"/>
          <p:cNvSpPr/>
          <p:nvPr/>
        </p:nvSpPr>
        <p:spPr>
          <a:xfrm>
            <a:off x="7297107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h20b37650884cf90a_0_9"/>
          <p:cNvSpPr/>
          <p:nvPr/>
        </p:nvSpPr>
        <p:spPr>
          <a:xfrm>
            <a:off x="7955492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h20b37650884cf90a_0_9"/>
          <p:cNvSpPr/>
          <p:nvPr/>
        </p:nvSpPr>
        <p:spPr>
          <a:xfrm>
            <a:off x="8613878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h20b37650884cf90a_0_9"/>
          <p:cNvSpPr/>
          <p:nvPr/>
        </p:nvSpPr>
        <p:spPr>
          <a:xfrm>
            <a:off x="9272263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h20b37650884cf90a_0_9"/>
          <p:cNvSpPr/>
          <p:nvPr/>
        </p:nvSpPr>
        <p:spPr>
          <a:xfrm>
            <a:off x="9930649" y="379476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h20b37650884cf90a_0_9"/>
          <p:cNvSpPr/>
          <p:nvPr/>
        </p:nvSpPr>
        <p:spPr>
          <a:xfrm>
            <a:off x="310904" y="4297680"/>
            <a:ext cx="21213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h20b37650884cf90a_0_9"/>
          <p:cNvSpPr/>
          <p:nvPr/>
        </p:nvSpPr>
        <p:spPr>
          <a:xfrm>
            <a:off x="2432369" y="4297680"/>
            <a:ext cx="15729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h20b37650884cf90a_0_9"/>
          <p:cNvSpPr/>
          <p:nvPr/>
        </p:nvSpPr>
        <p:spPr>
          <a:xfrm>
            <a:off x="384058" y="437083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5 · Validación funcional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h20b37650884cf90a_0_9"/>
          <p:cNvSpPr/>
          <p:nvPr/>
        </p:nvSpPr>
        <p:spPr>
          <a:xfrm>
            <a:off x="2505523" y="438912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Pruebas · Medición SIN/CON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h20b37650884cf90a_0_9"/>
          <p:cNvSpPr/>
          <p:nvPr/>
        </p:nvSpPr>
        <p:spPr>
          <a:xfrm>
            <a:off x="4005179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h20b37650884cf90a_0_9"/>
          <p:cNvSpPr/>
          <p:nvPr/>
        </p:nvSpPr>
        <p:spPr>
          <a:xfrm>
            <a:off x="4663564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h20b37650884cf90a_0_9"/>
          <p:cNvSpPr/>
          <p:nvPr/>
        </p:nvSpPr>
        <p:spPr>
          <a:xfrm>
            <a:off x="5321950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h20b37650884cf90a_0_9"/>
          <p:cNvSpPr/>
          <p:nvPr/>
        </p:nvSpPr>
        <p:spPr>
          <a:xfrm>
            <a:off x="5980335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h20b37650884cf90a_0_9"/>
          <p:cNvSpPr/>
          <p:nvPr/>
        </p:nvSpPr>
        <p:spPr>
          <a:xfrm>
            <a:off x="6638721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h20b37650884cf90a_0_9"/>
          <p:cNvSpPr/>
          <p:nvPr/>
        </p:nvSpPr>
        <p:spPr>
          <a:xfrm>
            <a:off x="7297107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h20b37650884cf90a_0_9"/>
          <p:cNvSpPr/>
          <p:nvPr/>
        </p:nvSpPr>
        <p:spPr>
          <a:xfrm>
            <a:off x="7955492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h20b37650884cf90a_0_9"/>
          <p:cNvSpPr/>
          <p:nvPr/>
        </p:nvSpPr>
        <p:spPr>
          <a:xfrm>
            <a:off x="8613878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h20b37650884cf90a_0_9"/>
          <p:cNvSpPr/>
          <p:nvPr/>
        </p:nvSpPr>
        <p:spPr>
          <a:xfrm>
            <a:off x="9272263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h20b37650884cf90a_0_9"/>
          <p:cNvSpPr/>
          <p:nvPr/>
        </p:nvSpPr>
        <p:spPr>
          <a:xfrm>
            <a:off x="9930649" y="429768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h20b37650884cf90a_0_9"/>
          <p:cNvSpPr/>
          <p:nvPr/>
        </p:nvSpPr>
        <p:spPr>
          <a:xfrm>
            <a:off x="310904" y="4800600"/>
            <a:ext cx="2121300" cy="502800"/>
          </a:xfrm>
          <a:prstGeom prst="rect">
            <a:avLst/>
          </a:prstGeom>
          <a:solidFill>
            <a:srgbClr val="F6FAFD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h20b37650884cf90a_0_9"/>
          <p:cNvSpPr/>
          <p:nvPr/>
        </p:nvSpPr>
        <p:spPr>
          <a:xfrm>
            <a:off x="2432369" y="4800600"/>
            <a:ext cx="1572900" cy="502800"/>
          </a:xfrm>
          <a:prstGeom prst="rect">
            <a:avLst/>
          </a:prstGeom>
          <a:solidFill>
            <a:srgbClr val="F6FAFD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h20b37650884cf90a_0_9"/>
          <p:cNvSpPr/>
          <p:nvPr/>
        </p:nvSpPr>
        <p:spPr>
          <a:xfrm>
            <a:off x="384058" y="487375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Sprint 6 · Cierre técnico y evidencias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h20b37650884cf90a_0_9"/>
          <p:cNvSpPr/>
          <p:nvPr/>
        </p:nvSpPr>
        <p:spPr>
          <a:xfrm>
            <a:off x="2505523" y="489204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Docs · Costos · Release freeze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h20b37650884cf90a_0_9"/>
          <p:cNvSpPr/>
          <p:nvPr/>
        </p:nvSpPr>
        <p:spPr>
          <a:xfrm>
            <a:off x="4005179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h20b37650884cf90a_0_9"/>
          <p:cNvSpPr/>
          <p:nvPr/>
        </p:nvSpPr>
        <p:spPr>
          <a:xfrm>
            <a:off x="4663564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h20b37650884cf90a_0_9"/>
          <p:cNvSpPr/>
          <p:nvPr/>
        </p:nvSpPr>
        <p:spPr>
          <a:xfrm>
            <a:off x="5321950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h20b37650884cf90a_0_9"/>
          <p:cNvSpPr/>
          <p:nvPr/>
        </p:nvSpPr>
        <p:spPr>
          <a:xfrm>
            <a:off x="5980335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h20b37650884cf90a_0_9"/>
          <p:cNvSpPr/>
          <p:nvPr/>
        </p:nvSpPr>
        <p:spPr>
          <a:xfrm>
            <a:off x="6638721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h20b37650884cf90a_0_9"/>
          <p:cNvSpPr/>
          <p:nvPr/>
        </p:nvSpPr>
        <p:spPr>
          <a:xfrm>
            <a:off x="7297107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h20b37650884cf90a_0_9"/>
          <p:cNvSpPr/>
          <p:nvPr/>
        </p:nvSpPr>
        <p:spPr>
          <a:xfrm>
            <a:off x="7955492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h20b37650884cf90a_0_9"/>
          <p:cNvSpPr/>
          <p:nvPr/>
        </p:nvSpPr>
        <p:spPr>
          <a:xfrm>
            <a:off x="8613878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h20b37650884cf90a_0_9"/>
          <p:cNvSpPr/>
          <p:nvPr/>
        </p:nvSpPr>
        <p:spPr>
          <a:xfrm>
            <a:off x="9272263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h20b37650884cf90a_0_9"/>
          <p:cNvSpPr/>
          <p:nvPr/>
        </p:nvSpPr>
        <p:spPr>
          <a:xfrm>
            <a:off x="9930649" y="480060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h20b37650884cf90a_0_9"/>
          <p:cNvSpPr/>
          <p:nvPr/>
        </p:nvSpPr>
        <p:spPr>
          <a:xfrm>
            <a:off x="310904" y="5303520"/>
            <a:ext cx="21213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h20b37650884cf90a_0_9"/>
          <p:cNvSpPr/>
          <p:nvPr/>
        </p:nvSpPr>
        <p:spPr>
          <a:xfrm>
            <a:off x="2432369" y="5303520"/>
            <a:ext cx="15729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9E5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20b37650884cf90a_0_9"/>
          <p:cNvSpPr/>
          <p:nvPr/>
        </p:nvSpPr>
        <p:spPr>
          <a:xfrm>
            <a:off x="384058" y="5376672"/>
            <a:ext cx="197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Presentación · Comisión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h20b37650884cf90a_0_9"/>
          <p:cNvSpPr/>
          <p:nvPr/>
        </p:nvSpPr>
        <p:spPr>
          <a:xfrm>
            <a:off x="2505523" y="5394960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Demo · Defensa · Entrega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h20b37650884cf90a_0_9"/>
          <p:cNvSpPr/>
          <p:nvPr/>
        </p:nvSpPr>
        <p:spPr>
          <a:xfrm>
            <a:off x="4005179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h20b37650884cf90a_0_9"/>
          <p:cNvSpPr/>
          <p:nvPr/>
        </p:nvSpPr>
        <p:spPr>
          <a:xfrm>
            <a:off x="4663564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h20b37650884cf90a_0_9"/>
          <p:cNvSpPr/>
          <p:nvPr/>
        </p:nvSpPr>
        <p:spPr>
          <a:xfrm>
            <a:off x="5321950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h20b37650884cf90a_0_9"/>
          <p:cNvSpPr/>
          <p:nvPr/>
        </p:nvSpPr>
        <p:spPr>
          <a:xfrm>
            <a:off x="5980335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h20b37650884cf90a_0_9"/>
          <p:cNvSpPr/>
          <p:nvPr/>
        </p:nvSpPr>
        <p:spPr>
          <a:xfrm>
            <a:off x="6638721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h20b37650884cf90a_0_9"/>
          <p:cNvSpPr/>
          <p:nvPr/>
        </p:nvSpPr>
        <p:spPr>
          <a:xfrm>
            <a:off x="7297107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h20b37650884cf90a_0_9"/>
          <p:cNvSpPr/>
          <p:nvPr/>
        </p:nvSpPr>
        <p:spPr>
          <a:xfrm>
            <a:off x="7955492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h20b37650884cf90a_0_9"/>
          <p:cNvSpPr/>
          <p:nvPr/>
        </p:nvSpPr>
        <p:spPr>
          <a:xfrm>
            <a:off x="8613878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h20b37650884cf90a_0_9"/>
          <p:cNvSpPr/>
          <p:nvPr/>
        </p:nvSpPr>
        <p:spPr>
          <a:xfrm>
            <a:off x="9272263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h20b37650884cf90a_0_9"/>
          <p:cNvSpPr/>
          <p:nvPr/>
        </p:nvSpPr>
        <p:spPr>
          <a:xfrm>
            <a:off x="9930649" y="5303520"/>
            <a:ext cx="658500" cy="502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DE8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h20b37650884cf90a_0_9"/>
          <p:cNvSpPr/>
          <p:nvPr/>
        </p:nvSpPr>
        <p:spPr>
          <a:xfrm>
            <a:off x="4050900" y="237744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12B886"/>
          </a:solidFill>
          <a:ln w="10150" cap="flat" cmpd="sng">
            <a:solidFill>
              <a:srgbClr val="12B886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h20b37650884cf90a_0_9"/>
          <p:cNvSpPr/>
          <p:nvPr/>
        </p:nvSpPr>
        <p:spPr>
          <a:xfrm>
            <a:off x="4078333" y="238658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lang="en-US" sz="53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sz="5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"/>
              <a:buFont typeface="Arial"/>
              <a:buNone/>
            </a:pPr>
            <a:r>
              <a:rPr lang="en-US" sz="53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</a:t>
            </a:r>
            <a:endParaRPr sz="53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h20b37650884cf90a_0_9"/>
          <p:cNvSpPr/>
          <p:nvPr/>
        </p:nvSpPr>
        <p:spPr>
          <a:xfrm>
            <a:off x="4736718" y="28895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70"/>
              <a:buFont typeface="Arial"/>
              <a:buNone/>
            </a:pPr>
            <a:r>
              <a:rPr lang="en-US" sz="57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BD + API</a:t>
            </a:r>
            <a:endParaRPr sz="5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h20b37650884cf90a_0_9"/>
          <p:cNvSpPr/>
          <p:nvPr/>
        </p:nvSpPr>
        <p:spPr>
          <a:xfrm>
            <a:off x="5367671" y="338328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08A6A5"/>
          </a:solidFill>
          <a:ln w="10150" cap="flat" cmpd="sng">
            <a:solidFill>
              <a:srgbClr val="08A6A5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h20b37650884cf90a_0_9"/>
          <p:cNvSpPr/>
          <p:nvPr/>
        </p:nvSpPr>
        <p:spPr>
          <a:xfrm>
            <a:off x="6026094" y="3383193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08A6A5"/>
          </a:solidFill>
          <a:ln w="10150" cap="flat" cmpd="sng">
            <a:solidFill>
              <a:srgbClr val="08A6A5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h20b37650884cf90a_0_9"/>
          <p:cNvSpPr/>
          <p:nvPr/>
        </p:nvSpPr>
        <p:spPr>
          <a:xfrm>
            <a:off x="6064979" y="3392349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"/>
              <a:buFont typeface="Arial"/>
              <a:buNone/>
            </a:pPr>
            <a:r>
              <a:rPr lang="en-US" sz="5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Conexión</a:t>
            </a:r>
            <a:endParaRPr sz="5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h20b37650884cf90a_0_9"/>
          <p:cNvSpPr/>
          <p:nvPr/>
        </p:nvSpPr>
        <p:spPr>
          <a:xfrm>
            <a:off x="5395139" y="3392337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"/>
              <a:buFont typeface="Arial"/>
              <a:buNone/>
            </a:pPr>
            <a:r>
              <a:rPr lang="en-US" sz="5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CRUD + roles</a:t>
            </a:r>
            <a:endParaRPr sz="5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h20b37650884cf90a_0_9"/>
          <p:cNvSpPr/>
          <p:nvPr/>
        </p:nvSpPr>
        <p:spPr>
          <a:xfrm>
            <a:off x="6684442" y="388620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7C4DDF"/>
          </a:solidFill>
          <a:ln w="10150" cap="flat" cmpd="sng">
            <a:solidFill>
              <a:srgbClr val="7C4DD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h20b37650884cf90a_0_9"/>
          <p:cNvSpPr/>
          <p:nvPr/>
        </p:nvSpPr>
        <p:spPr>
          <a:xfrm>
            <a:off x="6711875" y="389534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"/>
              <a:buFont typeface="Arial"/>
              <a:buNone/>
            </a:pPr>
            <a:r>
              <a:rPr lang="en-US" sz="5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Jira / CSV</a:t>
            </a:r>
            <a:endParaRPr sz="5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h20b37650884cf90a_0_9"/>
          <p:cNvSpPr/>
          <p:nvPr/>
        </p:nvSpPr>
        <p:spPr>
          <a:xfrm>
            <a:off x="7342828" y="388620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7C4DDF"/>
          </a:solidFill>
          <a:ln w="10150" cap="flat" cmpd="sng">
            <a:solidFill>
              <a:srgbClr val="7C4DD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h20b37650884cf90a_0_9"/>
          <p:cNvSpPr/>
          <p:nvPr/>
        </p:nvSpPr>
        <p:spPr>
          <a:xfrm>
            <a:off x="7370260" y="389534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KPI +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h20b37650884cf90a_0_9"/>
          <p:cNvSpPr/>
          <p:nvPr/>
        </p:nvSpPr>
        <p:spPr>
          <a:xfrm>
            <a:off x="8001213" y="438912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F59E0B"/>
          </a:solidFill>
          <a:ln w="101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h20b37650884cf90a_0_9"/>
          <p:cNvSpPr/>
          <p:nvPr/>
        </p:nvSpPr>
        <p:spPr>
          <a:xfrm>
            <a:off x="8028646" y="439826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"/>
              <a:buFont typeface="Arial"/>
              <a:buNone/>
            </a:pPr>
            <a:r>
              <a:rPr lang="en-US" sz="5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sz="5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h20b37650884cf90a_0_9"/>
          <p:cNvSpPr/>
          <p:nvPr/>
        </p:nvSpPr>
        <p:spPr>
          <a:xfrm>
            <a:off x="8659599" y="438912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F59E0B"/>
          </a:solidFill>
          <a:ln w="10150" cap="flat" cmpd="sng">
            <a:solidFill>
              <a:srgbClr val="F59E0B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h20b37650884cf90a_0_9"/>
          <p:cNvSpPr/>
          <p:nvPr/>
        </p:nvSpPr>
        <p:spPr>
          <a:xfrm>
            <a:off x="8687032" y="439826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SIN/CON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"/>
              <a:buFont typeface="Arial"/>
              <a:buNone/>
            </a:pPr>
            <a:r>
              <a:rPr lang="en-US" sz="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+ ajustes</a:t>
            </a:r>
            <a:endParaRPr sz="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h20b37650884cf90a_0_9"/>
          <p:cNvSpPr/>
          <p:nvPr/>
        </p:nvSpPr>
        <p:spPr>
          <a:xfrm>
            <a:off x="9317984" y="4892040"/>
            <a:ext cx="567000" cy="365700"/>
          </a:xfrm>
          <a:prstGeom prst="roundRect">
            <a:avLst>
              <a:gd name="adj" fmla="val 22500"/>
            </a:avLst>
          </a:prstGeom>
          <a:solidFill>
            <a:srgbClr val="12B886"/>
          </a:solidFill>
          <a:ln w="10150" cap="flat" cmpd="sng">
            <a:solidFill>
              <a:srgbClr val="12B886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h20b37650884cf90a_0_9"/>
          <p:cNvSpPr/>
          <p:nvPr/>
        </p:nvSpPr>
        <p:spPr>
          <a:xfrm>
            <a:off x="9345417" y="4901184"/>
            <a:ext cx="5121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Release</a:t>
            </a:r>
            <a:endParaRPr sz="4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"/>
              <a:buFont typeface="Arial"/>
              <a:buNone/>
            </a:pPr>
            <a:r>
              <a:rPr lang="en-US" sz="4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freeze 26/11</a:t>
            </a:r>
            <a:endParaRPr sz="4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h20b37650884cf90a_0_9"/>
          <p:cNvSpPr/>
          <p:nvPr/>
        </p:nvSpPr>
        <p:spPr>
          <a:xfrm>
            <a:off x="9976370" y="539496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FF0000"/>
          </a:solidFill>
          <a:ln w="10150" cap="flat" cmpd="sng">
            <a:solidFill>
              <a:srgbClr val="24364F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FF0000"/>
              </a:solidFill>
              <a:highlight>
                <a:srgbClr val="FF00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h20b37650884cf90a_0_9"/>
          <p:cNvSpPr/>
          <p:nvPr/>
        </p:nvSpPr>
        <p:spPr>
          <a:xfrm>
            <a:off x="10003803" y="5404104"/>
            <a:ext cx="512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"/>
              <a:buFont typeface="Arial"/>
              <a:buNone/>
            </a:pPr>
            <a:r>
              <a:rPr lang="en-US" sz="520" b="1" dirty="0">
                <a:solidFill>
                  <a:srgbClr val="FFFFFF"/>
                </a:solidFill>
              </a:rPr>
              <a:t>Presentación ante </a:t>
            </a:r>
            <a:r>
              <a:rPr lang="en-US" sz="520" b="1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Comisión</a:t>
            </a:r>
            <a:endParaRPr sz="52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"/>
              <a:buFont typeface="Arial"/>
              <a:buNone/>
            </a:pPr>
            <a:endParaRPr sz="520" b="0" i="0" u="none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h20b37650884cf90a_0_9"/>
          <p:cNvSpPr/>
          <p:nvPr/>
        </p:nvSpPr>
        <p:spPr>
          <a:xfrm>
            <a:off x="310904" y="6071616"/>
            <a:ext cx="11576700" cy="4755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50" cap="flat" cmpd="sng">
            <a:solidFill>
              <a:srgbClr val="C9D9E8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h20b37650884cf90a_0_9"/>
          <p:cNvSpPr/>
          <p:nvPr/>
        </p:nvSpPr>
        <p:spPr>
          <a:xfrm>
            <a:off x="530366" y="6217920"/>
            <a:ext cx="914400" cy="1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86B"/>
              </a:buClr>
              <a:buSzPts val="730"/>
              <a:buFont typeface="Arial"/>
              <a:buNone/>
            </a:pPr>
            <a:r>
              <a:rPr lang="en-US" sz="730" b="1" i="0" u="none" strike="noStrike" cap="none">
                <a:solidFill>
                  <a:srgbClr val="0E386B"/>
                </a:solidFill>
                <a:latin typeface="Arial"/>
                <a:ea typeface="Arial"/>
                <a:cs typeface="Arial"/>
                <a:sym typeface="Arial"/>
              </a:rPr>
              <a:t>Uso esperado</a:t>
            </a:r>
            <a:endParaRPr sz="7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h20b37650884cf90a_0_9"/>
          <p:cNvSpPr/>
          <p:nvPr/>
        </p:nvSpPr>
        <p:spPr>
          <a:xfrm>
            <a:off x="1627675" y="6199632"/>
            <a:ext cx="8687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33F"/>
              </a:buClr>
              <a:buSzPts val="670"/>
              <a:buFont typeface="Arial"/>
              <a:buNone/>
            </a:pPr>
            <a:r>
              <a:rPr lang="en-US" sz="670" b="1" i="0" u="none" strike="noStrike" cap="none">
                <a:solidFill>
                  <a:srgbClr val="10233F"/>
                </a:solidFill>
                <a:latin typeface="Arial"/>
                <a:ea typeface="Arial"/>
                <a:cs typeface="Arial"/>
                <a:sym typeface="Arial"/>
              </a:rPr>
              <a:t>Actualizar semanalmente según Jira Cloud y GitHub: estado real, evidencia, riesgos y ajustes. Nueva fecha crítica: liberar la versión candidata y evidencias antes del 27/11.</a:t>
            </a:r>
            <a:endParaRPr sz="6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h20b37650884cf90a_0_9"/>
          <p:cNvSpPr/>
          <p:nvPr/>
        </p:nvSpPr>
        <p:spPr>
          <a:xfrm>
            <a:off x="10561602" y="6364224"/>
            <a:ext cx="9144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520"/>
              <a:buFont typeface="Arial"/>
              <a:buNone/>
            </a:pPr>
            <a:r>
              <a:rPr lang="en-US" sz="5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h20b37650884cf90a_0_9"/>
          <p:cNvSpPr/>
          <p:nvPr/>
        </p:nvSpPr>
        <p:spPr>
          <a:xfrm>
            <a:off x="11905805" y="6611112"/>
            <a:ext cx="1830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h20b37650884cf90a_0_9"/>
          <p:cNvSpPr/>
          <p:nvPr/>
        </p:nvSpPr>
        <p:spPr>
          <a:xfrm>
            <a:off x="2505435" y="2944315"/>
            <a:ext cx="1426500" cy="19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5" tIns="375" rIns="375" bIns="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708F"/>
              </a:buClr>
              <a:buSzPts val="620"/>
              <a:buFont typeface="Arial"/>
              <a:buNone/>
            </a:pPr>
            <a:r>
              <a:rPr lang="en-US" sz="620" b="0" i="0" u="none" strike="noStrike" cap="none">
                <a:solidFill>
                  <a:srgbClr val="58708F"/>
                </a:solidFill>
                <a:latin typeface="Arial"/>
                <a:ea typeface="Arial"/>
                <a:cs typeface="Arial"/>
                <a:sym typeface="Arial"/>
              </a:rPr>
              <a:t>Documentación y propuesta de modelo   </a:t>
            </a:r>
            <a:endParaRPr sz="6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287;h20b37650884cf90a_0_9">
            <a:extLst>
              <a:ext uri="{FF2B5EF4-FFF2-40B4-BE49-F238E27FC236}">
                <a16:creationId xmlns:a16="http://schemas.microsoft.com/office/drawing/2014/main" id="{4C2DB2CE-DF71-14C9-F0B1-53ABE34F8E52}"/>
              </a:ext>
            </a:extLst>
          </p:cNvPr>
          <p:cNvSpPr/>
          <p:nvPr/>
        </p:nvSpPr>
        <p:spPr>
          <a:xfrm>
            <a:off x="4078367" y="2880270"/>
            <a:ext cx="567000" cy="320100"/>
          </a:xfrm>
          <a:prstGeom prst="roundRect">
            <a:avLst>
              <a:gd name="adj" fmla="val 25714"/>
            </a:avLst>
          </a:prstGeom>
          <a:solidFill>
            <a:srgbClr val="12B886"/>
          </a:solidFill>
          <a:ln w="10150" cap="flat" cmpd="sng">
            <a:solidFill>
              <a:srgbClr val="12B886"/>
            </a:solidFill>
            <a:prstDash val="solid"/>
            <a:round/>
            <a:headEnd type="none" w="sm" len="sm"/>
            <a:tailEnd type="none" w="sm" len="sm"/>
          </a:ln>
          <a:effectLst>
            <a:outerShdw blurRad="25400" dist="12700" dir="2700000" algn="bl" rotWithShape="0">
              <a:srgbClr val="000000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Clr>
                <a:srgbClr val="FFFFFF"/>
              </a:buClr>
              <a:buSzPts val="530"/>
            </a:pPr>
            <a:endParaRPr lang="en-US" sz="600" b="1" dirty="0">
              <a:solidFill>
                <a:srgbClr val="FFFFFF"/>
              </a:solidFill>
            </a:endParaRPr>
          </a:p>
          <a:p>
            <a:pPr lvl="0" algn="ctr">
              <a:buClr>
                <a:srgbClr val="FFFFFF"/>
              </a:buClr>
              <a:buSzPts val="530"/>
            </a:pPr>
            <a:endParaRPr lang="en-US" sz="530" b="1" dirty="0">
              <a:solidFill>
                <a:srgbClr val="FFFFFF"/>
              </a:solidFill>
            </a:endParaRPr>
          </a:p>
          <a:p>
            <a:pPr lvl="0" algn="ctr">
              <a:buClr>
                <a:srgbClr val="FFFFFF"/>
              </a:buClr>
              <a:buSzPts val="530"/>
            </a:pPr>
            <a:r>
              <a:rPr lang="en-US" sz="600" b="1" dirty="0">
                <a:solidFill>
                  <a:srgbClr val="FFFFFF"/>
                </a:solidFill>
              </a:rPr>
              <a:t>100%</a:t>
            </a:r>
            <a:endParaRPr lang="en-US" sz="600" dirty="0">
              <a:solidFill>
                <a:schemeClr val="dk1"/>
              </a:solidFill>
            </a:endParaRPr>
          </a:p>
          <a:p>
            <a:pPr lvl="0" algn="ctr">
              <a:buClr>
                <a:srgbClr val="FFFFFF"/>
              </a:buClr>
              <a:buSzPts val="530"/>
            </a:pPr>
            <a:r>
              <a:rPr lang="en-US" sz="600" b="1" dirty="0">
                <a:solidFill>
                  <a:srgbClr val="FFFFFF"/>
                </a:solidFill>
              </a:rPr>
              <a:t>Sprint 2</a:t>
            </a:r>
            <a:endParaRPr lang="en-US" sz="600" dirty="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es-CL"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h1af1b7e802a7d6b2_1_5" title="Modelo 4+1 de Arquitectura Quality36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80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h20b37650884cf90a_0_2" descr="/mnt/data/logo_quality360_cropp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880650" y="0"/>
            <a:ext cx="2152174" cy="88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23D6B"/>
          </a:solidFill>
          <a:ln>
            <a:solidFill>
              <a:srgbClr val="123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47472" y="118872"/>
            <a:ext cx="78638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Burndown y estado actual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84632"/>
            <a:ext cx="6858000" cy="2103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D7E6F6"/>
                </a:solidFill>
                <a:latin typeface="Arial"/>
              </a:rPr>
              <a:t>Seguimiento del Sprint 2 · Corte 09/10/2026</a:t>
            </a:r>
          </a:p>
        </p:txBody>
      </p:sp>
      <p:pic>
        <p:nvPicPr>
          <p:cNvPr id="5" name="Picture 4" descr="logo_quality360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6496" y="54864"/>
            <a:ext cx="1143000" cy="6400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219456" y="960120"/>
            <a:ext cx="7845552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19456" y="960120"/>
            <a:ext cx="7845552" cy="502920"/>
          </a:xfrm>
          <a:prstGeom prst="rect">
            <a:avLst/>
          </a:prstGeom>
          <a:solidFill>
            <a:srgbClr val="F6FCFF"/>
          </a:solidFill>
          <a:ln w="12700"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097280"/>
            <a:ext cx="3657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23D6B"/>
                </a:solidFill>
                <a:latin typeface="Arial"/>
              </a:rPr>
              <a:t>▮  Burndown del Sprint 2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600200"/>
            <a:ext cx="411480" cy="411480"/>
          </a:xfrm>
          <a:prstGeom prst="ellipse">
            <a:avLst/>
          </a:prstGeom>
          <a:solidFill>
            <a:srgbClr val="DDF1FA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" y="1691640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23D6B"/>
                </a:solidFill>
                <a:latin typeface="Arial"/>
              </a:rPr>
              <a:t>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45920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2444"/>
                </a:solidFill>
                <a:latin typeface="Arial"/>
              </a:rPr>
              <a:t>Sprint: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65376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D2444"/>
                </a:solidFill>
                <a:latin typeface="Arial"/>
              </a:rPr>
              <a:t>Q360-Sprint 2</a:t>
            </a:r>
          </a:p>
        </p:txBody>
      </p:sp>
      <p:sp>
        <p:nvSpPr>
          <p:cNvPr id="13" name="Oval 12"/>
          <p:cNvSpPr/>
          <p:nvPr/>
        </p:nvSpPr>
        <p:spPr>
          <a:xfrm>
            <a:off x="2240280" y="1600200"/>
            <a:ext cx="411480" cy="411480"/>
          </a:xfrm>
          <a:prstGeom prst="ellipse">
            <a:avLst/>
          </a:prstGeom>
          <a:solidFill>
            <a:srgbClr val="DDF1FA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50008" y="1691640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23D6B"/>
                </a:solidFill>
                <a:latin typeface="Arial"/>
              </a:rPr>
              <a:t>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645920"/>
            <a:ext cx="15544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2444"/>
                </a:solidFill>
                <a:latin typeface="Arial"/>
              </a:rPr>
              <a:t>Periodo: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1865376"/>
            <a:ext cx="18288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D2444"/>
                </a:solidFill>
                <a:latin typeface="Arial"/>
              </a:rPr>
              <a:t>25 sep 2026 – 09 oct 2026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1600200"/>
            <a:ext cx="411480" cy="411480"/>
          </a:xfrm>
          <a:prstGeom prst="ellipse">
            <a:avLst/>
          </a:prstGeom>
          <a:solidFill>
            <a:srgbClr val="DDF1FA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27448" y="1691640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23D6B"/>
                </a:solidFill>
                <a:latin typeface="Arial"/>
              </a:rPr>
              <a:t>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645920"/>
            <a:ext cx="27432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0D2444"/>
                </a:solidFill>
                <a:latin typeface="Arial"/>
              </a:rPr>
              <a:t>Meta del sprint: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39" y="1865376"/>
            <a:ext cx="2926079" cy="4154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dirty="0" err="1">
                <a:solidFill>
                  <a:srgbClr val="0D2444"/>
                </a:solidFill>
                <a:latin typeface="Arial"/>
              </a:rPr>
              <a:t>Consolidar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arquitectura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,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casos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 de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uso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 y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modelo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 conceptual de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datos</a:t>
            </a:r>
            <a:r>
              <a:rPr lang="es-ES" sz="900" b="0" dirty="0">
                <a:solidFill>
                  <a:srgbClr val="0D2444"/>
                </a:solidFill>
                <a:latin typeface="Arial"/>
              </a:rPr>
              <a:t> y modelo ER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 para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habilitar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 backend y </a:t>
            </a:r>
            <a:r>
              <a:rPr sz="900" b="0" dirty="0" err="1">
                <a:solidFill>
                  <a:srgbClr val="0D2444"/>
                </a:solidFill>
                <a:latin typeface="Arial"/>
              </a:rPr>
              <a:t>persistencia</a:t>
            </a:r>
            <a:r>
              <a:rPr sz="900" b="0" dirty="0">
                <a:solidFill>
                  <a:srgbClr val="0D2444"/>
                </a:solidFill>
                <a:latin typeface="Arial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1627632"/>
            <a:ext cx="18288" cy="502920"/>
          </a:xfrm>
          <a:prstGeom prst="rect">
            <a:avLst/>
          </a:prstGeom>
          <a:solidFill>
            <a:srgbClr val="C0DAEB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1627632"/>
            <a:ext cx="18288" cy="502920"/>
          </a:xfrm>
          <a:prstGeom prst="rect">
            <a:avLst/>
          </a:prstGeom>
          <a:solidFill>
            <a:srgbClr val="C0DAEB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2487168"/>
            <a:ext cx="384048" cy="32004"/>
          </a:xfrm>
          <a:prstGeom prst="rect">
            <a:avLst/>
          </a:prstGeom>
          <a:solidFill>
            <a:srgbClr val="E63742"/>
          </a:solidFill>
          <a:ln>
            <a:solidFill>
              <a:srgbClr val="E637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43000" y="2423160"/>
            <a:ext cx="10972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0D2444"/>
                </a:solidFill>
                <a:latin typeface="Arial"/>
              </a:rPr>
              <a:t>Trabajo restante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615184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586982"/>
                </a:solidFill>
                <a:latin typeface="Arial"/>
              </a:rPr>
              <a:t>0 puntos pendientes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2487168"/>
            <a:ext cx="384048" cy="32004"/>
          </a:xfrm>
          <a:prstGeom prst="rect">
            <a:avLst/>
          </a:prstGeom>
          <a:solidFill>
            <a:srgbClr val="828C96"/>
          </a:solidFill>
          <a:ln>
            <a:solidFill>
              <a:srgbClr val="828C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2423160"/>
            <a:ext cx="10972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0D2444"/>
                </a:solidFill>
                <a:latin typeface="Arial"/>
              </a:rPr>
              <a:t>Directriz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2615184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586982"/>
                </a:solidFill>
                <a:latin typeface="Arial"/>
              </a:rPr>
              <a:t>Avance ideal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40680" y="2487168"/>
            <a:ext cx="384048" cy="3200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89320" y="2423160"/>
            <a:ext cx="109728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0D2444"/>
                </a:solidFill>
                <a:latin typeface="Arial"/>
              </a:rPr>
              <a:t>Alcance del trabajo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9320" y="2615184"/>
            <a:ext cx="1645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586982"/>
                </a:solidFill>
                <a:latin typeface="Arial"/>
              </a:rPr>
              <a:t>11 SP comprometidos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67512" y="4800600"/>
            <a:ext cx="7059167" cy="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47472" y="4727448"/>
            <a:ext cx="22860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0">
                <a:solidFill>
                  <a:srgbClr val="586982"/>
                </a:solidFill>
                <a:latin typeface="Arial"/>
              </a:rPr>
              <a:t>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67512" y="4301836"/>
            <a:ext cx="7059167" cy="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7472" y="4228684"/>
            <a:ext cx="22860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0">
                <a:solidFill>
                  <a:srgbClr val="586982"/>
                </a:solidFill>
                <a:latin typeface="Arial"/>
              </a:rPr>
              <a:t>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67512" y="3803072"/>
            <a:ext cx="7059167" cy="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47472" y="3729920"/>
            <a:ext cx="22860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0">
                <a:solidFill>
                  <a:srgbClr val="586982"/>
                </a:solidFill>
                <a:latin typeface="Arial"/>
              </a:rPr>
              <a:t>6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67512" y="3304309"/>
            <a:ext cx="7059167" cy="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7472" y="3231157"/>
            <a:ext cx="22860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0">
                <a:solidFill>
                  <a:srgbClr val="586982"/>
                </a:solidFill>
                <a:latin typeface="Arial"/>
              </a:rPr>
              <a:t>9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67512" y="2971800"/>
            <a:ext cx="7059167" cy="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47472" y="2898648"/>
            <a:ext cx="228600" cy="1188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700" b="0">
                <a:solidFill>
                  <a:srgbClr val="586982"/>
                </a:solidFill>
                <a:latin typeface="Arial"/>
              </a:rPr>
              <a:t>11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67512" y="2971800"/>
            <a:ext cx="0" cy="182880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8056" y="4882896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86982"/>
                </a:solidFill>
                <a:latin typeface="Arial"/>
              </a:rPr>
              <a:t>25 sep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432304" y="2971800"/>
            <a:ext cx="0" cy="182880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2212848" y="4882896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86982"/>
                </a:solidFill>
                <a:latin typeface="Arial"/>
              </a:rPr>
              <a:t>29 sep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97096" y="2971800"/>
            <a:ext cx="0" cy="182880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977639" y="4882896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86982"/>
                </a:solidFill>
                <a:latin typeface="Arial"/>
              </a:rPr>
              <a:t>02 oct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961888" y="2971800"/>
            <a:ext cx="0" cy="182880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742431" y="4882896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86982"/>
                </a:solidFill>
                <a:latin typeface="Arial"/>
              </a:rPr>
              <a:t>06 oct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7726679" y="2971800"/>
            <a:ext cx="0" cy="1828800"/>
          </a:xfrm>
          <a:prstGeom prst="line">
            <a:avLst/>
          </a:prstGeom>
          <a:ln w="10160">
            <a:solidFill>
              <a:srgbClr val="E1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7507223" y="4882896"/>
            <a:ext cx="5029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00" b="0">
                <a:solidFill>
                  <a:srgbClr val="586982"/>
                </a:solidFill>
                <a:latin typeface="Arial"/>
              </a:rPr>
              <a:t>09 oct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0311" y="3685032"/>
            <a:ext cx="274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586982"/>
                </a:solidFill>
                <a:latin typeface="Arial"/>
              </a:rPr>
              <a:t>SP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14215" y="5148072"/>
            <a:ext cx="41148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586982"/>
                </a:solidFill>
                <a:latin typeface="Arial"/>
              </a:rPr>
              <a:t>Fecha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67512" y="2971800"/>
            <a:ext cx="7059167" cy="1828800"/>
          </a:xfrm>
          <a:prstGeom prst="line">
            <a:avLst/>
          </a:prstGeom>
          <a:ln w="25400">
            <a:solidFill>
              <a:srgbClr val="828C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67512" y="2971800"/>
            <a:ext cx="3882542" cy="0"/>
          </a:xfrm>
          <a:prstGeom prst="line">
            <a:avLst/>
          </a:prstGeom>
          <a:ln w="27940">
            <a:solidFill>
              <a:srgbClr val="E63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50054" y="2971800"/>
            <a:ext cx="0" cy="997527"/>
          </a:xfrm>
          <a:prstGeom prst="line">
            <a:avLst/>
          </a:prstGeom>
          <a:ln w="27940">
            <a:solidFill>
              <a:srgbClr val="E63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550054" y="3969327"/>
            <a:ext cx="2894259" cy="0"/>
          </a:xfrm>
          <a:prstGeom prst="line">
            <a:avLst/>
          </a:prstGeom>
          <a:ln w="27940">
            <a:solidFill>
              <a:srgbClr val="E63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444313" y="3969327"/>
            <a:ext cx="0" cy="831273"/>
          </a:xfrm>
          <a:prstGeom prst="line">
            <a:avLst/>
          </a:prstGeom>
          <a:ln w="27940">
            <a:solidFill>
              <a:srgbClr val="E63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444313" y="4800600"/>
            <a:ext cx="282366" cy="0"/>
          </a:xfrm>
          <a:prstGeom prst="line">
            <a:avLst/>
          </a:prstGeom>
          <a:ln w="27940">
            <a:solidFill>
              <a:srgbClr val="E637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17219" y="2921508"/>
            <a:ext cx="100584" cy="100584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8952" y="2862072"/>
            <a:ext cx="2286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Arial"/>
              </a:rPr>
              <a:t>11</a:t>
            </a:r>
          </a:p>
        </p:txBody>
      </p:sp>
      <p:sp>
        <p:nvSpPr>
          <p:cNvPr id="62" name="Oval 61"/>
          <p:cNvSpPr/>
          <p:nvPr/>
        </p:nvSpPr>
        <p:spPr>
          <a:xfrm>
            <a:off x="7676388" y="4750308"/>
            <a:ext cx="100584" cy="100584"/>
          </a:xfrm>
          <a:prstGeom prst="ellipse">
            <a:avLst/>
          </a:prstGeom>
          <a:solidFill>
            <a:srgbClr val="1FA653"/>
          </a:solidFill>
          <a:ln>
            <a:solidFill>
              <a:srgbClr val="1FA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818119" y="4690872"/>
            <a:ext cx="22860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1FA653"/>
                </a:solidFill>
                <a:latin typeface="Arial"/>
              </a:rPr>
              <a:t>0</a:t>
            </a:r>
          </a:p>
        </p:txBody>
      </p:sp>
      <p:sp>
        <p:nvSpPr>
          <p:cNvPr id="64" name="Oval 63"/>
          <p:cNvSpPr/>
          <p:nvPr/>
        </p:nvSpPr>
        <p:spPr>
          <a:xfrm>
            <a:off x="502920" y="5239512"/>
            <a:ext cx="438912" cy="438912"/>
          </a:xfrm>
          <a:prstGeom prst="ellipse">
            <a:avLst/>
          </a:prstGeom>
          <a:solidFill>
            <a:srgbClr val="DDF1FA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12648" y="5358384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23D6B"/>
                </a:solidFill>
                <a:latin typeface="Arial"/>
              </a:rPr>
              <a:t>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" y="5312664"/>
            <a:ext cx="7772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23D6B"/>
                </a:solidFill>
                <a:latin typeface="Arial"/>
              </a:rPr>
              <a:t>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36776" y="5458968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D2444"/>
                </a:solidFill>
                <a:latin typeface="Arial"/>
              </a:rPr>
              <a:t>SP planificados</a:t>
            </a:r>
          </a:p>
        </p:txBody>
      </p:sp>
      <p:sp>
        <p:nvSpPr>
          <p:cNvPr id="68" name="Oval 67"/>
          <p:cNvSpPr/>
          <p:nvPr/>
        </p:nvSpPr>
        <p:spPr>
          <a:xfrm>
            <a:off x="3337560" y="5239512"/>
            <a:ext cx="438912" cy="438912"/>
          </a:xfrm>
          <a:prstGeom prst="ellipse">
            <a:avLst/>
          </a:prstGeom>
          <a:solidFill>
            <a:srgbClr val="DAF5E5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447288" y="5358384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A653"/>
                </a:solidFill>
                <a:latin typeface="Arial"/>
              </a:rPr>
              <a:t>✓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913632" y="5312664"/>
            <a:ext cx="7772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FA653"/>
                </a:solidFill>
                <a:latin typeface="Arial"/>
              </a:rPr>
              <a:t>11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71416" y="5458968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D2444"/>
                </a:solidFill>
                <a:latin typeface="Arial"/>
              </a:rPr>
              <a:t>SP completados</a:t>
            </a:r>
          </a:p>
        </p:txBody>
      </p:sp>
      <p:sp>
        <p:nvSpPr>
          <p:cNvPr id="72" name="Oval 71"/>
          <p:cNvSpPr/>
          <p:nvPr/>
        </p:nvSpPr>
        <p:spPr>
          <a:xfrm>
            <a:off x="5989320" y="5239512"/>
            <a:ext cx="438912" cy="438912"/>
          </a:xfrm>
          <a:prstGeom prst="ellipse">
            <a:avLst/>
          </a:prstGeom>
          <a:solidFill>
            <a:srgbClr val="DDF1FA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099048" y="5358384"/>
            <a:ext cx="2286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1FA653"/>
                </a:solidFill>
                <a:latin typeface="Arial"/>
              </a:rPr>
              <a:t>◎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387084" y="5358384"/>
            <a:ext cx="77724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800" b="1" dirty="0">
                <a:solidFill>
                  <a:srgbClr val="1FA653"/>
                </a:solidFill>
                <a:latin typeface="Arial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69480" y="5458968"/>
            <a:ext cx="128016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 dirty="0" err="1">
                <a:solidFill>
                  <a:srgbClr val="0D2444"/>
                </a:solidFill>
                <a:latin typeface="Arial"/>
              </a:rPr>
              <a:t>cerrado</a:t>
            </a:r>
            <a:endParaRPr sz="1000" b="0" dirty="0">
              <a:solidFill>
                <a:srgbClr val="0D2444"/>
              </a:solidFill>
              <a:latin typeface="Arial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017520" y="5285232"/>
            <a:ext cx="18288" cy="457200"/>
          </a:xfrm>
          <a:prstGeom prst="rect">
            <a:avLst/>
          </a:prstGeom>
          <a:solidFill>
            <a:srgbClr val="C0DAEB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715000" y="5285232"/>
            <a:ext cx="18288" cy="457200"/>
          </a:xfrm>
          <a:prstGeom prst="rect">
            <a:avLst/>
          </a:prstGeom>
          <a:solidFill>
            <a:srgbClr val="C0DAEB"/>
          </a:solidFill>
          <a:ln>
            <a:solidFill>
              <a:srgbClr val="C0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ounded Rectangle 77"/>
          <p:cNvSpPr/>
          <p:nvPr/>
        </p:nvSpPr>
        <p:spPr>
          <a:xfrm>
            <a:off x="8275320" y="960120"/>
            <a:ext cx="37033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558784" y="1124712"/>
            <a:ext cx="16459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23D6B"/>
                </a:solidFill>
                <a:latin typeface="Arial"/>
              </a:rPr>
              <a:t>🏆  Estado del sprint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1417320"/>
            <a:ext cx="3154680" cy="411480"/>
          </a:xfrm>
          <a:prstGeom prst="roundRect">
            <a:avLst/>
          </a:prstGeom>
          <a:solidFill>
            <a:srgbClr val="E6F8EB"/>
          </a:solidFill>
          <a:ln w="12700">
            <a:solidFill>
              <a:srgbClr val="E6F8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732520" y="1536192"/>
            <a:ext cx="192024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26F40"/>
                </a:solidFill>
                <a:latin typeface="Arial"/>
              </a:rPr>
              <a:t>Sprint 2 cerrado exitosamente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1018520" y="1435608"/>
            <a:ext cx="74980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2600" b="1">
                <a:solidFill>
                  <a:srgbClr val="1FA653"/>
                </a:solidFill>
                <a:latin typeface="Arial"/>
              </a:rPr>
              <a:t>100%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75320" y="2148840"/>
            <a:ext cx="37033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558784" y="2304288"/>
            <a:ext cx="14630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23D6B"/>
                </a:solidFill>
                <a:latin typeface="Arial"/>
              </a:rPr>
              <a:t>▮  Indicadores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462771" y="2596895"/>
            <a:ext cx="3241549" cy="707413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EBF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732520" y="2651760"/>
            <a:ext cx="2560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 dirty="0">
                <a:solidFill>
                  <a:srgbClr val="0D2444"/>
                </a:solidFill>
                <a:latin typeface="Arial"/>
              </a:rPr>
              <a:t>Story points </a:t>
            </a:r>
            <a:r>
              <a:rPr sz="1000" b="0" dirty="0" err="1">
                <a:solidFill>
                  <a:srgbClr val="0D2444"/>
                </a:solidFill>
                <a:latin typeface="Arial"/>
              </a:rPr>
              <a:t>completados</a:t>
            </a:r>
            <a:r>
              <a:rPr sz="1000" b="0" dirty="0">
                <a:solidFill>
                  <a:srgbClr val="0D2444"/>
                </a:solidFill>
                <a:latin typeface="Arial"/>
              </a:rPr>
              <a:t>: 11 / 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732520" y="2862072"/>
            <a:ext cx="2560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 dirty="0" err="1">
                <a:solidFill>
                  <a:srgbClr val="0D2444"/>
                </a:solidFill>
                <a:latin typeface="Arial"/>
              </a:rPr>
              <a:t>Actividades</a:t>
            </a:r>
            <a:r>
              <a:rPr sz="1000" b="0" dirty="0">
                <a:solidFill>
                  <a:srgbClr val="0D2444"/>
                </a:solidFill>
                <a:latin typeface="Arial"/>
              </a:rPr>
              <a:t> </a:t>
            </a:r>
            <a:r>
              <a:rPr sz="1000" b="0" dirty="0" err="1">
                <a:solidFill>
                  <a:srgbClr val="0D2444"/>
                </a:solidFill>
                <a:latin typeface="Arial"/>
              </a:rPr>
              <a:t>cerradas</a:t>
            </a:r>
            <a:r>
              <a:rPr sz="1000" b="0" dirty="0">
                <a:solidFill>
                  <a:srgbClr val="0D2444"/>
                </a:solidFill>
                <a:latin typeface="Arial"/>
              </a:rPr>
              <a:t>: 3 / 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732520" y="3063240"/>
            <a:ext cx="256032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0D2444"/>
                </a:solidFill>
                <a:latin typeface="Arial"/>
              </a:rPr>
              <a:t>Estado general: cerrado sin pendientes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275320" y="3520440"/>
            <a:ext cx="3703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58784" y="3675887"/>
            <a:ext cx="2148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23D6B"/>
                </a:solidFill>
                <a:latin typeface="Arial"/>
              </a:rPr>
              <a:t>▣  Estado actual del proyecto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503920" y="3959352"/>
            <a:ext cx="3200400" cy="713232"/>
          </a:xfrm>
          <a:prstGeom prst="roundRect">
            <a:avLst/>
          </a:prstGeom>
          <a:solidFill>
            <a:srgbClr val="FFF8E7"/>
          </a:solidFill>
          <a:ln w="12700">
            <a:solidFill>
              <a:srgbClr val="FFF8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86800" y="4032504"/>
            <a:ext cx="14630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A653"/>
                </a:solidFill>
                <a:latin typeface="Arial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942832" y="4032504"/>
            <a:ext cx="2651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D2444"/>
                </a:solidFill>
                <a:latin typeface="Arial"/>
              </a:rPr>
              <a:t>Arquitectura por capas + 4+1 finalizada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686800" y="4251960"/>
            <a:ext cx="14630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A653"/>
                </a:solidFill>
                <a:latin typeface="Arial"/>
              </a:rPr>
              <a:t>✓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942832" y="4251960"/>
            <a:ext cx="2651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D2444"/>
                </a:solidFill>
                <a:latin typeface="Arial"/>
              </a:rPr>
              <a:t>Casos de uso finalizados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686800" y="4471416"/>
            <a:ext cx="14630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1FA653"/>
                </a:solidFill>
                <a:latin typeface="Arial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942832" y="4471416"/>
            <a:ext cx="26517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D2444"/>
                </a:solidFill>
                <a:latin typeface="Arial"/>
              </a:rPr>
              <a:t>Modelo conceptual de datos finalizado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275320" y="5074920"/>
            <a:ext cx="3703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DA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558784" y="5212080"/>
            <a:ext cx="14173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>
                <a:solidFill>
                  <a:srgbClr val="123D6B"/>
                </a:solidFill>
                <a:latin typeface="Arial"/>
              </a:rPr>
              <a:t>◔  Avance global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8503920" y="5532120"/>
            <a:ext cx="3200400" cy="256032"/>
          </a:xfrm>
          <a:prstGeom prst="roundRect">
            <a:avLst/>
          </a:prstGeom>
          <a:solidFill>
            <a:srgbClr val="EBF7FF"/>
          </a:solidFill>
          <a:ln w="12700">
            <a:solidFill>
              <a:srgbClr val="EBF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8778240" y="5550408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123D6B"/>
                </a:solidFill>
                <a:latin typeface="Arial"/>
              </a:rPr>
              <a:t>33,3%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01200" y="5596128"/>
            <a:ext cx="17373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0">
                <a:solidFill>
                  <a:srgbClr val="0D2444"/>
                </a:solidFill>
                <a:latin typeface="Arial"/>
              </a:rPr>
              <a:t>2 de 6 sprints completados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219456" y="6327648"/>
            <a:ext cx="11759184" cy="365760"/>
          </a:xfrm>
          <a:prstGeom prst="roundRect">
            <a:avLst/>
          </a:prstGeom>
          <a:solidFill>
            <a:srgbClr val="E6FCFF"/>
          </a:solidFill>
          <a:ln w="12700">
            <a:solidFill>
              <a:srgbClr val="46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02920" y="6419088"/>
            <a:ext cx="32004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F59E0B"/>
                </a:solidFill>
                <a:latin typeface="Arial"/>
              </a:rPr>
              <a:t>💡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04672" y="6419088"/>
            <a:ext cx="1069848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50" b="0">
                <a:solidFill>
                  <a:srgbClr val="0D2444"/>
                </a:solidFill>
                <a:latin typeface="Arial"/>
              </a:rPr>
              <a:t>Conclusión: el Sprint 2 se completó al 100%. Se consolida la línea base arquitectónica, los casos de uso y el modelo conceptual de datos para avanzar hacia backend y persistencia.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56ab5dad46e2c1f2_0_342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00B6AE"/>
          </a:solidFill>
          <a:ln w="12700" cap="flat" cmpd="sng">
            <a:solidFill>
              <a:srgbClr val="00B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3" name="Google Shape;493;h56ab5dad46e2c1f2_0_342" descr="/mnt/data/logo_quality360_cropp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71919" y="137160"/>
            <a:ext cx="914424" cy="621791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h56ab5dad46e2c1f2_0_342"/>
          <p:cNvSpPr/>
          <p:nvPr/>
        </p:nvSpPr>
        <p:spPr>
          <a:xfrm>
            <a:off x="347481" y="246888"/>
            <a:ext cx="80469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2600"/>
              <a:buFont typeface="Play"/>
              <a:buNone/>
            </a:pPr>
            <a:r>
              <a:rPr lang="en-US" sz="2600" b="1" i="0" u="none" strike="noStrike" cap="none">
                <a:solidFill>
                  <a:srgbClr val="08245A"/>
                </a:solidFill>
                <a:latin typeface="Play"/>
                <a:ea typeface="Play"/>
                <a:cs typeface="Play"/>
                <a:sym typeface="Play"/>
              </a:rPr>
              <a:t>Conclusiones y próximos pasos</a:t>
            </a:r>
            <a:endParaRPr sz="2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h56ab5dad46e2c1f2_0_342"/>
          <p:cNvSpPr/>
          <p:nvPr/>
        </p:nvSpPr>
        <p:spPr>
          <a:xfrm>
            <a:off x="356626" y="713232"/>
            <a:ext cx="6949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B5F7A"/>
              </a:buClr>
              <a:buSzPts val="1280"/>
              <a:buFont typeface="Arial"/>
              <a:buNone/>
            </a:pPr>
            <a:r>
              <a:rPr lang="en-US" sz="1280" b="0" i="0" u="none" strike="noStrike" cap="none">
                <a:solidFill>
                  <a:srgbClr val="4B5F7A"/>
                </a:solidFill>
                <a:latin typeface="Arial"/>
                <a:ea typeface="Arial"/>
                <a:cs typeface="Arial"/>
                <a:sym typeface="Arial"/>
              </a:rPr>
              <a:t>Cierre del avance arquitectónico y evolución de Quality360</a:t>
            </a:r>
            <a:endParaRPr sz="12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h56ab5dad46e2c1f2_0_342"/>
          <p:cNvCxnSpPr/>
          <p:nvPr/>
        </p:nvCxnSpPr>
        <p:spPr>
          <a:xfrm>
            <a:off x="356626" y="1033272"/>
            <a:ext cx="567000" cy="0"/>
          </a:xfrm>
          <a:prstGeom prst="straightConnector1">
            <a:avLst/>
          </a:prstGeom>
          <a:noFill/>
          <a:ln w="27925" cap="flat" cmpd="sng">
            <a:solidFill>
              <a:srgbClr val="00B6A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97" name="Google Shape;497;h56ab5dad46e2c1f2_0_342"/>
          <p:cNvSpPr/>
          <p:nvPr/>
        </p:nvSpPr>
        <p:spPr>
          <a:xfrm>
            <a:off x="365759" y="1353297"/>
            <a:ext cx="2432400" cy="132510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7B9D1">
                <a:alpha val="129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h56ab5dad46e2c1f2_0_342"/>
          <p:cNvSpPr/>
          <p:nvPr/>
        </p:nvSpPr>
        <p:spPr>
          <a:xfrm>
            <a:off x="512078" y="1517904"/>
            <a:ext cx="438900" cy="438900"/>
          </a:xfrm>
          <a:prstGeom prst="ellipse">
            <a:avLst/>
          </a:prstGeom>
          <a:solidFill>
            <a:srgbClr val="EAF4FF"/>
          </a:solidFill>
          <a:ln w="12700" cap="flat" cmpd="sng">
            <a:solidFill>
              <a:srgbClr val="EA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h56ab5dad46e2c1f2_0_342"/>
          <p:cNvSpPr/>
          <p:nvPr/>
        </p:nvSpPr>
        <p:spPr>
          <a:xfrm>
            <a:off x="58523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h56ab5dad46e2c1f2_0_342"/>
          <p:cNvSpPr/>
          <p:nvPr/>
        </p:nvSpPr>
        <p:spPr>
          <a:xfrm>
            <a:off x="1097309" y="1554480"/>
            <a:ext cx="1280100" cy="329100"/>
          </a:xfrm>
          <a:prstGeom prst="roundRect">
            <a:avLst>
              <a:gd name="adj" fmla="val 16667"/>
            </a:avLst>
          </a:prstGeom>
          <a:solidFill>
            <a:srgbClr val="0B63E5"/>
          </a:solidFill>
          <a:ln w="12700" cap="flat" cmpd="sng">
            <a:solidFill>
              <a:srgbClr val="0B63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h56ab5dad46e2c1f2_0_342"/>
          <p:cNvSpPr/>
          <p:nvPr/>
        </p:nvSpPr>
        <p:spPr>
          <a:xfrm>
            <a:off x="1225329" y="1618488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1 completado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h56ab5dad46e2c1f2_0_342"/>
          <p:cNvCxnSpPr/>
          <p:nvPr/>
        </p:nvCxnSpPr>
        <p:spPr>
          <a:xfrm>
            <a:off x="1115598" y="2020824"/>
            <a:ext cx="384000" cy="0"/>
          </a:xfrm>
          <a:prstGeom prst="straightConnector1">
            <a:avLst/>
          </a:prstGeom>
          <a:noFill/>
          <a:ln w="1905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3" name="Google Shape;503;h56ab5dad46e2c1f2_0_342"/>
          <p:cNvSpPr/>
          <p:nvPr/>
        </p:nvSpPr>
        <p:spPr>
          <a:xfrm>
            <a:off x="1115605" y="1903953"/>
            <a:ext cx="1398900" cy="6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14 de 14 Story Points finalizados. Base técnica, planificación, arquitectura inicial y modelo de datos preliminar consolidados.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h56ab5dad46e2c1f2_0_342"/>
          <p:cNvSpPr/>
          <p:nvPr/>
        </p:nvSpPr>
        <p:spPr>
          <a:xfrm>
            <a:off x="3017606" y="1353296"/>
            <a:ext cx="2926200" cy="137160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7B9D1">
                <a:alpha val="129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h56ab5dad46e2c1f2_0_342"/>
          <p:cNvSpPr/>
          <p:nvPr/>
        </p:nvSpPr>
        <p:spPr>
          <a:xfrm>
            <a:off x="3163908" y="1517904"/>
            <a:ext cx="438900" cy="438900"/>
          </a:xfrm>
          <a:prstGeom prst="ellipse">
            <a:avLst/>
          </a:prstGeom>
          <a:solidFill>
            <a:srgbClr val="E9FBF7"/>
          </a:solidFill>
          <a:ln w="12700" cap="flat" cmpd="sng">
            <a:solidFill>
              <a:srgbClr val="E9FB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h56ab5dad46e2c1f2_0_342"/>
          <p:cNvSpPr/>
          <p:nvPr/>
        </p:nvSpPr>
        <p:spPr>
          <a:xfrm>
            <a:off x="3237062" y="1600200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↗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h56ab5dad46e2c1f2_0_342"/>
          <p:cNvSpPr/>
          <p:nvPr/>
        </p:nvSpPr>
        <p:spPr>
          <a:xfrm>
            <a:off x="3749140" y="1554480"/>
            <a:ext cx="1691700" cy="329100"/>
          </a:xfrm>
          <a:prstGeom prst="roundRect">
            <a:avLst>
              <a:gd name="adj" fmla="val 16667"/>
            </a:avLst>
          </a:prstGeom>
          <a:solidFill>
            <a:srgbClr val="00B6AE"/>
          </a:solidFill>
          <a:ln w="12700" cap="flat" cmpd="sng">
            <a:solidFill>
              <a:srgbClr val="00B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h56ab5dad46e2c1f2_0_342"/>
          <p:cNvSpPr/>
          <p:nvPr/>
        </p:nvSpPr>
        <p:spPr>
          <a:xfrm>
            <a:off x="3877159" y="161848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Prototipo funcional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9" name="Google Shape;509;h56ab5dad46e2c1f2_0_342"/>
          <p:cNvCxnSpPr/>
          <p:nvPr/>
        </p:nvCxnSpPr>
        <p:spPr>
          <a:xfrm>
            <a:off x="3767428" y="2020824"/>
            <a:ext cx="384000" cy="0"/>
          </a:xfrm>
          <a:prstGeom prst="straightConnector1">
            <a:avLst/>
          </a:prstGeom>
          <a:noFill/>
          <a:ln w="1905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0" name="Google Shape;510;h56ab5dad46e2c1f2_0_342"/>
          <p:cNvSpPr/>
          <p:nvPr/>
        </p:nvSpPr>
        <p:spPr>
          <a:xfrm>
            <a:off x="3767428" y="2157984"/>
            <a:ext cx="1810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Versión web desplegada en Vercel con acceso diferenciado por rol y funcionalidades iniciales de seguimiento QA.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h56ab5dad46e2c1f2_0_342"/>
          <p:cNvSpPr/>
          <p:nvPr/>
        </p:nvSpPr>
        <p:spPr>
          <a:xfrm>
            <a:off x="365759" y="2826348"/>
            <a:ext cx="2432400" cy="132510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7B9D1">
                <a:alpha val="129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h56ab5dad46e2c1f2_0_342"/>
          <p:cNvSpPr/>
          <p:nvPr/>
        </p:nvSpPr>
        <p:spPr>
          <a:xfrm>
            <a:off x="512078" y="2990948"/>
            <a:ext cx="438900" cy="438900"/>
          </a:xfrm>
          <a:prstGeom prst="ellipse">
            <a:avLst/>
          </a:prstGeom>
          <a:solidFill>
            <a:srgbClr val="EAF8EF"/>
          </a:solidFill>
          <a:ln w="12700" cap="flat" cmpd="sng">
            <a:solidFill>
              <a:srgbClr val="EAF8E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h56ab5dad46e2c1f2_0_342"/>
          <p:cNvSpPr/>
          <p:nvPr/>
        </p:nvSpPr>
        <p:spPr>
          <a:xfrm>
            <a:off x="58523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6A34A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16A34A"/>
                </a:solidFill>
                <a:latin typeface="Arial"/>
                <a:ea typeface="Arial"/>
                <a:cs typeface="Arial"/>
                <a:sym typeface="Arial"/>
              </a:rPr>
              <a:t>⚙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h56ab5dad46e2c1f2_0_342"/>
          <p:cNvSpPr/>
          <p:nvPr/>
        </p:nvSpPr>
        <p:spPr>
          <a:xfrm>
            <a:off x="1097309" y="3027524"/>
            <a:ext cx="1280100" cy="329100"/>
          </a:xfrm>
          <a:prstGeom prst="roundRect">
            <a:avLst>
              <a:gd name="adj" fmla="val 16667"/>
            </a:avLst>
          </a:prstGeom>
          <a:solidFill>
            <a:srgbClr val="16A34A"/>
          </a:solidFill>
          <a:ln w="12700" cap="flat" cmpd="sng">
            <a:solidFill>
              <a:srgbClr val="16A34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h56ab5dad46e2c1f2_0_342"/>
          <p:cNvSpPr/>
          <p:nvPr/>
        </p:nvSpPr>
        <p:spPr>
          <a:xfrm>
            <a:off x="1225329" y="3091532"/>
            <a:ext cx="10515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en consolidación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6" name="Google Shape;516;h56ab5dad46e2c1f2_0_342"/>
          <p:cNvCxnSpPr/>
          <p:nvPr/>
        </p:nvCxnSpPr>
        <p:spPr>
          <a:xfrm>
            <a:off x="1115598" y="3493868"/>
            <a:ext cx="384000" cy="0"/>
          </a:xfrm>
          <a:prstGeom prst="straightConnector1">
            <a:avLst/>
          </a:prstGeom>
          <a:noFill/>
          <a:ln w="1905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7" name="Google Shape;517;h56ab5dad46e2c1f2_0_342"/>
          <p:cNvSpPr/>
          <p:nvPr/>
        </p:nvSpPr>
        <p:spPr>
          <a:xfrm>
            <a:off x="1115598" y="3631028"/>
            <a:ext cx="13989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Sprint 2 profundiza casos de uso, modelo 4+1 y modelo conceptual de datos.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h56ab5dad46e2c1f2_0_342"/>
          <p:cNvSpPr/>
          <p:nvPr/>
        </p:nvSpPr>
        <p:spPr>
          <a:xfrm>
            <a:off x="3017605" y="2826350"/>
            <a:ext cx="2743200" cy="1325100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1270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7B9D1">
                <a:alpha val="1294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h56ab5dad46e2c1f2_0_342"/>
          <p:cNvSpPr/>
          <p:nvPr/>
        </p:nvSpPr>
        <p:spPr>
          <a:xfrm>
            <a:off x="3163908" y="2990948"/>
            <a:ext cx="438900" cy="438900"/>
          </a:xfrm>
          <a:prstGeom prst="ellipse">
            <a:avLst/>
          </a:prstGeom>
          <a:solidFill>
            <a:srgbClr val="EAF4FF"/>
          </a:solidFill>
          <a:ln w="12700" cap="flat" cmpd="sng">
            <a:solidFill>
              <a:srgbClr val="EAF4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h56ab5dad46e2c1f2_0_342"/>
          <p:cNvSpPr/>
          <p:nvPr/>
        </p:nvSpPr>
        <p:spPr>
          <a:xfrm>
            <a:off x="3237062" y="3073244"/>
            <a:ext cx="2925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B63E5"/>
              </a:buClr>
              <a:buSzPts val="1550"/>
              <a:buFont typeface="Arial"/>
              <a:buNone/>
            </a:pPr>
            <a:r>
              <a:rPr lang="en-US" sz="1550" b="1" i="0" u="none" strike="noStrike" cap="none">
                <a:solidFill>
                  <a:srgbClr val="0B63E5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endParaRPr sz="15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h56ab5dad46e2c1f2_0_342"/>
          <p:cNvSpPr/>
          <p:nvPr/>
        </p:nvSpPr>
        <p:spPr>
          <a:xfrm>
            <a:off x="3749140" y="3027524"/>
            <a:ext cx="1691700" cy="329100"/>
          </a:xfrm>
          <a:prstGeom prst="roundRect">
            <a:avLst>
              <a:gd name="adj" fmla="val 16667"/>
            </a:avLst>
          </a:prstGeom>
          <a:solidFill>
            <a:srgbClr val="0B63E5"/>
          </a:solidFill>
          <a:ln w="12700" cap="flat" cmpd="sng">
            <a:solidFill>
              <a:srgbClr val="0B63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h56ab5dad46e2c1f2_0_342"/>
          <p:cNvSpPr/>
          <p:nvPr/>
        </p:nvSpPr>
        <p:spPr>
          <a:xfrm>
            <a:off x="3877159" y="3091532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Trazabilidad del diseño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3" name="Google Shape;523;h56ab5dad46e2c1f2_0_342"/>
          <p:cNvCxnSpPr/>
          <p:nvPr/>
        </p:nvCxnSpPr>
        <p:spPr>
          <a:xfrm>
            <a:off x="3767428" y="3493868"/>
            <a:ext cx="384000" cy="0"/>
          </a:xfrm>
          <a:prstGeom prst="straightConnector1">
            <a:avLst/>
          </a:prstGeom>
          <a:noFill/>
          <a:ln w="1905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4" name="Google Shape;524;h56ab5dad46e2c1f2_0_342"/>
          <p:cNvSpPr/>
          <p:nvPr/>
        </p:nvSpPr>
        <p:spPr>
          <a:xfrm>
            <a:off x="3767428" y="3631028"/>
            <a:ext cx="18105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5" tIns="125" rIns="125" bIns="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Los requerimientos funcionales comienzan a relacionarse con arquitectura, datos y evidencia técnica en Jira/GitHub.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h56ab5dad46e2c1f2_0_342"/>
          <p:cNvSpPr/>
          <p:nvPr/>
        </p:nvSpPr>
        <p:spPr>
          <a:xfrm>
            <a:off x="6126643" y="1454756"/>
            <a:ext cx="5577900" cy="3602700"/>
          </a:xfrm>
          <a:prstGeom prst="roundRect">
            <a:avLst>
              <a:gd name="adj" fmla="val 2538"/>
            </a:avLst>
          </a:prstGeom>
          <a:solidFill>
            <a:srgbClr val="ECFFFB"/>
          </a:solidFill>
          <a:ln w="15225" cap="flat" cmpd="sng">
            <a:solidFill>
              <a:srgbClr val="9CE7DF"/>
            </a:solidFill>
            <a:prstDash val="solid"/>
            <a:round/>
            <a:headEnd type="none" w="sm" len="sm"/>
            <a:tailEnd type="none" w="sm" len="sm"/>
          </a:ln>
          <a:effectLst>
            <a:outerShdw blurRad="12700" dist="50800" dir="2700000" algn="bl" rotWithShape="0">
              <a:srgbClr val="A7B9D1">
                <a:alpha val="1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6" name="Google Shape;526;h56ab5dad46e2c1f2_0_342"/>
          <p:cNvSpPr/>
          <p:nvPr/>
        </p:nvSpPr>
        <p:spPr>
          <a:xfrm>
            <a:off x="6364394" y="1536192"/>
            <a:ext cx="5084100" cy="429900"/>
          </a:xfrm>
          <a:prstGeom prst="roundRect">
            <a:avLst>
              <a:gd name="adj" fmla="val 17021"/>
            </a:avLst>
          </a:prstGeom>
          <a:solidFill>
            <a:srgbClr val="00B6AE"/>
          </a:solidFill>
          <a:ln w="12700" cap="flat" cmpd="sng">
            <a:solidFill>
              <a:srgbClr val="00B6A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h56ab5dad46e2c1f2_0_342"/>
          <p:cNvSpPr/>
          <p:nvPr/>
        </p:nvSpPr>
        <p:spPr>
          <a:xfrm>
            <a:off x="6565567" y="1627632"/>
            <a:ext cx="2926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Próximos pasos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h56ab5dad46e2c1f2_0_342"/>
          <p:cNvSpPr/>
          <p:nvPr/>
        </p:nvSpPr>
        <p:spPr>
          <a:xfrm>
            <a:off x="6419259" y="2185416"/>
            <a:ext cx="310800" cy="310800"/>
          </a:xfrm>
          <a:prstGeom prst="ellipse">
            <a:avLst/>
          </a:prstGeom>
          <a:solidFill>
            <a:srgbClr val="D9F6F4"/>
          </a:solidFill>
          <a:ln w="12700" cap="flat" cmpd="sng">
            <a:solidFill>
              <a:srgbClr val="D9F6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h56ab5dad46e2c1f2_0_342"/>
          <p:cNvSpPr/>
          <p:nvPr/>
        </p:nvSpPr>
        <p:spPr>
          <a:xfrm>
            <a:off x="6419259" y="224942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h56ab5dad46e2c1f2_0_342"/>
          <p:cNvSpPr/>
          <p:nvPr/>
        </p:nvSpPr>
        <p:spPr>
          <a:xfrm>
            <a:off x="6913048" y="221284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lang="en-US" sz="1040" b="1" dirty="0" err="1">
                <a:solidFill>
                  <a:srgbClr val="071A3A"/>
                </a:solidFill>
              </a:rPr>
              <a:t>Comenzar</a:t>
            </a:r>
            <a:r>
              <a:rPr lang="en-US" sz="1040" b="1" i="0" u="none" strike="noStrike" cap="none" dirty="0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40" b="1" i="0" u="none" strike="noStrike" cap="none" dirty="0" err="1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actividades</a:t>
            </a:r>
            <a:r>
              <a:rPr lang="en-US" sz="1040" b="1" i="0" u="none" strike="noStrike" cap="none" dirty="0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 Sprint </a:t>
            </a:r>
            <a:r>
              <a:rPr lang="en-US" sz="1040" b="1" dirty="0">
                <a:solidFill>
                  <a:srgbClr val="071A3A"/>
                </a:solidFill>
              </a:rPr>
              <a:t>3</a:t>
            </a:r>
            <a:endParaRPr sz="104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1" name="Google Shape;531;h56ab5dad46e2c1f2_0_342"/>
          <p:cNvCxnSpPr/>
          <p:nvPr/>
        </p:nvCxnSpPr>
        <p:spPr>
          <a:xfrm>
            <a:off x="6391826" y="2624328"/>
            <a:ext cx="4919400" cy="0"/>
          </a:xfrm>
          <a:prstGeom prst="straightConnector1">
            <a:avLst/>
          </a:prstGeom>
          <a:noFill/>
          <a:ln w="9525" cap="flat" cmpd="sng">
            <a:solidFill>
              <a:srgbClr val="BEE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2" name="Google Shape;532;h56ab5dad46e2c1f2_0_342"/>
          <p:cNvSpPr/>
          <p:nvPr/>
        </p:nvSpPr>
        <p:spPr>
          <a:xfrm>
            <a:off x="6419259" y="2660904"/>
            <a:ext cx="310800" cy="310800"/>
          </a:xfrm>
          <a:prstGeom prst="ellipse">
            <a:avLst/>
          </a:prstGeom>
          <a:solidFill>
            <a:srgbClr val="D9F6F4"/>
          </a:solidFill>
          <a:ln w="12700" cap="flat" cmpd="sng">
            <a:solidFill>
              <a:srgbClr val="D9F6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h56ab5dad46e2c1f2_0_342"/>
          <p:cNvSpPr/>
          <p:nvPr/>
        </p:nvSpPr>
        <p:spPr>
          <a:xfrm>
            <a:off x="6419259" y="2724912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h56ab5dad46e2c1f2_0_342"/>
          <p:cNvSpPr/>
          <p:nvPr/>
        </p:nvSpPr>
        <p:spPr>
          <a:xfrm>
            <a:off x="6913048" y="2688336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lang="en-US" sz="1040" b="1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Consolidar línea base arquitectónica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h56ab5dad46e2c1f2_0_342"/>
          <p:cNvCxnSpPr/>
          <p:nvPr/>
        </p:nvCxnSpPr>
        <p:spPr>
          <a:xfrm>
            <a:off x="6391826" y="3099816"/>
            <a:ext cx="4919400" cy="0"/>
          </a:xfrm>
          <a:prstGeom prst="straightConnector1">
            <a:avLst/>
          </a:prstGeom>
          <a:noFill/>
          <a:ln w="9525" cap="flat" cmpd="sng">
            <a:solidFill>
              <a:srgbClr val="BEE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6" name="Google Shape;536;h56ab5dad46e2c1f2_0_342"/>
          <p:cNvSpPr/>
          <p:nvPr/>
        </p:nvSpPr>
        <p:spPr>
          <a:xfrm>
            <a:off x="6419259" y="3136392"/>
            <a:ext cx="310800" cy="310800"/>
          </a:xfrm>
          <a:prstGeom prst="ellipse">
            <a:avLst/>
          </a:prstGeom>
          <a:solidFill>
            <a:srgbClr val="D9F6F4"/>
          </a:solidFill>
          <a:ln w="12700" cap="flat" cmpd="sng">
            <a:solidFill>
              <a:srgbClr val="D9F6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h56ab5dad46e2c1f2_0_342"/>
          <p:cNvSpPr/>
          <p:nvPr/>
        </p:nvSpPr>
        <p:spPr>
          <a:xfrm>
            <a:off x="6419259" y="3200400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h56ab5dad46e2c1f2_0_342"/>
          <p:cNvSpPr/>
          <p:nvPr/>
        </p:nvSpPr>
        <p:spPr>
          <a:xfrm>
            <a:off x="6913048" y="3163824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lang="en-US" sz="1040" b="1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Implementar backend Spring Boot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h56ab5dad46e2c1f2_0_342"/>
          <p:cNvCxnSpPr/>
          <p:nvPr/>
        </p:nvCxnSpPr>
        <p:spPr>
          <a:xfrm>
            <a:off x="6391826" y="3575304"/>
            <a:ext cx="4919400" cy="0"/>
          </a:xfrm>
          <a:prstGeom prst="straightConnector1">
            <a:avLst/>
          </a:prstGeom>
          <a:noFill/>
          <a:ln w="9525" cap="flat" cmpd="sng">
            <a:solidFill>
              <a:srgbClr val="BEE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0" name="Google Shape;540;h56ab5dad46e2c1f2_0_342"/>
          <p:cNvSpPr/>
          <p:nvPr/>
        </p:nvSpPr>
        <p:spPr>
          <a:xfrm>
            <a:off x="6419259" y="3611880"/>
            <a:ext cx="310800" cy="310800"/>
          </a:xfrm>
          <a:prstGeom prst="ellipse">
            <a:avLst/>
          </a:prstGeom>
          <a:solidFill>
            <a:srgbClr val="D9F6F4"/>
          </a:solidFill>
          <a:ln w="12700" cap="flat" cmpd="sng">
            <a:solidFill>
              <a:srgbClr val="D9F6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h56ab5dad46e2c1f2_0_342"/>
          <p:cNvSpPr/>
          <p:nvPr/>
        </p:nvSpPr>
        <p:spPr>
          <a:xfrm>
            <a:off x="6419259" y="3675888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56ab5dad46e2c1f2_0_342"/>
          <p:cNvSpPr/>
          <p:nvPr/>
        </p:nvSpPr>
        <p:spPr>
          <a:xfrm>
            <a:off x="6913048" y="3639312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lang="en-US" sz="1040" b="1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Incorporar persistencia PostgreSQL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h56ab5dad46e2c1f2_0_342"/>
          <p:cNvCxnSpPr/>
          <p:nvPr/>
        </p:nvCxnSpPr>
        <p:spPr>
          <a:xfrm>
            <a:off x="6391826" y="4050792"/>
            <a:ext cx="4919400" cy="0"/>
          </a:xfrm>
          <a:prstGeom prst="straightConnector1">
            <a:avLst/>
          </a:prstGeom>
          <a:noFill/>
          <a:ln w="9525" cap="flat" cmpd="sng">
            <a:solidFill>
              <a:srgbClr val="BEE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4" name="Google Shape;544;h56ab5dad46e2c1f2_0_342"/>
          <p:cNvSpPr/>
          <p:nvPr/>
        </p:nvSpPr>
        <p:spPr>
          <a:xfrm>
            <a:off x="6419259" y="4087368"/>
            <a:ext cx="310800" cy="310800"/>
          </a:xfrm>
          <a:prstGeom prst="ellipse">
            <a:avLst/>
          </a:prstGeom>
          <a:solidFill>
            <a:srgbClr val="D9F6F4"/>
          </a:solidFill>
          <a:ln w="12700" cap="flat" cmpd="sng">
            <a:solidFill>
              <a:srgbClr val="D9F6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h56ab5dad46e2c1f2_0_342"/>
          <p:cNvSpPr/>
          <p:nvPr/>
        </p:nvSpPr>
        <p:spPr>
          <a:xfrm>
            <a:off x="6419259" y="4151376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56ab5dad46e2c1f2_0_342"/>
          <p:cNvSpPr/>
          <p:nvPr/>
        </p:nvSpPr>
        <p:spPr>
          <a:xfrm>
            <a:off x="6913048" y="4114800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lang="en-US" sz="1040" b="1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Integrar frontend y fuentes Jira / CSV-JSON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7" name="Google Shape;547;h56ab5dad46e2c1f2_0_342"/>
          <p:cNvCxnSpPr/>
          <p:nvPr/>
        </p:nvCxnSpPr>
        <p:spPr>
          <a:xfrm>
            <a:off x="6391826" y="4526280"/>
            <a:ext cx="4919400" cy="0"/>
          </a:xfrm>
          <a:prstGeom prst="straightConnector1">
            <a:avLst/>
          </a:prstGeom>
          <a:noFill/>
          <a:ln w="9525" cap="flat" cmpd="sng">
            <a:solidFill>
              <a:srgbClr val="BEEBE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48" name="Google Shape;548;h56ab5dad46e2c1f2_0_342"/>
          <p:cNvSpPr/>
          <p:nvPr/>
        </p:nvSpPr>
        <p:spPr>
          <a:xfrm>
            <a:off x="6419259" y="4562856"/>
            <a:ext cx="310800" cy="310800"/>
          </a:xfrm>
          <a:prstGeom prst="ellipse">
            <a:avLst/>
          </a:prstGeom>
          <a:solidFill>
            <a:srgbClr val="D9F6F4"/>
          </a:solidFill>
          <a:ln w="12700" cap="flat" cmpd="sng">
            <a:solidFill>
              <a:srgbClr val="D9F6F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h56ab5dad46e2c1f2_0_342"/>
          <p:cNvSpPr/>
          <p:nvPr/>
        </p:nvSpPr>
        <p:spPr>
          <a:xfrm>
            <a:off x="6419259" y="4626864"/>
            <a:ext cx="310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B6AE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h56ab5dad46e2c1f2_0_342"/>
          <p:cNvSpPr/>
          <p:nvPr/>
        </p:nvSpPr>
        <p:spPr>
          <a:xfrm>
            <a:off x="6913048" y="4590288"/>
            <a:ext cx="42978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71A3A"/>
              </a:buClr>
              <a:buSzPts val="1040"/>
              <a:buFont typeface="Arial"/>
              <a:buNone/>
            </a:pPr>
            <a:r>
              <a:rPr lang="en-US" sz="1040" b="1" i="0" u="none" strike="noStrike" cap="none">
                <a:solidFill>
                  <a:srgbClr val="071A3A"/>
                </a:solidFill>
                <a:latin typeface="Arial"/>
                <a:ea typeface="Arial"/>
                <a:cs typeface="Arial"/>
                <a:sym typeface="Arial"/>
              </a:rPr>
              <a:t>Ejecutar pruebas y medición SIN/CON Quality360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h56ab5dad46e2c1f2_0_342"/>
          <p:cNvSpPr/>
          <p:nvPr/>
        </p:nvSpPr>
        <p:spPr>
          <a:xfrm>
            <a:off x="365770" y="5321808"/>
            <a:ext cx="11338800" cy="749700"/>
          </a:xfrm>
          <a:prstGeom prst="roundRect">
            <a:avLst>
              <a:gd name="adj" fmla="val 10976"/>
            </a:avLst>
          </a:prstGeom>
          <a:solidFill>
            <a:srgbClr val="EEF9FF"/>
          </a:solidFill>
          <a:ln w="1270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h56ab5dad46e2c1f2_0_342"/>
          <p:cNvSpPr/>
          <p:nvPr/>
        </p:nvSpPr>
        <p:spPr>
          <a:xfrm>
            <a:off x="859559" y="5477256"/>
            <a:ext cx="420600" cy="420600"/>
          </a:xfrm>
          <a:prstGeom prst="ellipse">
            <a:avLst/>
          </a:prstGeom>
          <a:solidFill>
            <a:srgbClr val="D9F0FF"/>
          </a:solidFill>
          <a:ln w="12700" cap="flat" cmpd="sng">
            <a:solidFill>
              <a:srgbClr val="D9F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h56ab5dad46e2c1f2_0_342"/>
          <p:cNvSpPr/>
          <p:nvPr/>
        </p:nvSpPr>
        <p:spPr>
          <a:xfrm>
            <a:off x="941857" y="5559552"/>
            <a:ext cx="265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4" name="Google Shape;554;h56ab5dad46e2c1f2_0_342"/>
          <p:cNvCxnSpPr/>
          <p:nvPr/>
        </p:nvCxnSpPr>
        <p:spPr>
          <a:xfrm>
            <a:off x="1481367" y="5449824"/>
            <a:ext cx="0" cy="475500"/>
          </a:xfrm>
          <a:prstGeom prst="straightConnector1">
            <a:avLst/>
          </a:prstGeom>
          <a:noFill/>
          <a:ln w="13950" cap="flat" cmpd="sng">
            <a:solidFill>
              <a:srgbClr val="CFE0F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5" name="Google Shape;555;h56ab5dad46e2c1f2_0_342"/>
          <p:cNvSpPr/>
          <p:nvPr/>
        </p:nvSpPr>
        <p:spPr>
          <a:xfrm>
            <a:off x="1719118" y="5504688"/>
            <a:ext cx="95100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8245A"/>
              </a:buClr>
              <a:buSzPts val="1520"/>
              <a:buFont typeface="Arial"/>
              <a:buNone/>
            </a:pPr>
            <a:r>
              <a:rPr lang="en-US" sz="1520" b="1" i="0" u="none" strike="noStrike" cap="none">
                <a:solidFill>
                  <a:srgbClr val="08245A"/>
                </a:solidFill>
                <a:latin typeface="Arial"/>
                <a:ea typeface="Arial"/>
                <a:cs typeface="Arial"/>
                <a:sym typeface="Arial"/>
              </a:rPr>
              <a:t>Quality360 evoluciona desde un prototipo funcional hacia una solución QA trazable, </a:t>
            </a:r>
            <a:r>
              <a:rPr lang="en-US" sz="1520" b="1" i="0" u="none" strike="noStrike" cap="none">
                <a:solidFill>
                  <a:srgbClr val="00B6AE"/>
                </a:solidFill>
                <a:latin typeface="Arial"/>
                <a:ea typeface="Arial"/>
                <a:cs typeface="Arial"/>
                <a:sym typeface="Arial"/>
              </a:rPr>
              <a:t>sustentada por una arquitectura definida y un modelo de datos preparado para la implementación.</a:t>
            </a:r>
            <a:endParaRPr sz="15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h56ab5dad46e2c1f2_0_342"/>
          <p:cNvSpPr/>
          <p:nvPr/>
        </p:nvSpPr>
        <p:spPr>
          <a:xfrm>
            <a:off x="365770" y="6537960"/>
            <a:ext cx="31089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Quality360 · Capstone Grupo 8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h56ab5dad46e2c1f2_0_342"/>
          <p:cNvSpPr/>
          <p:nvPr/>
        </p:nvSpPr>
        <p:spPr>
          <a:xfrm>
            <a:off x="9692898" y="6537960"/>
            <a:ext cx="2011800" cy="1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6758A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66758A"/>
                </a:solidFill>
                <a:latin typeface="Arial"/>
                <a:ea typeface="Arial"/>
                <a:cs typeface="Arial"/>
                <a:sym typeface="Arial"/>
              </a:rPr>
              <a:t>Cierre de avance · Sprint 2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896</Words>
  <Application>Microsoft Office PowerPoint</Application>
  <PresentationFormat>Panorámica</PresentationFormat>
  <Paragraphs>238</Paragraphs>
  <Slides>9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Play</vt:lpstr>
      <vt:lpstr>Arial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cp:lastModifiedBy>Renato Seguel</cp:lastModifiedBy>
  <cp:revision>2</cp:revision>
  <dcterms:created xsi:type="dcterms:W3CDTF">2026-09-24T23:02:06Z</dcterms:created>
  <dcterms:modified xsi:type="dcterms:W3CDTF">2026-10-09T21:57:59Z</dcterms:modified>
</cp:coreProperties>
</file>