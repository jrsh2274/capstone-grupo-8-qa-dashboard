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5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12192000"/>
  <p:embeddedFontLst>
    <p:embeddedFont>
      <p:font typeface="Play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gocs4n33rw7xJjHBwtbH9tKr70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lay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font" Target="fonts/Play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h5adcd0903d5cb179_3_0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" name="Google Shape;31;h5adcd0903d5cb179_3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h5adcd0903d5cb179_3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h5adcd0903d5cb179_4_8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" name="Google Shape;49;h5adcd0903d5cb179_4_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Agenda actualizada: creación de subagentes en Claude y configuración equivalente en Codex, nuevo acceso, roadmap desde Sprint 3 y seguimiento del Sprint 3. Los demás temas del índice se conservan.</a:t>
            </a:r>
            <a:endParaRPr/>
          </a:p>
        </p:txBody>
      </p:sp>
      <p:sp>
        <p:nvSpPr>
          <p:cNvPr id="50" name="Google Shape;50;h5adcd0903d5cb179_4_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h5adcd0903d5cb179_4_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h5adcd0903d5cb179_4_83:notes"/>
          <p:cNvSpPr txBox="1"/>
          <p:nvPr>
            <p:ph idx="1" type="body"/>
          </p:nvPr>
        </p:nvSpPr>
        <p:spPr>
          <a:xfrm>
            <a:off x="685800" y="4400667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5" name="Google Shape;95;h5adcd0903d5cb179_4_83:notes"/>
          <p:cNvSpPr txBox="1"/>
          <p:nvPr>
            <p:ph idx="12" type="sldNum"/>
          </p:nvPr>
        </p:nvSpPr>
        <p:spPr>
          <a:xfrm>
            <a:off x="3884613" y="8685445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:notes"/>
          <p:cNvSpPr/>
          <p:nvPr>
            <p:ph idx="2" type="sldImg"/>
          </p:nvPr>
        </p:nvSpPr>
        <p:spPr>
          <a:xfrm>
            <a:off x="-635000" y="914400"/>
            <a:ext cx="81280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1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57" name="Google Shape;157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h4e82ad7d59cc63f1_2_2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5" name="Google Shape;335;h4e82ad7d59cc63f1_2_2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6" name="Google Shape;336;h4e82ad7d59cc63f1_2_24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h4e82ad7d59cc63f1_2_2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0" name="Google Shape;370;h4e82ad7d59cc63f1_2_27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1" name="Google Shape;371;h4e82ad7d59cc63f1_2_27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h4e82ad7d59cc63f1_1_5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3" name="Google Shape;413;h4e82ad7d59cc63f1_1_5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h1af1b7e802a7d6b2_1_5:notes"/>
          <p:cNvSpPr/>
          <p:nvPr>
            <p:ph idx="2" type="sldImg"/>
          </p:nvPr>
        </p:nvSpPr>
        <p:spPr>
          <a:xfrm>
            <a:off x="-635000" y="914400"/>
            <a:ext cx="81280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8" name="Google Shape;418;h1af1b7e802a7d6b2_1_5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Captura real: docs/validacion/evidencia-login/login-1280x800-formulario.png, del portal local Quality360.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Frontend implementó el nuevo acceso y recuperación (E1-F01/F13). Seguridad/gateway cubre credenciales, sesión y recuperación (E1-B01/B11/B13). Backend mantiene perfil/rol activo (E1-B07/B10) y corrige la búsqueda paginada de cuentas Auth.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Supabase autentica; Organización resuelve rol, estado y ámbito vigentes. El gateway y los servicios aplican controles de acceso.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Publicación remota: https://github.com/MatMateDev/Quality360/commit/fe628b691c4aca62b1b7c26d7be9159372125449 (frontend)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https://github.com/MatMateDev/Quality360/commit/c4f728aa34ada9f4f02bbbf8e61b9c676424eab3 (seguridad)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https://github.com/MatMateDev/Quality360/commit/5c86862db80a105f7a456402ca1bf102910e046c (vinculación Auth)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Fuentes de diseño: apps/web/src/components/acceso/AccesoLayout.tsx; apps/web/src/pages/LoginPage.tsx; docs/entrega-capstone/fuentes/diagramas/actividad_login.puml y secuencia_inicio_qe.puml.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Alcance QA: el informe local docs/validacion/certificacion-login.md registra validación parcial. Posteriores commits corrigen problemas de sesión y paginación, pero no existe un informe posterior de recertificación integral. La recuperación en nube requiere verificar URL de redirección y envío de correo. Los checks de despliegue no sustituyen esa verificación.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h4e82ad7d59cc63f1_2_1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0" name="Google Shape;440;h4e82ad7d59cc63f1_2_1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Actualización basada en el corte de Jira del 16/10/2026: 17 SP totales; 8 SP por hacer, 6 SP en curso y 3 SP finalizados. El Burndown reproduce el comportamiento visible en Jira: línea de guía desde 8 SP, incremento de alcance hasta 17 SP y reducción actual a 14 SP restantes.</a:t>
            </a:r>
            <a:endParaRPr/>
          </a:p>
        </p:txBody>
      </p:sp>
      <p:sp>
        <p:nvSpPr>
          <p:cNvPr id="441" name="Google Shape;441;h4e82ad7d59cc63f1_2_1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h4e82ad7d59cc63f1_3_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5" name="Google Shape;555;h4e82ad7d59cc63f1_3_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56" name="Google Shape;556;h4e82ad7d59cc63f1_3_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h56ab5dad46e2c1f2_0_3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6" name="Google Shape;646;h56ab5dad46e2c1f2_0_342:notes"/>
          <p:cNvSpPr txBox="1"/>
          <p:nvPr>
            <p:ph idx="1" type="body"/>
          </p:nvPr>
        </p:nvSpPr>
        <p:spPr>
          <a:xfrm>
            <a:off x="685800" y="4400667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Conclusiones con corte 15/10/2026. El Sprint 3 sigue abierto según Jira: 13 SP de alcance, 3 en revisión, 10 por hacer y 0 terminados. No se trasladan los 11 SP ni el 100% del Sprint 2 al Sprint 3.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Avance publicado: modelo ER/lógico implementado y validado, nuevo portal de acceso, recuperación de contraseña y vinculación paginada de cuentas Auth. Fuentes: https://github.com/MatMateDev/Quality360/commit/7513342a1e510c7d7a6c027cb7456a640fab0c79 y https://github.com/MatMateDev/Quality360/commit/c9650e714308c7e154840b28b8f9acac477c62f1 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QA modelo: 43/43 pruebas específicas, docs/validacion/certificacion-modelo-datos.md. No se declara 178/178 ni una certificación global posterior del login.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Próximos pasos de cierre: recertificación integral de acceso/recuperación, configuración y validación del correo en nube, actualización del seguimiento Jira y pruebas de integración. El 23/10 corresponde al fin del Sprint 3 de la captura Jira. Los siguientes sprints conservan las fechas del roadmap original.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La base anterior E1–E3 tiene 40 HDU y 120 escenarios certificados localmente. Esa certificación histórica no acredita automáticamente los cambios publicados el 15/10.</a:t>
            </a:r>
            <a:endParaRPr/>
          </a:p>
        </p:txBody>
      </p:sp>
      <p:sp>
        <p:nvSpPr>
          <p:cNvPr id="647" name="Google Shape;647;h56ab5dad46e2c1f2_0_342:notes"/>
          <p:cNvSpPr txBox="1"/>
          <p:nvPr>
            <p:ph idx="12" type="sldNum"/>
          </p:nvPr>
        </p:nvSpPr>
        <p:spPr>
          <a:xfrm>
            <a:off x="3884613" y="8685445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360_MASTER">
  <p:cSld name="Q360_MASTER">
    <p:bg>
      <p:bgPr>
        <a:solidFill>
          <a:srgbClr val="F7FAFC"/>
        </a:solidFill>
      </p:bgPr>
    </p:bg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h4e82ad7d59cc63f1_2_342"/>
          <p:cNvSpPr/>
          <p:nvPr/>
        </p:nvSpPr>
        <p:spPr>
          <a:xfrm>
            <a:off x="0" y="0"/>
            <a:ext cx="12191700" cy="658500"/>
          </a:xfrm>
          <a:prstGeom prst="rect">
            <a:avLst/>
          </a:prstGeom>
          <a:solidFill>
            <a:srgbClr val="174A7E"/>
          </a:solidFill>
          <a:ln cap="flat" cmpd="sng" w="12700">
            <a:solidFill>
              <a:srgbClr val="174A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;h4e82ad7d59cc63f1_2_342"/>
          <p:cNvSpPr/>
          <p:nvPr/>
        </p:nvSpPr>
        <p:spPr>
          <a:xfrm>
            <a:off x="10561320" y="164592"/>
            <a:ext cx="1234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Quality360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" name="Google Shape;10;h4e82ad7d59cc63f1_2_342"/>
          <p:cNvCxnSpPr/>
          <p:nvPr/>
        </p:nvCxnSpPr>
        <p:spPr>
          <a:xfrm>
            <a:off x="685800" y="6565392"/>
            <a:ext cx="10835700" cy="0"/>
          </a:xfrm>
          <a:prstGeom prst="straightConnector1">
            <a:avLst/>
          </a:prstGeom>
          <a:noFill/>
          <a:ln cap="flat" cmpd="sng" w="12700">
            <a:solidFill>
              <a:srgbClr val="D7E2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h4e82ad7d59cc63f1_2_342"/>
          <p:cNvSpPr/>
          <p:nvPr/>
        </p:nvSpPr>
        <p:spPr>
          <a:xfrm>
            <a:off x="685800" y="6601968"/>
            <a:ext cx="41148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C8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C8F"/>
                </a:solidFill>
                <a:latin typeface="Arial"/>
                <a:ea typeface="Arial"/>
                <a:cs typeface="Arial"/>
                <a:sym typeface="Arial"/>
              </a:rPr>
              <a:t>Capstone · Seguimiento Sprint 3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h4e82ad7d59cc63f1_2_342"/>
          <p:cNvSpPr txBox="1"/>
          <p:nvPr>
            <p:ph idx="12" type="sldNum"/>
          </p:nvPr>
        </p:nvSpPr>
        <p:spPr>
          <a:xfrm>
            <a:off x="11356848" y="6583680"/>
            <a:ext cx="800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6B7C8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6B7C8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6B7C8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6B7C8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6B7C8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6B7C8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6B7C8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6B7C8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6B7C8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" type="blank">
  <p:cSld name="BLANK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6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6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6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bg>
      <p:bgPr>
        <a:solidFill>
          <a:srgbClr val="F6FAF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_Q360">
  <p:cSld name="MASTER_Q360">
    <p:bg>
      <p:bgPr>
        <a:solidFill>
          <a:srgbClr val="F6F8FA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h4e82ad7d59cc63f1_2_240"/>
          <p:cNvSpPr/>
          <p:nvPr/>
        </p:nvSpPr>
        <p:spPr>
          <a:xfrm>
            <a:off x="502920" y="201168"/>
            <a:ext cx="11109900" cy="749700"/>
          </a:xfrm>
          <a:prstGeom prst="rect">
            <a:avLst/>
          </a:prstGeom>
          <a:solidFill>
            <a:srgbClr val="1F4E79"/>
          </a:solidFill>
          <a:ln cap="flat" cmpd="sng" w="127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h4e82ad7d59cc63f1_2_240"/>
          <p:cNvSpPr/>
          <p:nvPr/>
        </p:nvSpPr>
        <p:spPr>
          <a:xfrm>
            <a:off x="795528" y="338328"/>
            <a:ext cx="7132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Play"/>
              <a:buNone/>
            </a:pPr>
            <a:r>
              <a:rPr b="1" i="0" lang="en-US" sz="23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Seguimiento del Sprint 3 y Burndown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h4e82ad7d59cc63f1_2_240"/>
          <p:cNvSpPr/>
          <p:nvPr/>
        </p:nvSpPr>
        <p:spPr>
          <a:xfrm>
            <a:off x="795528" y="658368"/>
            <a:ext cx="6583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Corte 16/10/2026 · Estado actualizado en Jira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360_MASTER">
  <p:cSld name="Q360_MASTER">
    <p:bg>
      <p:bgPr>
        <a:solidFill>
          <a:srgbClr val="F7FAFD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h4e82ad7d59cc63f1_3_122"/>
          <p:cNvSpPr/>
          <p:nvPr/>
        </p:nvSpPr>
        <p:spPr>
          <a:xfrm>
            <a:off x="0" y="0"/>
            <a:ext cx="12191700" cy="658500"/>
          </a:xfrm>
          <a:prstGeom prst="rect">
            <a:avLst/>
          </a:prstGeom>
          <a:solidFill>
            <a:srgbClr val="143E6D"/>
          </a:solidFill>
          <a:ln cap="flat" cmpd="sng" w="12700">
            <a:solidFill>
              <a:srgbClr val="143E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h4e82ad7d59cc63f1_3_122"/>
          <p:cNvSpPr/>
          <p:nvPr/>
        </p:nvSpPr>
        <p:spPr>
          <a:xfrm>
            <a:off x="0" y="658368"/>
            <a:ext cx="12191700" cy="45600"/>
          </a:xfrm>
          <a:prstGeom prst="rect">
            <a:avLst/>
          </a:prstGeom>
          <a:solidFill>
            <a:srgbClr val="24B7C6"/>
          </a:solidFill>
          <a:ln cap="flat" cmpd="sng" w="12700">
            <a:solidFill>
              <a:srgbClr val="24B7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h4e82ad7d59cc63f1_3_122"/>
          <p:cNvSpPr/>
          <p:nvPr/>
        </p:nvSpPr>
        <p:spPr>
          <a:xfrm>
            <a:off x="411480" y="6565392"/>
            <a:ext cx="2743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8794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7B8794"/>
                </a:solidFill>
                <a:latin typeface="Arial"/>
                <a:ea typeface="Arial"/>
                <a:cs typeface="Arial"/>
                <a:sym typeface="Arial"/>
              </a:rPr>
              <a:t>Quality360 · Capstone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h4e82ad7d59cc63f1_3_122"/>
          <p:cNvSpPr txBox="1"/>
          <p:nvPr>
            <p:ph idx="12" type="sldNum"/>
          </p:nvPr>
        </p:nvSpPr>
        <p:spPr>
          <a:xfrm>
            <a:off x="11475720" y="6510528"/>
            <a:ext cx="800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B879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B879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B879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B879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B879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B8794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B8794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B8794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B879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Layout" Target="../slideLayouts/slideLayout6.xml"/><Relationship Id="rId3" Type="http://schemas.openxmlformats.org/officeDocument/2006/relationships/slideLayout" Target="../slideLayouts/slideLayout7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4" r:id="rId1"/>
    <p:sldLayoutId id="2147483655" r:id="rId2"/>
    <p:sldLayoutId id="2147483656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h5adcd0903d5cb179_3_0"/>
          <p:cNvSpPr/>
          <p:nvPr/>
        </p:nvSpPr>
        <p:spPr>
          <a:xfrm>
            <a:off x="0" y="0"/>
            <a:ext cx="12191700" cy="82200"/>
          </a:xfrm>
          <a:prstGeom prst="rect">
            <a:avLst/>
          </a:prstGeom>
          <a:solidFill>
            <a:srgbClr val="20B8B4"/>
          </a:solidFill>
          <a:ln cap="flat" cmpd="sng" w="12700">
            <a:solidFill>
              <a:srgbClr val="20B8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h5adcd0903d5cb179_3_0"/>
          <p:cNvSpPr/>
          <p:nvPr/>
        </p:nvSpPr>
        <p:spPr>
          <a:xfrm>
            <a:off x="10515600" y="5577840"/>
            <a:ext cx="2286000" cy="228600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F4F8FB">
              <a:alpha val="0"/>
            </a:srgbClr>
          </a:solidFill>
          <a:ln cap="flat" cmpd="sng" w="25400">
            <a:solidFill>
              <a:srgbClr val="D6F3F1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h5adcd0903d5cb179_3_0"/>
          <p:cNvSpPr/>
          <p:nvPr/>
        </p:nvSpPr>
        <p:spPr>
          <a:xfrm>
            <a:off x="0" y="0"/>
            <a:ext cx="3840600" cy="6858000"/>
          </a:xfrm>
          <a:prstGeom prst="rect">
            <a:avLst/>
          </a:prstGeom>
          <a:solidFill>
            <a:srgbClr val="0B2559"/>
          </a:solidFill>
          <a:ln cap="flat" cmpd="sng" w="12700">
            <a:solidFill>
              <a:srgbClr val="0B25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h5adcd0903d5cb179_3_0"/>
          <p:cNvSpPr/>
          <p:nvPr/>
        </p:nvSpPr>
        <p:spPr>
          <a:xfrm>
            <a:off x="457200" y="548640"/>
            <a:ext cx="3017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E7F1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BFE7F1"/>
                </a:solidFill>
                <a:latin typeface="Arial"/>
                <a:ea typeface="Arial"/>
                <a:cs typeface="Arial"/>
                <a:sym typeface="Arial"/>
              </a:rPr>
              <a:t>CAPSTONE · GRUPO 8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h5adcd0903d5cb179_3_0"/>
          <p:cNvSpPr/>
          <p:nvPr/>
        </p:nvSpPr>
        <p:spPr>
          <a:xfrm>
            <a:off x="457200" y="1417320"/>
            <a:ext cx="2926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Arial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Quality360</a:t>
            </a:r>
            <a:endParaRPr b="0" i="0" sz="3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h5adcd0903d5cb179_3_0"/>
          <p:cNvSpPr/>
          <p:nvPr/>
        </p:nvSpPr>
        <p:spPr>
          <a:xfrm>
            <a:off x="457200" y="2130549"/>
            <a:ext cx="29262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Presentación de </a:t>
            </a:r>
            <a:r>
              <a:rPr b="1" lang="en-US" sz="1600">
                <a:solidFill>
                  <a:srgbClr val="FFFFFF"/>
                </a:solidFill>
              </a:rPr>
              <a:t>evaluación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h5adcd0903d5cb179_3_0"/>
          <p:cNvSpPr/>
          <p:nvPr/>
        </p:nvSpPr>
        <p:spPr>
          <a:xfrm>
            <a:off x="457200" y="2606040"/>
            <a:ext cx="27432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EBF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CEBFA"/>
                </a:solidFill>
                <a:latin typeface="Arial"/>
                <a:ea typeface="Arial"/>
                <a:cs typeface="Arial"/>
                <a:sym typeface="Arial"/>
              </a:rPr>
              <a:t>Sprint 3, modelo implementado, mejora en el portal de inicio (diseño y autenticación). </a:t>
            </a:r>
            <a:br>
              <a:rPr b="0" i="0" lang="en-US" sz="1200" u="none" cap="none" strike="noStrike">
                <a:solidFill>
                  <a:srgbClr val="DCEB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rgbClr val="DCEBFA"/>
                </a:solidFill>
              </a:rPr>
              <a:t>MVP</a:t>
            </a:r>
            <a:r>
              <a:rPr b="0" i="0" lang="en-US" sz="1200" u="none" cap="none" strike="noStrike">
                <a:solidFill>
                  <a:srgbClr val="DCEBFA"/>
                </a:solidFill>
                <a:latin typeface="Arial"/>
                <a:ea typeface="Arial"/>
                <a:cs typeface="Arial"/>
                <a:sym typeface="Arial"/>
              </a:rPr>
              <a:t> funcional.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h5adcd0903d5cb179_3_0"/>
          <p:cNvSpPr/>
          <p:nvPr/>
        </p:nvSpPr>
        <p:spPr>
          <a:xfrm>
            <a:off x="457200" y="3703320"/>
            <a:ext cx="1554600" cy="320100"/>
          </a:xfrm>
          <a:prstGeom prst="roundRect">
            <a:avLst>
              <a:gd fmla="val 22857" name="adj"/>
            </a:avLst>
          </a:prstGeom>
          <a:solidFill>
            <a:srgbClr val="176CCB"/>
          </a:solidFill>
          <a:ln cap="flat" cmpd="sng" w="12700">
            <a:solidFill>
              <a:srgbClr val="176C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h5adcd0903d5cb179_3_0"/>
          <p:cNvSpPr/>
          <p:nvPr/>
        </p:nvSpPr>
        <p:spPr>
          <a:xfrm>
            <a:off x="457200" y="3753612"/>
            <a:ext cx="15546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0"/>
              <a:buFont typeface="Arial"/>
              <a:buNone/>
            </a:pPr>
            <a:r>
              <a:rPr b="1" lang="en-US" sz="820">
                <a:solidFill>
                  <a:srgbClr val="FFFFFF"/>
                </a:solidFill>
              </a:rPr>
              <a:t>23</a:t>
            </a:r>
            <a:r>
              <a:rPr b="1" i="0" lang="en-US" sz="8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//10/2026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h5adcd0903d5cb179_3_0"/>
          <p:cNvSpPr/>
          <p:nvPr/>
        </p:nvSpPr>
        <p:spPr>
          <a:xfrm>
            <a:off x="457200" y="5440680"/>
            <a:ext cx="2926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6B93B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6B93B"/>
                </a:solidFill>
                <a:latin typeface="Arial"/>
                <a:ea typeface="Arial"/>
                <a:cs typeface="Arial"/>
                <a:sym typeface="Arial"/>
              </a:rPr>
              <a:t>José Seguel · Jonathan Choque · Matías Araos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logo_corporativo_quality360_en_azul_y_turquesa.png" id="44" name="Google Shape;44;h5adcd0903d5cb179_3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3520" y="960120"/>
            <a:ext cx="4389119" cy="4389119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h5adcd0903d5cb179_3_0"/>
          <p:cNvSpPr/>
          <p:nvPr/>
        </p:nvSpPr>
        <p:spPr>
          <a:xfrm>
            <a:off x="4800600" y="5715000"/>
            <a:ext cx="5394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6CCB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76CCB"/>
                </a:solidFill>
                <a:latin typeface="Arial"/>
                <a:ea typeface="Arial"/>
                <a:cs typeface="Arial"/>
                <a:sym typeface="Arial"/>
              </a:rPr>
              <a:t>CALIDAD · VISIBILIDAD · ANÁLISIS · IMPACTO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h5adcd0903d5cb179_3_0"/>
          <p:cNvSpPr/>
          <p:nvPr/>
        </p:nvSpPr>
        <p:spPr>
          <a:xfrm>
            <a:off x="11631168" y="6473952"/>
            <a:ext cx="2286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F8B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5D6F8B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h5adcd0903d5cb179_4_8"/>
          <p:cNvSpPr/>
          <p:nvPr/>
        </p:nvSpPr>
        <p:spPr>
          <a:xfrm>
            <a:off x="0" y="0"/>
            <a:ext cx="12191700" cy="82200"/>
          </a:xfrm>
          <a:prstGeom prst="rect">
            <a:avLst/>
          </a:prstGeom>
          <a:solidFill>
            <a:srgbClr val="20B8B4"/>
          </a:solidFill>
          <a:ln cap="flat" cmpd="sng" w="12700">
            <a:solidFill>
              <a:srgbClr val="20B8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h5adcd0903d5cb179_4_8"/>
          <p:cNvSpPr/>
          <p:nvPr/>
        </p:nvSpPr>
        <p:spPr>
          <a:xfrm>
            <a:off x="502920" y="6492240"/>
            <a:ext cx="36576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F8B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5D6F8B"/>
                </a:solidFill>
                <a:latin typeface="Arial"/>
                <a:ea typeface="Arial"/>
                <a:cs typeface="Arial"/>
                <a:sym typeface="Arial"/>
              </a:rPr>
              <a:t>Quality360 · Capstone Grupo 8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h5adcd0903d5cb179_4_8"/>
          <p:cNvSpPr/>
          <p:nvPr/>
        </p:nvSpPr>
        <p:spPr>
          <a:xfrm>
            <a:off x="530352" y="420624"/>
            <a:ext cx="9784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559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0B2559"/>
                </a:solidFill>
                <a:latin typeface="Play"/>
                <a:ea typeface="Play"/>
                <a:cs typeface="Play"/>
                <a:sym typeface="Play"/>
              </a:rPr>
              <a:t>Contenidos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h5adcd0903d5cb179_4_8"/>
          <p:cNvSpPr/>
          <p:nvPr/>
        </p:nvSpPr>
        <p:spPr>
          <a:xfrm>
            <a:off x="603377" y="4799796"/>
            <a:ext cx="2286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F8B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5D6F8B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h5adcd0903d5cb179_4_8"/>
          <p:cNvSpPr/>
          <p:nvPr/>
        </p:nvSpPr>
        <p:spPr>
          <a:xfrm>
            <a:off x="6034360" y="3939196"/>
            <a:ext cx="5120700" cy="960000"/>
          </a:xfrm>
          <a:prstGeom prst="roundRect">
            <a:avLst>
              <a:gd fmla="val 11429" name="adj"/>
            </a:avLst>
          </a:prstGeom>
          <a:solidFill>
            <a:srgbClr val="FFFFFF"/>
          </a:solidFill>
          <a:ln cap="flat" cmpd="sng" w="12700">
            <a:solidFill>
              <a:srgbClr val="D6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h5adcd0903d5cb179_4_8"/>
          <p:cNvSpPr/>
          <p:nvPr/>
        </p:nvSpPr>
        <p:spPr>
          <a:xfrm>
            <a:off x="6262960" y="4167796"/>
            <a:ext cx="384000" cy="384000"/>
          </a:xfrm>
          <a:prstGeom prst="ellipse">
            <a:avLst/>
          </a:prstGeom>
          <a:solidFill>
            <a:srgbClr val="88C846"/>
          </a:solidFill>
          <a:ln cap="flat" cmpd="sng" w="12700">
            <a:solidFill>
              <a:srgbClr val="88C8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h5adcd0903d5cb179_4_8"/>
          <p:cNvSpPr/>
          <p:nvPr/>
        </p:nvSpPr>
        <p:spPr>
          <a:xfrm>
            <a:off x="6262960" y="4186083"/>
            <a:ext cx="384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h5adcd0903d5cb179_4_8"/>
          <p:cNvSpPr/>
          <p:nvPr/>
        </p:nvSpPr>
        <p:spPr>
          <a:xfrm>
            <a:off x="6811599" y="4103788"/>
            <a:ext cx="4023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559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B2559"/>
                </a:solidFill>
                <a:latin typeface="Arial"/>
                <a:ea typeface="Arial"/>
                <a:cs typeface="Arial"/>
                <a:sym typeface="Arial"/>
              </a:rPr>
              <a:t>Portal de inicio y autenticación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h5adcd0903d5cb179_4_8"/>
          <p:cNvSpPr/>
          <p:nvPr/>
        </p:nvSpPr>
        <p:spPr>
          <a:xfrm>
            <a:off x="6811599" y="4378108"/>
            <a:ext cx="39777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F8B"/>
              </a:buClr>
              <a:buSzPts val="960"/>
              <a:buFont typeface="Arial"/>
              <a:buNone/>
            </a:pPr>
            <a:r>
              <a:rPr b="0" i="0" lang="en-US" sz="960" u="none" cap="none" strike="noStrike">
                <a:solidFill>
                  <a:srgbClr val="5D6F8B"/>
                </a:solidFill>
                <a:latin typeface="Arial"/>
                <a:ea typeface="Arial"/>
                <a:cs typeface="Arial"/>
                <a:sym typeface="Arial"/>
              </a:rPr>
              <a:t>Nuevo diseño, autenticación y trabajo por agente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h5adcd0903d5cb179_4_8"/>
          <p:cNvSpPr/>
          <p:nvPr/>
        </p:nvSpPr>
        <p:spPr>
          <a:xfrm>
            <a:off x="5828613" y="1170651"/>
            <a:ext cx="5120700" cy="960000"/>
          </a:xfrm>
          <a:prstGeom prst="roundRect">
            <a:avLst>
              <a:gd fmla="val 11429" name="adj"/>
            </a:avLst>
          </a:prstGeom>
          <a:solidFill>
            <a:srgbClr val="FFFFFF"/>
          </a:solidFill>
          <a:ln cap="flat" cmpd="sng" w="12700">
            <a:solidFill>
              <a:srgbClr val="D6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h5adcd0903d5cb179_4_8"/>
          <p:cNvSpPr/>
          <p:nvPr/>
        </p:nvSpPr>
        <p:spPr>
          <a:xfrm>
            <a:off x="6057213" y="1399251"/>
            <a:ext cx="384000" cy="384000"/>
          </a:xfrm>
          <a:prstGeom prst="ellipse">
            <a:avLst/>
          </a:prstGeom>
          <a:solidFill>
            <a:srgbClr val="88C846"/>
          </a:solidFill>
          <a:ln cap="flat" cmpd="sng" w="12700">
            <a:solidFill>
              <a:srgbClr val="88C8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h5adcd0903d5cb179_4_8"/>
          <p:cNvSpPr/>
          <p:nvPr/>
        </p:nvSpPr>
        <p:spPr>
          <a:xfrm>
            <a:off x="6057213" y="1417539"/>
            <a:ext cx="384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h5adcd0903d5cb179_4_8"/>
          <p:cNvSpPr/>
          <p:nvPr/>
        </p:nvSpPr>
        <p:spPr>
          <a:xfrm>
            <a:off x="6605852" y="1335243"/>
            <a:ext cx="4023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559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B2559"/>
                </a:solidFill>
                <a:latin typeface="Arial"/>
                <a:ea typeface="Arial"/>
                <a:cs typeface="Arial"/>
                <a:sym typeface="Arial"/>
              </a:rPr>
              <a:t>Roadmap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h5adcd0903d5cb179_4_8"/>
          <p:cNvSpPr/>
          <p:nvPr/>
        </p:nvSpPr>
        <p:spPr>
          <a:xfrm>
            <a:off x="6605852" y="1609563"/>
            <a:ext cx="39777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F8B"/>
              </a:buClr>
              <a:buSzPts val="960"/>
              <a:buFont typeface="Arial"/>
              <a:buNone/>
            </a:pPr>
            <a:r>
              <a:rPr b="0" i="0" lang="en-US" sz="960" u="none" cap="none" strike="noStrike">
                <a:solidFill>
                  <a:srgbClr val="5D6F8B"/>
                </a:solidFill>
                <a:latin typeface="Arial"/>
                <a:ea typeface="Arial"/>
                <a:cs typeface="Arial"/>
                <a:sym typeface="Arial"/>
              </a:rPr>
              <a:t>Seguimiento semanal y detalle de cada Sprint 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h5adcd0903d5cb179_4_8"/>
          <p:cNvSpPr/>
          <p:nvPr/>
        </p:nvSpPr>
        <p:spPr>
          <a:xfrm>
            <a:off x="623126" y="3936487"/>
            <a:ext cx="5120700" cy="960000"/>
          </a:xfrm>
          <a:prstGeom prst="roundRect">
            <a:avLst>
              <a:gd fmla="val 11429" name="adj"/>
            </a:avLst>
          </a:prstGeom>
          <a:solidFill>
            <a:srgbClr val="FFFFFF"/>
          </a:solidFill>
          <a:ln cap="flat" cmpd="sng" w="12700">
            <a:solidFill>
              <a:srgbClr val="D6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h5adcd0903d5cb179_4_8"/>
          <p:cNvSpPr/>
          <p:nvPr/>
        </p:nvSpPr>
        <p:spPr>
          <a:xfrm>
            <a:off x="851725" y="4165087"/>
            <a:ext cx="384000" cy="384000"/>
          </a:xfrm>
          <a:prstGeom prst="ellipse">
            <a:avLst/>
          </a:prstGeom>
          <a:solidFill>
            <a:srgbClr val="88C846"/>
          </a:solidFill>
          <a:ln cap="flat" cmpd="sng" w="12700">
            <a:solidFill>
              <a:srgbClr val="88C8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h5adcd0903d5cb179_4_8"/>
          <p:cNvSpPr/>
          <p:nvPr/>
        </p:nvSpPr>
        <p:spPr>
          <a:xfrm>
            <a:off x="851725" y="4183375"/>
            <a:ext cx="384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h5adcd0903d5cb179_4_8"/>
          <p:cNvSpPr/>
          <p:nvPr/>
        </p:nvSpPr>
        <p:spPr>
          <a:xfrm>
            <a:off x="1400365" y="4101079"/>
            <a:ext cx="4023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559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B2559"/>
                </a:solidFill>
                <a:latin typeface="Arial"/>
                <a:ea typeface="Arial"/>
                <a:cs typeface="Arial"/>
                <a:sym typeface="Arial"/>
              </a:rPr>
              <a:t>Burndown y estado actual del proyecto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h5adcd0903d5cb179_4_8"/>
          <p:cNvSpPr/>
          <p:nvPr/>
        </p:nvSpPr>
        <p:spPr>
          <a:xfrm>
            <a:off x="1400365" y="4375399"/>
            <a:ext cx="39777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F8B"/>
              </a:buClr>
              <a:buSzPts val="960"/>
              <a:buFont typeface="Arial"/>
              <a:buNone/>
            </a:pPr>
            <a:r>
              <a:rPr b="0" i="0" lang="en-US" sz="960" u="none" cap="none" strike="noStrike">
                <a:solidFill>
                  <a:srgbClr val="5D6F8B"/>
                </a:solidFill>
                <a:latin typeface="Arial"/>
                <a:ea typeface="Arial"/>
                <a:cs typeface="Arial"/>
                <a:sym typeface="Arial"/>
              </a:rPr>
              <a:t>Seguimiento del Sprint 3 en curso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h5adcd0903d5cb179_4_8"/>
          <p:cNvSpPr/>
          <p:nvPr/>
        </p:nvSpPr>
        <p:spPr>
          <a:xfrm>
            <a:off x="530338" y="1210508"/>
            <a:ext cx="5120700" cy="960000"/>
          </a:xfrm>
          <a:prstGeom prst="roundRect">
            <a:avLst>
              <a:gd fmla="val 11429" name="adj"/>
            </a:avLst>
          </a:prstGeom>
          <a:solidFill>
            <a:srgbClr val="FFFFFF"/>
          </a:solidFill>
          <a:ln cap="flat" cmpd="sng" w="12700">
            <a:solidFill>
              <a:srgbClr val="D6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h5adcd0903d5cb179_4_8"/>
          <p:cNvSpPr/>
          <p:nvPr/>
        </p:nvSpPr>
        <p:spPr>
          <a:xfrm>
            <a:off x="758938" y="1439108"/>
            <a:ext cx="384000" cy="384000"/>
          </a:xfrm>
          <a:prstGeom prst="ellipse">
            <a:avLst/>
          </a:prstGeom>
          <a:solidFill>
            <a:srgbClr val="88C846"/>
          </a:solidFill>
          <a:ln cap="flat" cmpd="sng" w="12700">
            <a:solidFill>
              <a:srgbClr val="88C8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h5adcd0903d5cb179_4_8"/>
          <p:cNvSpPr/>
          <p:nvPr/>
        </p:nvSpPr>
        <p:spPr>
          <a:xfrm>
            <a:off x="758938" y="1457395"/>
            <a:ext cx="384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h5adcd0903d5cb179_4_8"/>
          <p:cNvSpPr/>
          <p:nvPr/>
        </p:nvSpPr>
        <p:spPr>
          <a:xfrm>
            <a:off x="1307578" y="1375100"/>
            <a:ext cx="4023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559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B2559"/>
                </a:solidFill>
                <a:latin typeface="Arial"/>
                <a:ea typeface="Arial"/>
                <a:cs typeface="Arial"/>
                <a:sym typeface="Arial"/>
              </a:rPr>
              <a:t>Cliente Objetivo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h5adcd0903d5cb179_4_8"/>
          <p:cNvSpPr/>
          <p:nvPr/>
        </p:nvSpPr>
        <p:spPr>
          <a:xfrm>
            <a:off x="1307578" y="1649420"/>
            <a:ext cx="39777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F8B"/>
              </a:buClr>
              <a:buSzPts val="960"/>
              <a:buFont typeface="Arial"/>
              <a:buNone/>
            </a:pPr>
            <a:r>
              <a:rPr b="0" i="0" lang="en-US" sz="960" u="none" cap="none" strike="noStrike">
                <a:solidFill>
                  <a:srgbClr val="5D6F8B"/>
                </a:solidFill>
                <a:latin typeface="Arial"/>
                <a:ea typeface="Arial"/>
                <a:cs typeface="Arial"/>
                <a:sym typeface="Arial"/>
              </a:rPr>
              <a:t>Identificación del cliente,usuarios clave y necesidades.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h5adcd0903d5cb179_4_8"/>
          <p:cNvSpPr/>
          <p:nvPr/>
        </p:nvSpPr>
        <p:spPr>
          <a:xfrm>
            <a:off x="623124" y="5214363"/>
            <a:ext cx="5120700" cy="960000"/>
          </a:xfrm>
          <a:prstGeom prst="roundRect">
            <a:avLst>
              <a:gd fmla="val 11429" name="adj"/>
            </a:avLst>
          </a:prstGeom>
          <a:solidFill>
            <a:srgbClr val="FFFFFF"/>
          </a:solidFill>
          <a:ln cap="flat" cmpd="sng" w="12700">
            <a:solidFill>
              <a:srgbClr val="D6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h5adcd0903d5cb179_4_8"/>
          <p:cNvSpPr/>
          <p:nvPr/>
        </p:nvSpPr>
        <p:spPr>
          <a:xfrm>
            <a:off x="851724" y="5442963"/>
            <a:ext cx="384000" cy="384000"/>
          </a:xfrm>
          <a:prstGeom prst="ellipse">
            <a:avLst/>
          </a:prstGeom>
          <a:solidFill>
            <a:srgbClr val="88C846"/>
          </a:solidFill>
          <a:ln cap="flat" cmpd="sng" w="12700">
            <a:solidFill>
              <a:srgbClr val="88C8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h5adcd0903d5cb179_4_8"/>
          <p:cNvSpPr/>
          <p:nvPr/>
        </p:nvSpPr>
        <p:spPr>
          <a:xfrm>
            <a:off x="851724" y="5461251"/>
            <a:ext cx="384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h5adcd0903d5cb179_4_8"/>
          <p:cNvSpPr/>
          <p:nvPr/>
        </p:nvSpPr>
        <p:spPr>
          <a:xfrm>
            <a:off x="1400364" y="5378955"/>
            <a:ext cx="4023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559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B2559"/>
                </a:solidFill>
                <a:latin typeface="Arial"/>
                <a:ea typeface="Arial"/>
                <a:cs typeface="Arial"/>
                <a:sym typeface="Arial"/>
              </a:rPr>
              <a:t>Conclusiones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h5adcd0903d5cb179_4_8"/>
          <p:cNvSpPr/>
          <p:nvPr/>
        </p:nvSpPr>
        <p:spPr>
          <a:xfrm>
            <a:off x="1400364" y="5653275"/>
            <a:ext cx="39777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F8B"/>
              </a:buClr>
              <a:buSzPts val="960"/>
              <a:buFont typeface="Arial"/>
              <a:buNone/>
            </a:pPr>
            <a:r>
              <a:rPr b="0" i="0" lang="en-US" sz="960" u="none" cap="none" strike="noStrike">
                <a:solidFill>
                  <a:srgbClr val="5D6F8B"/>
                </a:solidFill>
                <a:latin typeface="Arial"/>
                <a:ea typeface="Arial"/>
                <a:cs typeface="Arial"/>
                <a:sym typeface="Arial"/>
              </a:rPr>
              <a:t>Valor del proyecto, avances y próximas actividades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h5adcd0903d5cb179_4_8"/>
          <p:cNvSpPr/>
          <p:nvPr/>
        </p:nvSpPr>
        <p:spPr>
          <a:xfrm>
            <a:off x="5974638" y="2660075"/>
            <a:ext cx="5120700" cy="960000"/>
          </a:xfrm>
          <a:prstGeom prst="roundRect">
            <a:avLst>
              <a:gd fmla="val 11429" name="adj"/>
            </a:avLst>
          </a:prstGeom>
          <a:solidFill>
            <a:srgbClr val="FFFFFF"/>
          </a:solidFill>
          <a:ln cap="flat" cmpd="sng" w="12700">
            <a:solidFill>
              <a:srgbClr val="D6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h5adcd0903d5cb179_4_8"/>
          <p:cNvSpPr/>
          <p:nvPr/>
        </p:nvSpPr>
        <p:spPr>
          <a:xfrm>
            <a:off x="6203238" y="2888675"/>
            <a:ext cx="384000" cy="384000"/>
          </a:xfrm>
          <a:prstGeom prst="ellipse">
            <a:avLst/>
          </a:prstGeom>
          <a:solidFill>
            <a:srgbClr val="88C846"/>
          </a:solidFill>
          <a:ln cap="flat" cmpd="sng" w="12700">
            <a:solidFill>
              <a:srgbClr val="88C8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h5adcd0903d5cb179_4_8"/>
          <p:cNvSpPr/>
          <p:nvPr/>
        </p:nvSpPr>
        <p:spPr>
          <a:xfrm>
            <a:off x="6203238" y="2906963"/>
            <a:ext cx="384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h5adcd0903d5cb179_4_8"/>
          <p:cNvSpPr/>
          <p:nvPr/>
        </p:nvSpPr>
        <p:spPr>
          <a:xfrm>
            <a:off x="6751877" y="2824667"/>
            <a:ext cx="4023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559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B2559"/>
                </a:solidFill>
                <a:latin typeface="Arial"/>
                <a:ea typeface="Arial"/>
                <a:cs typeface="Arial"/>
                <a:sym typeface="Arial"/>
              </a:rPr>
              <a:t>Subagentes en Claude y Codex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h5adcd0903d5cb179_4_8"/>
          <p:cNvSpPr/>
          <p:nvPr/>
        </p:nvSpPr>
        <p:spPr>
          <a:xfrm>
            <a:off x="6751877" y="3098987"/>
            <a:ext cx="39777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"/>
              <a:buFont typeface="Arial"/>
              <a:buNone/>
            </a:pPr>
            <a:r>
              <a:rPr b="0" i="0" lang="en-US" sz="960" u="none" cap="none" strike="noStrike">
                <a:solidFill>
                  <a:srgbClr val="5D6F8B"/>
                </a:solidFill>
                <a:latin typeface="Arial"/>
                <a:ea typeface="Arial"/>
                <a:cs typeface="Arial"/>
                <a:sym typeface="Arial"/>
              </a:rPr>
              <a:t>Creación, skills y responsabilidades según HDU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logo_corporativo_quality360_en_azul_y_turquesa.png" id="86" name="Google Shape;86;h5adcd0903d5cb179_4_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28638" y="335951"/>
            <a:ext cx="957057" cy="766557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h5adcd0903d5cb179_4_8"/>
          <p:cNvSpPr/>
          <p:nvPr/>
        </p:nvSpPr>
        <p:spPr>
          <a:xfrm>
            <a:off x="603363" y="2677408"/>
            <a:ext cx="5120700" cy="960000"/>
          </a:xfrm>
          <a:prstGeom prst="roundRect">
            <a:avLst>
              <a:gd fmla="val 11429" name="adj"/>
            </a:avLst>
          </a:prstGeom>
          <a:solidFill>
            <a:srgbClr val="FFFFFF"/>
          </a:solidFill>
          <a:ln cap="flat" cmpd="sng" w="12700">
            <a:solidFill>
              <a:srgbClr val="D6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h5adcd0903d5cb179_4_8"/>
          <p:cNvSpPr/>
          <p:nvPr/>
        </p:nvSpPr>
        <p:spPr>
          <a:xfrm>
            <a:off x="831963" y="2906008"/>
            <a:ext cx="384000" cy="384000"/>
          </a:xfrm>
          <a:prstGeom prst="ellipse">
            <a:avLst/>
          </a:prstGeom>
          <a:solidFill>
            <a:srgbClr val="88C846"/>
          </a:solidFill>
          <a:ln cap="flat" cmpd="sng" w="12700">
            <a:solidFill>
              <a:srgbClr val="88C8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h5adcd0903d5cb179_4_8"/>
          <p:cNvSpPr/>
          <p:nvPr/>
        </p:nvSpPr>
        <p:spPr>
          <a:xfrm>
            <a:off x="831963" y="2924295"/>
            <a:ext cx="384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h5adcd0903d5cb179_4_8"/>
          <p:cNvSpPr/>
          <p:nvPr/>
        </p:nvSpPr>
        <p:spPr>
          <a:xfrm>
            <a:off x="1380603" y="2842000"/>
            <a:ext cx="4023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559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B2559"/>
                </a:solidFill>
                <a:latin typeface="Arial"/>
                <a:ea typeface="Arial"/>
                <a:cs typeface="Arial"/>
                <a:sym typeface="Arial"/>
              </a:rPr>
              <a:t>Modelo de datos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h5adcd0903d5cb179_4_8"/>
          <p:cNvSpPr/>
          <p:nvPr/>
        </p:nvSpPr>
        <p:spPr>
          <a:xfrm>
            <a:off x="1380603" y="3116320"/>
            <a:ext cx="39777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F8B"/>
              </a:buClr>
              <a:buSzPts val="960"/>
              <a:buFont typeface="Arial"/>
              <a:buNone/>
            </a:pPr>
            <a:r>
              <a:rPr b="0" i="0" lang="en-US" sz="9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Modelo ER e integracion en PostgreSQL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h5adcd0903d5cb179_4_83"/>
          <p:cNvSpPr/>
          <p:nvPr/>
        </p:nvSpPr>
        <p:spPr>
          <a:xfrm>
            <a:off x="0" y="0"/>
            <a:ext cx="12192000" cy="73200"/>
          </a:xfrm>
          <a:prstGeom prst="rect">
            <a:avLst/>
          </a:prstGeom>
          <a:solidFill>
            <a:srgbClr val="18BDB7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logo_corporativo_quality360_en_azul_y_turquesa.png" id="98" name="Google Shape;98;h5adcd0903d5cb179_4_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28638" y="335951"/>
            <a:ext cx="957057" cy="766557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h5adcd0903d5cb179_4_83"/>
          <p:cNvSpPr/>
          <p:nvPr/>
        </p:nvSpPr>
        <p:spPr>
          <a:xfrm>
            <a:off x="502933" y="438912"/>
            <a:ext cx="7041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B49"/>
              </a:buClr>
              <a:buSzPts val="3200"/>
              <a:buFont typeface="Play"/>
              <a:buNone/>
            </a:pPr>
            <a:r>
              <a:rPr b="1" i="0" lang="en-US" sz="3200" u="none" cap="none" strike="noStrike">
                <a:solidFill>
                  <a:srgbClr val="061B49"/>
                </a:solidFill>
                <a:latin typeface="Play"/>
                <a:ea typeface="Play"/>
                <a:cs typeface="Play"/>
                <a:sym typeface="Play"/>
              </a:rPr>
              <a:t>Cliente objetivo de Quality360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h5adcd0903d5cb179_4_83"/>
          <p:cNvSpPr/>
          <p:nvPr/>
        </p:nvSpPr>
        <p:spPr>
          <a:xfrm>
            <a:off x="530366" y="941832"/>
            <a:ext cx="8138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627A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0627A"/>
                </a:solidFill>
                <a:latin typeface="Arial"/>
                <a:ea typeface="Arial"/>
                <a:cs typeface="Arial"/>
                <a:sym typeface="Arial"/>
              </a:rPr>
              <a:t>Identificación del cliente, usuarios clave y necesidad que resuelve la plataforma.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1" name="Google Shape;101;h5adcd0903d5cb179_4_83"/>
          <p:cNvCxnSpPr/>
          <p:nvPr/>
        </p:nvCxnSpPr>
        <p:spPr>
          <a:xfrm>
            <a:off x="530366" y="1325880"/>
            <a:ext cx="1005900" cy="0"/>
          </a:xfrm>
          <a:prstGeom prst="straightConnector1">
            <a:avLst/>
          </a:prstGeom>
          <a:noFill/>
          <a:ln cap="flat" cmpd="sng" w="38100">
            <a:solidFill>
              <a:srgbClr val="18BDB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2" name="Google Shape;102;h5adcd0903d5cb179_4_83"/>
          <p:cNvSpPr/>
          <p:nvPr/>
        </p:nvSpPr>
        <p:spPr>
          <a:xfrm>
            <a:off x="502933" y="1600200"/>
            <a:ext cx="3703200" cy="3520500"/>
          </a:xfrm>
          <a:prstGeom prst="roundRect">
            <a:avLst>
              <a:gd fmla="val 3117" name="adj"/>
            </a:avLst>
          </a:prstGeom>
          <a:solidFill>
            <a:srgbClr val="FFFFFF"/>
          </a:solidFill>
          <a:ln cap="flat" cmpd="sng" w="12700">
            <a:solidFill>
              <a:srgbClr val="CFE1F2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D8E6F3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h5adcd0903d5cb179_4_83"/>
          <p:cNvSpPr/>
          <p:nvPr/>
        </p:nvSpPr>
        <p:spPr>
          <a:xfrm>
            <a:off x="777261" y="1874520"/>
            <a:ext cx="1691700" cy="320100"/>
          </a:xfrm>
          <a:prstGeom prst="roundRect">
            <a:avLst>
              <a:gd fmla="val 22857" name="adj"/>
            </a:avLst>
          </a:prstGeom>
          <a:solidFill>
            <a:srgbClr val="1266D6"/>
          </a:solidFill>
          <a:ln cap="flat" cmpd="sng" w="12700">
            <a:solidFill>
              <a:srgbClr val="1266D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h5adcd0903d5cb179_4_83"/>
          <p:cNvSpPr/>
          <p:nvPr/>
        </p:nvSpPr>
        <p:spPr>
          <a:xfrm>
            <a:off x="777261" y="1883664"/>
            <a:ext cx="16917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CLIENTE OBJETIVO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h5adcd0903d5cb179_4_83"/>
          <p:cNvSpPr/>
          <p:nvPr/>
        </p:nvSpPr>
        <p:spPr>
          <a:xfrm>
            <a:off x="777261" y="2359152"/>
            <a:ext cx="567000" cy="567000"/>
          </a:xfrm>
          <a:prstGeom prst="ellipse">
            <a:avLst/>
          </a:prstGeom>
          <a:solidFill>
            <a:srgbClr val="EEF6FF"/>
          </a:solidFill>
          <a:ln cap="flat" cmpd="sng" w="12700">
            <a:solidFill>
              <a:srgbClr val="EEF6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h5adcd0903d5cb179_4_83"/>
          <p:cNvSpPr/>
          <p:nvPr/>
        </p:nvSpPr>
        <p:spPr>
          <a:xfrm>
            <a:off x="777261" y="2368296"/>
            <a:ext cx="567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66D6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266D6"/>
                </a:solidFill>
                <a:latin typeface="Arial"/>
                <a:ea typeface="Arial"/>
                <a:cs typeface="Arial"/>
                <a:sym typeface="Arial"/>
              </a:rPr>
              <a:t>🏢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h5adcd0903d5cb179_4_83"/>
          <p:cNvSpPr/>
          <p:nvPr/>
        </p:nvSpPr>
        <p:spPr>
          <a:xfrm>
            <a:off x="1444791" y="2331720"/>
            <a:ext cx="2395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B49"/>
              </a:buClr>
              <a:buSzPts val="1800"/>
              <a:buFont typeface="Arial"/>
              <a:buNone/>
            </a:pPr>
            <a:r>
              <a:rPr b="1" i="0" lang="en-US" sz="1500" u="none" cap="none" strike="noStrike">
                <a:solidFill>
                  <a:srgbClr val="061B49"/>
                </a:solidFill>
                <a:latin typeface="Arial"/>
                <a:ea typeface="Arial"/>
                <a:cs typeface="Arial"/>
                <a:sym typeface="Arial"/>
              </a:rPr>
              <a:t>Área de Aseguramiento de Calidad (QA)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h5adcd0903d5cb179_4_83"/>
          <p:cNvSpPr/>
          <p:nvPr/>
        </p:nvSpPr>
        <p:spPr>
          <a:xfrm>
            <a:off x="777261" y="2971800"/>
            <a:ext cx="29262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627A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50627A"/>
                </a:solidFill>
                <a:latin typeface="Arial"/>
                <a:ea typeface="Arial"/>
                <a:cs typeface="Arial"/>
                <a:sym typeface="Arial"/>
              </a:rPr>
              <a:t>Organización del sector financiero con equipos ágiles de certificación de software.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9" name="Google Shape;109;h5adcd0903d5cb179_4_83"/>
          <p:cNvCxnSpPr/>
          <p:nvPr/>
        </p:nvCxnSpPr>
        <p:spPr>
          <a:xfrm>
            <a:off x="777261" y="3593592"/>
            <a:ext cx="2971800" cy="0"/>
          </a:xfrm>
          <a:prstGeom prst="straightConnector1">
            <a:avLst/>
          </a:prstGeom>
          <a:noFill/>
          <a:ln cap="flat" cmpd="sng" w="12700">
            <a:solidFill>
              <a:srgbClr val="DDEAF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0" name="Google Shape;110;h5adcd0903d5cb179_4_83"/>
          <p:cNvSpPr/>
          <p:nvPr/>
        </p:nvSpPr>
        <p:spPr>
          <a:xfrm>
            <a:off x="777261" y="3767328"/>
            <a:ext cx="292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627A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50627A"/>
                </a:solidFill>
                <a:latin typeface="Arial"/>
                <a:ea typeface="Arial"/>
                <a:cs typeface="Arial"/>
                <a:sym typeface="Arial"/>
              </a:rPr>
              <a:t>Dueño de la necesidad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h5adcd0903d5cb179_4_83"/>
          <p:cNvSpPr/>
          <p:nvPr/>
        </p:nvSpPr>
        <p:spPr>
          <a:xfrm>
            <a:off x="777261" y="4005072"/>
            <a:ext cx="2926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B49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61B49"/>
                </a:solidFill>
                <a:latin typeface="Arial"/>
                <a:ea typeface="Arial"/>
                <a:cs typeface="Arial"/>
                <a:sym typeface="Arial"/>
              </a:rPr>
              <a:t>Líder QA / Quality Engineer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h5adcd0903d5cb179_4_83"/>
          <p:cNvSpPr/>
          <p:nvPr/>
        </p:nvSpPr>
        <p:spPr>
          <a:xfrm>
            <a:off x="4480679" y="1600200"/>
            <a:ext cx="3383400" cy="3520500"/>
          </a:xfrm>
          <a:prstGeom prst="roundRect">
            <a:avLst>
              <a:gd fmla="val 3243" name="adj"/>
            </a:avLst>
          </a:prstGeom>
          <a:solidFill>
            <a:srgbClr val="E9FBF9"/>
          </a:solidFill>
          <a:ln cap="flat" cmpd="sng" w="12700">
            <a:solidFill>
              <a:srgbClr val="A7E7E2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D8E6F3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h5adcd0903d5cb179_4_83"/>
          <p:cNvSpPr/>
          <p:nvPr/>
        </p:nvSpPr>
        <p:spPr>
          <a:xfrm>
            <a:off x="4755007" y="1874520"/>
            <a:ext cx="1508700" cy="320100"/>
          </a:xfrm>
          <a:prstGeom prst="roundRect">
            <a:avLst>
              <a:gd fmla="val 22857" name="adj"/>
            </a:avLst>
          </a:prstGeom>
          <a:solidFill>
            <a:srgbClr val="18BDB7"/>
          </a:solidFill>
          <a:ln cap="flat" cmpd="sng" w="12700">
            <a:solidFill>
              <a:srgbClr val="18BDB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h5adcd0903d5cb179_4_83"/>
          <p:cNvSpPr/>
          <p:nvPr/>
        </p:nvSpPr>
        <p:spPr>
          <a:xfrm>
            <a:off x="4755007" y="1883664"/>
            <a:ext cx="15087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USUARIOS CLAVE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h5adcd0903d5cb179_4_83"/>
          <p:cNvSpPr/>
          <p:nvPr/>
        </p:nvSpPr>
        <p:spPr>
          <a:xfrm>
            <a:off x="4782439" y="2395728"/>
            <a:ext cx="658500" cy="658500"/>
          </a:xfrm>
          <a:prstGeom prst="ellipse">
            <a:avLst/>
          </a:prstGeom>
          <a:solidFill>
            <a:srgbClr val="061B49"/>
          </a:solidFill>
          <a:ln cap="flat" cmpd="sng" w="12700">
            <a:solidFill>
              <a:srgbClr val="061B4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h5adcd0903d5cb179_4_83"/>
          <p:cNvSpPr/>
          <p:nvPr/>
        </p:nvSpPr>
        <p:spPr>
          <a:xfrm>
            <a:off x="4782439" y="2404872"/>
            <a:ext cx="6585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h5adcd0903d5cb179_4_83"/>
          <p:cNvSpPr/>
          <p:nvPr/>
        </p:nvSpPr>
        <p:spPr>
          <a:xfrm>
            <a:off x="5559700" y="2386584"/>
            <a:ext cx="16641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B49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061B49"/>
                </a:solidFill>
                <a:latin typeface="Arial"/>
                <a:ea typeface="Arial"/>
                <a:cs typeface="Arial"/>
                <a:sym typeface="Arial"/>
              </a:rPr>
              <a:t>Quality Engineer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h5adcd0903d5cb179_4_83"/>
          <p:cNvSpPr/>
          <p:nvPr/>
        </p:nvSpPr>
        <p:spPr>
          <a:xfrm>
            <a:off x="5559700" y="2724912"/>
            <a:ext cx="1691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627A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50627A"/>
                </a:solidFill>
                <a:latin typeface="Arial"/>
                <a:ea typeface="Arial"/>
                <a:cs typeface="Arial"/>
                <a:sym typeface="Arial"/>
              </a:rPr>
              <a:t>Supervisa avance, riesgos, cumplimiento y decisiones operativas.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h5adcd0903d5cb179_4_83"/>
          <p:cNvSpPr/>
          <p:nvPr/>
        </p:nvSpPr>
        <p:spPr>
          <a:xfrm>
            <a:off x="5532267" y="3337560"/>
            <a:ext cx="292500" cy="228600"/>
          </a:xfrm>
          <a:prstGeom prst="chevron">
            <a:avLst>
              <a:gd fmla="val 50000" name="adj"/>
            </a:avLst>
          </a:prstGeom>
          <a:solidFill>
            <a:srgbClr val="18BDB7"/>
          </a:solidFill>
          <a:ln cap="flat" cmpd="sng" w="12700">
            <a:solidFill>
              <a:srgbClr val="18BDB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h5adcd0903d5cb179_4_83"/>
          <p:cNvSpPr/>
          <p:nvPr/>
        </p:nvSpPr>
        <p:spPr>
          <a:xfrm>
            <a:off x="4782439" y="3703320"/>
            <a:ext cx="658500" cy="658500"/>
          </a:xfrm>
          <a:prstGeom prst="ellipse">
            <a:avLst/>
          </a:prstGeom>
          <a:solidFill>
            <a:srgbClr val="1266D6"/>
          </a:solidFill>
          <a:ln cap="flat" cmpd="sng" w="12700">
            <a:solidFill>
              <a:srgbClr val="1266D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h5adcd0903d5cb179_4_83"/>
          <p:cNvSpPr/>
          <p:nvPr/>
        </p:nvSpPr>
        <p:spPr>
          <a:xfrm>
            <a:off x="4782439" y="3712464"/>
            <a:ext cx="6585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h5adcd0903d5cb179_4_83"/>
          <p:cNvSpPr/>
          <p:nvPr/>
        </p:nvSpPr>
        <p:spPr>
          <a:xfrm>
            <a:off x="5559700" y="3703320"/>
            <a:ext cx="16641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B49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061B49"/>
                </a:solidFill>
                <a:latin typeface="Arial"/>
                <a:ea typeface="Arial"/>
                <a:cs typeface="Arial"/>
                <a:sym typeface="Arial"/>
              </a:rPr>
              <a:t>Analista QA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h5adcd0903d5cb179_4_83"/>
          <p:cNvSpPr/>
          <p:nvPr/>
        </p:nvSpPr>
        <p:spPr>
          <a:xfrm>
            <a:off x="5559700" y="4041648"/>
            <a:ext cx="1691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627A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50627A"/>
                </a:solidFill>
                <a:latin typeface="Arial"/>
                <a:ea typeface="Arial"/>
                <a:cs typeface="Arial"/>
                <a:sym typeface="Arial"/>
              </a:rPr>
              <a:t>Actualiza estado de HU, checklist y evidencias de certificación.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h5adcd0903d5cb179_4_83"/>
          <p:cNvSpPr/>
          <p:nvPr/>
        </p:nvSpPr>
        <p:spPr>
          <a:xfrm>
            <a:off x="8138377" y="1600200"/>
            <a:ext cx="3520500" cy="3520500"/>
          </a:xfrm>
          <a:prstGeom prst="roundRect">
            <a:avLst>
              <a:gd fmla="val 3117" name="adj"/>
            </a:avLst>
          </a:prstGeom>
          <a:solidFill>
            <a:srgbClr val="FFFFFF"/>
          </a:solidFill>
          <a:ln cap="flat" cmpd="sng" w="12700">
            <a:solidFill>
              <a:srgbClr val="CFE1F2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D8E6F3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h5adcd0903d5cb179_4_83"/>
          <p:cNvSpPr/>
          <p:nvPr/>
        </p:nvSpPr>
        <p:spPr>
          <a:xfrm>
            <a:off x="8412704" y="1874520"/>
            <a:ext cx="1920300" cy="320100"/>
          </a:xfrm>
          <a:prstGeom prst="roundRect">
            <a:avLst>
              <a:gd fmla="val 22857" name="adj"/>
            </a:avLst>
          </a:prstGeom>
          <a:solidFill>
            <a:srgbClr val="FFB547"/>
          </a:solidFill>
          <a:ln cap="flat" cmpd="sng" w="12700">
            <a:solidFill>
              <a:srgbClr val="FFB54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h5adcd0903d5cb179_4_83"/>
          <p:cNvSpPr/>
          <p:nvPr/>
        </p:nvSpPr>
        <p:spPr>
          <a:xfrm>
            <a:off x="8412704" y="1883664"/>
            <a:ext cx="19203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B49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61B49"/>
                </a:solidFill>
                <a:latin typeface="Arial"/>
                <a:ea typeface="Arial"/>
                <a:cs typeface="Arial"/>
                <a:sym typeface="Arial"/>
              </a:rPr>
              <a:t>NECESIDAD DEL CLIENTE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h5adcd0903d5cb179_4_83"/>
          <p:cNvSpPr/>
          <p:nvPr/>
        </p:nvSpPr>
        <p:spPr>
          <a:xfrm>
            <a:off x="8412704" y="2313432"/>
            <a:ext cx="2788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B49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61B49"/>
                </a:solidFill>
                <a:latin typeface="Arial"/>
                <a:ea typeface="Arial"/>
                <a:cs typeface="Arial"/>
                <a:sym typeface="Arial"/>
              </a:rPr>
              <a:t>De información dispersa a una visión integrada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h5adcd0903d5cb179_4_83"/>
          <p:cNvSpPr/>
          <p:nvPr/>
        </p:nvSpPr>
        <p:spPr>
          <a:xfrm>
            <a:off x="8412704" y="2944368"/>
            <a:ext cx="29262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A4E"/>
              </a:buClr>
              <a:buSzPts val="1230"/>
              <a:buFont typeface="Arial"/>
              <a:buNone/>
            </a:pPr>
            <a:r>
              <a:rPr b="0" i="0" lang="en-US" sz="1230" u="none" cap="none" strike="noStrike">
                <a:solidFill>
                  <a:srgbClr val="2E3A4E"/>
                </a:solidFill>
                <a:latin typeface="Arial"/>
                <a:ea typeface="Arial"/>
                <a:cs typeface="Arial"/>
                <a:sym typeface="Arial"/>
              </a:rPr>
              <a:t>• Consolidar HU, responsables y estados</a:t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A4E"/>
              </a:buClr>
              <a:buSzPts val="1230"/>
              <a:buFont typeface="Arial"/>
              <a:buNone/>
            </a:pPr>
            <a:r>
              <a:rPr b="0" i="0" lang="en-US" sz="1230" u="none" cap="none" strike="noStrike">
                <a:solidFill>
                  <a:srgbClr val="2E3A4E"/>
                </a:solidFill>
                <a:latin typeface="Arial"/>
                <a:ea typeface="Arial"/>
                <a:cs typeface="Arial"/>
                <a:sym typeface="Arial"/>
              </a:rPr>
              <a:t>• Visualizar riesgos e impedimentos</a:t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A4E"/>
              </a:buClr>
              <a:buSzPts val="1230"/>
              <a:buFont typeface="Arial"/>
              <a:buNone/>
            </a:pPr>
            <a:r>
              <a:rPr b="0" i="0" lang="en-US" sz="1230" u="none" cap="none" strike="noStrike">
                <a:solidFill>
                  <a:srgbClr val="2E3A4E"/>
                </a:solidFill>
                <a:latin typeface="Arial"/>
                <a:ea typeface="Arial"/>
                <a:cs typeface="Arial"/>
                <a:sym typeface="Arial"/>
              </a:rPr>
              <a:t>• Controlar cumplimiento QA</a:t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A4E"/>
              </a:buClr>
              <a:buSzPts val="1230"/>
              <a:buFont typeface="Arial"/>
              <a:buNone/>
            </a:pPr>
            <a:r>
              <a:rPr b="0" i="0" lang="en-US" sz="1230" u="none" cap="none" strike="noStrike">
                <a:solidFill>
                  <a:srgbClr val="2E3A4E"/>
                </a:solidFill>
                <a:latin typeface="Arial"/>
                <a:ea typeface="Arial"/>
                <a:cs typeface="Arial"/>
                <a:sym typeface="Arial"/>
              </a:rPr>
              <a:t>• Priorizar acciones a tiempo</a:t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h5adcd0903d5cb179_4_83"/>
          <p:cNvSpPr/>
          <p:nvPr/>
        </p:nvSpPr>
        <p:spPr>
          <a:xfrm>
            <a:off x="8412704" y="4160520"/>
            <a:ext cx="2834700" cy="530400"/>
          </a:xfrm>
          <a:prstGeom prst="roundRect">
            <a:avLst>
              <a:gd fmla="val 13793" name="adj"/>
            </a:avLst>
          </a:prstGeom>
          <a:solidFill>
            <a:srgbClr val="EEF6FF"/>
          </a:solidFill>
          <a:ln cap="flat" cmpd="sng" w="12700">
            <a:solidFill>
              <a:srgbClr val="D6E8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h5adcd0903d5cb179_4_83"/>
          <p:cNvSpPr/>
          <p:nvPr/>
        </p:nvSpPr>
        <p:spPr>
          <a:xfrm>
            <a:off x="8549868" y="4215384"/>
            <a:ext cx="2560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B49"/>
              </a:buClr>
              <a:buSzPts val="1170"/>
              <a:buFont typeface="Arial"/>
              <a:buNone/>
            </a:pPr>
            <a:r>
              <a:rPr b="1" i="0" lang="en-US" sz="1170" u="none" cap="none" strike="noStrike">
                <a:solidFill>
                  <a:srgbClr val="061B49"/>
                </a:solidFill>
                <a:latin typeface="Arial"/>
                <a:ea typeface="Arial"/>
                <a:cs typeface="Arial"/>
                <a:sym typeface="Arial"/>
              </a:rPr>
              <a:t>Quality360 entrega visibilidad, trazabilidad y KPI para la gestión QA.</a:t>
            </a:r>
            <a:endParaRPr b="0" i="0" sz="11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h5adcd0903d5cb179_4_83"/>
          <p:cNvSpPr/>
          <p:nvPr/>
        </p:nvSpPr>
        <p:spPr>
          <a:xfrm>
            <a:off x="517958" y="5486573"/>
            <a:ext cx="11156100" cy="914400"/>
          </a:xfrm>
          <a:prstGeom prst="roundRect">
            <a:avLst>
              <a:gd fmla="val 12000" name="adj"/>
            </a:avLst>
          </a:prstGeom>
          <a:solidFill>
            <a:srgbClr val="EEF6FF"/>
          </a:solidFill>
          <a:ln cap="flat" cmpd="sng" w="12700">
            <a:solidFill>
              <a:srgbClr val="CFE1F2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D8E6F3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h5adcd0903d5cb179_4_83"/>
          <p:cNvSpPr/>
          <p:nvPr/>
        </p:nvSpPr>
        <p:spPr>
          <a:xfrm>
            <a:off x="795549" y="5559552"/>
            <a:ext cx="1600200" cy="292500"/>
          </a:xfrm>
          <a:prstGeom prst="roundRect">
            <a:avLst>
              <a:gd fmla="val 25000" name="adj"/>
            </a:avLst>
          </a:prstGeom>
          <a:solidFill>
            <a:srgbClr val="061B49"/>
          </a:solidFill>
          <a:ln cap="flat" cmpd="sng" w="12700">
            <a:solidFill>
              <a:srgbClr val="061B4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h5adcd0903d5cb179_4_83"/>
          <p:cNvSpPr/>
          <p:nvPr/>
        </p:nvSpPr>
        <p:spPr>
          <a:xfrm>
            <a:off x="795549" y="5568696"/>
            <a:ext cx="160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0"/>
              <a:buFont typeface="Arial"/>
              <a:buNone/>
            </a:pPr>
            <a:r>
              <a:rPr b="1" i="0" lang="en-US" sz="9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TRAZABILIDAD DE VALOR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h5adcd0903d5cb179_4_83"/>
          <p:cNvSpPr/>
          <p:nvPr/>
        </p:nvSpPr>
        <p:spPr>
          <a:xfrm>
            <a:off x="841270" y="5888736"/>
            <a:ext cx="429900" cy="429900"/>
          </a:xfrm>
          <a:prstGeom prst="ellipse">
            <a:avLst/>
          </a:prstGeom>
          <a:solidFill>
            <a:srgbClr val="061B49"/>
          </a:solidFill>
          <a:ln cap="flat" cmpd="sng" w="12700">
            <a:solidFill>
              <a:srgbClr val="061B4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h5adcd0903d5cb179_4_83"/>
          <p:cNvSpPr/>
          <p:nvPr/>
        </p:nvSpPr>
        <p:spPr>
          <a:xfrm>
            <a:off x="841270" y="5897880"/>
            <a:ext cx="429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🏢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h5adcd0903d5cb179_4_83"/>
          <p:cNvSpPr/>
          <p:nvPr/>
        </p:nvSpPr>
        <p:spPr>
          <a:xfrm>
            <a:off x="1353348" y="5879592"/>
            <a:ext cx="1170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B49"/>
              </a:buClr>
              <a:buSzPts val="1030"/>
              <a:buFont typeface="Arial"/>
              <a:buNone/>
            </a:pPr>
            <a:r>
              <a:rPr b="1" i="0" lang="en-US" sz="1030" u="none" cap="none" strike="noStrike">
                <a:solidFill>
                  <a:srgbClr val="061B49"/>
                </a:solidFill>
                <a:latin typeface="Arial"/>
                <a:ea typeface="Arial"/>
                <a:cs typeface="Arial"/>
                <a:sym typeface="Arial"/>
              </a:rPr>
              <a:t>Cliente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B49"/>
              </a:buClr>
              <a:buSzPts val="1030"/>
              <a:buFont typeface="Arial"/>
              <a:buNone/>
            </a:pPr>
            <a:r>
              <a:rPr b="1" i="0" lang="en-US" sz="1030" u="none" cap="none" strike="noStrike">
                <a:solidFill>
                  <a:srgbClr val="061B49"/>
                </a:solidFill>
                <a:latin typeface="Arial"/>
                <a:ea typeface="Arial"/>
                <a:cs typeface="Arial"/>
                <a:sym typeface="Arial"/>
              </a:rPr>
              <a:t>QA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7" name="Google Shape;137;h5adcd0903d5cb179_4_83"/>
          <p:cNvCxnSpPr/>
          <p:nvPr/>
        </p:nvCxnSpPr>
        <p:spPr>
          <a:xfrm>
            <a:off x="2532956" y="6089904"/>
            <a:ext cx="301800" cy="0"/>
          </a:xfrm>
          <a:prstGeom prst="straightConnector1">
            <a:avLst/>
          </a:prstGeom>
          <a:noFill/>
          <a:ln cap="flat" cmpd="sng" w="25400">
            <a:solidFill>
              <a:srgbClr val="18BDB7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8" name="Google Shape;138;h5adcd0903d5cb179_4_83"/>
          <p:cNvSpPr/>
          <p:nvPr/>
        </p:nvSpPr>
        <p:spPr>
          <a:xfrm>
            <a:off x="2898725" y="5888736"/>
            <a:ext cx="429900" cy="429900"/>
          </a:xfrm>
          <a:prstGeom prst="ellipse">
            <a:avLst/>
          </a:prstGeom>
          <a:solidFill>
            <a:srgbClr val="FFB547"/>
          </a:solidFill>
          <a:ln cap="flat" cmpd="sng" w="12700">
            <a:solidFill>
              <a:srgbClr val="FFB54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h5adcd0903d5cb179_4_83"/>
          <p:cNvSpPr/>
          <p:nvPr/>
        </p:nvSpPr>
        <p:spPr>
          <a:xfrm>
            <a:off x="2898725" y="5897880"/>
            <a:ext cx="429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⚠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h5adcd0903d5cb179_4_83"/>
          <p:cNvSpPr/>
          <p:nvPr/>
        </p:nvSpPr>
        <p:spPr>
          <a:xfrm>
            <a:off x="3410803" y="5879592"/>
            <a:ext cx="1170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B49"/>
              </a:buClr>
              <a:buSzPts val="1030"/>
              <a:buFont typeface="Arial"/>
              <a:buNone/>
            </a:pPr>
            <a:r>
              <a:rPr b="1" i="0" lang="en-US" sz="1030" u="none" cap="none" strike="noStrike">
                <a:solidFill>
                  <a:srgbClr val="061B49"/>
                </a:solidFill>
                <a:latin typeface="Arial"/>
                <a:ea typeface="Arial"/>
                <a:cs typeface="Arial"/>
                <a:sym typeface="Arial"/>
              </a:rPr>
              <a:t>Necesidad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B49"/>
              </a:buClr>
              <a:buSzPts val="1030"/>
              <a:buFont typeface="Arial"/>
              <a:buNone/>
            </a:pPr>
            <a:r>
              <a:rPr b="1" i="0" lang="en-US" sz="1030" u="none" cap="none" strike="noStrike">
                <a:solidFill>
                  <a:srgbClr val="061B49"/>
                </a:solidFill>
                <a:latin typeface="Arial"/>
                <a:ea typeface="Arial"/>
                <a:cs typeface="Arial"/>
                <a:sym typeface="Arial"/>
              </a:rPr>
              <a:t>operativa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1" name="Google Shape;141;h5adcd0903d5cb179_4_83"/>
          <p:cNvCxnSpPr/>
          <p:nvPr/>
        </p:nvCxnSpPr>
        <p:spPr>
          <a:xfrm>
            <a:off x="4590410" y="6089904"/>
            <a:ext cx="301800" cy="0"/>
          </a:xfrm>
          <a:prstGeom prst="straightConnector1">
            <a:avLst/>
          </a:prstGeom>
          <a:noFill/>
          <a:ln cap="flat" cmpd="sng" w="25400">
            <a:solidFill>
              <a:srgbClr val="18BDB7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2" name="Google Shape;142;h5adcd0903d5cb179_4_83"/>
          <p:cNvSpPr/>
          <p:nvPr/>
        </p:nvSpPr>
        <p:spPr>
          <a:xfrm>
            <a:off x="4956180" y="5888736"/>
            <a:ext cx="429900" cy="429900"/>
          </a:xfrm>
          <a:prstGeom prst="ellipse">
            <a:avLst/>
          </a:prstGeom>
          <a:solidFill>
            <a:srgbClr val="18BDB7"/>
          </a:solidFill>
          <a:ln cap="flat" cmpd="sng" w="12700">
            <a:solidFill>
              <a:srgbClr val="18BDB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h5adcd0903d5cb179_4_83"/>
          <p:cNvSpPr/>
          <p:nvPr/>
        </p:nvSpPr>
        <p:spPr>
          <a:xfrm>
            <a:off x="4956180" y="5897880"/>
            <a:ext cx="429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h5adcd0903d5cb179_4_83"/>
          <p:cNvSpPr/>
          <p:nvPr/>
        </p:nvSpPr>
        <p:spPr>
          <a:xfrm>
            <a:off x="5468258" y="5879592"/>
            <a:ext cx="1170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B49"/>
              </a:buClr>
              <a:buSzPts val="1030"/>
              <a:buFont typeface="Arial"/>
              <a:buNone/>
            </a:pPr>
            <a:r>
              <a:rPr b="1" i="0" lang="en-US" sz="1030" u="none" cap="none" strike="noStrike">
                <a:solidFill>
                  <a:srgbClr val="061B49"/>
                </a:solidFill>
                <a:latin typeface="Arial"/>
                <a:ea typeface="Arial"/>
                <a:cs typeface="Arial"/>
                <a:sym typeface="Arial"/>
              </a:rPr>
              <a:t>Quality360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B49"/>
              </a:buClr>
              <a:buSzPts val="1030"/>
              <a:buFont typeface="Arial"/>
              <a:buNone/>
            </a:pPr>
            <a:r>
              <a:rPr b="1" i="0" lang="en-US" sz="1030" u="none" cap="none" strike="noStrike">
                <a:solidFill>
                  <a:srgbClr val="061B49"/>
                </a:solidFill>
                <a:latin typeface="Arial"/>
                <a:ea typeface="Arial"/>
                <a:cs typeface="Arial"/>
                <a:sym typeface="Arial"/>
              </a:rPr>
              <a:t>plataforma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5" name="Google Shape;145;h5adcd0903d5cb179_4_83"/>
          <p:cNvCxnSpPr/>
          <p:nvPr/>
        </p:nvCxnSpPr>
        <p:spPr>
          <a:xfrm>
            <a:off x="6647865" y="6089904"/>
            <a:ext cx="301800" cy="0"/>
          </a:xfrm>
          <a:prstGeom prst="straightConnector1">
            <a:avLst/>
          </a:prstGeom>
          <a:noFill/>
          <a:ln cap="flat" cmpd="sng" w="25400">
            <a:solidFill>
              <a:srgbClr val="18BDB7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6" name="Google Shape;146;h5adcd0903d5cb179_4_83"/>
          <p:cNvSpPr/>
          <p:nvPr/>
        </p:nvSpPr>
        <p:spPr>
          <a:xfrm>
            <a:off x="7013635" y="5888736"/>
            <a:ext cx="429900" cy="429900"/>
          </a:xfrm>
          <a:prstGeom prst="ellipse">
            <a:avLst/>
          </a:prstGeom>
          <a:solidFill>
            <a:srgbClr val="1266D6"/>
          </a:solidFill>
          <a:ln cap="flat" cmpd="sng" w="12700">
            <a:solidFill>
              <a:srgbClr val="1266D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h5adcd0903d5cb179_4_83"/>
          <p:cNvSpPr/>
          <p:nvPr/>
        </p:nvSpPr>
        <p:spPr>
          <a:xfrm>
            <a:off x="7013635" y="5897880"/>
            <a:ext cx="429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↗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h5adcd0903d5cb179_4_83"/>
          <p:cNvSpPr/>
          <p:nvPr/>
        </p:nvSpPr>
        <p:spPr>
          <a:xfrm>
            <a:off x="7525713" y="5879592"/>
            <a:ext cx="1170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B49"/>
              </a:buClr>
              <a:buSzPts val="1030"/>
              <a:buFont typeface="Arial"/>
              <a:buNone/>
            </a:pPr>
            <a:r>
              <a:rPr b="1" i="0" lang="en-US" sz="1030" u="none" cap="none" strike="noStrike">
                <a:solidFill>
                  <a:srgbClr val="061B49"/>
                </a:solidFill>
                <a:latin typeface="Arial"/>
                <a:ea typeface="Arial"/>
                <a:cs typeface="Arial"/>
                <a:sym typeface="Arial"/>
              </a:rPr>
              <a:t>KPI y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B49"/>
              </a:buClr>
              <a:buSzPts val="1030"/>
              <a:buFont typeface="Arial"/>
              <a:buNone/>
            </a:pPr>
            <a:r>
              <a:rPr b="1" i="0" lang="en-US" sz="1030" u="none" cap="none" strike="noStrike">
                <a:solidFill>
                  <a:srgbClr val="061B49"/>
                </a:solidFill>
                <a:latin typeface="Arial"/>
                <a:ea typeface="Arial"/>
                <a:cs typeface="Arial"/>
                <a:sym typeface="Arial"/>
              </a:rPr>
              <a:t>alertas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9" name="Google Shape;149;h5adcd0903d5cb179_4_83"/>
          <p:cNvCxnSpPr/>
          <p:nvPr/>
        </p:nvCxnSpPr>
        <p:spPr>
          <a:xfrm>
            <a:off x="8705320" y="6089904"/>
            <a:ext cx="301800" cy="0"/>
          </a:xfrm>
          <a:prstGeom prst="straightConnector1">
            <a:avLst/>
          </a:prstGeom>
          <a:noFill/>
          <a:ln cap="flat" cmpd="sng" w="25400">
            <a:solidFill>
              <a:srgbClr val="18BDB7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0" name="Google Shape;150;h5adcd0903d5cb179_4_83"/>
          <p:cNvSpPr/>
          <p:nvPr/>
        </p:nvSpPr>
        <p:spPr>
          <a:xfrm>
            <a:off x="9071090" y="5888736"/>
            <a:ext cx="429900" cy="429900"/>
          </a:xfrm>
          <a:prstGeom prst="ellipse">
            <a:avLst/>
          </a:prstGeom>
          <a:solidFill>
            <a:srgbClr val="26B36B"/>
          </a:solidFill>
          <a:ln cap="flat" cmpd="sng" w="12700">
            <a:solidFill>
              <a:srgbClr val="26B36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h5adcd0903d5cb179_4_83"/>
          <p:cNvSpPr/>
          <p:nvPr/>
        </p:nvSpPr>
        <p:spPr>
          <a:xfrm>
            <a:off x="9071090" y="5897880"/>
            <a:ext cx="429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🎯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h5adcd0903d5cb179_4_83"/>
          <p:cNvSpPr/>
          <p:nvPr/>
        </p:nvSpPr>
        <p:spPr>
          <a:xfrm>
            <a:off x="9583167" y="5879592"/>
            <a:ext cx="1170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B49"/>
              </a:buClr>
              <a:buSzPts val="1030"/>
              <a:buFont typeface="Arial"/>
              <a:buNone/>
            </a:pPr>
            <a:r>
              <a:rPr b="1" i="0" lang="en-US" sz="1030" u="none" cap="none" strike="noStrike">
                <a:solidFill>
                  <a:srgbClr val="061B49"/>
                </a:solidFill>
                <a:latin typeface="Arial"/>
                <a:ea typeface="Arial"/>
                <a:cs typeface="Arial"/>
                <a:sym typeface="Arial"/>
              </a:rPr>
              <a:t>Decisión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B49"/>
              </a:buClr>
              <a:buSzPts val="1030"/>
              <a:buFont typeface="Arial"/>
              <a:buNone/>
            </a:pPr>
            <a:r>
              <a:rPr b="1" i="0" lang="en-US" sz="1030" u="none" cap="none" strike="noStrike">
                <a:solidFill>
                  <a:srgbClr val="061B49"/>
                </a:solidFill>
                <a:latin typeface="Arial"/>
                <a:ea typeface="Arial"/>
                <a:cs typeface="Arial"/>
                <a:sym typeface="Arial"/>
              </a:rPr>
              <a:t>oportuna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h5adcd0903d5cb179_4_83"/>
          <p:cNvSpPr/>
          <p:nvPr/>
        </p:nvSpPr>
        <p:spPr>
          <a:xfrm>
            <a:off x="530366" y="6519672"/>
            <a:ext cx="3657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627A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50627A"/>
                </a:solidFill>
                <a:latin typeface="Arial"/>
                <a:ea typeface="Arial"/>
                <a:cs typeface="Arial"/>
                <a:sym typeface="Arial"/>
              </a:rPr>
              <a:t>Quality360 · Capstone Grupo 8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3B69"/>
          </a:solidFill>
          <a:ln cap="flat" cmpd="sng" w="9525">
            <a:solidFill>
              <a:srgbClr val="123B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"/>
          <p:cNvSpPr/>
          <p:nvPr/>
        </p:nvSpPr>
        <p:spPr>
          <a:xfrm>
            <a:off x="320040" y="109728"/>
            <a:ext cx="7498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35"/>
              <a:buFont typeface="Arial"/>
              <a:buNone/>
            </a:pPr>
            <a:r>
              <a:rPr b="1" i="0" lang="en-US" sz="203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Roadmap de seguimiento semanal · Quality360</a:t>
            </a:r>
            <a:endParaRPr b="0" i="0" sz="203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"/>
          <p:cNvSpPr/>
          <p:nvPr/>
        </p:nvSpPr>
        <p:spPr>
          <a:xfrm>
            <a:off x="329184" y="448056"/>
            <a:ext cx="804672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D7E7F7"/>
                </a:solidFill>
                <a:latin typeface="Arial"/>
                <a:ea typeface="Arial"/>
                <a:cs typeface="Arial"/>
                <a:sym typeface="Arial"/>
              </a:rPr>
              <a:t>Eje X: semanas · Eje Y: Sprints · Corte 10/10/2026 · Comisión 27/11–04/12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"/>
          <p:cNvSpPr/>
          <p:nvPr/>
        </p:nvSpPr>
        <p:spPr>
          <a:xfrm>
            <a:off x="11173968" y="73152"/>
            <a:ext cx="6858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3" name="Google Shape;163;p1"/>
          <p:cNvGrpSpPr/>
          <p:nvPr/>
        </p:nvGrpSpPr>
        <p:grpSpPr>
          <a:xfrm>
            <a:off x="320040" y="841248"/>
            <a:ext cx="9098280" cy="384048"/>
            <a:chOff x="320040" y="841248"/>
            <a:chExt cx="9098280" cy="384048"/>
          </a:xfrm>
        </p:grpSpPr>
        <p:sp>
          <p:nvSpPr>
            <p:cNvPr id="164" name="Google Shape;164;p1"/>
            <p:cNvSpPr/>
            <p:nvPr/>
          </p:nvSpPr>
          <p:spPr>
            <a:xfrm>
              <a:off x="320040" y="841248"/>
              <a:ext cx="9098280" cy="384048"/>
            </a:xfrm>
            <a:prstGeom prst="roundRect">
              <a:avLst>
                <a:gd fmla="val 16667" name="adj"/>
              </a:avLst>
            </a:prstGeom>
            <a:solidFill>
              <a:srgbClr val="EAF7FF"/>
            </a:solidFill>
            <a:ln cap="flat" cmpd="sng" w="10150">
              <a:solidFill>
                <a:srgbClr val="A8D4E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1"/>
            <p:cNvSpPr/>
            <p:nvPr/>
          </p:nvSpPr>
          <p:spPr>
            <a:xfrm>
              <a:off x="502920" y="950976"/>
              <a:ext cx="1051560" cy="1097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0" lIns="250" spcFirstLastPara="1" rIns="250" wrap="square" tIns="2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rgbClr val="123B69"/>
                  </a:solidFill>
                  <a:latin typeface="Arial"/>
                  <a:ea typeface="Arial"/>
                  <a:cs typeface="Arial"/>
                  <a:sym typeface="Arial"/>
                </a:rPr>
                <a:t>Estado actualizado</a:t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1"/>
            <p:cNvSpPr/>
            <p:nvPr/>
          </p:nvSpPr>
          <p:spPr>
            <a:xfrm>
              <a:off x="1600200" y="932688"/>
              <a:ext cx="7406640" cy="1463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0" lIns="250" spcFirstLastPara="1" rIns="250" wrap="square" tIns="250">
              <a:norm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-US" sz="900" u="none" cap="none" strike="noStrike">
                  <a:solidFill>
                    <a:srgbClr val="0B2341"/>
                  </a:solidFill>
                  <a:latin typeface="Arial"/>
                  <a:ea typeface="Arial"/>
                  <a:cs typeface="Arial"/>
                  <a:sym typeface="Arial"/>
                </a:rPr>
                <a:t>Sprint 1 y Sprint 2 cerrados al 100% · Sprint 3 en curso: Modelo ER, backend base, diseño del portal y persistencia inicial</a:t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7" name="Google Shape;167;p1"/>
          <p:cNvSpPr/>
          <p:nvPr/>
        </p:nvSpPr>
        <p:spPr>
          <a:xfrm>
            <a:off x="9954768" y="934212"/>
            <a:ext cx="868680" cy="219456"/>
          </a:xfrm>
          <a:prstGeom prst="roundRect">
            <a:avLst>
              <a:gd fmla="val 16667" name="adj"/>
            </a:avLst>
          </a:prstGeom>
          <a:solidFill>
            <a:srgbClr val="13B889"/>
          </a:solidFill>
          <a:ln cap="flat" cmpd="sng" w="10150">
            <a:solidFill>
              <a:srgbClr val="13B8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"/>
          <p:cNvSpPr/>
          <p:nvPr/>
        </p:nvSpPr>
        <p:spPr>
          <a:xfrm>
            <a:off x="9973056" y="970788"/>
            <a:ext cx="832104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2/6 cerrados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"/>
          <p:cNvSpPr/>
          <p:nvPr/>
        </p:nvSpPr>
        <p:spPr>
          <a:xfrm>
            <a:off x="320040" y="1335024"/>
            <a:ext cx="1737360" cy="685800"/>
          </a:xfrm>
          <a:prstGeom prst="rect">
            <a:avLst/>
          </a:prstGeom>
          <a:solidFill>
            <a:srgbClr val="123B69"/>
          </a:solidFill>
          <a:ln cap="flat" cmpd="sng" w="9525">
            <a:solidFill>
              <a:srgbClr val="123B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"/>
          <p:cNvSpPr/>
          <p:nvPr/>
        </p:nvSpPr>
        <p:spPr>
          <a:xfrm>
            <a:off x="2057400" y="1335024"/>
            <a:ext cx="1417320" cy="685800"/>
          </a:xfrm>
          <a:prstGeom prst="rect">
            <a:avLst/>
          </a:prstGeom>
          <a:solidFill>
            <a:srgbClr val="123B69"/>
          </a:solidFill>
          <a:ln cap="flat" cmpd="sng" w="9525">
            <a:solidFill>
              <a:srgbClr val="123B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"/>
          <p:cNvSpPr/>
          <p:nvPr/>
        </p:nvSpPr>
        <p:spPr>
          <a:xfrm>
            <a:off x="320040" y="1517904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Sprint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"/>
          <p:cNvSpPr/>
          <p:nvPr/>
        </p:nvSpPr>
        <p:spPr>
          <a:xfrm>
            <a:off x="2057400" y="1517904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Objetivo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"/>
          <p:cNvSpPr/>
          <p:nvPr/>
        </p:nvSpPr>
        <p:spPr>
          <a:xfrm>
            <a:off x="3474720" y="1335024"/>
            <a:ext cx="786384" cy="292608"/>
          </a:xfrm>
          <a:prstGeom prst="rect">
            <a:avLst/>
          </a:prstGeom>
          <a:solidFill>
            <a:srgbClr val="0BA7A4"/>
          </a:solidFill>
          <a:ln cap="flat" cmpd="sng" w="9525">
            <a:solidFill>
              <a:srgbClr val="0BA7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"/>
          <p:cNvSpPr/>
          <p:nvPr/>
        </p:nvSpPr>
        <p:spPr>
          <a:xfrm>
            <a:off x="3474720" y="1408176"/>
            <a:ext cx="786384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7"/>
              <a:buFont typeface="Arial"/>
              <a:buNone/>
            </a:pPr>
            <a:r>
              <a:rPr b="1" i="0" lang="en-US" sz="76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SEP/OCT</a:t>
            </a:r>
            <a:endParaRPr b="0" i="0" sz="76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"/>
          <p:cNvSpPr/>
          <p:nvPr/>
        </p:nvSpPr>
        <p:spPr>
          <a:xfrm>
            <a:off x="4261104" y="1335024"/>
            <a:ext cx="3145536" cy="292608"/>
          </a:xfrm>
          <a:prstGeom prst="rect">
            <a:avLst/>
          </a:prstGeom>
          <a:solidFill>
            <a:srgbClr val="0BA7A4"/>
          </a:solidFill>
          <a:ln cap="flat" cmpd="sng" w="9525">
            <a:solidFill>
              <a:srgbClr val="0BA7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"/>
          <p:cNvSpPr/>
          <p:nvPr/>
        </p:nvSpPr>
        <p:spPr>
          <a:xfrm>
            <a:off x="4261104" y="1408176"/>
            <a:ext cx="3145536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OCT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"/>
          <p:cNvSpPr/>
          <p:nvPr/>
        </p:nvSpPr>
        <p:spPr>
          <a:xfrm>
            <a:off x="7406640" y="1335024"/>
            <a:ext cx="3145536" cy="292608"/>
          </a:xfrm>
          <a:prstGeom prst="rect">
            <a:avLst/>
          </a:prstGeom>
          <a:solidFill>
            <a:srgbClr val="0BA7A4"/>
          </a:solidFill>
          <a:ln cap="flat" cmpd="sng" w="9525">
            <a:solidFill>
              <a:srgbClr val="0BA7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"/>
          <p:cNvSpPr/>
          <p:nvPr/>
        </p:nvSpPr>
        <p:spPr>
          <a:xfrm>
            <a:off x="7406640" y="1408176"/>
            <a:ext cx="3145536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NOV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"/>
          <p:cNvSpPr/>
          <p:nvPr/>
        </p:nvSpPr>
        <p:spPr>
          <a:xfrm>
            <a:off x="10552176" y="1335024"/>
            <a:ext cx="786384" cy="292608"/>
          </a:xfrm>
          <a:prstGeom prst="rect">
            <a:avLst/>
          </a:prstGeom>
          <a:solidFill>
            <a:srgbClr val="0BA7A4"/>
          </a:solidFill>
          <a:ln cap="flat" cmpd="sng" w="9525">
            <a:solidFill>
              <a:srgbClr val="0BA7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"/>
          <p:cNvSpPr/>
          <p:nvPr/>
        </p:nvSpPr>
        <p:spPr>
          <a:xfrm>
            <a:off x="10552176" y="1408176"/>
            <a:ext cx="786384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NOV/DIC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"/>
          <p:cNvSpPr/>
          <p:nvPr/>
        </p:nvSpPr>
        <p:spPr>
          <a:xfrm>
            <a:off x="3474720" y="1627632"/>
            <a:ext cx="786384" cy="393192"/>
          </a:xfrm>
          <a:prstGeom prst="rect">
            <a:avLst/>
          </a:prstGeom>
          <a:solidFill>
            <a:srgbClr val="0E8C8C"/>
          </a:solidFill>
          <a:ln cap="flat" cmpd="sng" w="9525">
            <a:solidFill>
              <a:srgbClr val="BFD7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"/>
          <p:cNvSpPr/>
          <p:nvPr/>
        </p:nvSpPr>
        <p:spPr>
          <a:xfrm>
            <a:off x="3493008" y="1709928"/>
            <a:ext cx="7498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25 Sep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 Oct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"/>
          <p:cNvSpPr/>
          <p:nvPr/>
        </p:nvSpPr>
        <p:spPr>
          <a:xfrm>
            <a:off x="4261104" y="1627632"/>
            <a:ext cx="786384" cy="393192"/>
          </a:xfrm>
          <a:prstGeom prst="rect">
            <a:avLst/>
          </a:prstGeom>
          <a:solidFill>
            <a:srgbClr val="0E8C8C"/>
          </a:solidFill>
          <a:ln cap="flat" cmpd="sng" w="9525">
            <a:solidFill>
              <a:srgbClr val="BFD7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"/>
          <p:cNvSpPr/>
          <p:nvPr/>
        </p:nvSpPr>
        <p:spPr>
          <a:xfrm>
            <a:off x="4279392" y="1709928"/>
            <a:ext cx="7498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02–09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Oct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"/>
          <p:cNvSpPr/>
          <p:nvPr/>
        </p:nvSpPr>
        <p:spPr>
          <a:xfrm>
            <a:off x="5047488" y="1627632"/>
            <a:ext cx="786384" cy="393192"/>
          </a:xfrm>
          <a:prstGeom prst="rect">
            <a:avLst/>
          </a:prstGeom>
          <a:solidFill>
            <a:srgbClr val="0E8C8C"/>
          </a:solidFill>
          <a:ln cap="flat" cmpd="sng" w="9525">
            <a:solidFill>
              <a:srgbClr val="BFD7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"/>
          <p:cNvSpPr/>
          <p:nvPr/>
        </p:nvSpPr>
        <p:spPr>
          <a:xfrm>
            <a:off x="5074975" y="1672988"/>
            <a:ext cx="7497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lang="en-US" sz="800">
                <a:solidFill>
                  <a:schemeClr val="lt1"/>
                </a:solidFill>
              </a:rPr>
              <a:t>10</a:t>
            </a:r>
            <a:r>
              <a:rPr b="1" lang="en-US" sz="800">
                <a:solidFill>
                  <a:schemeClr val="lt1"/>
                </a:solidFill>
              </a:rPr>
              <a:t>–16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lang="en-US" sz="800">
                <a:solidFill>
                  <a:schemeClr val="lt1"/>
                </a:solidFill>
              </a:rPr>
              <a:t>Oct</a:t>
            </a:r>
            <a:endParaRPr sz="8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sz="800">
              <a:solidFill>
                <a:srgbClr val="123B69"/>
              </a:solidFill>
            </a:endParaRPr>
          </a:p>
        </p:txBody>
      </p:sp>
      <p:sp>
        <p:nvSpPr>
          <p:cNvPr id="187" name="Google Shape;187;p1"/>
          <p:cNvSpPr/>
          <p:nvPr/>
        </p:nvSpPr>
        <p:spPr>
          <a:xfrm>
            <a:off x="5833872" y="1627632"/>
            <a:ext cx="786384" cy="393192"/>
          </a:xfrm>
          <a:prstGeom prst="rect">
            <a:avLst/>
          </a:prstGeom>
          <a:solidFill>
            <a:srgbClr val="0E8C8C"/>
          </a:solidFill>
          <a:ln cap="flat" cmpd="sng" w="9525">
            <a:solidFill>
              <a:srgbClr val="BFD7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"/>
          <p:cNvSpPr/>
          <p:nvPr/>
        </p:nvSpPr>
        <p:spPr>
          <a:xfrm>
            <a:off x="5852160" y="1709928"/>
            <a:ext cx="7498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16–22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Oct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"/>
          <p:cNvSpPr/>
          <p:nvPr/>
        </p:nvSpPr>
        <p:spPr>
          <a:xfrm>
            <a:off x="6620256" y="1627632"/>
            <a:ext cx="786384" cy="393192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rgbClr val="BFD7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"/>
          <p:cNvSpPr/>
          <p:nvPr/>
        </p:nvSpPr>
        <p:spPr>
          <a:xfrm>
            <a:off x="6638544" y="1709928"/>
            <a:ext cx="7498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23–29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Oct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"/>
          <p:cNvSpPr/>
          <p:nvPr/>
        </p:nvSpPr>
        <p:spPr>
          <a:xfrm>
            <a:off x="7406640" y="1627632"/>
            <a:ext cx="786384" cy="393192"/>
          </a:xfrm>
          <a:prstGeom prst="rect">
            <a:avLst/>
          </a:prstGeom>
          <a:solidFill>
            <a:srgbClr val="0E8C8C"/>
          </a:solidFill>
          <a:ln cap="flat" cmpd="sng" w="9525">
            <a:solidFill>
              <a:srgbClr val="BFD7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"/>
          <p:cNvSpPr/>
          <p:nvPr/>
        </p:nvSpPr>
        <p:spPr>
          <a:xfrm>
            <a:off x="7424928" y="1709928"/>
            <a:ext cx="7498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30 Oct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05 Nov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"/>
          <p:cNvSpPr/>
          <p:nvPr/>
        </p:nvSpPr>
        <p:spPr>
          <a:xfrm>
            <a:off x="8193024" y="1627632"/>
            <a:ext cx="786384" cy="393192"/>
          </a:xfrm>
          <a:prstGeom prst="rect">
            <a:avLst/>
          </a:prstGeom>
          <a:solidFill>
            <a:srgbClr val="0E8C8C"/>
          </a:solidFill>
          <a:ln cap="flat" cmpd="sng" w="9525">
            <a:solidFill>
              <a:srgbClr val="BFD7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"/>
          <p:cNvSpPr/>
          <p:nvPr/>
        </p:nvSpPr>
        <p:spPr>
          <a:xfrm>
            <a:off x="8211312" y="1709928"/>
            <a:ext cx="7498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06–12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Nov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"/>
          <p:cNvSpPr/>
          <p:nvPr/>
        </p:nvSpPr>
        <p:spPr>
          <a:xfrm>
            <a:off x="8979408" y="1627632"/>
            <a:ext cx="786384" cy="393192"/>
          </a:xfrm>
          <a:prstGeom prst="rect">
            <a:avLst/>
          </a:prstGeom>
          <a:solidFill>
            <a:srgbClr val="0E8C8C"/>
          </a:solidFill>
          <a:ln cap="flat" cmpd="sng" w="9525">
            <a:solidFill>
              <a:srgbClr val="BFD7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"/>
          <p:cNvSpPr/>
          <p:nvPr/>
        </p:nvSpPr>
        <p:spPr>
          <a:xfrm>
            <a:off x="8997696" y="1709928"/>
            <a:ext cx="7498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13–19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Nov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"/>
          <p:cNvSpPr/>
          <p:nvPr/>
        </p:nvSpPr>
        <p:spPr>
          <a:xfrm>
            <a:off x="9765792" y="1627632"/>
            <a:ext cx="786384" cy="393192"/>
          </a:xfrm>
          <a:prstGeom prst="rect">
            <a:avLst/>
          </a:prstGeom>
          <a:solidFill>
            <a:srgbClr val="0E8C8C"/>
          </a:solidFill>
          <a:ln cap="flat" cmpd="sng" w="9525">
            <a:solidFill>
              <a:srgbClr val="BFD7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"/>
          <p:cNvSpPr/>
          <p:nvPr/>
        </p:nvSpPr>
        <p:spPr>
          <a:xfrm>
            <a:off x="9784080" y="1709928"/>
            <a:ext cx="7498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20–26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Nov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"/>
          <p:cNvSpPr/>
          <p:nvPr/>
        </p:nvSpPr>
        <p:spPr>
          <a:xfrm>
            <a:off x="10552176" y="1627632"/>
            <a:ext cx="786384" cy="393192"/>
          </a:xfrm>
          <a:prstGeom prst="rect">
            <a:avLst/>
          </a:prstGeom>
          <a:solidFill>
            <a:srgbClr val="0E8C8C"/>
          </a:solidFill>
          <a:ln cap="flat" cmpd="sng" w="9525">
            <a:solidFill>
              <a:srgbClr val="BFD7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"/>
          <p:cNvSpPr/>
          <p:nvPr/>
        </p:nvSpPr>
        <p:spPr>
          <a:xfrm>
            <a:off x="10570464" y="1709928"/>
            <a:ext cx="7498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27 Nov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 Dic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"/>
          <p:cNvSpPr/>
          <p:nvPr/>
        </p:nvSpPr>
        <p:spPr>
          <a:xfrm>
            <a:off x="320040" y="2020824"/>
            <a:ext cx="1737360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"/>
          <p:cNvSpPr/>
          <p:nvPr/>
        </p:nvSpPr>
        <p:spPr>
          <a:xfrm>
            <a:off x="2057400" y="2020824"/>
            <a:ext cx="1417320" cy="484632"/>
          </a:xfrm>
          <a:prstGeom prst="rect">
            <a:avLst/>
          </a:prstGeom>
          <a:solidFill>
            <a:srgbClr val="F9FC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"/>
          <p:cNvSpPr/>
          <p:nvPr/>
        </p:nvSpPr>
        <p:spPr>
          <a:xfrm>
            <a:off x="374904" y="2130552"/>
            <a:ext cx="162763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B2341"/>
                </a:solidFill>
                <a:latin typeface="Arial"/>
                <a:ea typeface="Arial"/>
                <a:cs typeface="Arial"/>
                <a:sym typeface="Arial"/>
              </a:rPr>
              <a:t>Sprint 1 · Cierre base técnica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"/>
          <p:cNvSpPr/>
          <p:nvPr/>
        </p:nvSpPr>
        <p:spPr>
          <a:xfrm>
            <a:off x="2112264" y="2148840"/>
            <a:ext cx="130759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F6783"/>
                </a:solidFill>
                <a:latin typeface="Arial"/>
                <a:ea typeface="Arial"/>
                <a:cs typeface="Arial"/>
                <a:sym typeface="Arial"/>
              </a:rPr>
              <a:t>Arquitectura · Modelo · Prototipo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"/>
          <p:cNvSpPr/>
          <p:nvPr/>
        </p:nvSpPr>
        <p:spPr>
          <a:xfrm>
            <a:off x="3474720" y="2020824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"/>
          <p:cNvSpPr/>
          <p:nvPr/>
        </p:nvSpPr>
        <p:spPr>
          <a:xfrm>
            <a:off x="4261104" y="2020824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"/>
          <p:cNvSpPr/>
          <p:nvPr/>
        </p:nvSpPr>
        <p:spPr>
          <a:xfrm>
            <a:off x="5047488" y="2020824"/>
            <a:ext cx="786300" cy="484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"/>
          <p:cNvSpPr/>
          <p:nvPr/>
        </p:nvSpPr>
        <p:spPr>
          <a:xfrm>
            <a:off x="5833872" y="2020824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"/>
          <p:cNvSpPr/>
          <p:nvPr/>
        </p:nvSpPr>
        <p:spPr>
          <a:xfrm>
            <a:off x="6620256" y="2258507"/>
            <a:ext cx="786300" cy="484500"/>
          </a:xfrm>
          <a:prstGeom prst="rect">
            <a:avLst/>
          </a:prstGeom>
          <a:solidFill>
            <a:srgbClr val="FF9900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"/>
          <p:cNvSpPr/>
          <p:nvPr/>
        </p:nvSpPr>
        <p:spPr>
          <a:xfrm>
            <a:off x="7406640" y="2020824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"/>
          <p:cNvSpPr/>
          <p:nvPr/>
        </p:nvSpPr>
        <p:spPr>
          <a:xfrm>
            <a:off x="8193024" y="2020824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"/>
          <p:cNvSpPr/>
          <p:nvPr/>
        </p:nvSpPr>
        <p:spPr>
          <a:xfrm>
            <a:off x="8979408" y="2020824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"/>
          <p:cNvSpPr/>
          <p:nvPr/>
        </p:nvSpPr>
        <p:spPr>
          <a:xfrm>
            <a:off x="9765792" y="2020824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"/>
          <p:cNvSpPr/>
          <p:nvPr/>
        </p:nvSpPr>
        <p:spPr>
          <a:xfrm>
            <a:off x="10552176" y="2020824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"/>
          <p:cNvSpPr/>
          <p:nvPr/>
        </p:nvSpPr>
        <p:spPr>
          <a:xfrm>
            <a:off x="320040" y="2505456"/>
            <a:ext cx="1737360" cy="484632"/>
          </a:xfrm>
          <a:prstGeom prst="rect">
            <a:avLst/>
          </a:prstGeom>
          <a:solidFill>
            <a:srgbClr val="F6FAFD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"/>
          <p:cNvSpPr/>
          <p:nvPr/>
        </p:nvSpPr>
        <p:spPr>
          <a:xfrm>
            <a:off x="2057400" y="2505456"/>
            <a:ext cx="1417320" cy="484632"/>
          </a:xfrm>
          <a:prstGeom prst="rect">
            <a:avLst/>
          </a:prstGeom>
          <a:solidFill>
            <a:srgbClr val="EEF6FB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"/>
          <p:cNvSpPr/>
          <p:nvPr/>
        </p:nvSpPr>
        <p:spPr>
          <a:xfrm>
            <a:off x="374904" y="2615184"/>
            <a:ext cx="162763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B2341"/>
                </a:solidFill>
                <a:latin typeface="Arial"/>
                <a:ea typeface="Arial"/>
                <a:cs typeface="Arial"/>
                <a:sym typeface="Arial"/>
              </a:rPr>
              <a:t>Sprint 2 · Arquitectura y diseño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"/>
          <p:cNvSpPr/>
          <p:nvPr/>
        </p:nvSpPr>
        <p:spPr>
          <a:xfrm>
            <a:off x="2112264" y="2633472"/>
            <a:ext cx="130759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F6783"/>
                </a:solidFill>
                <a:latin typeface="Arial"/>
                <a:ea typeface="Arial"/>
                <a:cs typeface="Arial"/>
                <a:sym typeface="Arial"/>
              </a:rPr>
              <a:t>Casos uso · 4+1 · Modelo conceptual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"/>
          <p:cNvSpPr/>
          <p:nvPr/>
        </p:nvSpPr>
        <p:spPr>
          <a:xfrm>
            <a:off x="3474720" y="2505456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"/>
          <p:cNvSpPr/>
          <p:nvPr/>
        </p:nvSpPr>
        <p:spPr>
          <a:xfrm>
            <a:off x="4261104" y="2505456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"/>
          <p:cNvSpPr/>
          <p:nvPr/>
        </p:nvSpPr>
        <p:spPr>
          <a:xfrm>
            <a:off x="4475988" y="3557031"/>
            <a:ext cx="786300" cy="484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"/>
          <p:cNvSpPr/>
          <p:nvPr/>
        </p:nvSpPr>
        <p:spPr>
          <a:xfrm>
            <a:off x="5833872" y="2505456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"/>
          <p:cNvSpPr/>
          <p:nvPr/>
        </p:nvSpPr>
        <p:spPr>
          <a:xfrm>
            <a:off x="6620256" y="2505456"/>
            <a:ext cx="786384" cy="484632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"/>
          <p:cNvSpPr/>
          <p:nvPr/>
        </p:nvSpPr>
        <p:spPr>
          <a:xfrm>
            <a:off x="7406640" y="2505456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"/>
          <p:cNvSpPr/>
          <p:nvPr/>
        </p:nvSpPr>
        <p:spPr>
          <a:xfrm>
            <a:off x="8193024" y="2505456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"/>
          <p:cNvSpPr/>
          <p:nvPr/>
        </p:nvSpPr>
        <p:spPr>
          <a:xfrm>
            <a:off x="8979408" y="2505456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"/>
          <p:cNvSpPr/>
          <p:nvPr/>
        </p:nvSpPr>
        <p:spPr>
          <a:xfrm>
            <a:off x="9765792" y="2505456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"/>
          <p:cNvSpPr/>
          <p:nvPr/>
        </p:nvSpPr>
        <p:spPr>
          <a:xfrm>
            <a:off x="10552176" y="2505456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"/>
          <p:cNvSpPr/>
          <p:nvPr/>
        </p:nvSpPr>
        <p:spPr>
          <a:xfrm>
            <a:off x="320040" y="2990088"/>
            <a:ext cx="1737360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"/>
          <p:cNvSpPr/>
          <p:nvPr/>
        </p:nvSpPr>
        <p:spPr>
          <a:xfrm>
            <a:off x="2057400" y="2990088"/>
            <a:ext cx="1417320" cy="484632"/>
          </a:xfrm>
          <a:prstGeom prst="rect">
            <a:avLst/>
          </a:prstGeom>
          <a:solidFill>
            <a:srgbClr val="F9FC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"/>
          <p:cNvSpPr/>
          <p:nvPr/>
        </p:nvSpPr>
        <p:spPr>
          <a:xfrm>
            <a:off x="374904" y="3099816"/>
            <a:ext cx="162763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B2341"/>
                </a:solidFill>
                <a:latin typeface="Arial"/>
                <a:ea typeface="Arial"/>
                <a:cs typeface="Arial"/>
                <a:sym typeface="Arial"/>
              </a:rPr>
              <a:t>Sprint 3 · Implementación base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"/>
          <p:cNvSpPr/>
          <p:nvPr/>
        </p:nvSpPr>
        <p:spPr>
          <a:xfrm>
            <a:off x="2112264" y="3118104"/>
            <a:ext cx="130759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F6783"/>
                </a:solidFill>
                <a:latin typeface="Arial"/>
                <a:ea typeface="Arial"/>
                <a:cs typeface="Arial"/>
                <a:sym typeface="Arial"/>
              </a:rPr>
              <a:t>Modelo ER  · BD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"/>
          <p:cNvSpPr/>
          <p:nvPr/>
        </p:nvSpPr>
        <p:spPr>
          <a:xfrm>
            <a:off x="3474720" y="2990088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"/>
          <p:cNvSpPr/>
          <p:nvPr/>
        </p:nvSpPr>
        <p:spPr>
          <a:xfrm>
            <a:off x="4261104" y="2990088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"/>
          <p:cNvSpPr/>
          <p:nvPr/>
        </p:nvSpPr>
        <p:spPr>
          <a:xfrm>
            <a:off x="5833872" y="2990088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"/>
          <p:cNvSpPr/>
          <p:nvPr/>
        </p:nvSpPr>
        <p:spPr>
          <a:xfrm>
            <a:off x="6620256" y="2990088"/>
            <a:ext cx="786384" cy="484632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"/>
          <p:cNvSpPr/>
          <p:nvPr/>
        </p:nvSpPr>
        <p:spPr>
          <a:xfrm>
            <a:off x="7406640" y="2990088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"/>
          <p:cNvSpPr/>
          <p:nvPr/>
        </p:nvSpPr>
        <p:spPr>
          <a:xfrm>
            <a:off x="8193024" y="2990088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"/>
          <p:cNvSpPr/>
          <p:nvPr/>
        </p:nvSpPr>
        <p:spPr>
          <a:xfrm>
            <a:off x="8979408" y="2990088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"/>
          <p:cNvSpPr/>
          <p:nvPr/>
        </p:nvSpPr>
        <p:spPr>
          <a:xfrm>
            <a:off x="9765792" y="2990088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"/>
          <p:cNvSpPr/>
          <p:nvPr/>
        </p:nvSpPr>
        <p:spPr>
          <a:xfrm>
            <a:off x="10552176" y="2990088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"/>
          <p:cNvSpPr/>
          <p:nvPr/>
        </p:nvSpPr>
        <p:spPr>
          <a:xfrm>
            <a:off x="320040" y="3474720"/>
            <a:ext cx="1737360" cy="484632"/>
          </a:xfrm>
          <a:prstGeom prst="rect">
            <a:avLst/>
          </a:prstGeom>
          <a:solidFill>
            <a:srgbClr val="F6FAFD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"/>
          <p:cNvSpPr/>
          <p:nvPr/>
        </p:nvSpPr>
        <p:spPr>
          <a:xfrm>
            <a:off x="2057400" y="3474720"/>
            <a:ext cx="1417320" cy="484632"/>
          </a:xfrm>
          <a:prstGeom prst="rect">
            <a:avLst/>
          </a:prstGeom>
          <a:solidFill>
            <a:srgbClr val="EEF6FB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"/>
          <p:cNvSpPr/>
          <p:nvPr/>
        </p:nvSpPr>
        <p:spPr>
          <a:xfrm>
            <a:off x="374904" y="3584448"/>
            <a:ext cx="162763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B2341"/>
                </a:solidFill>
                <a:latin typeface="Arial"/>
                <a:ea typeface="Arial"/>
                <a:cs typeface="Arial"/>
                <a:sym typeface="Arial"/>
              </a:rPr>
              <a:t>Sprint 4 · Jira / dashboards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"/>
          <p:cNvSpPr/>
          <p:nvPr/>
        </p:nvSpPr>
        <p:spPr>
          <a:xfrm>
            <a:off x="2112264" y="3602736"/>
            <a:ext cx="130759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F6783"/>
                </a:solidFill>
                <a:latin typeface="Arial"/>
                <a:ea typeface="Arial"/>
                <a:cs typeface="Arial"/>
                <a:sym typeface="Arial"/>
              </a:rPr>
              <a:t>Integración · KPI QE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"/>
          <p:cNvSpPr/>
          <p:nvPr/>
        </p:nvSpPr>
        <p:spPr>
          <a:xfrm>
            <a:off x="3474720" y="3474720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"/>
          <p:cNvSpPr/>
          <p:nvPr/>
        </p:nvSpPr>
        <p:spPr>
          <a:xfrm>
            <a:off x="4261104" y="3474720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"/>
          <p:cNvSpPr/>
          <p:nvPr/>
        </p:nvSpPr>
        <p:spPr>
          <a:xfrm>
            <a:off x="5047488" y="3474720"/>
            <a:ext cx="786384" cy="4846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"/>
          <p:cNvSpPr/>
          <p:nvPr/>
        </p:nvSpPr>
        <p:spPr>
          <a:xfrm>
            <a:off x="5833872" y="3474720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"/>
          <p:cNvSpPr/>
          <p:nvPr/>
        </p:nvSpPr>
        <p:spPr>
          <a:xfrm>
            <a:off x="6620256" y="3474720"/>
            <a:ext cx="786384" cy="484632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"/>
          <p:cNvSpPr/>
          <p:nvPr/>
        </p:nvSpPr>
        <p:spPr>
          <a:xfrm>
            <a:off x="7406640" y="3474720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"/>
          <p:cNvSpPr/>
          <p:nvPr/>
        </p:nvSpPr>
        <p:spPr>
          <a:xfrm>
            <a:off x="8193024" y="3474720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"/>
          <p:cNvSpPr/>
          <p:nvPr/>
        </p:nvSpPr>
        <p:spPr>
          <a:xfrm>
            <a:off x="8979408" y="3474720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"/>
          <p:cNvSpPr/>
          <p:nvPr/>
        </p:nvSpPr>
        <p:spPr>
          <a:xfrm>
            <a:off x="9765792" y="3474720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"/>
          <p:cNvSpPr/>
          <p:nvPr/>
        </p:nvSpPr>
        <p:spPr>
          <a:xfrm>
            <a:off x="10552176" y="3474720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"/>
          <p:cNvSpPr/>
          <p:nvPr/>
        </p:nvSpPr>
        <p:spPr>
          <a:xfrm>
            <a:off x="320040" y="3959352"/>
            <a:ext cx="1737360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"/>
          <p:cNvSpPr/>
          <p:nvPr/>
        </p:nvSpPr>
        <p:spPr>
          <a:xfrm>
            <a:off x="2057400" y="3959352"/>
            <a:ext cx="1417320" cy="484632"/>
          </a:xfrm>
          <a:prstGeom prst="rect">
            <a:avLst/>
          </a:prstGeom>
          <a:solidFill>
            <a:srgbClr val="F9FC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"/>
          <p:cNvSpPr/>
          <p:nvPr/>
        </p:nvSpPr>
        <p:spPr>
          <a:xfrm>
            <a:off x="374904" y="4069080"/>
            <a:ext cx="162763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B2341"/>
                </a:solidFill>
                <a:latin typeface="Arial"/>
                <a:ea typeface="Arial"/>
                <a:cs typeface="Arial"/>
                <a:sym typeface="Arial"/>
              </a:rPr>
              <a:t>Sprint 5 · Validación funcional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"/>
          <p:cNvSpPr/>
          <p:nvPr/>
        </p:nvSpPr>
        <p:spPr>
          <a:xfrm>
            <a:off x="2112264" y="4087368"/>
            <a:ext cx="130759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F6783"/>
                </a:solidFill>
                <a:latin typeface="Arial"/>
                <a:ea typeface="Arial"/>
                <a:cs typeface="Arial"/>
                <a:sym typeface="Arial"/>
              </a:rPr>
              <a:t>Pruebas · Medición SIN/CON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"/>
          <p:cNvSpPr/>
          <p:nvPr/>
        </p:nvSpPr>
        <p:spPr>
          <a:xfrm>
            <a:off x="3474720" y="3959352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"/>
          <p:cNvSpPr/>
          <p:nvPr/>
        </p:nvSpPr>
        <p:spPr>
          <a:xfrm>
            <a:off x="4261104" y="3959352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"/>
          <p:cNvSpPr/>
          <p:nvPr/>
        </p:nvSpPr>
        <p:spPr>
          <a:xfrm>
            <a:off x="5047488" y="3959352"/>
            <a:ext cx="786384" cy="4846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"/>
          <p:cNvSpPr/>
          <p:nvPr/>
        </p:nvSpPr>
        <p:spPr>
          <a:xfrm>
            <a:off x="5833872" y="3959352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"/>
          <p:cNvSpPr/>
          <p:nvPr/>
        </p:nvSpPr>
        <p:spPr>
          <a:xfrm>
            <a:off x="6620256" y="3959352"/>
            <a:ext cx="786384" cy="484632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"/>
          <p:cNvSpPr/>
          <p:nvPr/>
        </p:nvSpPr>
        <p:spPr>
          <a:xfrm>
            <a:off x="7406640" y="3959352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"/>
          <p:cNvSpPr/>
          <p:nvPr/>
        </p:nvSpPr>
        <p:spPr>
          <a:xfrm>
            <a:off x="8193024" y="3959352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"/>
          <p:cNvSpPr/>
          <p:nvPr/>
        </p:nvSpPr>
        <p:spPr>
          <a:xfrm>
            <a:off x="8979408" y="3959352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"/>
          <p:cNvSpPr/>
          <p:nvPr/>
        </p:nvSpPr>
        <p:spPr>
          <a:xfrm>
            <a:off x="9765792" y="3959352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"/>
          <p:cNvSpPr/>
          <p:nvPr/>
        </p:nvSpPr>
        <p:spPr>
          <a:xfrm>
            <a:off x="10552176" y="3959352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"/>
          <p:cNvSpPr/>
          <p:nvPr/>
        </p:nvSpPr>
        <p:spPr>
          <a:xfrm>
            <a:off x="320040" y="4443984"/>
            <a:ext cx="1737360" cy="484632"/>
          </a:xfrm>
          <a:prstGeom prst="rect">
            <a:avLst/>
          </a:prstGeom>
          <a:solidFill>
            <a:srgbClr val="F6FAFD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"/>
          <p:cNvSpPr/>
          <p:nvPr/>
        </p:nvSpPr>
        <p:spPr>
          <a:xfrm>
            <a:off x="2057400" y="4443984"/>
            <a:ext cx="1417320" cy="484632"/>
          </a:xfrm>
          <a:prstGeom prst="rect">
            <a:avLst/>
          </a:prstGeom>
          <a:solidFill>
            <a:srgbClr val="EEF6FB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"/>
          <p:cNvSpPr/>
          <p:nvPr/>
        </p:nvSpPr>
        <p:spPr>
          <a:xfrm>
            <a:off x="374904" y="4553712"/>
            <a:ext cx="162763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B2341"/>
                </a:solidFill>
                <a:latin typeface="Arial"/>
                <a:ea typeface="Arial"/>
                <a:cs typeface="Arial"/>
                <a:sym typeface="Arial"/>
              </a:rPr>
              <a:t>Sprint 6 · Cierre técnico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"/>
          <p:cNvSpPr/>
          <p:nvPr/>
        </p:nvSpPr>
        <p:spPr>
          <a:xfrm>
            <a:off x="2112264" y="4572000"/>
            <a:ext cx="130759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F6783"/>
                </a:solidFill>
                <a:latin typeface="Arial"/>
                <a:ea typeface="Arial"/>
                <a:cs typeface="Arial"/>
                <a:sym typeface="Arial"/>
              </a:rPr>
              <a:t>Docs · Costos · Release freeze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"/>
          <p:cNvSpPr/>
          <p:nvPr/>
        </p:nvSpPr>
        <p:spPr>
          <a:xfrm>
            <a:off x="3474720" y="4443984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"/>
          <p:cNvSpPr/>
          <p:nvPr/>
        </p:nvSpPr>
        <p:spPr>
          <a:xfrm>
            <a:off x="4261104" y="4443984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"/>
          <p:cNvSpPr/>
          <p:nvPr/>
        </p:nvSpPr>
        <p:spPr>
          <a:xfrm>
            <a:off x="5047488" y="4443984"/>
            <a:ext cx="786384" cy="4846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"/>
          <p:cNvSpPr/>
          <p:nvPr/>
        </p:nvSpPr>
        <p:spPr>
          <a:xfrm>
            <a:off x="5833872" y="4443984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"/>
          <p:cNvSpPr/>
          <p:nvPr/>
        </p:nvSpPr>
        <p:spPr>
          <a:xfrm>
            <a:off x="6620256" y="4443984"/>
            <a:ext cx="786384" cy="484632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"/>
          <p:cNvSpPr/>
          <p:nvPr/>
        </p:nvSpPr>
        <p:spPr>
          <a:xfrm>
            <a:off x="7406640" y="4443984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"/>
          <p:cNvSpPr/>
          <p:nvPr/>
        </p:nvSpPr>
        <p:spPr>
          <a:xfrm>
            <a:off x="8193024" y="4443984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"/>
          <p:cNvSpPr/>
          <p:nvPr/>
        </p:nvSpPr>
        <p:spPr>
          <a:xfrm>
            <a:off x="8979408" y="4443984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"/>
          <p:cNvSpPr/>
          <p:nvPr/>
        </p:nvSpPr>
        <p:spPr>
          <a:xfrm>
            <a:off x="9765792" y="4443984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"/>
          <p:cNvSpPr/>
          <p:nvPr/>
        </p:nvSpPr>
        <p:spPr>
          <a:xfrm>
            <a:off x="10552176" y="4443984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"/>
          <p:cNvSpPr/>
          <p:nvPr/>
        </p:nvSpPr>
        <p:spPr>
          <a:xfrm>
            <a:off x="320040" y="4928616"/>
            <a:ext cx="1737360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"/>
          <p:cNvSpPr/>
          <p:nvPr/>
        </p:nvSpPr>
        <p:spPr>
          <a:xfrm>
            <a:off x="2057400" y="4928616"/>
            <a:ext cx="1417320" cy="484632"/>
          </a:xfrm>
          <a:prstGeom prst="rect">
            <a:avLst/>
          </a:prstGeom>
          <a:solidFill>
            <a:srgbClr val="F9FC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"/>
          <p:cNvSpPr/>
          <p:nvPr/>
        </p:nvSpPr>
        <p:spPr>
          <a:xfrm>
            <a:off x="374904" y="5038344"/>
            <a:ext cx="162763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B2341"/>
                </a:solidFill>
                <a:latin typeface="Arial"/>
                <a:ea typeface="Arial"/>
                <a:cs typeface="Arial"/>
                <a:sym typeface="Arial"/>
              </a:rPr>
              <a:t>Comisión · Presentación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"/>
          <p:cNvSpPr/>
          <p:nvPr/>
        </p:nvSpPr>
        <p:spPr>
          <a:xfrm>
            <a:off x="2112264" y="5056632"/>
            <a:ext cx="130759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F6783"/>
                </a:solidFill>
                <a:latin typeface="Arial"/>
                <a:ea typeface="Arial"/>
                <a:cs typeface="Arial"/>
                <a:sym typeface="Arial"/>
              </a:rPr>
              <a:t>Demo · Defensa · Entrega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"/>
          <p:cNvSpPr/>
          <p:nvPr/>
        </p:nvSpPr>
        <p:spPr>
          <a:xfrm>
            <a:off x="3474720" y="4928616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"/>
          <p:cNvSpPr/>
          <p:nvPr/>
        </p:nvSpPr>
        <p:spPr>
          <a:xfrm>
            <a:off x="4261104" y="4928616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"/>
          <p:cNvSpPr/>
          <p:nvPr/>
        </p:nvSpPr>
        <p:spPr>
          <a:xfrm>
            <a:off x="5047488" y="4928616"/>
            <a:ext cx="786384" cy="4846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"/>
          <p:cNvSpPr/>
          <p:nvPr/>
        </p:nvSpPr>
        <p:spPr>
          <a:xfrm>
            <a:off x="5833872" y="4928616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"/>
          <p:cNvSpPr/>
          <p:nvPr/>
        </p:nvSpPr>
        <p:spPr>
          <a:xfrm>
            <a:off x="6620256" y="4928616"/>
            <a:ext cx="786384" cy="484632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"/>
          <p:cNvSpPr/>
          <p:nvPr/>
        </p:nvSpPr>
        <p:spPr>
          <a:xfrm>
            <a:off x="7406640" y="4928616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"/>
          <p:cNvSpPr/>
          <p:nvPr/>
        </p:nvSpPr>
        <p:spPr>
          <a:xfrm>
            <a:off x="8193024" y="4928616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"/>
          <p:cNvSpPr/>
          <p:nvPr/>
        </p:nvSpPr>
        <p:spPr>
          <a:xfrm>
            <a:off x="8979408" y="4928616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"/>
          <p:cNvSpPr/>
          <p:nvPr/>
        </p:nvSpPr>
        <p:spPr>
          <a:xfrm>
            <a:off x="9765792" y="4928616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"/>
          <p:cNvSpPr/>
          <p:nvPr/>
        </p:nvSpPr>
        <p:spPr>
          <a:xfrm>
            <a:off x="10552176" y="4928616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1"/>
          <p:cNvSpPr/>
          <p:nvPr/>
        </p:nvSpPr>
        <p:spPr>
          <a:xfrm>
            <a:off x="3511296" y="2103120"/>
            <a:ext cx="713232" cy="320040"/>
          </a:xfrm>
          <a:prstGeom prst="roundRect">
            <a:avLst>
              <a:gd fmla="val 16667" name="adj"/>
            </a:avLst>
          </a:prstGeom>
          <a:solidFill>
            <a:srgbClr val="13B889"/>
          </a:solidFill>
          <a:ln cap="flat" cmpd="sng" w="10150">
            <a:solidFill>
              <a:srgbClr val="13B8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"/>
          <p:cNvSpPr/>
          <p:nvPr/>
        </p:nvSpPr>
        <p:spPr>
          <a:xfrm>
            <a:off x="3538728" y="2139696"/>
            <a:ext cx="65836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Sprint 1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"/>
          <p:cNvSpPr/>
          <p:nvPr/>
        </p:nvSpPr>
        <p:spPr>
          <a:xfrm>
            <a:off x="4297680" y="2587752"/>
            <a:ext cx="713232" cy="320040"/>
          </a:xfrm>
          <a:prstGeom prst="roundRect">
            <a:avLst>
              <a:gd fmla="val 16667" name="adj"/>
            </a:avLst>
          </a:prstGeom>
          <a:solidFill>
            <a:srgbClr val="13B889"/>
          </a:solidFill>
          <a:ln cap="flat" cmpd="sng" w="10150">
            <a:solidFill>
              <a:srgbClr val="13B8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"/>
          <p:cNvSpPr/>
          <p:nvPr/>
        </p:nvSpPr>
        <p:spPr>
          <a:xfrm>
            <a:off x="4325112" y="2624328"/>
            <a:ext cx="65836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Sprint 2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"/>
          <p:cNvSpPr/>
          <p:nvPr/>
        </p:nvSpPr>
        <p:spPr>
          <a:xfrm>
            <a:off x="5870448" y="3072384"/>
            <a:ext cx="713232" cy="320040"/>
          </a:xfrm>
          <a:prstGeom prst="roundRect">
            <a:avLst>
              <a:gd fmla="val 16667" name="adj"/>
            </a:avLst>
          </a:prstGeom>
          <a:solidFill>
            <a:srgbClr val="179FE3"/>
          </a:solidFill>
          <a:ln cap="flat" cmpd="sng" w="10150">
            <a:solidFill>
              <a:srgbClr val="179F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1"/>
          <p:cNvSpPr/>
          <p:nvPr/>
        </p:nvSpPr>
        <p:spPr>
          <a:xfrm>
            <a:off x="5897880" y="3108960"/>
            <a:ext cx="65836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Persist.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ER + API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"/>
          <p:cNvSpPr/>
          <p:nvPr/>
        </p:nvSpPr>
        <p:spPr>
          <a:xfrm>
            <a:off x="6684275" y="3080500"/>
            <a:ext cx="658200" cy="2925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rgbClr val="179F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Cierre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Sprint 3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1"/>
          <p:cNvSpPr/>
          <p:nvPr/>
        </p:nvSpPr>
        <p:spPr>
          <a:xfrm>
            <a:off x="6656832" y="3557016"/>
            <a:ext cx="713232" cy="320040"/>
          </a:xfrm>
          <a:prstGeom prst="roundRect">
            <a:avLst>
              <a:gd fmla="val 16667" name="adj"/>
            </a:avLst>
          </a:prstGeom>
          <a:solidFill>
            <a:srgbClr val="7C56E8"/>
          </a:solidFill>
          <a:ln cap="flat" cmpd="sng" w="10150">
            <a:solidFill>
              <a:srgbClr val="7C5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1"/>
          <p:cNvSpPr/>
          <p:nvPr/>
        </p:nvSpPr>
        <p:spPr>
          <a:xfrm>
            <a:off x="6684264" y="3593592"/>
            <a:ext cx="65836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Jira / CSV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JSON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"/>
          <p:cNvSpPr/>
          <p:nvPr/>
        </p:nvSpPr>
        <p:spPr>
          <a:xfrm>
            <a:off x="7443216" y="3557016"/>
            <a:ext cx="713232" cy="320040"/>
          </a:xfrm>
          <a:prstGeom prst="roundRect">
            <a:avLst>
              <a:gd fmla="val 16667" name="adj"/>
            </a:avLst>
          </a:prstGeom>
          <a:solidFill>
            <a:srgbClr val="7C56E8"/>
          </a:solidFill>
          <a:ln cap="flat" cmpd="sng" w="10150">
            <a:solidFill>
              <a:srgbClr val="7C5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1"/>
          <p:cNvSpPr/>
          <p:nvPr/>
        </p:nvSpPr>
        <p:spPr>
          <a:xfrm>
            <a:off x="7470648" y="3593592"/>
            <a:ext cx="65836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KPI +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dashboard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"/>
          <p:cNvSpPr/>
          <p:nvPr/>
        </p:nvSpPr>
        <p:spPr>
          <a:xfrm>
            <a:off x="8229600" y="4041648"/>
            <a:ext cx="713232" cy="320040"/>
          </a:xfrm>
          <a:prstGeom prst="roundRect">
            <a:avLst>
              <a:gd fmla="val 16667" name="adj"/>
            </a:avLst>
          </a:prstGeom>
          <a:solidFill>
            <a:srgbClr val="F59E0B"/>
          </a:solidFill>
          <a:ln cap="flat" cmpd="sng" w="101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1"/>
          <p:cNvSpPr/>
          <p:nvPr/>
        </p:nvSpPr>
        <p:spPr>
          <a:xfrm>
            <a:off x="8257032" y="4078224"/>
            <a:ext cx="65836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Pruebas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funcionales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"/>
          <p:cNvSpPr/>
          <p:nvPr/>
        </p:nvSpPr>
        <p:spPr>
          <a:xfrm>
            <a:off x="9015984" y="4041648"/>
            <a:ext cx="713232" cy="320040"/>
          </a:xfrm>
          <a:prstGeom prst="roundRect">
            <a:avLst>
              <a:gd fmla="val 16667" name="adj"/>
            </a:avLst>
          </a:prstGeom>
          <a:solidFill>
            <a:srgbClr val="F59E0B"/>
          </a:solidFill>
          <a:ln cap="flat" cmpd="sng" w="101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"/>
          <p:cNvSpPr/>
          <p:nvPr/>
        </p:nvSpPr>
        <p:spPr>
          <a:xfrm>
            <a:off x="9043416" y="4078224"/>
            <a:ext cx="65836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SIN/CON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+ ajustes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"/>
          <p:cNvSpPr/>
          <p:nvPr/>
        </p:nvSpPr>
        <p:spPr>
          <a:xfrm>
            <a:off x="9802368" y="4526280"/>
            <a:ext cx="713232" cy="320040"/>
          </a:xfrm>
          <a:prstGeom prst="roundRect">
            <a:avLst>
              <a:gd fmla="val 16667" name="adj"/>
            </a:avLst>
          </a:prstGeom>
          <a:solidFill>
            <a:srgbClr val="13B889"/>
          </a:solidFill>
          <a:ln cap="flat" cmpd="sng" w="10150">
            <a:solidFill>
              <a:srgbClr val="13B8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"/>
          <p:cNvSpPr/>
          <p:nvPr/>
        </p:nvSpPr>
        <p:spPr>
          <a:xfrm>
            <a:off x="9829800" y="4562856"/>
            <a:ext cx="65836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Release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freeze 26/11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"/>
          <p:cNvSpPr/>
          <p:nvPr/>
        </p:nvSpPr>
        <p:spPr>
          <a:xfrm>
            <a:off x="10588752" y="5010912"/>
            <a:ext cx="713232" cy="320040"/>
          </a:xfrm>
          <a:prstGeom prst="roundRect">
            <a:avLst>
              <a:gd fmla="val 16667" name="adj"/>
            </a:avLst>
          </a:prstGeom>
          <a:solidFill>
            <a:srgbClr val="E11D48"/>
          </a:solidFill>
          <a:ln cap="flat" cmpd="sng" w="10150">
            <a:solidFill>
              <a:srgbClr val="E11D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"/>
          <p:cNvSpPr/>
          <p:nvPr/>
        </p:nvSpPr>
        <p:spPr>
          <a:xfrm>
            <a:off x="10616184" y="5047488"/>
            <a:ext cx="65836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Present.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Comisión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"/>
          <p:cNvSpPr/>
          <p:nvPr/>
        </p:nvSpPr>
        <p:spPr>
          <a:xfrm>
            <a:off x="320040" y="5742432"/>
            <a:ext cx="11567160" cy="457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CDE4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"/>
          <p:cNvSpPr/>
          <p:nvPr/>
        </p:nvSpPr>
        <p:spPr>
          <a:xfrm>
            <a:off x="502920" y="5888736"/>
            <a:ext cx="640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123B69"/>
                </a:solidFill>
                <a:latin typeface="Arial"/>
                <a:ea typeface="Arial"/>
                <a:cs typeface="Arial"/>
                <a:sym typeface="Arial"/>
              </a:rPr>
              <a:t>Leyenda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"/>
          <p:cNvSpPr/>
          <p:nvPr/>
        </p:nvSpPr>
        <p:spPr>
          <a:xfrm>
            <a:off x="1234440" y="5870448"/>
            <a:ext cx="868680" cy="219456"/>
          </a:xfrm>
          <a:prstGeom prst="roundRect">
            <a:avLst>
              <a:gd fmla="val 16667" name="adj"/>
            </a:avLst>
          </a:prstGeom>
          <a:solidFill>
            <a:srgbClr val="13B889"/>
          </a:solidFill>
          <a:ln cap="flat" cmpd="sng" w="10150">
            <a:solidFill>
              <a:srgbClr val="13B8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"/>
          <p:cNvSpPr/>
          <p:nvPr/>
        </p:nvSpPr>
        <p:spPr>
          <a:xfrm>
            <a:off x="1252728" y="5907024"/>
            <a:ext cx="832104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Finalizado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"/>
          <p:cNvSpPr/>
          <p:nvPr/>
        </p:nvSpPr>
        <p:spPr>
          <a:xfrm>
            <a:off x="2240280" y="5870448"/>
            <a:ext cx="868680" cy="219456"/>
          </a:xfrm>
          <a:prstGeom prst="roundRect">
            <a:avLst>
              <a:gd fmla="val 16667" name="adj"/>
            </a:avLst>
          </a:prstGeom>
          <a:solidFill>
            <a:srgbClr val="179FE3"/>
          </a:solidFill>
          <a:ln cap="flat" cmpd="sng" w="10150">
            <a:solidFill>
              <a:srgbClr val="179F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"/>
          <p:cNvSpPr/>
          <p:nvPr/>
        </p:nvSpPr>
        <p:spPr>
          <a:xfrm>
            <a:off x="2258568" y="5907024"/>
            <a:ext cx="832104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 curso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"/>
          <p:cNvSpPr/>
          <p:nvPr/>
        </p:nvSpPr>
        <p:spPr>
          <a:xfrm>
            <a:off x="3246120" y="5870448"/>
            <a:ext cx="868680" cy="219456"/>
          </a:xfrm>
          <a:prstGeom prst="roundRect">
            <a:avLst>
              <a:gd fmla="val 16667" name="adj"/>
            </a:avLst>
          </a:prstGeom>
          <a:solidFill>
            <a:srgbClr val="7C56E8"/>
          </a:solidFill>
          <a:ln cap="flat" cmpd="sng" w="10150">
            <a:solidFill>
              <a:srgbClr val="7C5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"/>
          <p:cNvSpPr/>
          <p:nvPr/>
        </p:nvSpPr>
        <p:spPr>
          <a:xfrm>
            <a:off x="3264408" y="5907024"/>
            <a:ext cx="832104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Planificado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5" name="Google Shape;325;p1"/>
          <p:cNvGrpSpPr/>
          <p:nvPr/>
        </p:nvGrpSpPr>
        <p:grpSpPr>
          <a:xfrm>
            <a:off x="4261104" y="5866638"/>
            <a:ext cx="868680" cy="219456"/>
            <a:chOff x="4343400" y="5870448"/>
            <a:chExt cx="868680" cy="219456"/>
          </a:xfrm>
        </p:grpSpPr>
        <p:sp>
          <p:nvSpPr>
            <p:cNvPr id="326" name="Google Shape;326;p1"/>
            <p:cNvSpPr/>
            <p:nvPr/>
          </p:nvSpPr>
          <p:spPr>
            <a:xfrm>
              <a:off x="4343400" y="5870448"/>
              <a:ext cx="868680" cy="219456"/>
            </a:xfrm>
            <a:prstGeom prst="roundRect">
              <a:avLst>
                <a:gd fmla="val 16667" name="adj"/>
              </a:avLst>
            </a:prstGeom>
            <a:solidFill>
              <a:srgbClr val="E11D48"/>
            </a:solidFill>
            <a:ln cap="flat" cmpd="sng" w="10150">
              <a:solidFill>
                <a:srgbClr val="E11D4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1"/>
            <p:cNvSpPr/>
            <p:nvPr/>
          </p:nvSpPr>
          <p:spPr>
            <a:xfrm>
              <a:off x="4361688" y="5907024"/>
              <a:ext cx="832104" cy="1371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0" lIns="250" spcFirstLastPara="1" rIns="250" wrap="square" tIns="250">
              <a:norm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i="0" lang="en-US" sz="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Hito crítico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8" name="Google Shape;328;p1"/>
          <p:cNvSpPr/>
          <p:nvPr/>
        </p:nvSpPr>
        <p:spPr>
          <a:xfrm>
            <a:off x="5486400" y="5861304"/>
            <a:ext cx="5852160" cy="275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0B2341"/>
                </a:solidFill>
                <a:latin typeface="Arial"/>
                <a:ea typeface="Arial"/>
                <a:cs typeface="Arial"/>
                <a:sym typeface="Arial"/>
              </a:rPr>
              <a:t>Uso esperado: actualizar semanalmente según Jira Cloud y GitHub. Este roadmap distingue actividades concluidas, en curso y por comenzar.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"/>
          <p:cNvSpPr/>
          <p:nvPr/>
        </p:nvSpPr>
        <p:spPr>
          <a:xfrm>
            <a:off x="11658600" y="6510528"/>
            <a:ext cx="18288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F6783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"/>
          <p:cNvSpPr txBox="1"/>
          <p:nvPr/>
        </p:nvSpPr>
        <p:spPr>
          <a:xfrm>
            <a:off x="773763" y="6208775"/>
            <a:ext cx="581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"/>
          <p:cNvSpPr/>
          <p:nvPr/>
        </p:nvSpPr>
        <p:spPr>
          <a:xfrm>
            <a:off x="6620310" y="2051628"/>
            <a:ext cx="786300" cy="4845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1"/>
          <p:cNvSpPr/>
          <p:nvPr/>
        </p:nvSpPr>
        <p:spPr>
          <a:xfrm>
            <a:off x="5075000" y="3016750"/>
            <a:ext cx="685800" cy="457200"/>
          </a:xfrm>
          <a:prstGeom prst="roundRect">
            <a:avLst>
              <a:gd fmla="val 16667" name="adj"/>
            </a:avLst>
          </a:prstGeom>
          <a:solidFill>
            <a:srgbClr val="13B8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lang="en-US" sz="700">
                <a:solidFill>
                  <a:schemeClr val="lt1"/>
                </a:solidFill>
              </a:rPr>
              <a:t>Finalizado</a:t>
            </a:r>
            <a:endParaRPr sz="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lang="en-US" sz="600">
                <a:solidFill>
                  <a:schemeClr val="lt1"/>
                </a:solidFill>
              </a:rPr>
              <a:t>BBDD y  Diseño Arquitectura</a:t>
            </a:r>
            <a:endParaRPr sz="6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h4e82ad7d59cc63f1_2_245"/>
          <p:cNvSpPr/>
          <p:nvPr/>
        </p:nvSpPr>
        <p:spPr>
          <a:xfrm>
            <a:off x="658368" y="841248"/>
            <a:ext cx="10789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4A7E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174A7E"/>
                </a:solidFill>
                <a:latin typeface="Arial"/>
                <a:ea typeface="Arial"/>
                <a:cs typeface="Arial"/>
                <a:sym typeface="Arial"/>
              </a:rPr>
              <a:t>Modelo de datos de Quality360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h4e82ad7d59cc63f1_2_245"/>
          <p:cNvSpPr/>
          <p:nvPr/>
        </p:nvSpPr>
        <p:spPr>
          <a:xfrm>
            <a:off x="676656" y="1225296"/>
            <a:ext cx="10515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758A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60758A"/>
                </a:solidFill>
                <a:latin typeface="Arial"/>
                <a:ea typeface="Arial"/>
                <a:cs typeface="Arial"/>
                <a:sym typeface="Arial"/>
              </a:rPr>
              <a:t>Diseño relacional que soporta la gestión y trazabilidad del proceso de certificación QA.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h4e82ad7d59cc63f1_2_245"/>
          <p:cNvSpPr/>
          <p:nvPr/>
        </p:nvSpPr>
        <p:spPr>
          <a:xfrm>
            <a:off x="658268" y="1728177"/>
            <a:ext cx="7726800" cy="4498800"/>
          </a:xfrm>
          <a:prstGeom prst="roundRect">
            <a:avLst>
              <a:gd fmla="val 1626" name="adj"/>
            </a:avLst>
          </a:prstGeom>
          <a:solidFill>
            <a:srgbClr val="FFFFFF">
              <a:alpha val="98039"/>
            </a:srgbClr>
          </a:solidFill>
          <a:ln cap="flat" cmpd="sng" w="19050">
            <a:solidFill>
              <a:srgbClr val="C8D8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h4e82ad7d59cc63f1_2_245"/>
          <p:cNvSpPr/>
          <p:nvPr/>
        </p:nvSpPr>
        <p:spPr>
          <a:xfrm>
            <a:off x="822960" y="1828800"/>
            <a:ext cx="347400" cy="347400"/>
          </a:xfrm>
          <a:prstGeom prst="rect">
            <a:avLst/>
          </a:prstGeom>
          <a:solidFill>
            <a:srgbClr val="EAF3FA"/>
          </a:solidFill>
          <a:ln cap="flat" cmpd="sng" w="12700">
            <a:solidFill>
              <a:srgbClr val="EAF3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h4e82ad7d59cc63f1_2_245"/>
          <p:cNvSpPr/>
          <p:nvPr/>
        </p:nvSpPr>
        <p:spPr>
          <a:xfrm>
            <a:off x="882396" y="1860804"/>
            <a:ext cx="2013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4A7E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74A7E"/>
                </a:solidFill>
                <a:latin typeface="Arial"/>
                <a:ea typeface="Arial"/>
                <a:cs typeface="Arial"/>
                <a:sym typeface="Arial"/>
              </a:rPr>
              <a:t>▣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h4e82ad7d59cc63f1_2_245"/>
          <p:cNvSpPr/>
          <p:nvPr/>
        </p:nvSpPr>
        <p:spPr>
          <a:xfrm>
            <a:off x="1261872" y="1819656"/>
            <a:ext cx="6949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Modelo ER / Relacional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h4e82ad7d59cc63f1_2_245"/>
          <p:cNvSpPr/>
          <p:nvPr/>
        </p:nvSpPr>
        <p:spPr>
          <a:xfrm>
            <a:off x="9010523" y="1673352"/>
            <a:ext cx="2926200" cy="4498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C8D8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h4e82ad7d59cc63f1_2_245"/>
          <p:cNvSpPr/>
          <p:nvPr/>
        </p:nvSpPr>
        <p:spPr>
          <a:xfrm>
            <a:off x="9266555" y="1920240"/>
            <a:ext cx="23775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4A7E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74A7E"/>
                </a:solidFill>
                <a:latin typeface="Arial"/>
                <a:ea typeface="Arial"/>
                <a:cs typeface="Arial"/>
                <a:sym typeface="Arial"/>
              </a:rPr>
              <a:t>Resumen del modelo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h4e82ad7d59cc63f1_2_245"/>
          <p:cNvSpPr/>
          <p:nvPr/>
        </p:nvSpPr>
        <p:spPr>
          <a:xfrm>
            <a:off x="9266555" y="2395728"/>
            <a:ext cx="2377500" cy="567000"/>
          </a:xfrm>
          <a:prstGeom prst="roundRect">
            <a:avLst>
              <a:gd fmla="val 16667" name="adj"/>
            </a:avLst>
          </a:prstGeom>
          <a:solidFill>
            <a:srgbClr val="EAF3FA"/>
          </a:solidFill>
          <a:ln cap="flat" cmpd="sng" w="12700">
            <a:solidFill>
              <a:srgbClr val="D7E4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h4e82ad7d59cc63f1_2_245"/>
          <p:cNvSpPr/>
          <p:nvPr/>
        </p:nvSpPr>
        <p:spPr>
          <a:xfrm>
            <a:off x="9449435" y="2496312"/>
            <a:ext cx="475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75B5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F75B5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h4e82ad7d59cc63f1_2_245"/>
          <p:cNvSpPr/>
          <p:nvPr/>
        </p:nvSpPr>
        <p:spPr>
          <a:xfrm>
            <a:off x="10016363" y="2514600"/>
            <a:ext cx="1426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tablas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h4e82ad7d59cc63f1_2_245"/>
          <p:cNvSpPr/>
          <p:nvPr/>
        </p:nvSpPr>
        <p:spPr>
          <a:xfrm>
            <a:off x="9266555" y="3072384"/>
            <a:ext cx="2377500" cy="567000"/>
          </a:xfrm>
          <a:prstGeom prst="roundRect">
            <a:avLst>
              <a:gd fmla="val 16667" name="adj"/>
            </a:avLst>
          </a:prstGeom>
          <a:solidFill>
            <a:srgbClr val="EAF7F6"/>
          </a:solidFill>
          <a:ln cap="flat" cmpd="sng" w="12700">
            <a:solidFill>
              <a:srgbClr val="D7E4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h4e82ad7d59cc63f1_2_245"/>
          <p:cNvSpPr/>
          <p:nvPr/>
        </p:nvSpPr>
        <p:spPr>
          <a:xfrm>
            <a:off x="9449435" y="3172968"/>
            <a:ext cx="475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A6A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6A6A1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h4e82ad7d59cc63f1_2_245"/>
          <p:cNvSpPr/>
          <p:nvPr/>
        </p:nvSpPr>
        <p:spPr>
          <a:xfrm>
            <a:off x="10016363" y="3191256"/>
            <a:ext cx="1426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relaciones principales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h4e82ad7d59cc63f1_2_245"/>
          <p:cNvSpPr/>
          <p:nvPr/>
        </p:nvSpPr>
        <p:spPr>
          <a:xfrm>
            <a:off x="9266555" y="3749040"/>
            <a:ext cx="2377500" cy="567000"/>
          </a:xfrm>
          <a:prstGeom prst="roundRect">
            <a:avLst>
              <a:gd fmla="val 16667" name="adj"/>
            </a:avLst>
          </a:prstGeom>
          <a:solidFill>
            <a:srgbClr val="EEF6EE"/>
          </a:solidFill>
          <a:ln cap="flat" cmpd="sng" w="12700">
            <a:solidFill>
              <a:srgbClr val="D7E4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h4e82ad7d59cc63f1_2_245"/>
          <p:cNvSpPr/>
          <p:nvPr/>
        </p:nvSpPr>
        <p:spPr>
          <a:xfrm>
            <a:off x="9449435" y="3849624"/>
            <a:ext cx="475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9D57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E9D57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h4e82ad7d59cc63f1_2_245"/>
          <p:cNvSpPr/>
          <p:nvPr/>
        </p:nvSpPr>
        <p:spPr>
          <a:xfrm>
            <a:off x="10016363" y="3867912"/>
            <a:ext cx="1426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esquema funcional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h4e82ad7d59cc63f1_2_245"/>
          <p:cNvSpPr/>
          <p:nvPr/>
        </p:nvSpPr>
        <p:spPr>
          <a:xfrm>
            <a:off x="9266555" y="4544568"/>
            <a:ext cx="2194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Cobertura funcional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h4e82ad7d59cc63f1_2_245"/>
          <p:cNvSpPr/>
          <p:nvPr/>
        </p:nvSpPr>
        <p:spPr>
          <a:xfrm>
            <a:off x="9303131" y="4946904"/>
            <a:ext cx="82200" cy="82200"/>
          </a:xfrm>
          <a:prstGeom prst="ellipse">
            <a:avLst/>
          </a:prstGeom>
          <a:solidFill>
            <a:srgbClr val="16A6A1"/>
          </a:solidFill>
          <a:ln cap="flat" cmpd="sng" w="12700">
            <a:solidFill>
              <a:srgbClr val="16A6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h4e82ad7d59cc63f1_2_245"/>
          <p:cNvSpPr/>
          <p:nvPr/>
        </p:nvSpPr>
        <p:spPr>
          <a:xfrm>
            <a:off x="9486011" y="4892040"/>
            <a:ext cx="2057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Roles, usuarios y supervisión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h4e82ad7d59cc63f1_2_245"/>
          <p:cNvSpPr/>
          <p:nvPr/>
        </p:nvSpPr>
        <p:spPr>
          <a:xfrm>
            <a:off x="9303131" y="5193792"/>
            <a:ext cx="82200" cy="82200"/>
          </a:xfrm>
          <a:prstGeom prst="ellipse">
            <a:avLst/>
          </a:prstGeom>
          <a:solidFill>
            <a:srgbClr val="16A6A1"/>
          </a:solidFill>
          <a:ln cap="flat" cmpd="sng" w="12700">
            <a:solidFill>
              <a:srgbClr val="16A6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h4e82ad7d59cc63f1_2_245"/>
          <p:cNvSpPr/>
          <p:nvPr/>
        </p:nvSpPr>
        <p:spPr>
          <a:xfrm>
            <a:off x="9486011" y="5138928"/>
            <a:ext cx="2057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Historias de usuario y sprint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h4e82ad7d59cc63f1_2_245"/>
          <p:cNvSpPr/>
          <p:nvPr/>
        </p:nvSpPr>
        <p:spPr>
          <a:xfrm>
            <a:off x="9303131" y="5440680"/>
            <a:ext cx="82200" cy="82200"/>
          </a:xfrm>
          <a:prstGeom prst="ellipse">
            <a:avLst/>
          </a:prstGeom>
          <a:solidFill>
            <a:srgbClr val="16A6A1"/>
          </a:solidFill>
          <a:ln cap="flat" cmpd="sng" w="12700">
            <a:solidFill>
              <a:srgbClr val="16A6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h4e82ad7d59cc63f1_2_245"/>
          <p:cNvSpPr/>
          <p:nvPr/>
        </p:nvSpPr>
        <p:spPr>
          <a:xfrm>
            <a:off x="9486011" y="5385816"/>
            <a:ext cx="2057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Certificaciones y responsables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h4e82ad7d59cc63f1_2_245"/>
          <p:cNvSpPr/>
          <p:nvPr/>
        </p:nvSpPr>
        <p:spPr>
          <a:xfrm>
            <a:off x="9303131" y="5687568"/>
            <a:ext cx="82200" cy="82200"/>
          </a:xfrm>
          <a:prstGeom prst="ellipse">
            <a:avLst/>
          </a:prstGeom>
          <a:solidFill>
            <a:srgbClr val="16A6A1"/>
          </a:solidFill>
          <a:ln cap="flat" cmpd="sng" w="12700">
            <a:solidFill>
              <a:srgbClr val="16A6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h4e82ad7d59cc63f1_2_245"/>
          <p:cNvSpPr/>
          <p:nvPr/>
        </p:nvSpPr>
        <p:spPr>
          <a:xfrm>
            <a:off x="9486011" y="5632704"/>
            <a:ext cx="2057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Checklist, evidencias y pruebas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h4e82ad7d59cc63f1_2_245"/>
          <p:cNvSpPr/>
          <p:nvPr/>
        </p:nvSpPr>
        <p:spPr>
          <a:xfrm>
            <a:off x="9303131" y="5934456"/>
            <a:ext cx="82200" cy="82200"/>
          </a:xfrm>
          <a:prstGeom prst="ellipse">
            <a:avLst/>
          </a:prstGeom>
          <a:solidFill>
            <a:srgbClr val="16A6A1"/>
          </a:solidFill>
          <a:ln cap="flat" cmpd="sng" w="12700">
            <a:solidFill>
              <a:srgbClr val="16A6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h4e82ad7d59cc63f1_2_245"/>
          <p:cNvSpPr/>
          <p:nvPr/>
        </p:nvSpPr>
        <p:spPr>
          <a:xfrm>
            <a:off x="9486011" y="5879592"/>
            <a:ext cx="2057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Defectos e impedimentos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h4e82ad7d59cc63f1_2_245"/>
          <p:cNvSpPr txBox="1"/>
          <p:nvPr>
            <p:ph idx="12" type="sldNum"/>
          </p:nvPr>
        </p:nvSpPr>
        <p:spPr>
          <a:xfrm>
            <a:off x="11356848" y="6583680"/>
            <a:ext cx="800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-US" sz="900">
                <a:solidFill>
                  <a:srgbClr val="6B7C8F"/>
                </a:solidFill>
              </a:rPr>
              <a:t>06</a:t>
            </a:r>
            <a:endParaRPr b="0" i="0" sz="900" u="none" cap="none" strike="noStrike">
              <a:solidFill>
                <a:srgbClr val="6B7C8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7" name="Google Shape;367;h4e82ad7d59cc63f1_2_2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6000" y="1521775"/>
            <a:ext cx="8254851" cy="470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h4e82ad7d59cc63f1_2_279"/>
          <p:cNvSpPr/>
          <p:nvPr/>
        </p:nvSpPr>
        <p:spPr>
          <a:xfrm>
            <a:off x="658368" y="841248"/>
            <a:ext cx="10789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4A7E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174A7E"/>
                </a:solidFill>
                <a:latin typeface="Arial"/>
                <a:ea typeface="Arial"/>
                <a:cs typeface="Arial"/>
                <a:sym typeface="Arial"/>
              </a:rPr>
              <a:t>Implementación e integración con PostgreSQL 17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h4e82ad7d59cc63f1_2_279"/>
          <p:cNvSpPr/>
          <p:nvPr/>
        </p:nvSpPr>
        <p:spPr>
          <a:xfrm>
            <a:off x="676656" y="1225296"/>
            <a:ext cx="10515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758A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60758A"/>
                </a:solidFill>
                <a:latin typeface="Arial"/>
                <a:ea typeface="Arial"/>
                <a:cs typeface="Arial"/>
                <a:sym typeface="Arial"/>
              </a:rPr>
              <a:t>Del diseño relacional a una base física validada.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h4e82ad7d59cc63f1_2_279"/>
          <p:cNvSpPr/>
          <p:nvPr/>
        </p:nvSpPr>
        <p:spPr>
          <a:xfrm>
            <a:off x="658376" y="1673349"/>
            <a:ext cx="5483400" cy="4805700"/>
          </a:xfrm>
          <a:prstGeom prst="roundRect">
            <a:avLst>
              <a:gd fmla="val 2254" name="adj"/>
            </a:avLst>
          </a:prstGeom>
          <a:solidFill>
            <a:srgbClr val="FFFFFF">
              <a:alpha val="98039"/>
            </a:srgbClr>
          </a:solidFill>
          <a:ln cap="flat" cmpd="sng" w="19050">
            <a:solidFill>
              <a:srgbClr val="C8D8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h4e82ad7d59cc63f1_2_279"/>
          <p:cNvSpPr/>
          <p:nvPr/>
        </p:nvSpPr>
        <p:spPr>
          <a:xfrm>
            <a:off x="822960" y="1828800"/>
            <a:ext cx="347400" cy="347400"/>
          </a:xfrm>
          <a:prstGeom prst="rect">
            <a:avLst/>
          </a:prstGeom>
          <a:solidFill>
            <a:srgbClr val="EAF3FA"/>
          </a:solidFill>
          <a:ln cap="flat" cmpd="sng" w="12700">
            <a:solidFill>
              <a:srgbClr val="EAF3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h4e82ad7d59cc63f1_2_279"/>
          <p:cNvSpPr/>
          <p:nvPr/>
        </p:nvSpPr>
        <p:spPr>
          <a:xfrm>
            <a:off x="882396" y="1860804"/>
            <a:ext cx="2013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4A7E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74A7E"/>
                </a:solidFill>
                <a:latin typeface="Arial"/>
                <a:ea typeface="Arial"/>
                <a:cs typeface="Arial"/>
                <a:sym typeface="Arial"/>
              </a:rPr>
              <a:t>▣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h4e82ad7d59cc63f1_2_279"/>
          <p:cNvSpPr/>
          <p:nvPr/>
        </p:nvSpPr>
        <p:spPr>
          <a:xfrm>
            <a:off x="1261872" y="1819656"/>
            <a:ext cx="4023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Implementación física en pgAdmin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h4e82ad7d59cc63f1_2_279"/>
          <p:cNvSpPr/>
          <p:nvPr/>
        </p:nvSpPr>
        <p:spPr>
          <a:xfrm>
            <a:off x="6639462" y="1716894"/>
            <a:ext cx="5405700" cy="4480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C8D8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h4e82ad7d59cc63f1_2_279"/>
          <p:cNvSpPr/>
          <p:nvPr/>
        </p:nvSpPr>
        <p:spPr>
          <a:xfrm>
            <a:off x="7327154" y="1918071"/>
            <a:ext cx="2469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4A7E"/>
              </a:buClr>
              <a:buSzPts val="1700"/>
              <a:buFont typeface="Arial"/>
              <a:buNone/>
            </a:pPr>
            <a:r>
              <a:rPr b="1" i="0" lang="en-US" sz="1200" u="none" cap="none" strike="noStrike">
                <a:solidFill>
                  <a:srgbClr val="174A7E"/>
                </a:solidFill>
                <a:latin typeface="Arial"/>
                <a:ea typeface="Arial"/>
                <a:cs typeface="Arial"/>
                <a:sym typeface="Arial"/>
              </a:rPr>
              <a:t>Flujo de implementación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h4e82ad7d59cc63f1_2_279"/>
          <p:cNvSpPr/>
          <p:nvPr/>
        </p:nvSpPr>
        <p:spPr>
          <a:xfrm>
            <a:off x="6765369" y="2568099"/>
            <a:ext cx="5074800" cy="530400"/>
          </a:xfrm>
          <a:prstGeom prst="roundRect">
            <a:avLst>
              <a:gd fmla="val 16667" name="adj"/>
            </a:avLst>
          </a:prstGeom>
          <a:solidFill>
            <a:srgbClr val="EAF3FA"/>
          </a:solidFill>
          <a:ln cap="flat" cmpd="sng" w="12700">
            <a:solidFill>
              <a:srgbClr val="D6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h4e82ad7d59cc63f1_2_279"/>
          <p:cNvSpPr/>
          <p:nvPr/>
        </p:nvSpPr>
        <p:spPr>
          <a:xfrm>
            <a:off x="6765369" y="2568099"/>
            <a:ext cx="91500" cy="530400"/>
          </a:xfrm>
          <a:prstGeom prst="rect">
            <a:avLst/>
          </a:prstGeom>
          <a:solidFill>
            <a:srgbClr val="2F75B5"/>
          </a:solidFill>
          <a:ln cap="flat" cmpd="sng" w="12700">
            <a:solidFill>
              <a:srgbClr val="2F75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h4e82ad7d59cc63f1_2_279"/>
          <p:cNvSpPr/>
          <p:nvPr/>
        </p:nvSpPr>
        <p:spPr>
          <a:xfrm>
            <a:off x="7180982" y="2631326"/>
            <a:ext cx="2423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320"/>
              <a:buFont typeface="Arial"/>
              <a:buNone/>
            </a:pPr>
            <a:r>
              <a:rPr b="1" i="0" lang="en-US" sz="132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Modelo ER / Relacional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h4e82ad7d59cc63f1_2_279"/>
          <p:cNvSpPr/>
          <p:nvPr/>
        </p:nvSpPr>
        <p:spPr>
          <a:xfrm>
            <a:off x="9298257" y="2650395"/>
            <a:ext cx="2240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758A"/>
              </a:buClr>
              <a:buSzPts val="1020"/>
              <a:buFont typeface="Arial"/>
              <a:buNone/>
            </a:pPr>
            <a:r>
              <a:rPr b="0" i="0" lang="en-US" sz="1020" u="none" cap="none" strike="noStrike">
                <a:solidFill>
                  <a:srgbClr val="60758A"/>
                </a:solidFill>
                <a:latin typeface="Arial"/>
                <a:ea typeface="Arial"/>
                <a:cs typeface="Arial"/>
                <a:sym typeface="Arial"/>
              </a:rPr>
              <a:t>Oracle Data Modeler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h4e82ad7d59cc63f1_2_279"/>
          <p:cNvSpPr/>
          <p:nvPr/>
        </p:nvSpPr>
        <p:spPr>
          <a:xfrm rot="5400000">
            <a:off x="9060477" y="3116667"/>
            <a:ext cx="402300" cy="164700"/>
          </a:xfrm>
          <a:prstGeom prst="chevron">
            <a:avLst>
              <a:gd fmla="val 50000" name="adj"/>
            </a:avLst>
          </a:prstGeom>
          <a:solidFill>
            <a:srgbClr val="B8C8D6"/>
          </a:solidFill>
          <a:ln cap="flat" cmpd="sng" w="12700">
            <a:solidFill>
              <a:srgbClr val="B8C8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h4e82ad7d59cc63f1_2_279"/>
          <p:cNvSpPr/>
          <p:nvPr/>
        </p:nvSpPr>
        <p:spPr>
          <a:xfrm>
            <a:off x="6765369" y="3281331"/>
            <a:ext cx="5074800" cy="530400"/>
          </a:xfrm>
          <a:prstGeom prst="roundRect">
            <a:avLst>
              <a:gd fmla="val 16667" name="adj"/>
            </a:avLst>
          </a:prstGeom>
          <a:solidFill>
            <a:srgbClr val="EEF4F8"/>
          </a:solidFill>
          <a:ln cap="flat" cmpd="sng" w="12700">
            <a:solidFill>
              <a:srgbClr val="D6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h4e82ad7d59cc63f1_2_279"/>
          <p:cNvSpPr/>
          <p:nvPr/>
        </p:nvSpPr>
        <p:spPr>
          <a:xfrm>
            <a:off x="6765369" y="3281331"/>
            <a:ext cx="91500" cy="530400"/>
          </a:xfrm>
          <a:prstGeom prst="rect">
            <a:avLst/>
          </a:prstGeom>
          <a:solidFill>
            <a:srgbClr val="174A7E"/>
          </a:solidFill>
          <a:ln cap="flat" cmpd="sng" w="12700">
            <a:solidFill>
              <a:srgbClr val="174A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h4e82ad7d59cc63f1_2_279"/>
          <p:cNvSpPr/>
          <p:nvPr/>
        </p:nvSpPr>
        <p:spPr>
          <a:xfrm>
            <a:off x="7012257" y="3354483"/>
            <a:ext cx="2423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320"/>
              <a:buFont typeface="Arial"/>
              <a:buNone/>
            </a:pPr>
            <a:r>
              <a:rPr b="1" i="0" lang="en-US" sz="132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DDL PostgreSQL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h4e82ad7d59cc63f1_2_279"/>
          <p:cNvSpPr/>
          <p:nvPr/>
        </p:nvSpPr>
        <p:spPr>
          <a:xfrm>
            <a:off x="9298257" y="3363627"/>
            <a:ext cx="2240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758A"/>
              </a:buClr>
              <a:buSzPts val="1020"/>
              <a:buFont typeface="Arial"/>
              <a:buNone/>
            </a:pPr>
            <a:r>
              <a:rPr b="0" i="0" lang="en-US" sz="1020" u="none" cap="none" strike="noStrike">
                <a:solidFill>
                  <a:srgbClr val="60758A"/>
                </a:solidFill>
                <a:latin typeface="Arial"/>
                <a:ea typeface="Arial"/>
                <a:cs typeface="Arial"/>
                <a:sym typeface="Arial"/>
              </a:rPr>
              <a:t>Tablas, PK/FK, CHECK e índices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h4e82ad7d59cc63f1_2_279"/>
          <p:cNvSpPr/>
          <p:nvPr/>
        </p:nvSpPr>
        <p:spPr>
          <a:xfrm rot="5400000">
            <a:off x="9060477" y="3829899"/>
            <a:ext cx="402300" cy="164700"/>
          </a:xfrm>
          <a:prstGeom prst="chevron">
            <a:avLst>
              <a:gd fmla="val 50000" name="adj"/>
            </a:avLst>
          </a:prstGeom>
          <a:solidFill>
            <a:srgbClr val="B8C8D6"/>
          </a:solidFill>
          <a:ln cap="flat" cmpd="sng" w="12700">
            <a:solidFill>
              <a:srgbClr val="B8C8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h4e82ad7d59cc63f1_2_279"/>
          <p:cNvSpPr/>
          <p:nvPr/>
        </p:nvSpPr>
        <p:spPr>
          <a:xfrm>
            <a:off x="6765369" y="3994563"/>
            <a:ext cx="5074800" cy="530400"/>
          </a:xfrm>
          <a:prstGeom prst="roundRect">
            <a:avLst>
              <a:gd fmla="val 16667" name="adj"/>
            </a:avLst>
          </a:prstGeom>
          <a:solidFill>
            <a:srgbClr val="EAF7F6"/>
          </a:solidFill>
          <a:ln cap="flat" cmpd="sng" w="12700">
            <a:solidFill>
              <a:srgbClr val="D6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h4e82ad7d59cc63f1_2_279"/>
          <p:cNvSpPr/>
          <p:nvPr/>
        </p:nvSpPr>
        <p:spPr>
          <a:xfrm>
            <a:off x="6765369" y="3994563"/>
            <a:ext cx="91500" cy="530400"/>
          </a:xfrm>
          <a:prstGeom prst="rect">
            <a:avLst/>
          </a:prstGeom>
          <a:solidFill>
            <a:srgbClr val="16A6A1"/>
          </a:solidFill>
          <a:ln cap="flat" cmpd="sng" w="12700">
            <a:solidFill>
              <a:srgbClr val="16A6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h4e82ad7d59cc63f1_2_279"/>
          <p:cNvSpPr/>
          <p:nvPr/>
        </p:nvSpPr>
        <p:spPr>
          <a:xfrm>
            <a:off x="7012257" y="4067715"/>
            <a:ext cx="2423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320"/>
              <a:buFont typeface="Arial"/>
              <a:buNone/>
            </a:pPr>
            <a:r>
              <a:rPr b="1" i="0" lang="en-US" sz="132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Schema quality360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h4e82ad7d59cc63f1_2_279"/>
          <p:cNvSpPr/>
          <p:nvPr/>
        </p:nvSpPr>
        <p:spPr>
          <a:xfrm>
            <a:off x="9298257" y="4076859"/>
            <a:ext cx="2240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758A"/>
              </a:buClr>
              <a:buSzPts val="1020"/>
              <a:buFont typeface="Arial"/>
              <a:buNone/>
            </a:pPr>
            <a:r>
              <a:rPr b="0" i="0" lang="en-US" sz="1020" u="none" cap="none" strike="noStrike">
                <a:solidFill>
                  <a:srgbClr val="60758A"/>
                </a:solidFill>
                <a:latin typeface="Arial"/>
                <a:ea typeface="Arial"/>
                <a:cs typeface="Arial"/>
                <a:sym typeface="Arial"/>
              </a:rPr>
              <a:t>PostgreSQL 17 · 16 tablas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h4e82ad7d59cc63f1_2_279"/>
          <p:cNvSpPr/>
          <p:nvPr/>
        </p:nvSpPr>
        <p:spPr>
          <a:xfrm rot="5400000">
            <a:off x="9060477" y="4543131"/>
            <a:ext cx="402300" cy="164700"/>
          </a:xfrm>
          <a:prstGeom prst="chevron">
            <a:avLst>
              <a:gd fmla="val 50000" name="adj"/>
            </a:avLst>
          </a:prstGeom>
          <a:solidFill>
            <a:srgbClr val="B8C8D6"/>
          </a:solidFill>
          <a:ln cap="flat" cmpd="sng" w="12700">
            <a:solidFill>
              <a:srgbClr val="B8C8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h4e82ad7d59cc63f1_2_279"/>
          <p:cNvSpPr/>
          <p:nvPr/>
        </p:nvSpPr>
        <p:spPr>
          <a:xfrm>
            <a:off x="6737929" y="4653016"/>
            <a:ext cx="1645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Estado técnico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h4e82ad7d59cc63f1_2_279"/>
          <p:cNvSpPr/>
          <p:nvPr/>
        </p:nvSpPr>
        <p:spPr>
          <a:xfrm>
            <a:off x="6737934" y="4976069"/>
            <a:ext cx="2013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9D57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2E9D57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h4e82ad7d59cc63f1_2_279"/>
          <p:cNvSpPr/>
          <p:nvPr/>
        </p:nvSpPr>
        <p:spPr>
          <a:xfrm>
            <a:off x="6999399" y="4976069"/>
            <a:ext cx="2564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030"/>
              <a:buFont typeface="Arial"/>
              <a:buNone/>
            </a:pPr>
            <a:r>
              <a:rPr b="0" i="0" lang="en-US" sz="103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Modelo relacional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h4e82ad7d59cc63f1_2_279"/>
          <p:cNvSpPr/>
          <p:nvPr/>
        </p:nvSpPr>
        <p:spPr>
          <a:xfrm>
            <a:off x="9915740" y="4976069"/>
            <a:ext cx="1961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9D57"/>
              </a:buClr>
              <a:buSzPts val="1030"/>
              <a:buFont typeface="Arial"/>
              <a:buNone/>
            </a:pPr>
            <a:r>
              <a:rPr b="1" i="0" lang="en-US" sz="1030" u="none" cap="none" strike="noStrike">
                <a:solidFill>
                  <a:srgbClr val="2E9D57"/>
                </a:solidFill>
                <a:latin typeface="Arial"/>
                <a:ea typeface="Arial"/>
                <a:cs typeface="Arial"/>
                <a:sym typeface="Arial"/>
              </a:rPr>
              <a:t>Diseñado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h4e82ad7d59cc63f1_2_279"/>
          <p:cNvSpPr/>
          <p:nvPr/>
        </p:nvSpPr>
        <p:spPr>
          <a:xfrm>
            <a:off x="6737934" y="5177237"/>
            <a:ext cx="2013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9D57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2E9D57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h4e82ad7d59cc63f1_2_279"/>
          <p:cNvSpPr/>
          <p:nvPr/>
        </p:nvSpPr>
        <p:spPr>
          <a:xfrm>
            <a:off x="6999399" y="5177237"/>
            <a:ext cx="2564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030"/>
              <a:buFont typeface="Arial"/>
              <a:buNone/>
            </a:pPr>
            <a:r>
              <a:rPr b="0" i="0" lang="en-US" sz="103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Schema quality360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h4e82ad7d59cc63f1_2_279"/>
          <p:cNvSpPr/>
          <p:nvPr/>
        </p:nvSpPr>
        <p:spPr>
          <a:xfrm>
            <a:off x="9915740" y="5177237"/>
            <a:ext cx="1961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9D57"/>
              </a:buClr>
              <a:buSzPts val="1030"/>
              <a:buFont typeface="Arial"/>
              <a:buNone/>
            </a:pPr>
            <a:r>
              <a:rPr b="1" i="0" lang="en-US" sz="1030" u="none" cap="none" strike="noStrike">
                <a:solidFill>
                  <a:srgbClr val="2E9D57"/>
                </a:solidFill>
                <a:latin typeface="Arial"/>
                <a:ea typeface="Arial"/>
                <a:cs typeface="Arial"/>
                <a:sym typeface="Arial"/>
              </a:rPr>
              <a:t>Creado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h4e82ad7d59cc63f1_2_279"/>
          <p:cNvSpPr/>
          <p:nvPr/>
        </p:nvSpPr>
        <p:spPr>
          <a:xfrm>
            <a:off x="6737934" y="5378406"/>
            <a:ext cx="2013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9D57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2E9D57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h4e82ad7d59cc63f1_2_279"/>
          <p:cNvSpPr/>
          <p:nvPr/>
        </p:nvSpPr>
        <p:spPr>
          <a:xfrm>
            <a:off x="6999399" y="5378406"/>
            <a:ext cx="2564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030"/>
              <a:buFont typeface="Arial"/>
              <a:buNone/>
            </a:pPr>
            <a:r>
              <a:rPr b="0" i="0" lang="en-US" sz="103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16 tablas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h4e82ad7d59cc63f1_2_279"/>
          <p:cNvSpPr/>
          <p:nvPr/>
        </p:nvSpPr>
        <p:spPr>
          <a:xfrm>
            <a:off x="9915740" y="5378406"/>
            <a:ext cx="1961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9D57"/>
              </a:buClr>
              <a:buSzPts val="1030"/>
              <a:buFont typeface="Arial"/>
              <a:buNone/>
            </a:pPr>
            <a:r>
              <a:rPr b="1" i="0" lang="en-US" sz="1030" u="none" cap="none" strike="noStrike">
                <a:solidFill>
                  <a:srgbClr val="2E9D57"/>
                </a:solidFill>
                <a:latin typeface="Arial"/>
                <a:ea typeface="Arial"/>
                <a:cs typeface="Arial"/>
                <a:sym typeface="Arial"/>
              </a:rPr>
              <a:t>Implementadas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h4e82ad7d59cc63f1_2_279"/>
          <p:cNvSpPr/>
          <p:nvPr/>
        </p:nvSpPr>
        <p:spPr>
          <a:xfrm>
            <a:off x="6737934" y="5579575"/>
            <a:ext cx="2013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9D57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2E9D57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h4e82ad7d59cc63f1_2_279"/>
          <p:cNvSpPr/>
          <p:nvPr/>
        </p:nvSpPr>
        <p:spPr>
          <a:xfrm>
            <a:off x="6999399" y="5579575"/>
            <a:ext cx="2564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030"/>
              <a:buFont typeface="Arial"/>
              <a:buNone/>
            </a:pPr>
            <a:r>
              <a:rPr b="0" i="0" lang="en-US" sz="103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Integridad PK/FK/CHECK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h4e82ad7d59cc63f1_2_279"/>
          <p:cNvSpPr/>
          <p:nvPr/>
        </p:nvSpPr>
        <p:spPr>
          <a:xfrm>
            <a:off x="9915740" y="5579575"/>
            <a:ext cx="1961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9D57"/>
              </a:buClr>
              <a:buSzPts val="1030"/>
              <a:buFont typeface="Arial"/>
              <a:buNone/>
            </a:pPr>
            <a:r>
              <a:rPr b="1" i="0" lang="en-US" sz="1030" u="none" cap="none" strike="noStrike">
                <a:solidFill>
                  <a:srgbClr val="2E9D57"/>
                </a:solidFill>
                <a:latin typeface="Arial"/>
                <a:ea typeface="Arial"/>
                <a:cs typeface="Arial"/>
                <a:sym typeface="Arial"/>
              </a:rPr>
              <a:t>Aplicada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h4e82ad7d59cc63f1_2_279"/>
          <p:cNvSpPr txBox="1"/>
          <p:nvPr>
            <p:ph idx="12" type="sldNum"/>
          </p:nvPr>
        </p:nvSpPr>
        <p:spPr>
          <a:xfrm>
            <a:off x="11356848" y="6583680"/>
            <a:ext cx="800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-US" sz="900">
                <a:solidFill>
                  <a:srgbClr val="6B7C8F"/>
                </a:solidFill>
              </a:rPr>
              <a:t>06</a:t>
            </a:r>
            <a:endParaRPr b="0" i="0" sz="900" u="none" cap="none" strike="noStrike">
              <a:solidFill>
                <a:srgbClr val="6B7C8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0" name="Google Shape;410;h4e82ad7d59cc63f1_2_2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5325" y="1660150"/>
            <a:ext cx="5605849" cy="4805701"/>
          </a:xfrm>
          <a:prstGeom prst="rect">
            <a:avLst/>
          </a:prstGeom>
          <a:solidFill>
            <a:srgbClr val="FFFFFF">
              <a:alpha val="98039"/>
            </a:srgbClr>
          </a:solidFill>
          <a:ln cap="flat" cmpd="sng" w="19050">
            <a:solidFill>
              <a:srgbClr val="C8D8E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5" name="Google Shape;415;h4e82ad7d59cc63f1_1_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h1af1b7e802a7d6b2_1_5"/>
          <p:cNvSpPr/>
          <p:nvPr/>
        </p:nvSpPr>
        <p:spPr>
          <a:xfrm>
            <a:off x="0" y="0"/>
            <a:ext cx="12191700" cy="82200"/>
          </a:xfrm>
          <a:prstGeom prst="rect">
            <a:avLst/>
          </a:prstGeom>
          <a:solidFill>
            <a:srgbClr val="20B8B4"/>
          </a:solidFill>
          <a:ln cap="flat" cmpd="sng" w="12700">
            <a:solidFill>
              <a:srgbClr val="20B8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h1af1b7e802a7d6b2_1_5"/>
          <p:cNvSpPr/>
          <p:nvPr/>
        </p:nvSpPr>
        <p:spPr>
          <a:xfrm>
            <a:off x="502920" y="6492240"/>
            <a:ext cx="36576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F8B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5D6F8B"/>
                </a:solidFill>
                <a:latin typeface="Arial"/>
                <a:ea typeface="Arial"/>
                <a:cs typeface="Arial"/>
                <a:sym typeface="Arial"/>
              </a:rPr>
              <a:t>Quality360 · Capstone Grupo 8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h1af1b7e802a7d6b2_1_5"/>
          <p:cNvSpPr/>
          <p:nvPr/>
        </p:nvSpPr>
        <p:spPr>
          <a:xfrm>
            <a:off x="530352" y="420624"/>
            <a:ext cx="9784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559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0B2559"/>
                </a:solidFill>
                <a:latin typeface="Play"/>
                <a:ea typeface="Play"/>
                <a:cs typeface="Play"/>
                <a:sym typeface="Play"/>
              </a:rPr>
              <a:t>Portal de inicio y autenticación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h1af1b7e802a7d6b2_1_5"/>
          <p:cNvSpPr/>
          <p:nvPr/>
        </p:nvSpPr>
        <p:spPr>
          <a:xfrm>
            <a:off x="533400" y="1066800"/>
            <a:ext cx="111252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B5F7A"/>
                </a:solidFill>
                <a:latin typeface="Arial"/>
                <a:ea typeface="Arial"/>
                <a:cs typeface="Arial"/>
                <a:sym typeface="Arial"/>
              </a:rPr>
              <a:t>Inicio de sesión por rol y recuperación de contraseña.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4" name="Google Shape;424;h1af1b7e802a7d6b2_1_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1571625"/>
            <a:ext cx="6553200" cy="4095750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h1af1b7e802a7d6b2_1_5"/>
          <p:cNvSpPr/>
          <p:nvPr/>
        </p:nvSpPr>
        <p:spPr>
          <a:xfrm>
            <a:off x="7381875" y="1562100"/>
            <a:ext cx="42672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B2559"/>
                </a:solidFill>
                <a:latin typeface="Arial"/>
                <a:ea typeface="Arial"/>
                <a:cs typeface="Arial"/>
                <a:sym typeface="Arial"/>
              </a:rPr>
              <a:t>Frontend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h1af1b7e802a7d6b2_1_5"/>
          <p:cNvSpPr/>
          <p:nvPr/>
        </p:nvSpPr>
        <p:spPr>
          <a:xfrm>
            <a:off x="7381875" y="1876425"/>
            <a:ext cx="426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B6AE"/>
                </a:solidFill>
                <a:latin typeface="Arial"/>
                <a:ea typeface="Arial"/>
                <a:cs typeface="Arial"/>
                <a:sym typeface="Arial"/>
              </a:rPr>
              <a:t>E1-F01 / F13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h1af1b7e802a7d6b2_1_5"/>
          <p:cNvSpPr/>
          <p:nvPr/>
        </p:nvSpPr>
        <p:spPr>
          <a:xfrm>
            <a:off x="7381875" y="2143125"/>
            <a:ext cx="426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7385E"/>
                </a:solidFill>
                <a:latin typeface="Arial"/>
                <a:ea typeface="Arial"/>
                <a:cs typeface="Arial"/>
                <a:sym typeface="Arial"/>
              </a:rPr>
              <a:t>Diseño adaptable, formulario, validaciones</a:t>
            </a:r>
            <a:endParaRPr b="0" i="0" sz="1300" u="none" cap="none" strike="noStrike">
              <a:solidFill>
                <a:srgbClr val="17385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7385E"/>
                </a:solidFill>
                <a:latin typeface="Arial"/>
                <a:ea typeface="Arial"/>
                <a:cs typeface="Arial"/>
                <a:sym typeface="Arial"/>
              </a:rPr>
              <a:t>y pantallas de recuperación.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h1af1b7e802a7d6b2_1_5"/>
          <p:cNvSpPr/>
          <p:nvPr/>
        </p:nvSpPr>
        <p:spPr>
          <a:xfrm>
            <a:off x="7381875" y="2724150"/>
            <a:ext cx="42672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B2559"/>
                </a:solidFill>
                <a:latin typeface="Arial"/>
                <a:ea typeface="Arial"/>
                <a:cs typeface="Arial"/>
                <a:sym typeface="Arial"/>
              </a:rPr>
              <a:t>Seguridad / gateway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h1af1b7e802a7d6b2_1_5"/>
          <p:cNvSpPr/>
          <p:nvPr/>
        </p:nvSpPr>
        <p:spPr>
          <a:xfrm>
            <a:off x="7381875" y="3038475"/>
            <a:ext cx="426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B6AE"/>
                </a:solidFill>
                <a:latin typeface="Arial"/>
                <a:ea typeface="Arial"/>
                <a:cs typeface="Arial"/>
                <a:sym typeface="Arial"/>
              </a:rPr>
              <a:t>E1-B01 / B11 / B13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h1af1b7e802a7d6b2_1_5"/>
          <p:cNvSpPr/>
          <p:nvPr/>
        </p:nvSpPr>
        <p:spPr>
          <a:xfrm>
            <a:off x="7381875" y="3305175"/>
            <a:ext cx="426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7385E"/>
                </a:solidFill>
                <a:latin typeface="Arial"/>
                <a:ea typeface="Arial"/>
                <a:cs typeface="Arial"/>
                <a:sym typeface="Arial"/>
              </a:rPr>
              <a:t>Autenticación Supabase, sesión JWT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7385E"/>
                </a:solidFill>
                <a:latin typeface="Arial"/>
                <a:ea typeface="Arial"/>
                <a:cs typeface="Arial"/>
                <a:sym typeface="Arial"/>
              </a:rPr>
              <a:t>y recuperación por correo.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h1af1b7e802a7d6b2_1_5"/>
          <p:cNvSpPr/>
          <p:nvPr/>
        </p:nvSpPr>
        <p:spPr>
          <a:xfrm>
            <a:off x="7381875" y="3886200"/>
            <a:ext cx="42672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B2559"/>
                </a:solidFill>
                <a:latin typeface="Arial"/>
                <a:ea typeface="Arial"/>
                <a:cs typeface="Arial"/>
                <a:sym typeface="Arial"/>
              </a:rPr>
              <a:t>Backend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h1af1b7e802a7d6b2_1_5"/>
          <p:cNvSpPr/>
          <p:nvPr/>
        </p:nvSpPr>
        <p:spPr>
          <a:xfrm>
            <a:off x="7381875" y="4219575"/>
            <a:ext cx="426720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7385E"/>
                </a:solidFill>
                <a:latin typeface="Arial"/>
                <a:ea typeface="Arial"/>
                <a:cs typeface="Arial"/>
                <a:sym typeface="Arial"/>
              </a:rPr>
              <a:t>E1-B07 / B10: perfil activo y rol vigente.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7385E"/>
                </a:solidFill>
                <a:latin typeface="Arial"/>
                <a:ea typeface="Arial"/>
                <a:cs typeface="Arial"/>
                <a:sym typeface="Arial"/>
              </a:rPr>
              <a:t>Vinculación paginada de cuentas Auth.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h1af1b7e802a7d6b2_1_5"/>
          <p:cNvSpPr/>
          <p:nvPr/>
        </p:nvSpPr>
        <p:spPr>
          <a:xfrm>
            <a:off x="7381875" y="4838700"/>
            <a:ext cx="42672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B2559"/>
                </a:solidFill>
                <a:latin typeface="Arial"/>
                <a:ea typeface="Arial"/>
                <a:cs typeface="Arial"/>
                <a:sym typeface="Arial"/>
              </a:rPr>
              <a:t>Infraestructura y QA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h1af1b7e802a7d6b2_1_5"/>
          <p:cNvSpPr/>
          <p:nvPr/>
        </p:nvSpPr>
        <p:spPr>
          <a:xfrm>
            <a:off x="7381875" y="5172075"/>
            <a:ext cx="426720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7385E"/>
                </a:solidFill>
                <a:latin typeface="Arial"/>
                <a:ea typeface="Arial"/>
                <a:cs typeface="Arial"/>
                <a:sym typeface="Arial"/>
              </a:rPr>
              <a:t>Entorno, redirecciones y pruebas de acceso.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7385E"/>
                </a:solidFill>
                <a:latin typeface="Arial"/>
                <a:ea typeface="Arial"/>
                <a:cs typeface="Arial"/>
                <a:sym typeface="Arial"/>
              </a:rPr>
              <a:t>Apoyo a E1-F12 y E1-B01 / B11 / B13.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h1af1b7e802a7d6b2_1_5"/>
          <p:cNvSpPr/>
          <p:nvPr/>
        </p:nvSpPr>
        <p:spPr>
          <a:xfrm>
            <a:off x="533400" y="5895975"/>
            <a:ext cx="111252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B2559"/>
                </a:solidFill>
                <a:latin typeface="Arial"/>
                <a:ea typeface="Arial"/>
                <a:cs typeface="Arial"/>
                <a:sym typeface="Arial"/>
              </a:rPr>
              <a:t>Supabase autentica. El gateway y los servicios protegen el acceso.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h1af1b7e802a7d6b2_1_5"/>
          <p:cNvSpPr/>
          <p:nvPr/>
        </p:nvSpPr>
        <p:spPr>
          <a:xfrm>
            <a:off x="533400" y="6219825"/>
            <a:ext cx="1112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8B5D00"/>
                </a:solidFill>
                <a:latin typeface="Arial"/>
                <a:ea typeface="Arial"/>
                <a:cs typeface="Arial"/>
                <a:sym typeface="Arial"/>
              </a:rPr>
              <a:t>Pendiente: recertificación integral del acceso y verificación de recuperación.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logo_corporativo_quality360_en_azul_y_turquesa.png" id="437" name="Google Shape;437;h1af1b7e802a7d6b2_1_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28638" y="335951"/>
            <a:ext cx="957057" cy="7665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h4e82ad7d59cc63f1_2_125"/>
          <p:cNvSpPr/>
          <p:nvPr/>
        </p:nvSpPr>
        <p:spPr>
          <a:xfrm>
            <a:off x="685800" y="1078992"/>
            <a:ext cx="6839700" cy="5084100"/>
          </a:xfrm>
          <a:prstGeom prst="roundRect">
            <a:avLst>
              <a:gd fmla="val 1439" name="adj"/>
            </a:avLst>
          </a:prstGeom>
          <a:solidFill>
            <a:srgbClr val="FFFFFF"/>
          </a:solidFill>
          <a:ln cap="flat" cmpd="sng" w="13950">
            <a:solidFill>
              <a:srgbClr val="B7D8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h4e82ad7d59cc63f1_2_125"/>
          <p:cNvSpPr/>
          <p:nvPr/>
        </p:nvSpPr>
        <p:spPr>
          <a:xfrm>
            <a:off x="694944" y="1088136"/>
            <a:ext cx="6821400" cy="448200"/>
          </a:xfrm>
          <a:prstGeom prst="rect">
            <a:avLst/>
          </a:prstGeom>
          <a:solidFill>
            <a:srgbClr val="F8FBFD"/>
          </a:solidFill>
          <a:ln cap="flat" cmpd="sng" w="12700">
            <a:solidFill>
              <a:srgbClr val="B7D8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h4e82ad7d59cc63f1_2_125"/>
          <p:cNvSpPr/>
          <p:nvPr/>
        </p:nvSpPr>
        <p:spPr>
          <a:xfrm>
            <a:off x="932688" y="1225296"/>
            <a:ext cx="128100" cy="201300"/>
          </a:xfrm>
          <a:prstGeom prst="rect">
            <a:avLst/>
          </a:prstGeom>
          <a:solidFill>
            <a:srgbClr val="174A78"/>
          </a:solidFill>
          <a:ln cap="flat" cmpd="sng" w="12700">
            <a:solidFill>
              <a:srgbClr val="174A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h4e82ad7d59cc63f1_2_125"/>
          <p:cNvSpPr/>
          <p:nvPr/>
        </p:nvSpPr>
        <p:spPr>
          <a:xfrm>
            <a:off x="1133856" y="1207008"/>
            <a:ext cx="32919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4A78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74A78"/>
                </a:solidFill>
                <a:latin typeface="Arial"/>
                <a:ea typeface="Arial"/>
                <a:cs typeface="Arial"/>
                <a:sym typeface="Arial"/>
              </a:rPr>
              <a:t>Burndown del Sprint 3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h4e82ad7d59cc63f1_2_125"/>
          <p:cNvSpPr/>
          <p:nvPr/>
        </p:nvSpPr>
        <p:spPr>
          <a:xfrm>
            <a:off x="914400" y="1728216"/>
            <a:ext cx="384000" cy="384000"/>
          </a:xfrm>
          <a:prstGeom prst="ellipse">
            <a:avLst/>
          </a:prstGeom>
          <a:solidFill>
            <a:srgbClr val="EEF7FB"/>
          </a:solidFill>
          <a:ln cap="flat" cmpd="sng" w="12700">
            <a:solidFill>
              <a:srgbClr val="B6D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h4e82ad7d59cc63f1_2_125"/>
          <p:cNvSpPr/>
          <p:nvPr/>
        </p:nvSpPr>
        <p:spPr>
          <a:xfrm>
            <a:off x="996696" y="1819656"/>
            <a:ext cx="219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4A78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74A78"/>
                </a:solidFill>
                <a:latin typeface="Arial"/>
                <a:ea typeface="Arial"/>
                <a:cs typeface="Arial"/>
                <a:sym typeface="Arial"/>
              </a:rPr>
              <a:t>S3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h4e82ad7d59cc63f1_2_125"/>
          <p:cNvSpPr/>
          <p:nvPr/>
        </p:nvSpPr>
        <p:spPr>
          <a:xfrm>
            <a:off x="1417320" y="1737360"/>
            <a:ext cx="8229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F50"/>
              </a:buClr>
              <a:buSzPts val="920"/>
              <a:buFont typeface="Arial"/>
              <a:buNone/>
            </a:pPr>
            <a:r>
              <a:rPr b="1" i="0" lang="en-US" sz="920" u="none" cap="none" strike="noStrike">
                <a:solidFill>
                  <a:srgbClr val="0C2F50"/>
                </a:solidFill>
                <a:latin typeface="Arial"/>
                <a:ea typeface="Arial"/>
                <a:cs typeface="Arial"/>
                <a:sym typeface="Arial"/>
              </a:rPr>
              <a:t>Sprint: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h4e82ad7d59cc63f1_2_125"/>
          <p:cNvSpPr/>
          <p:nvPr/>
        </p:nvSpPr>
        <p:spPr>
          <a:xfrm>
            <a:off x="1417320" y="1901952"/>
            <a:ext cx="822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0"/>
              <a:buFont typeface="Arial"/>
              <a:buNone/>
            </a:pPr>
            <a:r>
              <a:rPr b="0" i="0" lang="en-US" sz="83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Q360-Sprint 3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1" name="Google Shape;451;h4e82ad7d59cc63f1_2_125"/>
          <p:cNvCxnSpPr/>
          <p:nvPr/>
        </p:nvCxnSpPr>
        <p:spPr>
          <a:xfrm>
            <a:off x="2276856" y="1719072"/>
            <a:ext cx="0" cy="457200"/>
          </a:xfrm>
          <a:prstGeom prst="straightConnector1">
            <a:avLst/>
          </a:prstGeom>
          <a:noFill/>
          <a:ln cap="flat" cmpd="sng" w="25400">
            <a:solidFill>
              <a:srgbClr val="B8D5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2" name="Google Shape;452;h4e82ad7d59cc63f1_2_125"/>
          <p:cNvSpPr/>
          <p:nvPr/>
        </p:nvSpPr>
        <p:spPr>
          <a:xfrm>
            <a:off x="2487168" y="1728216"/>
            <a:ext cx="384000" cy="384000"/>
          </a:xfrm>
          <a:prstGeom prst="ellipse">
            <a:avLst/>
          </a:prstGeom>
          <a:solidFill>
            <a:srgbClr val="EEF7FB"/>
          </a:solidFill>
          <a:ln cap="flat" cmpd="sng" w="12700">
            <a:solidFill>
              <a:srgbClr val="B6D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h4e82ad7d59cc63f1_2_125"/>
          <p:cNvSpPr/>
          <p:nvPr/>
        </p:nvSpPr>
        <p:spPr>
          <a:xfrm>
            <a:off x="2569464" y="1819656"/>
            <a:ext cx="219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4A78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74A78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h4e82ad7d59cc63f1_2_125"/>
          <p:cNvSpPr/>
          <p:nvPr/>
        </p:nvSpPr>
        <p:spPr>
          <a:xfrm>
            <a:off x="2990088" y="1737360"/>
            <a:ext cx="10515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F50"/>
              </a:buClr>
              <a:buSzPts val="920"/>
              <a:buFont typeface="Arial"/>
              <a:buNone/>
            </a:pPr>
            <a:r>
              <a:rPr b="1" i="0" lang="en-US" sz="920" u="none" cap="none" strike="noStrike">
                <a:solidFill>
                  <a:srgbClr val="0C2F50"/>
                </a:solidFill>
                <a:latin typeface="Arial"/>
                <a:ea typeface="Arial"/>
                <a:cs typeface="Arial"/>
                <a:sym typeface="Arial"/>
              </a:rPr>
              <a:t>Periodo Jira: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h4e82ad7d59cc63f1_2_125"/>
          <p:cNvSpPr/>
          <p:nvPr/>
        </p:nvSpPr>
        <p:spPr>
          <a:xfrm>
            <a:off x="2990088" y="1901952"/>
            <a:ext cx="1051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0"/>
              <a:buFont typeface="Arial"/>
              <a:buNone/>
            </a:pPr>
            <a:r>
              <a:rPr b="0" i="0" lang="en-US" sz="83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23–29 octubre 2026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6" name="Google Shape;456;h4e82ad7d59cc63f1_2_125"/>
          <p:cNvCxnSpPr/>
          <p:nvPr/>
        </p:nvCxnSpPr>
        <p:spPr>
          <a:xfrm>
            <a:off x="4160520" y="1719072"/>
            <a:ext cx="0" cy="457200"/>
          </a:xfrm>
          <a:prstGeom prst="straightConnector1">
            <a:avLst/>
          </a:prstGeom>
          <a:noFill/>
          <a:ln cap="flat" cmpd="sng" w="25400">
            <a:solidFill>
              <a:srgbClr val="B8D5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7" name="Google Shape;457;h4e82ad7d59cc63f1_2_125"/>
          <p:cNvSpPr/>
          <p:nvPr/>
        </p:nvSpPr>
        <p:spPr>
          <a:xfrm>
            <a:off x="4370832" y="1728216"/>
            <a:ext cx="384000" cy="384000"/>
          </a:xfrm>
          <a:prstGeom prst="ellipse">
            <a:avLst/>
          </a:prstGeom>
          <a:solidFill>
            <a:srgbClr val="EEF7FB"/>
          </a:solidFill>
          <a:ln cap="flat" cmpd="sng" w="12700">
            <a:solidFill>
              <a:srgbClr val="B6D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h4e82ad7d59cc63f1_2_125"/>
          <p:cNvSpPr/>
          <p:nvPr/>
        </p:nvSpPr>
        <p:spPr>
          <a:xfrm>
            <a:off x="4453128" y="1819656"/>
            <a:ext cx="219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4A78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74A78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h4e82ad7d59cc63f1_2_125"/>
          <p:cNvSpPr/>
          <p:nvPr/>
        </p:nvSpPr>
        <p:spPr>
          <a:xfrm>
            <a:off x="4873752" y="1737360"/>
            <a:ext cx="21030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F50"/>
              </a:buClr>
              <a:buSzPts val="920"/>
              <a:buFont typeface="Arial"/>
              <a:buNone/>
            </a:pPr>
            <a:r>
              <a:rPr b="1" i="0" lang="en-US" sz="920" u="none" cap="none" strike="noStrike">
                <a:solidFill>
                  <a:srgbClr val="0C2F50"/>
                </a:solidFill>
                <a:latin typeface="Arial"/>
                <a:ea typeface="Arial"/>
                <a:cs typeface="Arial"/>
                <a:sym typeface="Arial"/>
              </a:rPr>
              <a:t>Meta del sprint: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h4e82ad7d59cc63f1_2_125"/>
          <p:cNvSpPr/>
          <p:nvPr/>
        </p:nvSpPr>
        <p:spPr>
          <a:xfrm>
            <a:off x="4873750" y="1901950"/>
            <a:ext cx="2541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0"/>
              <a:buFont typeface="Arial"/>
              <a:buNone/>
            </a:pPr>
            <a:r>
              <a:rPr b="0" i="0" lang="en-US" sz="83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Conseguir el primer flujo técnico de Quality360,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0"/>
              <a:buFont typeface="Arial"/>
              <a:buNone/>
            </a:pPr>
            <a:r>
              <a:rPr b="0" i="0" lang="en-US" sz="83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generando BD y funcionalidades.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1" name="Google Shape;461;h4e82ad7d59cc63f1_2_125"/>
          <p:cNvCxnSpPr/>
          <p:nvPr/>
        </p:nvCxnSpPr>
        <p:spPr>
          <a:xfrm>
            <a:off x="1005840" y="2578608"/>
            <a:ext cx="320100" cy="0"/>
          </a:xfrm>
          <a:prstGeom prst="straightConnector1">
            <a:avLst/>
          </a:prstGeom>
          <a:noFill/>
          <a:ln cap="flat" cmpd="sng" w="34275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2" name="Google Shape;462;h4e82ad7d59cc63f1_2_125"/>
          <p:cNvSpPr/>
          <p:nvPr/>
        </p:nvSpPr>
        <p:spPr>
          <a:xfrm>
            <a:off x="1417320" y="2505456"/>
            <a:ext cx="10242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Trabajo restante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h4e82ad7d59cc63f1_2_125"/>
          <p:cNvSpPr/>
          <p:nvPr/>
        </p:nvSpPr>
        <p:spPr>
          <a:xfrm>
            <a:off x="1417320" y="2688336"/>
            <a:ext cx="10059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720"/>
              <a:buFont typeface="Arial"/>
              <a:buNone/>
            </a:pPr>
            <a:r>
              <a:rPr b="0" i="0" lang="en-US" sz="720" u="none" cap="none" strike="noStrike">
                <a:solidFill>
                  <a:srgbClr val="6A6A6A"/>
                </a:solidFill>
                <a:latin typeface="Arial"/>
                <a:ea typeface="Arial"/>
                <a:cs typeface="Arial"/>
                <a:sym typeface="Arial"/>
              </a:rPr>
              <a:t>14 SP restantes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4" name="Google Shape;464;h4e82ad7d59cc63f1_2_125"/>
          <p:cNvCxnSpPr/>
          <p:nvPr/>
        </p:nvCxnSpPr>
        <p:spPr>
          <a:xfrm>
            <a:off x="2962656" y="2578608"/>
            <a:ext cx="320100" cy="0"/>
          </a:xfrm>
          <a:prstGeom prst="straightConnector1">
            <a:avLst/>
          </a:prstGeom>
          <a:noFill/>
          <a:ln cap="flat" cmpd="sng" w="38100">
            <a:solidFill>
              <a:srgbClr val="858B9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5" name="Google Shape;465;h4e82ad7d59cc63f1_2_125"/>
          <p:cNvSpPr/>
          <p:nvPr/>
        </p:nvSpPr>
        <p:spPr>
          <a:xfrm>
            <a:off x="3383280" y="2505456"/>
            <a:ext cx="8595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Línea de guía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h4e82ad7d59cc63f1_2_125"/>
          <p:cNvSpPr/>
          <p:nvPr/>
        </p:nvSpPr>
        <p:spPr>
          <a:xfrm>
            <a:off x="3383280" y="2688336"/>
            <a:ext cx="12984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720"/>
              <a:buFont typeface="Arial"/>
              <a:buNone/>
            </a:pPr>
            <a:r>
              <a:rPr b="0" i="0" lang="en-US" sz="720" u="none" cap="none" strike="noStrike">
                <a:solidFill>
                  <a:srgbClr val="6A6A6A"/>
                </a:solidFill>
                <a:latin typeface="Arial"/>
                <a:ea typeface="Arial"/>
                <a:cs typeface="Arial"/>
                <a:sym typeface="Arial"/>
              </a:rPr>
              <a:t>Referencia Jira: 8 → 0 SP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7" name="Google Shape;467;h4e82ad7d59cc63f1_2_125"/>
          <p:cNvCxnSpPr/>
          <p:nvPr/>
        </p:nvCxnSpPr>
        <p:spPr>
          <a:xfrm>
            <a:off x="4882896" y="2578608"/>
            <a:ext cx="320100" cy="0"/>
          </a:xfrm>
          <a:prstGeom prst="straightConnector1">
            <a:avLst/>
          </a:prstGeom>
          <a:noFill/>
          <a:ln cap="flat" cmpd="sng" w="381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8" name="Google Shape;468;h4e82ad7d59cc63f1_2_125"/>
          <p:cNvSpPr/>
          <p:nvPr/>
        </p:nvSpPr>
        <p:spPr>
          <a:xfrm>
            <a:off x="5285232" y="2505456"/>
            <a:ext cx="10059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Alcance actual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h4e82ad7d59cc63f1_2_125"/>
          <p:cNvSpPr/>
          <p:nvPr/>
        </p:nvSpPr>
        <p:spPr>
          <a:xfrm>
            <a:off x="5285232" y="2688336"/>
            <a:ext cx="12801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720"/>
              <a:buFont typeface="Arial"/>
              <a:buNone/>
            </a:pPr>
            <a:r>
              <a:rPr b="0" i="0" lang="en-US" sz="720" u="none" cap="none" strike="noStrike">
                <a:solidFill>
                  <a:srgbClr val="6A6A6A"/>
                </a:solidFill>
                <a:latin typeface="Arial"/>
                <a:ea typeface="Arial"/>
                <a:cs typeface="Arial"/>
                <a:sym typeface="Arial"/>
              </a:rPr>
              <a:t>17 SP totales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h4e82ad7d59cc63f1_2_125"/>
          <p:cNvSpPr/>
          <p:nvPr/>
        </p:nvSpPr>
        <p:spPr>
          <a:xfrm>
            <a:off x="1051560" y="3017520"/>
            <a:ext cx="6053400" cy="1719000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12700">
            <a:solidFill>
              <a:srgbClr val="C9D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1" name="Google Shape;471;h4e82ad7d59cc63f1_2_125"/>
          <p:cNvCxnSpPr/>
          <p:nvPr/>
        </p:nvCxnSpPr>
        <p:spPr>
          <a:xfrm>
            <a:off x="1051560" y="3017520"/>
            <a:ext cx="6053400" cy="0"/>
          </a:xfrm>
          <a:prstGeom prst="straightConnector1">
            <a:avLst/>
          </a:prstGeom>
          <a:noFill/>
          <a:ln cap="flat" cmpd="sng" w="12700">
            <a:solidFill>
              <a:srgbClr val="E5E9E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2" name="Google Shape;472;h4e82ad7d59cc63f1_2_125"/>
          <p:cNvCxnSpPr/>
          <p:nvPr/>
        </p:nvCxnSpPr>
        <p:spPr>
          <a:xfrm>
            <a:off x="1051560" y="3304032"/>
            <a:ext cx="6053400" cy="0"/>
          </a:xfrm>
          <a:prstGeom prst="straightConnector1">
            <a:avLst/>
          </a:prstGeom>
          <a:noFill/>
          <a:ln cap="flat" cmpd="sng" w="12700">
            <a:solidFill>
              <a:srgbClr val="E5E9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3" name="Google Shape;473;h4e82ad7d59cc63f1_2_125"/>
          <p:cNvSpPr/>
          <p:nvPr/>
        </p:nvSpPr>
        <p:spPr>
          <a:xfrm>
            <a:off x="804672" y="3230880"/>
            <a:ext cx="1830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B66"/>
              </a:buClr>
              <a:buSzPts val="720"/>
              <a:buFont typeface="Arial"/>
              <a:buNone/>
            </a:pPr>
            <a:r>
              <a:rPr b="0" i="0" lang="en-US" sz="720" u="none" cap="none" strike="noStrike">
                <a:solidFill>
                  <a:srgbClr val="4C5B66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4" name="Google Shape;474;h4e82ad7d59cc63f1_2_125"/>
          <p:cNvCxnSpPr/>
          <p:nvPr/>
        </p:nvCxnSpPr>
        <p:spPr>
          <a:xfrm>
            <a:off x="1051560" y="3590544"/>
            <a:ext cx="6053400" cy="0"/>
          </a:xfrm>
          <a:prstGeom prst="straightConnector1">
            <a:avLst/>
          </a:prstGeom>
          <a:noFill/>
          <a:ln cap="flat" cmpd="sng" w="12700">
            <a:solidFill>
              <a:srgbClr val="E5E9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5" name="Google Shape;475;h4e82ad7d59cc63f1_2_125"/>
          <p:cNvSpPr/>
          <p:nvPr/>
        </p:nvSpPr>
        <p:spPr>
          <a:xfrm>
            <a:off x="804672" y="3517392"/>
            <a:ext cx="1830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B66"/>
              </a:buClr>
              <a:buSzPts val="720"/>
              <a:buFont typeface="Arial"/>
              <a:buNone/>
            </a:pPr>
            <a:r>
              <a:rPr b="0" i="0" lang="en-US" sz="720" u="none" cap="none" strike="noStrike">
                <a:solidFill>
                  <a:srgbClr val="4C5B66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6" name="Google Shape;476;h4e82ad7d59cc63f1_2_125"/>
          <p:cNvCxnSpPr/>
          <p:nvPr/>
        </p:nvCxnSpPr>
        <p:spPr>
          <a:xfrm>
            <a:off x="1051560" y="3877056"/>
            <a:ext cx="6053400" cy="0"/>
          </a:xfrm>
          <a:prstGeom prst="straightConnector1">
            <a:avLst/>
          </a:prstGeom>
          <a:noFill/>
          <a:ln cap="flat" cmpd="sng" w="12700">
            <a:solidFill>
              <a:srgbClr val="E5E9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7" name="Google Shape;477;h4e82ad7d59cc63f1_2_125"/>
          <p:cNvSpPr/>
          <p:nvPr/>
        </p:nvSpPr>
        <p:spPr>
          <a:xfrm>
            <a:off x="804672" y="3803904"/>
            <a:ext cx="1830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B66"/>
              </a:buClr>
              <a:buSzPts val="720"/>
              <a:buFont typeface="Arial"/>
              <a:buNone/>
            </a:pPr>
            <a:r>
              <a:rPr b="0" i="0" lang="en-US" sz="720" u="none" cap="none" strike="noStrike">
                <a:solidFill>
                  <a:srgbClr val="4C5B66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8" name="Google Shape;478;h4e82ad7d59cc63f1_2_125"/>
          <p:cNvCxnSpPr/>
          <p:nvPr/>
        </p:nvCxnSpPr>
        <p:spPr>
          <a:xfrm>
            <a:off x="1051560" y="4163568"/>
            <a:ext cx="6053400" cy="0"/>
          </a:xfrm>
          <a:prstGeom prst="straightConnector1">
            <a:avLst/>
          </a:prstGeom>
          <a:noFill/>
          <a:ln cap="flat" cmpd="sng" w="12700">
            <a:solidFill>
              <a:srgbClr val="E5E9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9" name="Google Shape;479;h4e82ad7d59cc63f1_2_125"/>
          <p:cNvSpPr/>
          <p:nvPr/>
        </p:nvSpPr>
        <p:spPr>
          <a:xfrm>
            <a:off x="804672" y="4090416"/>
            <a:ext cx="1830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B66"/>
              </a:buClr>
              <a:buSzPts val="720"/>
              <a:buFont typeface="Arial"/>
              <a:buNone/>
            </a:pPr>
            <a:r>
              <a:rPr b="0" i="0" lang="en-US" sz="720" u="none" cap="none" strike="noStrike">
                <a:solidFill>
                  <a:srgbClr val="4C5B66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0" name="Google Shape;480;h4e82ad7d59cc63f1_2_125"/>
          <p:cNvCxnSpPr/>
          <p:nvPr/>
        </p:nvCxnSpPr>
        <p:spPr>
          <a:xfrm>
            <a:off x="1051560" y="4450080"/>
            <a:ext cx="6053400" cy="0"/>
          </a:xfrm>
          <a:prstGeom prst="straightConnector1">
            <a:avLst/>
          </a:prstGeom>
          <a:noFill/>
          <a:ln cap="flat" cmpd="sng" w="12700">
            <a:solidFill>
              <a:srgbClr val="E5E9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1" name="Google Shape;481;h4e82ad7d59cc63f1_2_125"/>
          <p:cNvSpPr/>
          <p:nvPr/>
        </p:nvSpPr>
        <p:spPr>
          <a:xfrm>
            <a:off x="804672" y="4376928"/>
            <a:ext cx="1830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B66"/>
              </a:buClr>
              <a:buSzPts val="720"/>
              <a:buFont typeface="Arial"/>
              <a:buNone/>
            </a:pPr>
            <a:r>
              <a:rPr b="0" i="0" lang="en-US" sz="720" u="none" cap="none" strike="noStrike">
                <a:solidFill>
                  <a:srgbClr val="4C5B66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2" name="Google Shape;482;h4e82ad7d59cc63f1_2_125"/>
          <p:cNvCxnSpPr/>
          <p:nvPr/>
        </p:nvCxnSpPr>
        <p:spPr>
          <a:xfrm>
            <a:off x="1051560" y="4736592"/>
            <a:ext cx="6053400" cy="0"/>
          </a:xfrm>
          <a:prstGeom prst="straightConnector1">
            <a:avLst/>
          </a:prstGeom>
          <a:noFill/>
          <a:ln cap="flat" cmpd="sng" w="12700">
            <a:solidFill>
              <a:srgbClr val="D2D7D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3" name="Google Shape;483;h4e82ad7d59cc63f1_2_125"/>
          <p:cNvSpPr/>
          <p:nvPr/>
        </p:nvSpPr>
        <p:spPr>
          <a:xfrm>
            <a:off x="804672" y="4663440"/>
            <a:ext cx="1830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B66"/>
              </a:buClr>
              <a:buSzPts val="720"/>
              <a:buFont typeface="Arial"/>
              <a:buNone/>
            </a:pPr>
            <a:r>
              <a:rPr b="0" i="0" lang="en-US" sz="720" u="none" cap="none" strike="noStrike">
                <a:solidFill>
                  <a:srgbClr val="4C5B66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4" name="Google Shape;484;h4e82ad7d59cc63f1_2_125"/>
          <p:cNvCxnSpPr/>
          <p:nvPr/>
        </p:nvCxnSpPr>
        <p:spPr>
          <a:xfrm>
            <a:off x="1051560" y="3017520"/>
            <a:ext cx="0" cy="1719000"/>
          </a:xfrm>
          <a:prstGeom prst="straightConnector1">
            <a:avLst/>
          </a:prstGeom>
          <a:noFill/>
          <a:ln cap="flat" cmpd="sng" w="12700">
            <a:solidFill>
              <a:srgbClr val="E8ECE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5" name="Google Shape;485;h4e82ad7d59cc63f1_2_125"/>
          <p:cNvSpPr/>
          <p:nvPr/>
        </p:nvSpPr>
        <p:spPr>
          <a:xfrm>
            <a:off x="841248" y="4782312"/>
            <a:ext cx="4389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26A"/>
              </a:buClr>
              <a:buSzPts val="680"/>
              <a:buFont typeface="Arial"/>
              <a:buNone/>
            </a:pPr>
            <a:r>
              <a:rPr b="0" i="0" lang="en-US" sz="680" u="none" cap="none" strike="noStrike">
                <a:solidFill>
                  <a:srgbClr val="56626A"/>
                </a:solidFill>
                <a:latin typeface="Arial"/>
                <a:ea typeface="Arial"/>
                <a:cs typeface="Arial"/>
                <a:sym typeface="Arial"/>
              </a:rPr>
              <a:t>16 oct</a:t>
            </a:r>
            <a:endParaRPr b="0" i="0" sz="6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6" name="Google Shape;486;h4e82ad7d59cc63f1_2_125"/>
          <p:cNvCxnSpPr/>
          <p:nvPr/>
        </p:nvCxnSpPr>
        <p:spPr>
          <a:xfrm>
            <a:off x="1899026" y="3017520"/>
            <a:ext cx="0" cy="1719000"/>
          </a:xfrm>
          <a:prstGeom prst="straightConnector1">
            <a:avLst/>
          </a:prstGeom>
          <a:noFill/>
          <a:ln cap="flat" cmpd="sng" w="12700">
            <a:solidFill>
              <a:srgbClr val="E8ECE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7" name="Google Shape;487;h4e82ad7d59cc63f1_2_125"/>
          <p:cNvSpPr/>
          <p:nvPr/>
        </p:nvSpPr>
        <p:spPr>
          <a:xfrm>
            <a:off x="1688714" y="4782312"/>
            <a:ext cx="4389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26A"/>
              </a:buClr>
              <a:buSzPts val="680"/>
              <a:buFont typeface="Arial"/>
              <a:buNone/>
            </a:pPr>
            <a:r>
              <a:rPr b="0" i="0" lang="en-US" sz="680" u="none" cap="none" strike="noStrike">
                <a:solidFill>
                  <a:srgbClr val="56626A"/>
                </a:solidFill>
                <a:latin typeface="Arial"/>
                <a:ea typeface="Arial"/>
                <a:cs typeface="Arial"/>
                <a:sym typeface="Arial"/>
              </a:rPr>
              <a:t>17 oct</a:t>
            </a:r>
            <a:endParaRPr b="0" i="0" sz="6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8" name="Google Shape;488;h4e82ad7d59cc63f1_2_125"/>
          <p:cNvCxnSpPr/>
          <p:nvPr/>
        </p:nvCxnSpPr>
        <p:spPr>
          <a:xfrm>
            <a:off x="2807025" y="3017520"/>
            <a:ext cx="0" cy="1719000"/>
          </a:xfrm>
          <a:prstGeom prst="straightConnector1">
            <a:avLst/>
          </a:prstGeom>
          <a:noFill/>
          <a:ln cap="flat" cmpd="sng" w="12700">
            <a:solidFill>
              <a:srgbClr val="E8ECE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9" name="Google Shape;489;h4e82ad7d59cc63f1_2_125"/>
          <p:cNvSpPr/>
          <p:nvPr/>
        </p:nvSpPr>
        <p:spPr>
          <a:xfrm>
            <a:off x="2596713" y="4782312"/>
            <a:ext cx="4389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26A"/>
              </a:buClr>
              <a:buSzPts val="680"/>
              <a:buFont typeface="Arial"/>
              <a:buNone/>
            </a:pPr>
            <a:r>
              <a:rPr b="0" i="0" lang="en-US" sz="680" u="none" cap="none" strike="noStrike">
                <a:solidFill>
                  <a:srgbClr val="56626A"/>
                </a:solidFill>
                <a:latin typeface="Arial"/>
                <a:ea typeface="Arial"/>
                <a:cs typeface="Arial"/>
                <a:sym typeface="Arial"/>
              </a:rPr>
              <a:t>18 oct</a:t>
            </a:r>
            <a:endParaRPr b="0" i="0" sz="6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0" name="Google Shape;490;h4e82ad7d59cc63f1_2_125"/>
          <p:cNvCxnSpPr/>
          <p:nvPr/>
        </p:nvCxnSpPr>
        <p:spPr>
          <a:xfrm>
            <a:off x="3654491" y="3017520"/>
            <a:ext cx="0" cy="1719000"/>
          </a:xfrm>
          <a:prstGeom prst="straightConnector1">
            <a:avLst/>
          </a:prstGeom>
          <a:noFill/>
          <a:ln cap="flat" cmpd="sng" w="12700">
            <a:solidFill>
              <a:srgbClr val="E8ECE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1" name="Google Shape;491;h4e82ad7d59cc63f1_2_125"/>
          <p:cNvSpPr/>
          <p:nvPr/>
        </p:nvSpPr>
        <p:spPr>
          <a:xfrm>
            <a:off x="3444179" y="4782312"/>
            <a:ext cx="4389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26A"/>
              </a:buClr>
              <a:buSzPts val="680"/>
              <a:buFont typeface="Arial"/>
              <a:buNone/>
            </a:pPr>
            <a:r>
              <a:rPr b="0" i="0" lang="en-US" sz="680" u="none" cap="none" strike="noStrike">
                <a:solidFill>
                  <a:srgbClr val="56626A"/>
                </a:solidFill>
                <a:latin typeface="Arial"/>
                <a:ea typeface="Arial"/>
                <a:cs typeface="Arial"/>
                <a:sym typeface="Arial"/>
              </a:rPr>
              <a:t>19 oct</a:t>
            </a:r>
            <a:endParaRPr b="0" i="0" sz="6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2" name="Google Shape;492;h4e82ad7d59cc63f1_2_125"/>
          <p:cNvCxnSpPr/>
          <p:nvPr/>
        </p:nvCxnSpPr>
        <p:spPr>
          <a:xfrm>
            <a:off x="4501957" y="3017520"/>
            <a:ext cx="0" cy="1719000"/>
          </a:xfrm>
          <a:prstGeom prst="straightConnector1">
            <a:avLst/>
          </a:prstGeom>
          <a:noFill/>
          <a:ln cap="flat" cmpd="sng" w="12700">
            <a:solidFill>
              <a:srgbClr val="E8ECE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3" name="Google Shape;493;h4e82ad7d59cc63f1_2_125"/>
          <p:cNvSpPr/>
          <p:nvPr/>
        </p:nvSpPr>
        <p:spPr>
          <a:xfrm>
            <a:off x="4291645" y="4782312"/>
            <a:ext cx="4389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26A"/>
              </a:buClr>
              <a:buSzPts val="680"/>
              <a:buFont typeface="Arial"/>
              <a:buNone/>
            </a:pPr>
            <a:r>
              <a:rPr b="0" i="0" lang="en-US" sz="680" u="none" cap="none" strike="noStrike">
                <a:solidFill>
                  <a:srgbClr val="56626A"/>
                </a:solidFill>
                <a:latin typeface="Arial"/>
                <a:ea typeface="Arial"/>
                <a:cs typeface="Arial"/>
                <a:sym typeface="Arial"/>
              </a:rPr>
              <a:t>20 oct</a:t>
            </a:r>
            <a:endParaRPr b="0" i="0" sz="6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4" name="Google Shape;494;h4e82ad7d59cc63f1_2_125"/>
          <p:cNvCxnSpPr/>
          <p:nvPr/>
        </p:nvCxnSpPr>
        <p:spPr>
          <a:xfrm>
            <a:off x="5349423" y="3017520"/>
            <a:ext cx="0" cy="1719000"/>
          </a:xfrm>
          <a:prstGeom prst="straightConnector1">
            <a:avLst/>
          </a:prstGeom>
          <a:noFill/>
          <a:ln cap="flat" cmpd="sng" w="12700">
            <a:solidFill>
              <a:srgbClr val="E8ECE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5" name="Google Shape;495;h4e82ad7d59cc63f1_2_125"/>
          <p:cNvSpPr/>
          <p:nvPr/>
        </p:nvSpPr>
        <p:spPr>
          <a:xfrm>
            <a:off x="5139111" y="4782312"/>
            <a:ext cx="4389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26A"/>
              </a:buClr>
              <a:buSzPts val="680"/>
              <a:buFont typeface="Arial"/>
              <a:buNone/>
            </a:pPr>
            <a:r>
              <a:rPr b="0" i="0" lang="en-US" sz="680" u="none" cap="none" strike="noStrike">
                <a:solidFill>
                  <a:srgbClr val="56626A"/>
                </a:solidFill>
                <a:latin typeface="Arial"/>
                <a:ea typeface="Arial"/>
                <a:cs typeface="Arial"/>
                <a:sym typeface="Arial"/>
              </a:rPr>
              <a:t>21 oct</a:t>
            </a:r>
            <a:endParaRPr b="0" i="0" sz="6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6" name="Google Shape;496;h4e82ad7d59cc63f1_2_125"/>
          <p:cNvCxnSpPr/>
          <p:nvPr/>
        </p:nvCxnSpPr>
        <p:spPr>
          <a:xfrm>
            <a:off x="6257422" y="3017520"/>
            <a:ext cx="0" cy="1719000"/>
          </a:xfrm>
          <a:prstGeom prst="straightConnector1">
            <a:avLst/>
          </a:prstGeom>
          <a:noFill/>
          <a:ln cap="flat" cmpd="sng" w="12700">
            <a:solidFill>
              <a:srgbClr val="E8ECE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7" name="Google Shape;497;h4e82ad7d59cc63f1_2_125"/>
          <p:cNvSpPr/>
          <p:nvPr/>
        </p:nvSpPr>
        <p:spPr>
          <a:xfrm>
            <a:off x="6047110" y="4782312"/>
            <a:ext cx="4389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26A"/>
              </a:buClr>
              <a:buSzPts val="680"/>
              <a:buFont typeface="Arial"/>
              <a:buNone/>
            </a:pPr>
            <a:r>
              <a:rPr b="0" i="0" lang="en-US" sz="680" u="none" cap="none" strike="noStrike">
                <a:solidFill>
                  <a:srgbClr val="56626A"/>
                </a:solidFill>
                <a:latin typeface="Arial"/>
                <a:ea typeface="Arial"/>
                <a:cs typeface="Arial"/>
                <a:sym typeface="Arial"/>
              </a:rPr>
              <a:t>22 oct</a:t>
            </a:r>
            <a:endParaRPr b="0" i="0" sz="6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8" name="Google Shape;498;h4e82ad7d59cc63f1_2_125"/>
          <p:cNvCxnSpPr/>
          <p:nvPr/>
        </p:nvCxnSpPr>
        <p:spPr>
          <a:xfrm>
            <a:off x="7104888" y="3017520"/>
            <a:ext cx="0" cy="1719000"/>
          </a:xfrm>
          <a:prstGeom prst="straightConnector1">
            <a:avLst/>
          </a:prstGeom>
          <a:noFill/>
          <a:ln cap="flat" cmpd="sng" w="12700">
            <a:solidFill>
              <a:srgbClr val="E8ECE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9" name="Google Shape;499;h4e82ad7d59cc63f1_2_125"/>
          <p:cNvSpPr/>
          <p:nvPr/>
        </p:nvSpPr>
        <p:spPr>
          <a:xfrm>
            <a:off x="6894576" y="4782312"/>
            <a:ext cx="4389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26A"/>
              </a:buClr>
              <a:buSzPts val="680"/>
              <a:buFont typeface="Arial"/>
              <a:buNone/>
            </a:pPr>
            <a:r>
              <a:rPr b="0" i="0" lang="en-US" sz="680" u="none" cap="none" strike="noStrike">
                <a:solidFill>
                  <a:srgbClr val="56626A"/>
                </a:solidFill>
                <a:latin typeface="Arial"/>
                <a:ea typeface="Arial"/>
                <a:cs typeface="Arial"/>
                <a:sym typeface="Arial"/>
              </a:rPr>
              <a:t>23 oct</a:t>
            </a:r>
            <a:endParaRPr b="0" i="0" sz="6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h4e82ad7d59cc63f1_2_125"/>
          <p:cNvSpPr/>
          <p:nvPr/>
        </p:nvSpPr>
        <p:spPr>
          <a:xfrm>
            <a:off x="3794760" y="4983480"/>
            <a:ext cx="3840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26A"/>
              </a:buClr>
              <a:buSzPts val="740"/>
              <a:buFont typeface="Arial"/>
              <a:buNone/>
            </a:pPr>
            <a:r>
              <a:rPr b="0" i="0" lang="en-US" sz="740" u="none" cap="none" strike="noStrike">
                <a:solidFill>
                  <a:srgbClr val="56626A"/>
                </a:solidFill>
                <a:latin typeface="Arial"/>
                <a:ea typeface="Arial"/>
                <a:cs typeface="Arial"/>
                <a:sym typeface="Arial"/>
              </a:rPr>
              <a:t>Fecha</a:t>
            </a:r>
            <a:endParaRPr b="0" i="0" sz="7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1" name="Google Shape;501;h4e82ad7d59cc63f1_2_125"/>
          <p:cNvCxnSpPr/>
          <p:nvPr/>
        </p:nvCxnSpPr>
        <p:spPr>
          <a:xfrm>
            <a:off x="1051560" y="3972560"/>
            <a:ext cx="6053400" cy="764100"/>
          </a:xfrm>
          <a:prstGeom prst="straightConnector1">
            <a:avLst/>
          </a:prstGeom>
          <a:noFill/>
          <a:ln cap="flat" cmpd="sng" w="30475">
            <a:solidFill>
              <a:srgbClr val="858B9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2" name="Google Shape;502;h4e82ad7d59cc63f1_2_125"/>
          <p:cNvCxnSpPr/>
          <p:nvPr/>
        </p:nvCxnSpPr>
        <p:spPr>
          <a:xfrm rot="10800000">
            <a:off x="1063667" y="3399560"/>
            <a:ext cx="0" cy="573000"/>
          </a:xfrm>
          <a:prstGeom prst="straightConnector1">
            <a:avLst/>
          </a:prstGeom>
          <a:noFill/>
          <a:ln cap="flat" cmpd="sng" w="3555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3" name="Google Shape;503;h4e82ad7d59cc63f1_2_125"/>
          <p:cNvCxnSpPr/>
          <p:nvPr/>
        </p:nvCxnSpPr>
        <p:spPr>
          <a:xfrm rot="10800000">
            <a:off x="1099987" y="3113036"/>
            <a:ext cx="0" cy="286500"/>
          </a:xfrm>
          <a:prstGeom prst="straightConnector1">
            <a:avLst/>
          </a:prstGeom>
          <a:noFill/>
          <a:ln cap="flat" cmpd="sng" w="3555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4" name="Google Shape;504;h4e82ad7d59cc63f1_2_125"/>
          <p:cNvCxnSpPr/>
          <p:nvPr/>
        </p:nvCxnSpPr>
        <p:spPr>
          <a:xfrm flipH="1" rot="10800000">
            <a:off x="1124200" y="3110324"/>
            <a:ext cx="6005100" cy="2700"/>
          </a:xfrm>
          <a:prstGeom prst="straightConnector1">
            <a:avLst/>
          </a:prstGeom>
          <a:noFill/>
          <a:ln cap="flat" cmpd="sng" w="3555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5" name="Google Shape;505;h4e82ad7d59cc63f1_2_125"/>
          <p:cNvCxnSpPr/>
          <p:nvPr/>
        </p:nvCxnSpPr>
        <p:spPr>
          <a:xfrm>
            <a:off x="7104944" y="3113024"/>
            <a:ext cx="0" cy="286500"/>
          </a:xfrm>
          <a:prstGeom prst="straightConnector1">
            <a:avLst/>
          </a:prstGeom>
          <a:noFill/>
          <a:ln cap="flat" cmpd="sng" w="3555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6" name="Google Shape;506;h4e82ad7d59cc63f1_2_125"/>
          <p:cNvCxnSpPr/>
          <p:nvPr/>
        </p:nvCxnSpPr>
        <p:spPr>
          <a:xfrm>
            <a:off x="7072544" y="3017607"/>
            <a:ext cx="0" cy="1719000"/>
          </a:xfrm>
          <a:prstGeom prst="straightConnector1">
            <a:avLst/>
          </a:prstGeom>
          <a:noFill/>
          <a:ln cap="flat" cmpd="sng" w="12700">
            <a:solidFill>
              <a:srgbClr val="7C879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7" name="Google Shape;507;h4e82ad7d59cc63f1_2_125"/>
          <p:cNvSpPr/>
          <p:nvPr/>
        </p:nvSpPr>
        <p:spPr>
          <a:xfrm>
            <a:off x="6894571" y="2839116"/>
            <a:ext cx="3108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Hoy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h4e82ad7d59cc63f1_2_125"/>
          <p:cNvSpPr/>
          <p:nvPr/>
        </p:nvSpPr>
        <p:spPr>
          <a:xfrm>
            <a:off x="7072921" y="3381025"/>
            <a:ext cx="82200" cy="82200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h4e82ad7d59cc63f1_2_125"/>
          <p:cNvSpPr/>
          <p:nvPr/>
        </p:nvSpPr>
        <p:spPr>
          <a:xfrm>
            <a:off x="5577096" y="3508186"/>
            <a:ext cx="14631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820"/>
              <a:buFont typeface="Arial"/>
              <a:buNone/>
            </a:pPr>
            <a:r>
              <a:rPr b="1" i="0" lang="en-US" sz="82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14 SP restantes al </a:t>
            </a:r>
            <a:r>
              <a:rPr b="1" lang="en-US" sz="820">
                <a:solidFill>
                  <a:srgbClr val="EF4444"/>
                </a:solidFill>
              </a:rPr>
              <a:t>23</a:t>
            </a:r>
            <a:r>
              <a:rPr b="1" i="0" lang="en-US" sz="82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/10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h4e82ad7d59cc63f1_2_125"/>
          <p:cNvSpPr/>
          <p:nvPr/>
        </p:nvSpPr>
        <p:spPr>
          <a:xfrm>
            <a:off x="932688" y="5212080"/>
            <a:ext cx="393300" cy="393300"/>
          </a:xfrm>
          <a:prstGeom prst="ellipse">
            <a:avLst/>
          </a:prstGeom>
          <a:solidFill>
            <a:srgbClr val="EEF7FB"/>
          </a:solidFill>
          <a:ln cap="flat" cmpd="sng" w="12700">
            <a:solidFill>
              <a:srgbClr val="B6D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h4e82ad7d59cc63f1_2_125"/>
          <p:cNvSpPr/>
          <p:nvPr/>
        </p:nvSpPr>
        <p:spPr>
          <a:xfrm>
            <a:off x="1005840" y="5321808"/>
            <a:ext cx="2286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4A78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74A78"/>
                </a:solidFill>
                <a:latin typeface="Arial"/>
                <a:ea typeface="Arial"/>
                <a:cs typeface="Arial"/>
                <a:sym typeface="Arial"/>
              </a:rPr>
              <a:t>Σ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h4e82ad7d59cc63f1_2_125"/>
          <p:cNvSpPr/>
          <p:nvPr/>
        </p:nvSpPr>
        <p:spPr>
          <a:xfrm>
            <a:off x="1463040" y="5248656"/>
            <a:ext cx="6585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4A78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174A7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lang="en-US" sz="2500">
                <a:solidFill>
                  <a:srgbClr val="174A78"/>
                </a:solidFill>
              </a:rPr>
              <a:t>7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h4e82ad7d59cc63f1_2_125"/>
          <p:cNvSpPr/>
          <p:nvPr/>
        </p:nvSpPr>
        <p:spPr>
          <a:xfrm>
            <a:off x="2084832" y="5376672"/>
            <a:ext cx="10515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02A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17202A"/>
                </a:solidFill>
                <a:latin typeface="Arial"/>
                <a:ea typeface="Arial"/>
                <a:cs typeface="Arial"/>
                <a:sym typeface="Arial"/>
              </a:rPr>
              <a:t>SP totales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4" name="Google Shape;514;h4e82ad7d59cc63f1_2_125"/>
          <p:cNvCxnSpPr/>
          <p:nvPr/>
        </p:nvCxnSpPr>
        <p:spPr>
          <a:xfrm>
            <a:off x="2880360" y="5184648"/>
            <a:ext cx="0" cy="502800"/>
          </a:xfrm>
          <a:prstGeom prst="straightConnector1">
            <a:avLst/>
          </a:prstGeom>
          <a:noFill/>
          <a:ln cap="flat" cmpd="sng" w="25400">
            <a:solidFill>
              <a:srgbClr val="B8D5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5" name="Google Shape;515;h4e82ad7d59cc63f1_2_125"/>
          <p:cNvSpPr/>
          <p:nvPr/>
        </p:nvSpPr>
        <p:spPr>
          <a:xfrm>
            <a:off x="3127248" y="5212080"/>
            <a:ext cx="393300" cy="393300"/>
          </a:xfrm>
          <a:prstGeom prst="ellipse">
            <a:avLst/>
          </a:prstGeom>
          <a:solidFill>
            <a:srgbClr val="EEF7FB"/>
          </a:solidFill>
          <a:ln cap="flat" cmpd="sng" w="12700">
            <a:solidFill>
              <a:srgbClr val="B6D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h4e82ad7d59cc63f1_2_125"/>
          <p:cNvSpPr/>
          <p:nvPr/>
        </p:nvSpPr>
        <p:spPr>
          <a:xfrm>
            <a:off x="3200400" y="5321808"/>
            <a:ext cx="2286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4A78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74A78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h4e82ad7d59cc63f1_2_125"/>
          <p:cNvSpPr/>
          <p:nvPr/>
        </p:nvSpPr>
        <p:spPr>
          <a:xfrm>
            <a:off x="3657600" y="5248656"/>
            <a:ext cx="6585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h4e82ad7d59cc63f1_2_125"/>
          <p:cNvSpPr/>
          <p:nvPr/>
        </p:nvSpPr>
        <p:spPr>
          <a:xfrm>
            <a:off x="4279392" y="5376672"/>
            <a:ext cx="12000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 finalizados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9" name="Google Shape;519;h4e82ad7d59cc63f1_2_125"/>
          <p:cNvCxnSpPr/>
          <p:nvPr/>
        </p:nvCxnSpPr>
        <p:spPr>
          <a:xfrm>
            <a:off x="5193792" y="5184648"/>
            <a:ext cx="0" cy="502800"/>
          </a:xfrm>
          <a:prstGeom prst="straightConnector1">
            <a:avLst/>
          </a:prstGeom>
          <a:noFill/>
          <a:ln cap="flat" cmpd="sng" w="25400">
            <a:solidFill>
              <a:srgbClr val="B8D5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0" name="Google Shape;520;h4e82ad7d59cc63f1_2_125"/>
          <p:cNvSpPr/>
          <p:nvPr/>
        </p:nvSpPr>
        <p:spPr>
          <a:xfrm>
            <a:off x="5440680" y="5212080"/>
            <a:ext cx="393300" cy="393300"/>
          </a:xfrm>
          <a:prstGeom prst="ellipse">
            <a:avLst/>
          </a:prstGeom>
          <a:solidFill>
            <a:srgbClr val="EEF7FB"/>
          </a:solidFill>
          <a:ln cap="flat" cmpd="sng" w="12700">
            <a:solidFill>
              <a:srgbClr val="B6D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h4e82ad7d59cc63f1_2_125"/>
          <p:cNvSpPr/>
          <p:nvPr/>
        </p:nvSpPr>
        <p:spPr>
          <a:xfrm>
            <a:off x="5513832" y="5321808"/>
            <a:ext cx="2286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4A78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74A78"/>
                </a:solidFill>
                <a:latin typeface="Arial"/>
                <a:ea typeface="Arial"/>
                <a:cs typeface="Arial"/>
                <a:sym typeface="Arial"/>
              </a:rPr>
              <a:t>%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h4e82ad7d59cc63f1_2_125"/>
          <p:cNvSpPr/>
          <p:nvPr/>
        </p:nvSpPr>
        <p:spPr>
          <a:xfrm>
            <a:off x="5971032" y="5248656"/>
            <a:ext cx="7863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18%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h4e82ad7d59cc63f1_2_125"/>
          <p:cNvSpPr/>
          <p:nvPr/>
        </p:nvSpPr>
        <p:spPr>
          <a:xfrm>
            <a:off x="6748272" y="5385816"/>
            <a:ext cx="8001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finalizado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h4e82ad7d59cc63f1_2_125"/>
          <p:cNvSpPr/>
          <p:nvPr/>
        </p:nvSpPr>
        <p:spPr>
          <a:xfrm>
            <a:off x="7726680" y="1078992"/>
            <a:ext cx="3429000" cy="941700"/>
          </a:xfrm>
          <a:prstGeom prst="roundRect">
            <a:avLst>
              <a:gd fmla="val 7767" name="adj"/>
            </a:avLst>
          </a:prstGeom>
          <a:solidFill>
            <a:srgbClr val="FFFFFF"/>
          </a:solidFill>
          <a:ln cap="flat" cmpd="sng" w="12700">
            <a:solidFill>
              <a:srgbClr val="B7D8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h4e82ad7d59cc63f1_2_125"/>
          <p:cNvSpPr/>
          <p:nvPr/>
        </p:nvSpPr>
        <p:spPr>
          <a:xfrm>
            <a:off x="7927848" y="1243584"/>
            <a:ext cx="2013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4A78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74A78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h4e82ad7d59cc63f1_2_125"/>
          <p:cNvSpPr/>
          <p:nvPr/>
        </p:nvSpPr>
        <p:spPr>
          <a:xfrm>
            <a:off x="8165592" y="1225296"/>
            <a:ext cx="2788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4A78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74A78"/>
                </a:solidFill>
                <a:latin typeface="Arial"/>
                <a:ea typeface="Arial"/>
                <a:cs typeface="Arial"/>
                <a:sym typeface="Arial"/>
              </a:rPr>
              <a:t>Estado del sprint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h4e82ad7d59cc63f1_2_125"/>
          <p:cNvSpPr/>
          <p:nvPr/>
        </p:nvSpPr>
        <p:spPr>
          <a:xfrm>
            <a:off x="7936992" y="1572768"/>
            <a:ext cx="2944500" cy="347400"/>
          </a:xfrm>
          <a:prstGeom prst="roundRect">
            <a:avLst>
              <a:gd fmla="val 13158" name="adj"/>
            </a:avLst>
          </a:prstGeom>
          <a:solidFill>
            <a:srgbClr val="E7F6E9"/>
          </a:solidFill>
          <a:ln cap="flat" cmpd="sng" w="12700">
            <a:solidFill>
              <a:srgbClr val="E7F6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h4e82ad7d59cc63f1_2_125"/>
          <p:cNvSpPr/>
          <p:nvPr/>
        </p:nvSpPr>
        <p:spPr>
          <a:xfrm>
            <a:off x="8110728" y="1664208"/>
            <a:ext cx="16002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7A34"/>
              </a:buClr>
              <a:buSzPts val="930"/>
              <a:buFont typeface="Arial"/>
              <a:buNone/>
            </a:pPr>
            <a:r>
              <a:rPr b="1" i="0" lang="en-US" sz="930" u="none" cap="none" strike="noStrike">
                <a:solidFill>
                  <a:srgbClr val="0A7A34"/>
                </a:solidFill>
                <a:latin typeface="Arial"/>
                <a:ea typeface="Arial"/>
                <a:cs typeface="Arial"/>
                <a:sym typeface="Arial"/>
              </a:rPr>
              <a:t>Sprint 3 en curso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h4e82ad7d59cc63f1_2_125"/>
          <p:cNvSpPr/>
          <p:nvPr/>
        </p:nvSpPr>
        <p:spPr>
          <a:xfrm>
            <a:off x="9827406" y="1563875"/>
            <a:ext cx="9627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8% finalizado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h4e82ad7d59cc63f1_2_125"/>
          <p:cNvSpPr/>
          <p:nvPr/>
        </p:nvSpPr>
        <p:spPr>
          <a:xfrm>
            <a:off x="7726680" y="2212848"/>
            <a:ext cx="3429000" cy="10242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B7D8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h4e82ad7d59cc63f1_2_125"/>
          <p:cNvSpPr/>
          <p:nvPr/>
        </p:nvSpPr>
        <p:spPr>
          <a:xfrm>
            <a:off x="7927848" y="2377440"/>
            <a:ext cx="2013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4A78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74A78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h4e82ad7d59cc63f1_2_125"/>
          <p:cNvSpPr/>
          <p:nvPr/>
        </p:nvSpPr>
        <p:spPr>
          <a:xfrm>
            <a:off x="8165592" y="2359152"/>
            <a:ext cx="2788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4A78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74A78"/>
                </a:solidFill>
                <a:latin typeface="Arial"/>
                <a:ea typeface="Arial"/>
                <a:cs typeface="Arial"/>
                <a:sym typeface="Arial"/>
              </a:rPr>
              <a:t>Indicadores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h4e82ad7d59cc63f1_2_125"/>
          <p:cNvSpPr/>
          <p:nvPr/>
        </p:nvSpPr>
        <p:spPr>
          <a:xfrm>
            <a:off x="7918704" y="2587752"/>
            <a:ext cx="2944500" cy="530400"/>
          </a:xfrm>
          <a:prstGeom prst="roundRect">
            <a:avLst>
              <a:gd fmla="val 6897" name="adj"/>
            </a:avLst>
          </a:prstGeom>
          <a:solidFill>
            <a:srgbClr val="E9F3FA"/>
          </a:solidFill>
          <a:ln cap="flat" cmpd="sng" w="12700">
            <a:solidFill>
              <a:srgbClr val="E9F3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h4e82ad7d59cc63f1_2_125"/>
          <p:cNvSpPr/>
          <p:nvPr/>
        </p:nvSpPr>
        <p:spPr>
          <a:xfrm>
            <a:off x="8120000" y="2587441"/>
            <a:ext cx="25419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 hacer: 8 SP (47%)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 curso: 6 SP (35%)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Finalizado: 3 SP (18%)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h4e82ad7d59cc63f1_2_125"/>
          <p:cNvSpPr/>
          <p:nvPr/>
        </p:nvSpPr>
        <p:spPr>
          <a:xfrm>
            <a:off x="7726680" y="3401568"/>
            <a:ext cx="3429000" cy="1197900"/>
          </a:xfrm>
          <a:prstGeom prst="roundRect">
            <a:avLst>
              <a:gd fmla="val 6107" name="adj"/>
            </a:avLst>
          </a:prstGeom>
          <a:solidFill>
            <a:srgbClr val="FFFFFF"/>
          </a:solidFill>
          <a:ln cap="flat" cmpd="sng" w="12700">
            <a:solidFill>
              <a:srgbClr val="B7D8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h4e82ad7d59cc63f1_2_125"/>
          <p:cNvSpPr/>
          <p:nvPr/>
        </p:nvSpPr>
        <p:spPr>
          <a:xfrm>
            <a:off x="7927848" y="3566160"/>
            <a:ext cx="2013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4A78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74A78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h4e82ad7d59cc63f1_2_125"/>
          <p:cNvSpPr/>
          <p:nvPr/>
        </p:nvSpPr>
        <p:spPr>
          <a:xfrm>
            <a:off x="8165592" y="3547872"/>
            <a:ext cx="2788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4A78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74A78"/>
                </a:solidFill>
                <a:latin typeface="Arial"/>
                <a:ea typeface="Arial"/>
                <a:cs typeface="Arial"/>
                <a:sym typeface="Arial"/>
              </a:rPr>
              <a:t>Estado actual del sprint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h4e82ad7d59cc63f1_2_125"/>
          <p:cNvSpPr/>
          <p:nvPr/>
        </p:nvSpPr>
        <p:spPr>
          <a:xfrm>
            <a:off x="7918704" y="3776472"/>
            <a:ext cx="2944500" cy="640200"/>
          </a:xfrm>
          <a:prstGeom prst="roundRect">
            <a:avLst>
              <a:gd fmla="val 5714" name="adj"/>
            </a:avLst>
          </a:prstGeom>
          <a:solidFill>
            <a:srgbClr val="FFF6DE"/>
          </a:solidFill>
          <a:ln cap="flat" cmpd="sng" w="12700">
            <a:solidFill>
              <a:srgbClr val="FFF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h4e82ad7d59cc63f1_2_125"/>
          <p:cNvSpPr/>
          <p:nvPr/>
        </p:nvSpPr>
        <p:spPr>
          <a:xfrm>
            <a:off x="8083296" y="3849624"/>
            <a:ext cx="1830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h4e82ad7d59cc63f1_2_125"/>
          <p:cNvSpPr/>
          <p:nvPr/>
        </p:nvSpPr>
        <p:spPr>
          <a:xfrm>
            <a:off x="8339328" y="3840480"/>
            <a:ext cx="22860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Backend + PostgreSQL finalizado (3 SP)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h4e82ad7d59cc63f1_2_125"/>
          <p:cNvSpPr/>
          <p:nvPr/>
        </p:nvSpPr>
        <p:spPr>
          <a:xfrm>
            <a:off x="8083296" y="4050792"/>
            <a:ext cx="1830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◐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h4e82ad7d59cc63f1_2_125"/>
          <p:cNvSpPr/>
          <p:nvPr/>
        </p:nvSpPr>
        <p:spPr>
          <a:xfrm>
            <a:off x="8339328" y="4041648"/>
            <a:ext cx="22860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UAT, evidencias y GitHub en curso (6 SP)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h4e82ad7d59cc63f1_2_125"/>
          <p:cNvSpPr/>
          <p:nvPr/>
        </p:nvSpPr>
        <p:spPr>
          <a:xfrm>
            <a:off x="8083296" y="4242816"/>
            <a:ext cx="1830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○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h4e82ad7d59cc63f1_2_125"/>
          <p:cNvSpPr/>
          <p:nvPr/>
        </p:nvSpPr>
        <p:spPr>
          <a:xfrm>
            <a:off x="8339328" y="4233672"/>
            <a:ext cx="23043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API, integración y pruebas pendientes (8 SP)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h4e82ad7d59cc63f1_2_125"/>
          <p:cNvSpPr/>
          <p:nvPr/>
        </p:nvSpPr>
        <p:spPr>
          <a:xfrm>
            <a:off x="7726680" y="4837176"/>
            <a:ext cx="3429000" cy="832200"/>
          </a:xfrm>
          <a:prstGeom prst="roundRect">
            <a:avLst>
              <a:gd fmla="val 8791" name="adj"/>
            </a:avLst>
          </a:prstGeom>
          <a:solidFill>
            <a:srgbClr val="FFFFFF"/>
          </a:solidFill>
          <a:ln cap="flat" cmpd="sng" w="12700">
            <a:solidFill>
              <a:srgbClr val="B7D8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h4e82ad7d59cc63f1_2_125"/>
          <p:cNvSpPr/>
          <p:nvPr/>
        </p:nvSpPr>
        <p:spPr>
          <a:xfrm>
            <a:off x="7927848" y="5001768"/>
            <a:ext cx="2013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4A78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74A78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h4e82ad7d59cc63f1_2_125"/>
          <p:cNvSpPr/>
          <p:nvPr/>
        </p:nvSpPr>
        <p:spPr>
          <a:xfrm>
            <a:off x="8165592" y="4983480"/>
            <a:ext cx="2788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4A78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74A78"/>
                </a:solidFill>
                <a:latin typeface="Arial"/>
                <a:ea typeface="Arial"/>
                <a:cs typeface="Arial"/>
                <a:sym typeface="Arial"/>
              </a:rPr>
              <a:t>Sprints cerrados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h4e82ad7d59cc63f1_2_125"/>
          <p:cNvSpPr/>
          <p:nvPr/>
        </p:nvSpPr>
        <p:spPr>
          <a:xfrm>
            <a:off x="7918704" y="5202936"/>
            <a:ext cx="2944500" cy="347400"/>
          </a:xfrm>
          <a:prstGeom prst="roundRect">
            <a:avLst>
              <a:gd fmla="val 10526" name="adj"/>
            </a:avLst>
          </a:prstGeom>
          <a:solidFill>
            <a:srgbClr val="E9F3FA"/>
          </a:solidFill>
          <a:ln cap="flat" cmpd="sng" w="12700">
            <a:solidFill>
              <a:srgbClr val="E9F3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h4e82ad7d59cc63f1_2_125"/>
          <p:cNvSpPr/>
          <p:nvPr/>
        </p:nvSpPr>
        <p:spPr>
          <a:xfrm>
            <a:off x="8202168" y="5257800"/>
            <a:ext cx="658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4A78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74A78"/>
                </a:solidFill>
                <a:latin typeface="Arial"/>
                <a:ea typeface="Arial"/>
                <a:cs typeface="Arial"/>
                <a:sym typeface="Arial"/>
              </a:rPr>
              <a:t>33,3%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h4e82ad7d59cc63f1_2_125"/>
          <p:cNvSpPr/>
          <p:nvPr/>
        </p:nvSpPr>
        <p:spPr>
          <a:xfrm>
            <a:off x="8997696" y="5303520"/>
            <a:ext cx="16275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780"/>
              <a:buFont typeface="Arial"/>
              <a:buNone/>
            </a:pPr>
            <a:r>
              <a:rPr b="0" i="0" lang="en-US" sz="78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2 de 6 sprints completados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h4e82ad7d59cc63f1_2_125"/>
          <p:cNvSpPr/>
          <p:nvPr/>
        </p:nvSpPr>
        <p:spPr>
          <a:xfrm>
            <a:off x="694944" y="6345936"/>
            <a:ext cx="10488300" cy="329100"/>
          </a:xfrm>
          <a:prstGeom prst="roundRect">
            <a:avLst>
              <a:gd fmla="val 11111" name="adj"/>
            </a:avLst>
          </a:prstGeom>
          <a:solidFill>
            <a:srgbClr val="E8FAFD"/>
          </a:solidFill>
          <a:ln cap="flat" cmpd="sng" w="13950">
            <a:solidFill>
              <a:srgbClr val="39B8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h4e82ad7d59cc63f1_2_125"/>
          <p:cNvSpPr/>
          <p:nvPr/>
        </p:nvSpPr>
        <p:spPr>
          <a:xfrm>
            <a:off x="1005840" y="6437376"/>
            <a:ext cx="95556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Jira registra 17 SP: 18% finalizado, 35% en curso y 47% pendiente. Seguimiento formal desde el 16/10.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h4e82ad7d59cc63f1_3_24"/>
          <p:cNvSpPr/>
          <p:nvPr/>
        </p:nvSpPr>
        <p:spPr>
          <a:xfrm>
            <a:off x="3451850" y="1394374"/>
            <a:ext cx="1326000" cy="1216200"/>
          </a:xfrm>
          <a:prstGeom prst="rect">
            <a:avLst/>
          </a:prstGeom>
          <a:solidFill>
            <a:srgbClr val="F4A3A3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h4e82ad7d59cc63f1_3_24"/>
          <p:cNvSpPr/>
          <p:nvPr/>
        </p:nvSpPr>
        <p:spPr>
          <a:xfrm>
            <a:off x="438912" y="128016"/>
            <a:ext cx="79554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Play"/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Matriz de riesgos detectados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h4e82ad7d59cc63f1_3_24"/>
          <p:cNvSpPr/>
          <p:nvPr/>
        </p:nvSpPr>
        <p:spPr>
          <a:xfrm>
            <a:off x="457200" y="758952"/>
            <a:ext cx="6675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E6277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4E6277"/>
                </a:solidFill>
                <a:latin typeface="Arial"/>
                <a:ea typeface="Arial"/>
                <a:cs typeface="Arial"/>
                <a:sym typeface="Arial"/>
              </a:rPr>
              <a:t>Sprint 3 · Probabilidad × Impacto · Corte 16/10/2026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h4e82ad7d59cc63f1_3_24"/>
          <p:cNvSpPr/>
          <p:nvPr/>
        </p:nvSpPr>
        <p:spPr>
          <a:xfrm>
            <a:off x="777240" y="1115568"/>
            <a:ext cx="2286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Matriz 3 × 3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h4e82ad7d59cc63f1_3_24"/>
          <p:cNvSpPr/>
          <p:nvPr/>
        </p:nvSpPr>
        <p:spPr>
          <a:xfrm>
            <a:off x="2103045" y="3886195"/>
            <a:ext cx="1326000" cy="1216200"/>
          </a:xfrm>
          <a:prstGeom prst="rect">
            <a:avLst/>
          </a:prstGeom>
          <a:solidFill>
            <a:srgbClr val="EAF2C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h4e82ad7d59cc63f1_3_24"/>
          <p:cNvSpPr/>
          <p:nvPr/>
        </p:nvSpPr>
        <p:spPr>
          <a:xfrm>
            <a:off x="777240" y="2633472"/>
            <a:ext cx="1326000" cy="1216200"/>
          </a:xfrm>
          <a:prstGeom prst="rect">
            <a:avLst/>
          </a:prstGeom>
          <a:solidFill>
            <a:srgbClr val="EAF2C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h4e82ad7d59cc63f1_3_24"/>
          <p:cNvSpPr/>
          <p:nvPr/>
        </p:nvSpPr>
        <p:spPr>
          <a:xfrm>
            <a:off x="2125845" y="2624235"/>
            <a:ext cx="1326000" cy="1216200"/>
          </a:xfrm>
          <a:prstGeom prst="rect">
            <a:avLst/>
          </a:prstGeom>
          <a:solidFill>
            <a:srgbClr val="F8E8A7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h4e82ad7d59cc63f1_3_24"/>
          <p:cNvSpPr/>
          <p:nvPr/>
        </p:nvSpPr>
        <p:spPr>
          <a:xfrm>
            <a:off x="3451850" y="2624235"/>
            <a:ext cx="1326000" cy="1216200"/>
          </a:xfrm>
          <a:prstGeom prst="rect">
            <a:avLst/>
          </a:prstGeom>
          <a:solidFill>
            <a:srgbClr val="F8C792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h4e82ad7d59cc63f1_3_24"/>
          <p:cNvSpPr/>
          <p:nvPr/>
        </p:nvSpPr>
        <p:spPr>
          <a:xfrm>
            <a:off x="3428990" y="3886199"/>
            <a:ext cx="1326000" cy="1216200"/>
          </a:xfrm>
          <a:prstGeom prst="rect">
            <a:avLst/>
          </a:prstGeom>
          <a:solidFill>
            <a:srgbClr val="F8E8A7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h4e82ad7d59cc63f1_3_24"/>
          <p:cNvSpPr/>
          <p:nvPr/>
        </p:nvSpPr>
        <p:spPr>
          <a:xfrm>
            <a:off x="2125858" y="1394386"/>
            <a:ext cx="1326000" cy="1216200"/>
          </a:xfrm>
          <a:prstGeom prst="rect">
            <a:avLst/>
          </a:prstGeom>
          <a:solidFill>
            <a:srgbClr val="F8C792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h4e82ad7d59cc63f1_3_24"/>
          <p:cNvSpPr/>
          <p:nvPr/>
        </p:nvSpPr>
        <p:spPr>
          <a:xfrm>
            <a:off x="777240" y="5138928"/>
            <a:ext cx="1326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475E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30475E"/>
                </a:solidFill>
                <a:latin typeface="Arial"/>
                <a:ea typeface="Arial"/>
                <a:cs typeface="Arial"/>
                <a:sym typeface="Arial"/>
              </a:rPr>
              <a:t>Bajo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h4e82ad7d59cc63f1_3_24"/>
          <p:cNvSpPr/>
          <p:nvPr/>
        </p:nvSpPr>
        <p:spPr>
          <a:xfrm>
            <a:off x="2103120" y="5138928"/>
            <a:ext cx="1326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475E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30475E"/>
                </a:solidFill>
                <a:latin typeface="Arial"/>
                <a:ea typeface="Arial"/>
                <a:cs typeface="Arial"/>
                <a:sym typeface="Arial"/>
              </a:rPr>
              <a:t>Medio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h4e82ad7d59cc63f1_3_24"/>
          <p:cNvSpPr/>
          <p:nvPr/>
        </p:nvSpPr>
        <p:spPr>
          <a:xfrm>
            <a:off x="3429000" y="5138928"/>
            <a:ext cx="1326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475E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30475E"/>
                </a:solidFill>
                <a:latin typeface="Arial"/>
                <a:ea typeface="Arial"/>
                <a:cs typeface="Arial"/>
                <a:sym typeface="Arial"/>
              </a:rPr>
              <a:t>Alto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h4e82ad7d59cc63f1_3_24"/>
          <p:cNvSpPr/>
          <p:nvPr/>
        </p:nvSpPr>
        <p:spPr>
          <a:xfrm>
            <a:off x="1508760" y="5449824"/>
            <a:ext cx="2560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IMPACTO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h4e82ad7d59cc63f1_3_24"/>
          <p:cNvSpPr/>
          <p:nvPr/>
        </p:nvSpPr>
        <p:spPr>
          <a:xfrm>
            <a:off x="320040" y="1847088"/>
            <a:ext cx="384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475E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30475E"/>
                </a:solidFill>
                <a:latin typeface="Arial"/>
                <a:ea typeface="Arial"/>
                <a:cs typeface="Arial"/>
                <a:sym typeface="Arial"/>
              </a:rPr>
              <a:t>Alta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h4e82ad7d59cc63f1_3_24"/>
          <p:cNvSpPr/>
          <p:nvPr/>
        </p:nvSpPr>
        <p:spPr>
          <a:xfrm>
            <a:off x="320040" y="3063240"/>
            <a:ext cx="384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475E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30475E"/>
                </a:solidFill>
                <a:latin typeface="Arial"/>
                <a:ea typeface="Arial"/>
                <a:cs typeface="Arial"/>
                <a:sym typeface="Arial"/>
              </a:rPr>
              <a:t>Media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h4e82ad7d59cc63f1_3_24"/>
          <p:cNvSpPr/>
          <p:nvPr/>
        </p:nvSpPr>
        <p:spPr>
          <a:xfrm>
            <a:off x="320040" y="4279392"/>
            <a:ext cx="384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475E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30475E"/>
                </a:solidFill>
                <a:latin typeface="Arial"/>
                <a:ea typeface="Arial"/>
                <a:cs typeface="Arial"/>
                <a:sym typeface="Arial"/>
              </a:rPr>
              <a:t>Baja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h4e82ad7d59cc63f1_3_24"/>
          <p:cNvSpPr/>
          <p:nvPr/>
        </p:nvSpPr>
        <p:spPr>
          <a:xfrm rot="-5400000">
            <a:off x="-855030" y="2729430"/>
            <a:ext cx="20118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PROBABILIDAD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h4e82ad7d59cc63f1_3_24"/>
          <p:cNvSpPr/>
          <p:nvPr/>
        </p:nvSpPr>
        <p:spPr>
          <a:xfrm>
            <a:off x="3589020" y="1677924"/>
            <a:ext cx="402300" cy="402300"/>
          </a:xfrm>
          <a:prstGeom prst="ellipse">
            <a:avLst/>
          </a:prstGeom>
          <a:solidFill>
            <a:srgbClr val="B3261E"/>
          </a:solidFill>
          <a:ln cap="flat" cmpd="sng" w="152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h4e82ad7d59cc63f1_3_24"/>
          <p:cNvSpPr/>
          <p:nvPr/>
        </p:nvSpPr>
        <p:spPr>
          <a:xfrm>
            <a:off x="3589020" y="1737360"/>
            <a:ext cx="402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R2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h4e82ad7d59cc63f1_3_24"/>
          <p:cNvSpPr/>
          <p:nvPr/>
        </p:nvSpPr>
        <p:spPr>
          <a:xfrm>
            <a:off x="4027932" y="1751076"/>
            <a:ext cx="402300" cy="402300"/>
          </a:xfrm>
          <a:prstGeom prst="ellipse">
            <a:avLst/>
          </a:prstGeom>
          <a:solidFill>
            <a:srgbClr val="B3261E"/>
          </a:solidFill>
          <a:ln cap="flat" cmpd="sng" w="152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h4e82ad7d59cc63f1_3_24"/>
          <p:cNvSpPr/>
          <p:nvPr/>
        </p:nvSpPr>
        <p:spPr>
          <a:xfrm>
            <a:off x="4027932" y="1810512"/>
            <a:ext cx="402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R3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h4e82ad7d59cc63f1_3_24"/>
          <p:cNvSpPr/>
          <p:nvPr/>
        </p:nvSpPr>
        <p:spPr>
          <a:xfrm>
            <a:off x="3817620" y="2098548"/>
            <a:ext cx="402300" cy="402300"/>
          </a:xfrm>
          <a:prstGeom prst="ellipse">
            <a:avLst/>
          </a:prstGeom>
          <a:solidFill>
            <a:srgbClr val="B3261E"/>
          </a:solidFill>
          <a:ln cap="flat" cmpd="sng" w="152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h4e82ad7d59cc63f1_3_24"/>
          <p:cNvSpPr/>
          <p:nvPr/>
        </p:nvSpPr>
        <p:spPr>
          <a:xfrm>
            <a:off x="3817620" y="2157984"/>
            <a:ext cx="402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R6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h4e82ad7d59cc63f1_3_24"/>
          <p:cNvSpPr/>
          <p:nvPr/>
        </p:nvSpPr>
        <p:spPr>
          <a:xfrm>
            <a:off x="3662172" y="2894076"/>
            <a:ext cx="402300" cy="402300"/>
          </a:xfrm>
          <a:prstGeom prst="ellipse">
            <a:avLst/>
          </a:prstGeom>
          <a:solidFill>
            <a:srgbClr val="D86B00"/>
          </a:solidFill>
          <a:ln cap="flat" cmpd="sng" w="152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h4e82ad7d59cc63f1_3_24"/>
          <p:cNvSpPr/>
          <p:nvPr/>
        </p:nvSpPr>
        <p:spPr>
          <a:xfrm>
            <a:off x="3662172" y="2953512"/>
            <a:ext cx="402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R1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h4e82ad7d59cc63f1_3_24"/>
          <p:cNvSpPr/>
          <p:nvPr/>
        </p:nvSpPr>
        <p:spPr>
          <a:xfrm>
            <a:off x="4055364" y="3223260"/>
            <a:ext cx="402300" cy="402300"/>
          </a:xfrm>
          <a:prstGeom prst="ellipse">
            <a:avLst/>
          </a:prstGeom>
          <a:solidFill>
            <a:srgbClr val="D86B00"/>
          </a:solidFill>
          <a:ln cap="flat" cmpd="sng" w="152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h4e82ad7d59cc63f1_3_24"/>
          <p:cNvSpPr/>
          <p:nvPr/>
        </p:nvSpPr>
        <p:spPr>
          <a:xfrm>
            <a:off x="4055364" y="3282696"/>
            <a:ext cx="402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R5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h4e82ad7d59cc63f1_3_24"/>
          <p:cNvSpPr/>
          <p:nvPr/>
        </p:nvSpPr>
        <p:spPr>
          <a:xfrm>
            <a:off x="2564892" y="3040380"/>
            <a:ext cx="402300" cy="402300"/>
          </a:xfrm>
          <a:prstGeom prst="ellipse">
            <a:avLst/>
          </a:prstGeom>
          <a:solidFill>
            <a:srgbClr val="FFFF00"/>
          </a:solidFill>
          <a:ln cap="flat" cmpd="sng" w="15225">
            <a:solidFill>
              <a:srgbClr val="9A6A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h4e82ad7d59cc63f1_3_24"/>
          <p:cNvSpPr/>
          <p:nvPr/>
        </p:nvSpPr>
        <p:spPr>
          <a:xfrm>
            <a:off x="2564892" y="3099816"/>
            <a:ext cx="402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R4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h4e82ad7d59cc63f1_3_24"/>
          <p:cNvSpPr/>
          <p:nvPr/>
        </p:nvSpPr>
        <p:spPr>
          <a:xfrm>
            <a:off x="777240" y="5623560"/>
            <a:ext cx="502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677A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52677A"/>
                </a:solidFill>
                <a:latin typeface="Arial"/>
                <a:ea typeface="Arial"/>
                <a:cs typeface="Arial"/>
                <a:sym typeface="Arial"/>
              </a:rPr>
              <a:t>Nivel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h4e82ad7d59cc63f1_3_24"/>
          <p:cNvSpPr/>
          <p:nvPr/>
        </p:nvSpPr>
        <p:spPr>
          <a:xfrm>
            <a:off x="1325880" y="5614416"/>
            <a:ext cx="164700" cy="164700"/>
          </a:xfrm>
          <a:prstGeom prst="ellipse">
            <a:avLst/>
          </a:prstGeom>
          <a:solidFill>
            <a:srgbClr val="B3261E"/>
          </a:solidFill>
          <a:ln cap="flat" cmpd="sng" w="12700">
            <a:solidFill>
              <a:srgbClr val="B326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h4e82ad7d59cc63f1_3_24"/>
          <p:cNvSpPr/>
          <p:nvPr/>
        </p:nvSpPr>
        <p:spPr>
          <a:xfrm>
            <a:off x="1536192" y="5596128"/>
            <a:ext cx="685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67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2677A"/>
                </a:solidFill>
                <a:latin typeface="Arial"/>
                <a:ea typeface="Arial"/>
                <a:cs typeface="Arial"/>
                <a:sym typeface="Arial"/>
              </a:rPr>
              <a:t>Crítico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h4e82ad7d59cc63f1_3_24"/>
          <p:cNvSpPr/>
          <p:nvPr/>
        </p:nvSpPr>
        <p:spPr>
          <a:xfrm>
            <a:off x="2350008" y="5614416"/>
            <a:ext cx="164700" cy="164700"/>
          </a:xfrm>
          <a:prstGeom prst="ellipse">
            <a:avLst/>
          </a:prstGeom>
          <a:solidFill>
            <a:srgbClr val="D86B00"/>
          </a:solidFill>
          <a:ln cap="flat" cmpd="sng" w="12700">
            <a:solidFill>
              <a:srgbClr val="D8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h4e82ad7d59cc63f1_3_24"/>
          <p:cNvSpPr/>
          <p:nvPr/>
        </p:nvSpPr>
        <p:spPr>
          <a:xfrm>
            <a:off x="2560320" y="5596128"/>
            <a:ext cx="685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67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2677A"/>
                </a:solidFill>
                <a:latin typeface="Arial"/>
                <a:ea typeface="Arial"/>
                <a:cs typeface="Arial"/>
                <a:sym typeface="Arial"/>
              </a:rPr>
              <a:t>Alto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h4e82ad7d59cc63f1_3_24"/>
          <p:cNvSpPr/>
          <p:nvPr/>
        </p:nvSpPr>
        <p:spPr>
          <a:xfrm>
            <a:off x="3374136" y="5614416"/>
            <a:ext cx="164700" cy="164700"/>
          </a:xfrm>
          <a:prstGeom prst="ellipse">
            <a:avLst/>
          </a:prstGeom>
          <a:solidFill>
            <a:srgbClr val="FFFF00"/>
          </a:solidFill>
          <a:ln cap="flat" cmpd="sng" w="12700">
            <a:solidFill>
              <a:srgbClr val="9A6A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h4e82ad7d59cc63f1_3_24"/>
          <p:cNvSpPr/>
          <p:nvPr/>
        </p:nvSpPr>
        <p:spPr>
          <a:xfrm>
            <a:off x="3584448" y="5596128"/>
            <a:ext cx="685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67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2677A"/>
                </a:solidFill>
                <a:latin typeface="Arial"/>
                <a:ea typeface="Arial"/>
                <a:cs typeface="Arial"/>
                <a:sym typeface="Arial"/>
              </a:rPr>
              <a:t>Medio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h4e82ad7d59cc63f1_3_24"/>
          <p:cNvSpPr/>
          <p:nvPr/>
        </p:nvSpPr>
        <p:spPr>
          <a:xfrm>
            <a:off x="5166360" y="1188720"/>
            <a:ext cx="6492300" cy="4892100"/>
          </a:xfrm>
          <a:prstGeom prst="roundRect">
            <a:avLst>
              <a:gd fmla="val 1495" name="adj"/>
            </a:avLst>
          </a:prstGeom>
          <a:solidFill>
            <a:srgbClr val="FFFFFF"/>
          </a:solidFill>
          <a:ln cap="flat" cmpd="sng" w="15225">
            <a:solidFill>
              <a:srgbClr val="C7D7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h4e82ad7d59cc63f1_3_24"/>
          <p:cNvSpPr/>
          <p:nvPr/>
        </p:nvSpPr>
        <p:spPr>
          <a:xfrm>
            <a:off x="5440680" y="1389888"/>
            <a:ext cx="3474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Riesgos y </a:t>
            </a:r>
            <a:r>
              <a:rPr b="1" lang="en-US" sz="1700">
                <a:solidFill>
                  <a:srgbClr val="17365D"/>
                </a:solidFill>
              </a:rPr>
              <a:t>mitigación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h4e82ad7d59cc63f1_3_24"/>
          <p:cNvSpPr/>
          <p:nvPr/>
        </p:nvSpPr>
        <p:spPr>
          <a:xfrm>
            <a:off x="10497312" y="1417320"/>
            <a:ext cx="841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C8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6B7C8F"/>
                </a:solidFill>
                <a:latin typeface="Arial"/>
                <a:ea typeface="Arial"/>
                <a:cs typeface="Arial"/>
                <a:sym typeface="Arial"/>
              </a:rPr>
              <a:t>Prioridad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h4e82ad7d59cc63f1_3_24"/>
          <p:cNvSpPr/>
          <p:nvPr/>
        </p:nvSpPr>
        <p:spPr>
          <a:xfrm>
            <a:off x="5440680" y="1837944"/>
            <a:ext cx="301800" cy="301800"/>
          </a:xfrm>
          <a:prstGeom prst="ellipse">
            <a:avLst/>
          </a:prstGeom>
          <a:solidFill>
            <a:srgbClr val="17365D"/>
          </a:solidFill>
          <a:ln cap="flat" cmpd="sng" w="12700">
            <a:solidFill>
              <a:srgbClr val="173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h4e82ad7d59cc63f1_3_24"/>
          <p:cNvSpPr/>
          <p:nvPr/>
        </p:nvSpPr>
        <p:spPr>
          <a:xfrm>
            <a:off x="5440680" y="1897380"/>
            <a:ext cx="3018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R1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h4e82ad7d59cc63f1_3_24"/>
          <p:cNvSpPr/>
          <p:nvPr/>
        </p:nvSpPr>
        <p:spPr>
          <a:xfrm>
            <a:off x="5852160" y="1783080"/>
            <a:ext cx="3520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B5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43B53"/>
                </a:solidFill>
                <a:latin typeface="Arial"/>
                <a:ea typeface="Arial"/>
                <a:cs typeface="Arial"/>
                <a:sym typeface="Arial"/>
              </a:rPr>
              <a:t>Cambio reciente de arquitectura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h4e82ad7d59cc63f1_3_24"/>
          <p:cNvSpPr/>
          <p:nvPr/>
        </p:nvSpPr>
        <p:spPr>
          <a:xfrm>
            <a:off x="5852160" y="2066544"/>
            <a:ext cx="41604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67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2677A"/>
                </a:solidFill>
                <a:latin typeface="Arial"/>
                <a:ea typeface="Arial"/>
                <a:cs typeface="Arial"/>
                <a:sym typeface="Arial"/>
              </a:rPr>
              <a:t>Congelar stack y ADR; no reabrir decisiones salvo bloqueo.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h4e82ad7d59cc63f1_3_24"/>
          <p:cNvSpPr/>
          <p:nvPr/>
        </p:nvSpPr>
        <p:spPr>
          <a:xfrm>
            <a:off x="10543032" y="1856232"/>
            <a:ext cx="786300" cy="274200"/>
          </a:xfrm>
          <a:prstGeom prst="roundRect">
            <a:avLst>
              <a:gd fmla="val 20000" name="adj"/>
            </a:avLst>
          </a:prstGeom>
          <a:solidFill>
            <a:srgbClr val="D86B00"/>
          </a:solidFill>
          <a:ln cap="flat" cmpd="sng" w="12700">
            <a:solidFill>
              <a:srgbClr val="D8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h4e82ad7d59cc63f1_3_24"/>
          <p:cNvSpPr/>
          <p:nvPr/>
        </p:nvSpPr>
        <p:spPr>
          <a:xfrm>
            <a:off x="10543032" y="1915668"/>
            <a:ext cx="7863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0"/>
              <a:buFont typeface="Arial"/>
              <a:buNone/>
            </a:pPr>
            <a:r>
              <a:rPr b="1" i="0" lang="en-US" sz="7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ALTO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4" name="Google Shape;604;h4e82ad7d59cc63f1_3_24"/>
          <p:cNvCxnSpPr/>
          <p:nvPr/>
        </p:nvCxnSpPr>
        <p:spPr>
          <a:xfrm>
            <a:off x="5440680" y="2414016"/>
            <a:ext cx="5898000" cy="0"/>
          </a:xfrm>
          <a:prstGeom prst="straightConnector1">
            <a:avLst/>
          </a:prstGeom>
          <a:noFill/>
          <a:ln cap="flat" cmpd="sng" w="12700">
            <a:solidFill>
              <a:srgbClr val="E2E9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5" name="Google Shape;605;h4e82ad7d59cc63f1_3_24"/>
          <p:cNvSpPr/>
          <p:nvPr/>
        </p:nvSpPr>
        <p:spPr>
          <a:xfrm>
            <a:off x="5440680" y="2542032"/>
            <a:ext cx="301800" cy="301800"/>
          </a:xfrm>
          <a:prstGeom prst="ellipse">
            <a:avLst/>
          </a:prstGeom>
          <a:solidFill>
            <a:srgbClr val="17365D"/>
          </a:solidFill>
          <a:ln cap="flat" cmpd="sng" w="12700">
            <a:solidFill>
              <a:srgbClr val="173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h4e82ad7d59cc63f1_3_24"/>
          <p:cNvSpPr/>
          <p:nvPr/>
        </p:nvSpPr>
        <p:spPr>
          <a:xfrm>
            <a:off x="5440680" y="2601468"/>
            <a:ext cx="3018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R2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h4e82ad7d59cc63f1_3_24"/>
          <p:cNvSpPr/>
          <p:nvPr/>
        </p:nvSpPr>
        <p:spPr>
          <a:xfrm>
            <a:off x="5852160" y="2487168"/>
            <a:ext cx="3520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B5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43B53"/>
                </a:solidFill>
                <a:latin typeface="Arial"/>
                <a:ea typeface="Arial"/>
                <a:cs typeface="Arial"/>
                <a:sym typeface="Arial"/>
              </a:rPr>
              <a:t>Integración end-to-end incompleta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h4e82ad7d59cc63f1_3_24"/>
          <p:cNvSpPr/>
          <p:nvPr/>
        </p:nvSpPr>
        <p:spPr>
          <a:xfrm>
            <a:off x="5852160" y="2770632"/>
            <a:ext cx="41604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67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2677A"/>
                </a:solidFill>
                <a:latin typeface="Arial"/>
                <a:ea typeface="Arial"/>
                <a:cs typeface="Arial"/>
                <a:sym typeface="Arial"/>
              </a:rPr>
              <a:t>Priorizar un flujo demostrable completo antes de ampliar funciones.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h4e82ad7d59cc63f1_3_24"/>
          <p:cNvSpPr/>
          <p:nvPr/>
        </p:nvSpPr>
        <p:spPr>
          <a:xfrm>
            <a:off x="10543032" y="2560320"/>
            <a:ext cx="786300" cy="274200"/>
          </a:xfrm>
          <a:prstGeom prst="roundRect">
            <a:avLst>
              <a:gd fmla="val 20000" name="adj"/>
            </a:avLst>
          </a:prstGeom>
          <a:solidFill>
            <a:srgbClr val="B3261E"/>
          </a:solidFill>
          <a:ln cap="flat" cmpd="sng" w="12700">
            <a:solidFill>
              <a:srgbClr val="B326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h4e82ad7d59cc63f1_3_24"/>
          <p:cNvSpPr/>
          <p:nvPr/>
        </p:nvSpPr>
        <p:spPr>
          <a:xfrm>
            <a:off x="10543032" y="2619756"/>
            <a:ext cx="7863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0"/>
              <a:buFont typeface="Arial"/>
              <a:buNone/>
            </a:pPr>
            <a:r>
              <a:rPr b="1" i="0" lang="en-US" sz="7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CRÍTICO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1" name="Google Shape;611;h4e82ad7d59cc63f1_3_24"/>
          <p:cNvCxnSpPr/>
          <p:nvPr/>
        </p:nvCxnSpPr>
        <p:spPr>
          <a:xfrm>
            <a:off x="5440680" y="3118104"/>
            <a:ext cx="5898000" cy="0"/>
          </a:xfrm>
          <a:prstGeom prst="straightConnector1">
            <a:avLst/>
          </a:prstGeom>
          <a:noFill/>
          <a:ln cap="flat" cmpd="sng" w="12700">
            <a:solidFill>
              <a:srgbClr val="E2E9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2" name="Google Shape;612;h4e82ad7d59cc63f1_3_24"/>
          <p:cNvSpPr/>
          <p:nvPr/>
        </p:nvSpPr>
        <p:spPr>
          <a:xfrm>
            <a:off x="5440680" y="3246120"/>
            <a:ext cx="301800" cy="301800"/>
          </a:xfrm>
          <a:prstGeom prst="ellipse">
            <a:avLst/>
          </a:prstGeom>
          <a:solidFill>
            <a:srgbClr val="17365D"/>
          </a:solidFill>
          <a:ln cap="flat" cmpd="sng" w="12700">
            <a:solidFill>
              <a:srgbClr val="173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h4e82ad7d59cc63f1_3_24"/>
          <p:cNvSpPr/>
          <p:nvPr/>
        </p:nvSpPr>
        <p:spPr>
          <a:xfrm>
            <a:off x="5440680" y="3305556"/>
            <a:ext cx="3018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R3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h4e82ad7d59cc63f1_3_24"/>
          <p:cNvSpPr/>
          <p:nvPr/>
        </p:nvSpPr>
        <p:spPr>
          <a:xfrm>
            <a:off x="5852160" y="3191256"/>
            <a:ext cx="3520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B5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43B53"/>
                </a:solidFill>
                <a:latin typeface="Arial"/>
                <a:ea typeface="Arial"/>
                <a:cs typeface="Arial"/>
                <a:sym typeface="Arial"/>
              </a:rPr>
              <a:t>Crecimiento de alcance / sobrearquitectura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h4e82ad7d59cc63f1_3_24"/>
          <p:cNvSpPr/>
          <p:nvPr/>
        </p:nvSpPr>
        <p:spPr>
          <a:xfrm>
            <a:off x="5852160" y="3474720"/>
            <a:ext cx="41604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67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2677A"/>
                </a:solidFill>
                <a:latin typeface="Arial"/>
                <a:ea typeface="Arial"/>
                <a:cs typeface="Arial"/>
                <a:sym typeface="Arial"/>
              </a:rPr>
              <a:t>Control de backlog y criterios de aceptación por Sprint.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h4e82ad7d59cc63f1_3_24"/>
          <p:cNvSpPr/>
          <p:nvPr/>
        </p:nvSpPr>
        <p:spPr>
          <a:xfrm>
            <a:off x="10543032" y="3264408"/>
            <a:ext cx="786300" cy="274200"/>
          </a:xfrm>
          <a:prstGeom prst="roundRect">
            <a:avLst>
              <a:gd fmla="val 20000" name="adj"/>
            </a:avLst>
          </a:prstGeom>
          <a:solidFill>
            <a:srgbClr val="B3261E"/>
          </a:solidFill>
          <a:ln cap="flat" cmpd="sng" w="12700">
            <a:solidFill>
              <a:srgbClr val="B326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h4e82ad7d59cc63f1_3_24"/>
          <p:cNvSpPr/>
          <p:nvPr/>
        </p:nvSpPr>
        <p:spPr>
          <a:xfrm>
            <a:off x="10543032" y="3323844"/>
            <a:ext cx="7863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0"/>
              <a:buFont typeface="Arial"/>
              <a:buNone/>
            </a:pPr>
            <a:r>
              <a:rPr b="1" i="0" lang="en-US" sz="7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CRÍTICO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8" name="Google Shape;618;h4e82ad7d59cc63f1_3_24"/>
          <p:cNvCxnSpPr/>
          <p:nvPr/>
        </p:nvCxnSpPr>
        <p:spPr>
          <a:xfrm>
            <a:off x="5440680" y="3822192"/>
            <a:ext cx="5898000" cy="0"/>
          </a:xfrm>
          <a:prstGeom prst="straightConnector1">
            <a:avLst/>
          </a:prstGeom>
          <a:noFill/>
          <a:ln cap="flat" cmpd="sng" w="12700">
            <a:solidFill>
              <a:srgbClr val="E2E9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9" name="Google Shape;619;h4e82ad7d59cc63f1_3_24"/>
          <p:cNvSpPr/>
          <p:nvPr/>
        </p:nvSpPr>
        <p:spPr>
          <a:xfrm>
            <a:off x="5440680" y="3950208"/>
            <a:ext cx="301800" cy="301800"/>
          </a:xfrm>
          <a:prstGeom prst="ellipse">
            <a:avLst/>
          </a:prstGeom>
          <a:solidFill>
            <a:srgbClr val="17365D"/>
          </a:solidFill>
          <a:ln cap="flat" cmpd="sng" w="12700">
            <a:solidFill>
              <a:srgbClr val="173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h4e82ad7d59cc63f1_3_24"/>
          <p:cNvSpPr/>
          <p:nvPr/>
        </p:nvSpPr>
        <p:spPr>
          <a:xfrm>
            <a:off x="5440680" y="4009644"/>
            <a:ext cx="3018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R4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h4e82ad7d59cc63f1_3_24"/>
          <p:cNvSpPr/>
          <p:nvPr/>
        </p:nvSpPr>
        <p:spPr>
          <a:xfrm>
            <a:off x="5852160" y="3895344"/>
            <a:ext cx="3520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B5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43B53"/>
                </a:solidFill>
                <a:latin typeface="Arial"/>
                <a:ea typeface="Arial"/>
                <a:cs typeface="Arial"/>
                <a:sym typeface="Arial"/>
              </a:rPr>
              <a:t>Desfase del seguimiento en Jira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h4e82ad7d59cc63f1_3_24"/>
          <p:cNvSpPr/>
          <p:nvPr/>
        </p:nvSpPr>
        <p:spPr>
          <a:xfrm>
            <a:off x="5852160" y="4178808"/>
            <a:ext cx="41604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67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2677A"/>
                </a:solidFill>
                <a:latin typeface="Arial"/>
                <a:ea typeface="Arial"/>
                <a:cs typeface="Arial"/>
                <a:sym typeface="Arial"/>
              </a:rPr>
              <a:t>Actualizar estados/SP diariamente y documentar el desfase.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h4e82ad7d59cc63f1_3_24"/>
          <p:cNvSpPr/>
          <p:nvPr/>
        </p:nvSpPr>
        <p:spPr>
          <a:xfrm>
            <a:off x="10543032" y="3968496"/>
            <a:ext cx="786300" cy="274200"/>
          </a:xfrm>
          <a:prstGeom prst="roundRect">
            <a:avLst>
              <a:gd fmla="val 20000" name="adj"/>
            </a:avLst>
          </a:prstGeom>
          <a:solidFill>
            <a:srgbClr val="FFFF00"/>
          </a:solidFill>
          <a:ln cap="flat" cmpd="sng" w="12700">
            <a:solidFill>
              <a:srgbClr val="9A6A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h4e82ad7d59cc63f1_3_24"/>
          <p:cNvSpPr/>
          <p:nvPr/>
        </p:nvSpPr>
        <p:spPr>
          <a:xfrm>
            <a:off x="10543032" y="4027932"/>
            <a:ext cx="7863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0"/>
              <a:buFont typeface="Arial"/>
              <a:buNone/>
            </a:pPr>
            <a:r>
              <a:rPr b="1" i="0" lang="en-US" sz="78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MEDIO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25" name="Google Shape;625;h4e82ad7d59cc63f1_3_24"/>
          <p:cNvCxnSpPr/>
          <p:nvPr/>
        </p:nvCxnSpPr>
        <p:spPr>
          <a:xfrm>
            <a:off x="5440680" y="4526280"/>
            <a:ext cx="5898000" cy="0"/>
          </a:xfrm>
          <a:prstGeom prst="straightConnector1">
            <a:avLst/>
          </a:prstGeom>
          <a:noFill/>
          <a:ln cap="flat" cmpd="sng" w="12700">
            <a:solidFill>
              <a:srgbClr val="E2E9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6" name="Google Shape;626;h4e82ad7d59cc63f1_3_24"/>
          <p:cNvSpPr/>
          <p:nvPr/>
        </p:nvSpPr>
        <p:spPr>
          <a:xfrm>
            <a:off x="5440680" y="4654296"/>
            <a:ext cx="301800" cy="301800"/>
          </a:xfrm>
          <a:prstGeom prst="ellipse">
            <a:avLst/>
          </a:prstGeom>
          <a:solidFill>
            <a:srgbClr val="17365D"/>
          </a:solidFill>
          <a:ln cap="flat" cmpd="sng" w="12700">
            <a:solidFill>
              <a:srgbClr val="173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h4e82ad7d59cc63f1_3_24"/>
          <p:cNvSpPr/>
          <p:nvPr/>
        </p:nvSpPr>
        <p:spPr>
          <a:xfrm>
            <a:off x="5440680" y="4713732"/>
            <a:ext cx="3018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R5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h4e82ad7d59cc63f1_3_24"/>
          <p:cNvSpPr/>
          <p:nvPr/>
        </p:nvSpPr>
        <p:spPr>
          <a:xfrm>
            <a:off x="5852160" y="4599432"/>
            <a:ext cx="3520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B5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43B53"/>
                </a:solidFill>
                <a:latin typeface="Arial"/>
                <a:ea typeface="Arial"/>
                <a:cs typeface="Arial"/>
                <a:sym typeface="Arial"/>
              </a:rPr>
              <a:t>Dependencia de Supabase / configuración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h4e82ad7d59cc63f1_3_24"/>
          <p:cNvSpPr/>
          <p:nvPr/>
        </p:nvSpPr>
        <p:spPr>
          <a:xfrm>
            <a:off x="5852160" y="4882896"/>
            <a:ext cx="41604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67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2677A"/>
                </a:solidFill>
                <a:latin typeface="Arial"/>
                <a:ea typeface="Arial"/>
                <a:cs typeface="Arial"/>
                <a:sym typeface="Arial"/>
              </a:rPr>
              <a:t>Backups, variables seguras y procedimiento de recuperación.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h4e82ad7d59cc63f1_3_24"/>
          <p:cNvSpPr/>
          <p:nvPr/>
        </p:nvSpPr>
        <p:spPr>
          <a:xfrm>
            <a:off x="10543032" y="4672584"/>
            <a:ext cx="786300" cy="274200"/>
          </a:xfrm>
          <a:prstGeom prst="roundRect">
            <a:avLst>
              <a:gd fmla="val 20000" name="adj"/>
            </a:avLst>
          </a:prstGeom>
          <a:solidFill>
            <a:srgbClr val="D86B00"/>
          </a:solidFill>
          <a:ln cap="flat" cmpd="sng" w="12700">
            <a:solidFill>
              <a:srgbClr val="D8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h4e82ad7d59cc63f1_3_24"/>
          <p:cNvSpPr/>
          <p:nvPr/>
        </p:nvSpPr>
        <p:spPr>
          <a:xfrm>
            <a:off x="10543032" y="4732020"/>
            <a:ext cx="7863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0"/>
              <a:buFont typeface="Arial"/>
              <a:buNone/>
            </a:pPr>
            <a:r>
              <a:rPr b="1" i="0" lang="en-US" sz="7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ALTO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2" name="Google Shape;632;h4e82ad7d59cc63f1_3_24"/>
          <p:cNvCxnSpPr/>
          <p:nvPr/>
        </p:nvCxnSpPr>
        <p:spPr>
          <a:xfrm>
            <a:off x="5440680" y="5230368"/>
            <a:ext cx="5898000" cy="0"/>
          </a:xfrm>
          <a:prstGeom prst="straightConnector1">
            <a:avLst/>
          </a:prstGeom>
          <a:noFill/>
          <a:ln cap="flat" cmpd="sng" w="12700">
            <a:solidFill>
              <a:srgbClr val="E2E9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3" name="Google Shape;633;h4e82ad7d59cc63f1_3_24"/>
          <p:cNvSpPr/>
          <p:nvPr/>
        </p:nvSpPr>
        <p:spPr>
          <a:xfrm>
            <a:off x="5440680" y="5358384"/>
            <a:ext cx="301800" cy="301800"/>
          </a:xfrm>
          <a:prstGeom prst="ellipse">
            <a:avLst/>
          </a:prstGeom>
          <a:solidFill>
            <a:srgbClr val="17365D"/>
          </a:solidFill>
          <a:ln cap="flat" cmpd="sng" w="12700">
            <a:solidFill>
              <a:srgbClr val="173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h4e82ad7d59cc63f1_3_24"/>
          <p:cNvSpPr/>
          <p:nvPr/>
        </p:nvSpPr>
        <p:spPr>
          <a:xfrm>
            <a:off x="5440680" y="5417820"/>
            <a:ext cx="3018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R6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h4e82ad7d59cc63f1_3_24"/>
          <p:cNvSpPr/>
          <p:nvPr/>
        </p:nvSpPr>
        <p:spPr>
          <a:xfrm>
            <a:off x="5852160" y="5303520"/>
            <a:ext cx="3520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B5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43B53"/>
                </a:solidFill>
                <a:latin typeface="Arial"/>
                <a:ea typeface="Arial"/>
                <a:cs typeface="Arial"/>
                <a:sym typeface="Arial"/>
              </a:rPr>
              <a:t>Cobertura de pruebas insuficiente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h4e82ad7d59cc63f1_3_24"/>
          <p:cNvSpPr/>
          <p:nvPr/>
        </p:nvSpPr>
        <p:spPr>
          <a:xfrm>
            <a:off x="5852160" y="5586984"/>
            <a:ext cx="41604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67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2677A"/>
                </a:solidFill>
                <a:latin typeface="Arial"/>
                <a:ea typeface="Arial"/>
                <a:cs typeface="Arial"/>
                <a:sym typeface="Arial"/>
              </a:rPr>
              <a:t>Plan de pruebas, regresión y evidencia funcional/no funcional.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h4e82ad7d59cc63f1_3_24"/>
          <p:cNvSpPr/>
          <p:nvPr/>
        </p:nvSpPr>
        <p:spPr>
          <a:xfrm>
            <a:off x="10543032" y="5376672"/>
            <a:ext cx="786300" cy="274200"/>
          </a:xfrm>
          <a:prstGeom prst="roundRect">
            <a:avLst>
              <a:gd fmla="val 20000" name="adj"/>
            </a:avLst>
          </a:prstGeom>
          <a:solidFill>
            <a:srgbClr val="B3261E"/>
          </a:solidFill>
          <a:ln cap="flat" cmpd="sng" w="12700">
            <a:solidFill>
              <a:srgbClr val="B326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h4e82ad7d59cc63f1_3_24"/>
          <p:cNvSpPr/>
          <p:nvPr/>
        </p:nvSpPr>
        <p:spPr>
          <a:xfrm>
            <a:off x="10543032" y="5436108"/>
            <a:ext cx="7863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0"/>
              <a:buFont typeface="Arial"/>
              <a:buNone/>
            </a:pPr>
            <a:r>
              <a:rPr b="1" i="0" lang="en-US" sz="7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CRÍTICO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h4e82ad7d59cc63f1_3_24"/>
          <p:cNvSpPr/>
          <p:nvPr/>
        </p:nvSpPr>
        <p:spPr>
          <a:xfrm>
            <a:off x="777240" y="6062472"/>
            <a:ext cx="10881300" cy="329100"/>
          </a:xfrm>
          <a:prstGeom prst="roundRect">
            <a:avLst>
              <a:gd fmla="val 16667" name="adj"/>
            </a:avLst>
          </a:prstGeom>
          <a:solidFill>
            <a:srgbClr val="E9F8FA"/>
          </a:solidFill>
          <a:ln cap="flat" cmpd="sng" w="12700">
            <a:solidFill>
              <a:srgbClr val="24B7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h4e82ad7d59cc63f1_3_24"/>
          <p:cNvSpPr/>
          <p:nvPr/>
        </p:nvSpPr>
        <p:spPr>
          <a:xfrm>
            <a:off x="932688" y="6144768"/>
            <a:ext cx="104700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5B65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75B65"/>
                </a:solidFill>
                <a:latin typeface="Arial"/>
                <a:ea typeface="Arial"/>
                <a:cs typeface="Arial"/>
                <a:sym typeface="Arial"/>
              </a:rPr>
              <a:t>Decisión de mitigación: arquitectura congelada; foco en integración, pruebas, estabilización y evidencia.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h4e82ad7d59cc63f1_3_24"/>
          <p:cNvSpPr txBox="1"/>
          <p:nvPr>
            <p:ph idx="12" type="sldNum"/>
          </p:nvPr>
        </p:nvSpPr>
        <p:spPr>
          <a:xfrm>
            <a:off x="11475720" y="6510528"/>
            <a:ext cx="800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7B8794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7B879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h4e82ad7d59cc63f1_3_24"/>
          <p:cNvSpPr/>
          <p:nvPr/>
        </p:nvSpPr>
        <p:spPr>
          <a:xfrm>
            <a:off x="777240" y="3886195"/>
            <a:ext cx="1326000" cy="1216200"/>
          </a:xfrm>
          <a:prstGeom prst="rect">
            <a:avLst/>
          </a:prstGeom>
          <a:solidFill>
            <a:srgbClr val="D9EFD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h4e82ad7d59cc63f1_3_24"/>
          <p:cNvSpPr/>
          <p:nvPr/>
        </p:nvSpPr>
        <p:spPr>
          <a:xfrm>
            <a:off x="791341" y="1394374"/>
            <a:ext cx="1326000" cy="1216200"/>
          </a:xfrm>
          <a:prstGeom prst="rect">
            <a:avLst/>
          </a:prstGeom>
          <a:solidFill>
            <a:srgbClr val="F8E8A7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h56ab5dad46e2c1f2_0_342"/>
          <p:cNvSpPr/>
          <p:nvPr/>
        </p:nvSpPr>
        <p:spPr>
          <a:xfrm>
            <a:off x="0" y="0"/>
            <a:ext cx="12192000" cy="73200"/>
          </a:xfrm>
          <a:prstGeom prst="rect">
            <a:avLst/>
          </a:prstGeom>
          <a:solidFill>
            <a:srgbClr val="00B6AE"/>
          </a:solidFill>
          <a:ln cap="flat" cmpd="sng" w="12700">
            <a:solidFill>
              <a:srgbClr val="00B6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h56ab5dad46e2c1f2_0_342"/>
          <p:cNvSpPr/>
          <p:nvPr/>
        </p:nvSpPr>
        <p:spPr>
          <a:xfrm>
            <a:off x="347481" y="246888"/>
            <a:ext cx="8046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45A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08245A"/>
                </a:solidFill>
                <a:latin typeface="Play"/>
                <a:ea typeface="Play"/>
                <a:cs typeface="Play"/>
                <a:sym typeface="Play"/>
              </a:rPr>
              <a:t>Conclusiones y próximos pasos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h56ab5dad46e2c1f2_0_342"/>
          <p:cNvSpPr/>
          <p:nvPr/>
        </p:nvSpPr>
        <p:spPr>
          <a:xfrm>
            <a:off x="356626" y="713232"/>
            <a:ext cx="6949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F7A"/>
              </a:buClr>
              <a:buSzPts val="1280"/>
              <a:buFont typeface="Arial"/>
              <a:buNone/>
            </a:pPr>
            <a:r>
              <a:rPr b="0" i="0" lang="en-US" sz="1280" u="none" cap="none" strike="noStrike">
                <a:solidFill>
                  <a:srgbClr val="4B5F7A"/>
                </a:solidFill>
                <a:latin typeface="Arial"/>
                <a:ea typeface="Arial"/>
                <a:cs typeface="Arial"/>
                <a:sym typeface="Arial"/>
              </a:rPr>
              <a:t>Sprint 3 en curso: implementación, acceso y validación</a:t>
            </a:r>
            <a:endParaRPr b="0" i="0" sz="12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2" name="Google Shape;652;h56ab5dad46e2c1f2_0_342"/>
          <p:cNvCxnSpPr/>
          <p:nvPr/>
        </p:nvCxnSpPr>
        <p:spPr>
          <a:xfrm>
            <a:off x="356626" y="1033272"/>
            <a:ext cx="567000" cy="0"/>
          </a:xfrm>
          <a:prstGeom prst="straightConnector1">
            <a:avLst/>
          </a:prstGeom>
          <a:noFill/>
          <a:ln cap="flat" cmpd="sng" w="27925">
            <a:solidFill>
              <a:srgbClr val="00B6A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3" name="Google Shape;653;h56ab5dad46e2c1f2_0_342"/>
          <p:cNvSpPr/>
          <p:nvPr/>
        </p:nvSpPr>
        <p:spPr>
          <a:xfrm>
            <a:off x="365759" y="1353297"/>
            <a:ext cx="2432400" cy="1325100"/>
          </a:xfrm>
          <a:prstGeom prst="roundRect">
            <a:avLst>
              <a:gd fmla="val 8475" name="adj"/>
            </a:avLst>
          </a:prstGeom>
          <a:solidFill>
            <a:srgbClr val="FFFFFF"/>
          </a:solidFill>
          <a:ln cap="flat" cmpd="sng" w="12700">
            <a:solidFill>
              <a:srgbClr val="CFE0F2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A7B9D1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h56ab5dad46e2c1f2_0_342"/>
          <p:cNvSpPr/>
          <p:nvPr/>
        </p:nvSpPr>
        <p:spPr>
          <a:xfrm>
            <a:off x="512078" y="1517904"/>
            <a:ext cx="438900" cy="438900"/>
          </a:xfrm>
          <a:prstGeom prst="ellipse">
            <a:avLst/>
          </a:prstGeom>
          <a:solidFill>
            <a:srgbClr val="EAF4FF"/>
          </a:solidFill>
          <a:ln cap="flat" cmpd="sng" w="12700">
            <a:solidFill>
              <a:srgbClr val="EAF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h56ab5dad46e2c1f2_0_342"/>
          <p:cNvSpPr/>
          <p:nvPr/>
        </p:nvSpPr>
        <p:spPr>
          <a:xfrm>
            <a:off x="585232" y="1600200"/>
            <a:ext cx="292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63E5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0B63E5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h56ab5dad46e2c1f2_0_342"/>
          <p:cNvSpPr/>
          <p:nvPr/>
        </p:nvSpPr>
        <p:spPr>
          <a:xfrm>
            <a:off x="1097309" y="1554480"/>
            <a:ext cx="1280100" cy="329100"/>
          </a:xfrm>
          <a:prstGeom prst="roundRect">
            <a:avLst>
              <a:gd fmla="val 16667" name="adj"/>
            </a:avLst>
          </a:prstGeom>
          <a:solidFill>
            <a:srgbClr val="0B63E5"/>
          </a:solidFill>
          <a:ln cap="flat" cmpd="sng" w="12700">
            <a:solidFill>
              <a:srgbClr val="0B63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h56ab5dad46e2c1f2_0_342"/>
          <p:cNvSpPr/>
          <p:nvPr/>
        </p:nvSpPr>
        <p:spPr>
          <a:xfrm>
            <a:off x="1161350" y="1628127"/>
            <a:ext cx="115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Arial"/>
              <a:buNone/>
            </a:pPr>
            <a:r>
              <a:rPr b="1" lang="en-US" sz="1080">
                <a:solidFill>
                  <a:srgbClr val="FFFFFF"/>
                </a:solidFill>
              </a:rPr>
              <a:t>Finalizar </a:t>
            </a:r>
            <a:r>
              <a:rPr b="1" i="0" lang="en-US" sz="10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Sprint 3 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8" name="Google Shape;658;h56ab5dad46e2c1f2_0_342"/>
          <p:cNvCxnSpPr/>
          <p:nvPr/>
        </p:nvCxnSpPr>
        <p:spPr>
          <a:xfrm>
            <a:off x="1115598" y="2020824"/>
            <a:ext cx="384000" cy="0"/>
          </a:xfrm>
          <a:prstGeom prst="straightConnector1">
            <a:avLst/>
          </a:prstGeom>
          <a:noFill/>
          <a:ln cap="flat" cmpd="sng" w="19050">
            <a:solidFill>
              <a:srgbClr val="CFE0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9" name="Google Shape;659;h56ab5dad46e2c1f2_0_342"/>
          <p:cNvSpPr/>
          <p:nvPr/>
        </p:nvSpPr>
        <p:spPr>
          <a:xfrm>
            <a:off x="1018150" y="2069213"/>
            <a:ext cx="1524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5" lIns="125" spcFirstLastPara="1" rIns="125" wrap="square" tIns="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1A3A"/>
              </a:buClr>
              <a:buSzPts val="820"/>
              <a:buFont typeface="Arial"/>
              <a:buNone/>
            </a:pPr>
            <a:r>
              <a:rPr b="0" i="0" lang="en-US" sz="990" u="none" cap="none" strike="noStrike">
                <a:solidFill>
                  <a:srgbClr val="071A3A"/>
                </a:solidFill>
                <a:latin typeface="Arial"/>
                <a:ea typeface="Arial"/>
                <a:cs typeface="Arial"/>
                <a:sym typeface="Arial"/>
              </a:rPr>
              <a:t>Jira: 17 SP activos,  3 </a:t>
            </a:r>
            <a:r>
              <a:rPr lang="en-US" sz="990">
                <a:solidFill>
                  <a:srgbClr val="071A3A"/>
                </a:solidFill>
              </a:rPr>
              <a:t>finalizado</a:t>
            </a:r>
            <a:r>
              <a:rPr b="0" i="0" lang="en-US" sz="990" u="none" cap="none" strike="noStrike">
                <a:solidFill>
                  <a:srgbClr val="071A3A"/>
                </a:solidFill>
                <a:latin typeface="Arial"/>
                <a:ea typeface="Arial"/>
                <a:cs typeface="Arial"/>
                <a:sym typeface="Arial"/>
              </a:rPr>
              <a:t> 6 en curso y 8 por hacer. 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h56ab5dad46e2c1f2_0_342"/>
          <p:cNvSpPr/>
          <p:nvPr/>
        </p:nvSpPr>
        <p:spPr>
          <a:xfrm>
            <a:off x="3017606" y="1353296"/>
            <a:ext cx="2926200" cy="1371600"/>
          </a:xfrm>
          <a:prstGeom prst="roundRect">
            <a:avLst>
              <a:gd fmla="val 8475" name="adj"/>
            </a:avLst>
          </a:prstGeom>
          <a:solidFill>
            <a:srgbClr val="FFFFFF"/>
          </a:solidFill>
          <a:ln cap="flat" cmpd="sng" w="12700">
            <a:solidFill>
              <a:srgbClr val="CFE0F2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A7B9D1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h56ab5dad46e2c1f2_0_342"/>
          <p:cNvSpPr/>
          <p:nvPr/>
        </p:nvSpPr>
        <p:spPr>
          <a:xfrm>
            <a:off x="3163908" y="1517904"/>
            <a:ext cx="438900" cy="438900"/>
          </a:xfrm>
          <a:prstGeom prst="ellipse">
            <a:avLst/>
          </a:prstGeom>
          <a:solidFill>
            <a:srgbClr val="E9FBF7"/>
          </a:solidFill>
          <a:ln cap="flat" cmpd="sng" w="12700">
            <a:solidFill>
              <a:srgbClr val="E9FB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h56ab5dad46e2c1f2_0_342"/>
          <p:cNvSpPr/>
          <p:nvPr/>
        </p:nvSpPr>
        <p:spPr>
          <a:xfrm>
            <a:off x="3237062" y="1600200"/>
            <a:ext cx="292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6AE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00B6AE"/>
                </a:solidFill>
                <a:latin typeface="Arial"/>
                <a:ea typeface="Arial"/>
                <a:cs typeface="Arial"/>
                <a:sym typeface="Arial"/>
              </a:rPr>
              <a:t>↗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h56ab5dad46e2c1f2_0_342"/>
          <p:cNvSpPr/>
          <p:nvPr/>
        </p:nvSpPr>
        <p:spPr>
          <a:xfrm>
            <a:off x="3749140" y="1554480"/>
            <a:ext cx="1691700" cy="329100"/>
          </a:xfrm>
          <a:prstGeom prst="roundRect">
            <a:avLst>
              <a:gd fmla="val 16667" name="adj"/>
            </a:avLst>
          </a:prstGeom>
          <a:solidFill>
            <a:srgbClr val="00B6AE"/>
          </a:solidFill>
          <a:ln cap="flat" cmpd="sng" w="12700">
            <a:solidFill>
              <a:srgbClr val="00B6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h56ab5dad46e2c1f2_0_342"/>
          <p:cNvSpPr/>
          <p:nvPr/>
        </p:nvSpPr>
        <p:spPr>
          <a:xfrm>
            <a:off x="3877159" y="1618488"/>
            <a:ext cx="1463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Arial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Portal actualizado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65" name="Google Shape;665;h56ab5dad46e2c1f2_0_342"/>
          <p:cNvCxnSpPr/>
          <p:nvPr/>
        </p:nvCxnSpPr>
        <p:spPr>
          <a:xfrm>
            <a:off x="3767428" y="2020824"/>
            <a:ext cx="384000" cy="0"/>
          </a:xfrm>
          <a:prstGeom prst="straightConnector1">
            <a:avLst/>
          </a:prstGeom>
          <a:noFill/>
          <a:ln cap="flat" cmpd="sng" w="19050">
            <a:solidFill>
              <a:srgbClr val="CFE0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6" name="Google Shape;666;h56ab5dad46e2c1f2_0_342"/>
          <p:cNvSpPr/>
          <p:nvPr/>
        </p:nvSpPr>
        <p:spPr>
          <a:xfrm>
            <a:off x="3762375" y="2143125"/>
            <a:ext cx="1809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5" lIns="125" spcFirstLastPara="1" rIns="125" wrap="square" tIns="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1A3A"/>
              </a:buClr>
              <a:buSzPts val="820"/>
              <a:buFont typeface="Arial"/>
              <a:buNone/>
            </a:pPr>
            <a:r>
              <a:rPr b="0" i="0" lang="en-US" sz="990" u="none" cap="none" strike="noStrike">
                <a:solidFill>
                  <a:srgbClr val="071A3A"/>
                </a:solidFill>
                <a:latin typeface="Arial"/>
                <a:ea typeface="Arial"/>
                <a:cs typeface="Arial"/>
                <a:sym typeface="Arial"/>
              </a:rPr>
              <a:t>Login adaptable, acceso por rol y recuperación de contraseña.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h56ab5dad46e2c1f2_0_342"/>
          <p:cNvSpPr/>
          <p:nvPr/>
        </p:nvSpPr>
        <p:spPr>
          <a:xfrm>
            <a:off x="365759" y="2826348"/>
            <a:ext cx="2432400" cy="1325100"/>
          </a:xfrm>
          <a:prstGeom prst="roundRect">
            <a:avLst>
              <a:gd fmla="val 8475" name="adj"/>
            </a:avLst>
          </a:prstGeom>
          <a:solidFill>
            <a:srgbClr val="FFFFFF"/>
          </a:solidFill>
          <a:ln cap="flat" cmpd="sng" w="12700">
            <a:solidFill>
              <a:srgbClr val="CFE0F2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A7B9D1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h56ab5dad46e2c1f2_0_342"/>
          <p:cNvSpPr/>
          <p:nvPr/>
        </p:nvSpPr>
        <p:spPr>
          <a:xfrm>
            <a:off x="512078" y="2990948"/>
            <a:ext cx="438900" cy="438900"/>
          </a:xfrm>
          <a:prstGeom prst="ellipse">
            <a:avLst/>
          </a:prstGeom>
          <a:solidFill>
            <a:srgbClr val="EAF8EF"/>
          </a:solidFill>
          <a:ln cap="flat" cmpd="sng" w="12700">
            <a:solidFill>
              <a:srgbClr val="EAF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h56ab5dad46e2c1f2_0_342"/>
          <p:cNvSpPr/>
          <p:nvPr/>
        </p:nvSpPr>
        <p:spPr>
          <a:xfrm>
            <a:off x="585232" y="3073244"/>
            <a:ext cx="292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⚙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h56ab5dad46e2c1f2_0_342"/>
          <p:cNvSpPr/>
          <p:nvPr/>
        </p:nvSpPr>
        <p:spPr>
          <a:xfrm>
            <a:off x="1097309" y="3027524"/>
            <a:ext cx="1280100" cy="329100"/>
          </a:xfrm>
          <a:prstGeom prst="roundRect">
            <a:avLst>
              <a:gd fmla="val 16667" name="adj"/>
            </a:avLst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h56ab5dad46e2c1f2_0_342"/>
          <p:cNvSpPr/>
          <p:nvPr/>
        </p:nvSpPr>
        <p:spPr>
          <a:xfrm>
            <a:off x="1225329" y="3091532"/>
            <a:ext cx="1051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Arial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Modelo validado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72" name="Google Shape;672;h56ab5dad46e2c1f2_0_342"/>
          <p:cNvCxnSpPr/>
          <p:nvPr/>
        </p:nvCxnSpPr>
        <p:spPr>
          <a:xfrm>
            <a:off x="1115598" y="3493868"/>
            <a:ext cx="384000" cy="0"/>
          </a:xfrm>
          <a:prstGeom prst="straightConnector1">
            <a:avLst/>
          </a:prstGeom>
          <a:noFill/>
          <a:ln cap="flat" cmpd="sng" w="19050">
            <a:solidFill>
              <a:srgbClr val="CFE0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3" name="Google Shape;673;h56ab5dad46e2c1f2_0_342"/>
          <p:cNvSpPr/>
          <p:nvPr/>
        </p:nvSpPr>
        <p:spPr>
          <a:xfrm>
            <a:off x="1123950" y="3619500"/>
            <a:ext cx="1524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125" lIns="125" spcFirstLastPara="1" rIns="125" wrap="square" tIns="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1A3A"/>
              </a:buClr>
              <a:buSzPts val="820"/>
              <a:buFont typeface="Arial"/>
              <a:buNone/>
            </a:pPr>
            <a:r>
              <a:rPr b="0" i="0" lang="en-US" sz="990" u="none" cap="none" strike="noStrike">
                <a:solidFill>
                  <a:srgbClr val="071A3A"/>
                </a:solidFill>
                <a:latin typeface="Arial"/>
                <a:ea typeface="Arial"/>
                <a:cs typeface="Arial"/>
                <a:sym typeface="Arial"/>
              </a:rPr>
              <a:t>43/43 pruebas del modelo. Esquemas y roles de datos aislados.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h56ab5dad46e2c1f2_0_342"/>
          <p:cNvSpPr/>
          <p:nvPr/>
        </p:nvSpPr>
        <p:spPr>
          <a:xfrm>
            <a:off x="3017605" y="2826350"/>
            <a:ext cx="2743200" cy="1325100"/>
          </a:xfrm>
          <a:prstGeom prst="roundRect">
            <a:avLst>
              <a:gd fmla="val 8475" name="adj"/>
            </a:avLst>
          </a:prstGeom>
          <a:solidFill>
            <a:srgbClr val="FFFFFF"/>
          </a:solidFill>
          <a:ln cap="flat" cmpd="sng" w="12700">
            <a:solidFill>
              <a:srgbClr val="CFE0F2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A7B9D1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h56ab5dad46e2c1f2_0_342"/>
          <p:cNvSpPr/>
          <p:nvPr/>
        </p:nvSpPr>
        <p:spPr>
          <a:xfrm>
            <a:off x="3163908" y="2990948"/>
            <a:ext cx="438900" cy="438900"/>
          </a:xfrm>
          <a:prstGeom prst="ellipse">
            <a:avLst/>
          </a:prstGeom>
          <a:solidFill>
            <a:srgbClr val="EAF4FF"/>
          </a:solidFill>
          <a:ln cap="flat" cmpd="sng" w="12700">
            <a:solidFill>
              <a:srgbClr val="EAF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h56ab5dad46e2c1f2_0_342"/>
          <p:cNvSpPr/>
          <p:nvPr/>
        </p:nvSpPr>
        <p:spPr>
          <a:xfrm>
            <a:off x="3237062" y="3073244"/>
            <a:ext cx="292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63E5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0B63E5"/>
                </a:solidFill>
                <a:latin typeface="Arial"/>
                <a:ea typeface="Arial"/>
                <a:cs typeface="Arial"/>
                <a:sym typeface="Arial"/>
              </a:rPr>
              <a:t>🔗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h56ab5dad46e2c1f2_0_342"/>
          <p:cNvSpPr/>
          <p:nvPr/>
        </p:nvSpPr>
        <p:spPr>
          <a:xfrm>
            <a:off x="3749140" y="3027524"/>
            <a:ext cx="1691700" cy="329100"/>
          </a:xfrm>
          <a:prstGeom prst="roundRect">
            <a:avLst>
              <a:gd fmla="val 16667" name="adj"/>
            </a:avLst>
          </a:prstGeom>
          <a:solidFill>
            <a:srgbClr val="0B63E5"/>
          </a:solidFill>
          <a:ln cap="flat" cmpd="sng" w="12700">
            <a:solidFill>
              <a:srgbClr val="0B63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h56ab5dad46e2c1f2_0_342"/>
          <p:cNvSpPr/>
          <p:nvPr/>
        </p:nvSpPr>
        <p:spPr>
          <a:xfrm>
            <a:off x="3877159" y="3091532"/>
            <a:ext cx="1463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Arial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Agentes y HDU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79" name="Google Shape;679;h56ab5dad46e2c1f2_0_342"/>
          <p:cNvCxnSpPr/>
          <p:nvPr/>
        </p:nvCxnSpPr>
        <p:spPr>
          <a:xfrm>
            <a:off x="3767428" y="3493868"/>
            <a:ext cx="384000" cy="0"/>
          </a:xfrm>
          <a:prstGeom prst="straightConnector1">
            <a:avLst/>
          </a:prstGeom>
          <a:noFill/>
          <a:ln cap="flat" cmpd="sng" w="19050">
            <a:solidFill>
              <a:srgbClr val="CFE0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0" name="Google Shape;680;h56ab5dad46e2c1f2_0_342"/>
          <p:cNvSpPr/>
          <p:nvPr/>
        </p:nvSpPr>
        <p:spPr>
          <a:xfrm>
            <a:off x="3762375" y="3619500"/>
            <a:ext cx="18097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125" lIns="125" spcFirstLastPara="1" rIns="125" wrap="square" tIns="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1A3A"/>
              </a:buClr>
              <a:buSzPts val="820"/>
              <a:buFont typeface="Arial"/>
              <a:buNone/>
            </a:pPr>
            <a:r>
              <a:rPr b="0" i="0" lang="en-US" sz="990" u="none" cap="none" strike="noStrike">
                <a:solidFill>
                  <a:srgbClr val="071A3A"/>
                </a:solidFill>
                <a:latin typeface="Arial"/>
                <a:ea typeface="Arial"/>
                <a:cs typeface="Arial"/>
                <a:sym typeface="Arial"/>
              </a:rPr>
              <a:t>7 agentes especializados. HDU, contratos y datos trazados a GitHub.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h56ab5dad46e2c1f2_0_342"/>
          <p:cNvSpPr/>
          <p:nvPr/>
        </p:nvSpPr>
        <p:spPr>
          <a:xfrm>
            <a:off x="6126643" y="1454756"/>
            <a:ext cx="5577900" cy="3602700"/>
          </a:xfrm>
          <a:prstGeom prst="roundRect">
            <a:avLst>
              <a:gd fmla="val 2538" name="adj"/>
            </a:avLst>
          </a:prstGeom>
          <a:solidFill>
            <a:srgbClr val="ECFFFB"/>
          </a:solidFill>
          <a:ln cap="flat" cmpd="sng" w="15225">
            <a:solidFill>
              <a:srgbClr val="9CE7D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A7B9D1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h56ab5dad46e2c1f2_0_342"/>
          <p:cNvSpPr/>
          <p:nvPr/>
        </p:nvSpPr>
        <p:spPr>
          <a:xfrm>
            <a:off x="6364394" y="1536192"/>
            <a:ext cx="5084100" cy="429900"/>
          </a:xfrm>
          <a:prstGeom prst="roundRect">
            <a:avLst>
              <a:gd fmla="val 17021" name="adj"/>
            </a:avLst>
          </a:prstGeom>
          <a:solidFill>
            <a:srgbClr val="00B6AE"/>
          </a:solidFill>
          <a:ln cap="flat" cmpd="sng" w="12700">
            <a:solidFill>
              <a:srgbClr val="00B6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h56ab5dad46e2c1f2_0_342"/>
          <p:cNvSpPr/>
          <p:nvPr/>
        </p:nvSpPr>
        <p:spPr>
          <a:xfrm>
            <a:off x="6565567" y="1627632"/>
            <a:ext cx="292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Próximos pasos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h56ab5dad46e2c1f2_0_342"/>
          <p:cNvSpPr/>
          <p:nvPr/>
        </p:nvSpPr>
        <p:spPr>
          <a:xfrm>
            <a:off x="6419259" y="2185416"/>
            <a:ext cx="310800" cy="310800"/>
          </a:xfrm>
          <a:prstGeom prst="ellipse">
            <a:avLst/>
          </a:prstGeom>
          <a:solidFill>
            <a:srgbClr val="D9F6F4"/>
          </a:solidFill>
          <a:ln cap="flat" cmpd="sng" w="12700">
            <a:solidFill>
              <a:srgbClr val="D9F6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h56ab5dad46e2c1f2_0_342"/>
          <p:cNvSpPr/>
          <p:nvPr/>
        </p:nvSpPr>
        <p:spPr>
          <a:xfrm>
            <a:off x="6419259" y="2249424"/>
            <a:ext cx="310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6AE"/>
              </a:buClr>
              <a:buSzPts val="830"/>
              <a:buFont typeface="Arial"/>
              <a:buNone/>
            </a:pPr>
            <a:r>
              <a:rPr b="1" i="0" lang="en-US" sz="830" u="none" cap="none" strike="noStrike">
                <a:solidFill>
                  <a:srgbClr val="00B6AE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h56ab5dad46e2c1f2_0_342"/>
          <p:cNvSpPr/>
          <p:nvPr/>
        </p:nvSpPr>
        <p:spPr>
          <a:xfrm>
            <a:off x="6913048" y="2212848"/>
            <a:ext cx="4297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1A3A"/>
              </a:buClr>
              <a:buSzPts val="1040"/>
              <a:buFont typeface="Arial"/>
              <a:buNone/>
            </a:pPr>
            <a:r>
              <a:rPr b="1" i="0" lang="en-US" sz="1040" u="none" cap="none" strike="noStrike">
                <a:solidFill>
                  <a:srgbClr val="071A3A"/>
                </a:solidFill>
                <a:latin typeface="Arial"/>
                <a:ea typeface="Arial"/>
                <a:cs typeface="Arial"/>
                <a:sym typeface="Arial"/>
              </a:rPr>
              <a:t>Recertificar autenticación y recuperación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87" name="Google Shape;687;h56ab5dad46e2c1f2_0_342"/>
          <p:cNvCxnSpPr/>
          <p:nvPr/>
        </p:nvCxnSpPr>
        <p:spPr>
          <a:xfrm>
            <a:off x="6391826" y="2624328"/>
            <a:ext cx="4919400" cy="0"/>
          </a:xfrm>
          <a:prstGeom prst="straightConnector1">
            <a:avLst/>
          </a:prstGeom>
          <a:noFill/>
          <a:ln cap="flat" cmpd="sng" w="9525">
            <a:solidFill>
              <a:srgbClr val="BEEB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8" name="Google Shape;688;h56ab5dad46e2c1f2_0_342"/>
          <p:cNvSpPr/>
          <p:nvPr/>
        </p:nvSpPr>
        <p:spPr>
          <a:xfrm>
            <a:off x="6419259" y="2660904"/>
            <a:ext cx="310800" cy="310800"/>
          </a:xfrm>
          <a:prstGeom prst="ellipse">
            <a:avLst/>
          </a:prstGeom>
          <a:solidFill>
            <a:srgbClr val="D9F6F4"/>
          </a:solidFill>
          <a:ln cap="flat" cmpd="sng" w="12700">
            <a:solidFill>
              <a:srgbClr val="D9F6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h56ab5dad46e2c1f2_0_342"/>
          <p:cNvSpPr/>
          <p:nvPr/>
        </p:nvSpPr>
        <p:spPr>
          <a:xfrm>
            <a:off x="6419259" y="2724912"/>
            <a:ext cx="310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6AE"/>
              </a:buClr>
              <a:buSzPts val="830"/>
              <a:buFont typeface="Arial"/>
              <a:buNone/>
            </a:pPr>
            <a:r>
              <a:rPr b="1" i="0" lang="en-US" sz="830" u="none" cap="none" strike="noStrike">
                <a:solidFill>
                  <a:srgbClr val="00B6AE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h56ab5dad46e2c1f2_0_342"/>
          <p:cNvSpPr/>
          <p:nvPr/>
        </p:nvSpPr>
        <p:spPr>
          <a:xfrm>
            <a:off x="6913048" y="2688336"/>
            <a:ext cx="4297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1A3A"/>
              </a:buClr>
              <a:buSzPts val="1040"/>
              <a:buFont typeface="Arial"/>
              <a:buNone/>
            </a:pPr>
            <a:r>
              <a:rPr b="1" i="0" lang="en-US" sz="1040" u="none" cap="none" strike="noStrike">
                <a:solidFill>
                  <a:srgbClr val="071A3A"/>
                </a:solidFill>
                <a:latin typeface="Arial"/>
                <a:ea typeface="Arial"/>
                <a:cs typeface="Arial"/>
                <a:sym typeface="Arial"/>
              </a:rPr>
              <a:t>Validar enlaces y envío de correo en nube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91" name="Google Shape;691;h56ab5dad46e2c1f2_0_342"/>
          <p:cNvCxnSpPr/>
          <p:nvPr/>
        </p:nvCxnSpPr>
        <p:spPr>
          <a:xfrm>
            <a:off x="6391826" y="3099816"/>
            <a:ext cx="4919400" cy="0"/>
          </a:xfrm>
          <a:prstGeom prst="straightConnector1">
            <a:avLst/>
          </a:prstGeom>
          <a:noFill/>
          <a:ln cap="flat" cmpd="sng" w="9525">
            <a:solidFill>
              <a:srgbClr val="BEEB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2" name="Google Shape;692;h56ab5dad46e2c1f2_0_342"/>
          <p:cNvSpPr/>
          <p:nvPr/>
        </p:nvSpPr>
        <p:spPr>
          <a:xfrm>
            <a:off x="6419259" y="3136392"/>
            <a:ext cx="310800" cy="310800"/>
          </a:xfrm>
          <a:prstGeom prst="ellipse">
            <a:avLst/>
          </a:prstGeom>
          <a:solidFill>
            <a:srgbClr val="D9F6F4"/>
          </a:solidFill>
          <a:ln cap="flat" cmpd="sng" w="12700">
            <a:solidFill>
              <a:srgbClr val="D9F6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h56ab5dad46e2c1f2_0_342"/>
          <p:cNvSpPr/>
          <p:nvPr/>
        </p:nvSpPr>
        <p:spPr>
          <a:xfrm>
            <a:off x="6419259" y="3200400"/>
            <a:ext cx="310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6AE"/>
              </a:buClr>
              <a:buSzPts val="830"/>
              <a:buFont typeface="Arial"/>
              <a:buNone/>
            </a:pPr>
            <a:r>
              <a:rPr b="1" i="0" lang="en-US" sz="830" u="none" cap="none" strike="noStrike">
                <a:solidFill>
                  <a:srgbClr val="00B6AE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h56ab5dad46e2c1f2_0_342"/>
          <p:cNvSpPr/>
          <p:nvPr/>
        </p:nvSpPr>
        <p:spPr>
          <a:xfrm>
            <a:off x="6913048" y="3163824"/>
            <a:ext cx="4297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1A3A"/>
              </a:buClr>
              <a:buSzPts val="1040"/>
              <a:buFont typeface="Arial"/>
              <a:buNone/>
            </a:pPr>
            <a:r>
              <a:rPr b="1" i="0" lang="en-US" sz="1040" u="none" cap="none" strike="noStrike">
                <a:solidFill>
                  <a:srgbClr val="071A3A"/>
                </a:solidFill>
                <a:latin typeface="Arial"/>
                <a:ea typeface="Arial"/>
                <a:cs typeface="Arial"/>
                <a:sym typeface="Arial"/>
              </a:rPr>
              <a:t>Actualizar cierres y serie diaria en Jira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95" name="Google Shape;695;h56ab5dad46e2c1f2_0_342"/>
          <p:cNvCxnSpPr/>
          <p:nvPr/>
        </p:nvCxnSpPr>
        <p:spPr>
          <a:xfrm>
            <a:off x="6391826" y="3575304"/>
            <a:ext cx="4919400" cy="0"/>
          </a:xfrm>
          <a:prstGeom prst="straightConnector1">
            <a:avLst/>
          </a:prstGeom>
          <a:noFill/>
          <a:ln cap="flat" cmpd="sng" w="9525">
            <a:solidFill>
              <a:srgbClr val="BEEB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6" name="Google Shape;696;h56ab5dad46e2c1f2_0_342"/>
          <p:cNvSpPr/>
          <p:nvPr/>
        </p:nvSpPr>
        <p:spPr>
          <a:xfrm>
            <a:off x="6419259" y="3611880"/>
            <a:ext cx="310800" cy="310800"/>
          </a:xfrm>
          <a:prstGeom prst="ellipse">
            <a:avLst/>
          </a:prstGeom>
          <a:solidFill>
            <a:srgbClr val="D9F6F4"/>
          </a:solidFill>
          <a:ln cap="flat" cmpd="sng" w="12700">
            <a:solidFill>
              <a:srgbClr val="D9F6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h56ab5dad46e2c1f2_0_342"/>
          <p:cNvSpPr/>
          <p:nvPr/>
        </p:nvSpPr>
        <p:spPr>
          <a:xfrm>
            <a:off x="6419259" y="3675888"/>
            <a:ext cx="310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6AE"/>
              </a:buClr>
              <a:buSzPts val="830"/>
              <a:buFont typeface="Arial"/>
              <a:buNone/>
            </a:pPr>
            <a:r>
              <a:rPr b="1" i="0" lang="en-US" sz="830" u="none" cap="none" strike="noStrike">
                <a:solidFill>
                  <a:srgbClr val="00B6AE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h56ab5dad46e2c1f2_0_342"/>
          <p:cNvSpPr/>
          <p:nvPr/>
        </p:nvSpPr>
        <p:spPr>
          <a:xfrm>
            <a:off x="6913048" y="3639312"/>
            <a:ext cx="4297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1A3A"/>
              </a:buClr>
              <a:buSzPts val="1040"/>
              <a:buFont typeface="Arial"/>
              <a:buNone/>
            </a:pPr>
            <a:r>
              <a:rPr b="1" i="0" lang="en-US" sz="1040" u="none" cap="none" strike="noStrike">
                <a:solidFill>
                  <a:srgbClr val="071A3A"/>
                </a:solidFill>
                <a:latin typeface="Arial"/>
                <a:ea typeface="Arial"/>
                <a:cs typeface="Arial"/>
                <a:sym typeface="Arial"/>
              </a:rPr>
              <a:t>Completar integración y pruebas antes del 23/10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99" name="Google Shape;699;h56ab5dad46e2c1f2_0_342"/>
          <p:cNvCxnSpPr/>
          <p:nvPr/>
        </p:nvCxnSpPr>
        <p:spPr>
          <a:xfrm>
            <a:off x="6391826" y="4050792"/>
            <a:ext cx="4919400" cy="0"/>
          </a:xfrm>
          <a:prstGeom prst="straightConnector1">
            <a:avLst/>
          </a:prstGeom>
          <a:noFill/>
          <a:ln cap="flat" cmpd="sng" w="9525">
            <a:solidFill>
              <a:srgbClr val="BEEB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0" name="Google Shape;700;h56ab5dad46e2c1f2_0_342"/>
          <p:cNvSpPr/>
          <p:nvPr/>
        </p:nvSpPr>
        <p:spPr>
          <a:xfrm>
            <a:off x="6419259" y="4087368"/>
            <a:ext cx="310800" cy="310800"/>
          </a:xfrm>
          <a:prstGeom prst="ellipse">
            <a:avLst/>
          </a:prstGeom>
          <a:solidFill>
            <a:srgbClr val="D9F6F4"/>
          </a:solidFill>
          <a:ln cap="flat" cmpd="sng" w="12700">
            <a:solidFill>
              <a:srgbClr val="D9F6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1" name="Google Shape;701;h56ab5dad46e2c1f2_0_342"/>
          <p:cNvSpPr/>
          <p:nvPr/>
        </p:nvSpPr>
        <p:spPr>
          <a:xfrm>
            <a:off x="6419259" y="4151376"/>
            <a:ext cx="310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6AE"/>
              </a:buClr>
              <a:buSzPts val="830"/>
              <a:buFont typeface="Arial"/>
              <a:buNone/>
            </a:pPr>
            <a:r>
              <a:rPr b="1" i="0" lang="en-US" sz="830" u="none" cap="none" strike="noStrike">
                <a:solidFill>
                  <a:srgbClr val="00B6AE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h56ab5dad46e2c1f2_0_342"/>
          <p:cNvSpPr/>
          <p:nvPr/>
        </p:nvSpPr>
        <p:spPr>
          <a:xfrm>
            <a:off x="6913048" y="4114800"/>
            <a:ext cx="4297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1A3A"/>
              </a:buClr>
              <a:buSzPts val="1040"/>
              <a:buFont typeface="Arial"/>
              <a:buNone/>
            </a:pPr>
            <a:r>
              <a:rPr b="1" i="0" lang="en-US" sz="1040" u="none" cap="none" strike="noStrike">
                <a:solidFill>
                  <a:srgbClr val="071A3A"/>
                </a:solidFill>
                <a:latin typeface="Arial"/>
                <a:ea typeface="Arial"/>
                <a:cs typeface="Arial"/>
                <a:sym typeface="Arial"/>
              </a:rPr>
              <a:t>Sprint 4: Jira / CSV-JSON y dashboards QE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03" name="Google Shape;703;h56ab5dad46e2c1f2_0_342"/>
          <p:cNvCxnSpPr/>
          <p:nvPr/>
        </p:nvCxnSpPr>
        <p:spPr>
          <a:xfrm>
            <a:off x="6391826" y="4526280"/>
            <a:ext cx="4919400" cy="0"/>
          </a:xfrm>
          <a:prstGeom prst="straightConnector1">
            <a:avLst/>
          </a:prstGeom>
          <a:noFill/>
          <a:ln cap="flat" cmpd="sng" w="9525">
            <a:solidFill>
              <a:srgbClr val="BEEB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4" name="Google Shape;704;h56ab5dad46e2c1f2_0_342"/>
          <p:cNvSpPr/>
          <p:nvPr/>
        </p:nvSpPr>
        <p:spPr>
          <a:xfrm>
            <a:off x="6419259" y="4562856"/>
            <a:ext cx="310800" cy="310800"/>
          </a:xfrm>
          <a:prstGeom prst="ellipse">
            <a:avLst/>
          </a:prstGeom>
          <a:solidFill>
            <a:srgbClr val="D9F6F4"/>
          </a:solidFill>
          <a:ln cap="flat" cmpd="sng" w="12700">
            <a:solidFill>
              <a:srgbClr val="D9F6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h56ab5dad46e2c1f2_0_342"/>
          <p:cNvSpPr/>
          <p:nvPr/>
        </p:nvSpPr>
        <p:spPr>
          <a:xfrm>
            <a:off x="6419259" y="4626864"/>
            <a:ext cx="310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6AE"/>
              </a:buClr>
              <a:buSzPts val="830"/>
              <a:buFont typeface="Arial"/>
              <a:buNone/>
            </a:pPr>
            <a:r>
              <a:rPr b="1" i="0" lang="en-US" sz="830" u="none" cap="none" strike="noStrike">
                <a:solidFill>
                  <a:srgbClr val="00B6AE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h56ab5dad46e2c1f2_0_342"/>
          <p:cNvSpPr/>
          <p:nvPr/>
        </p:nvSpPr>
        <p:spPr>
          <a:xfrm>
            <a:off x="6913048" y="4590288"/>
            <a:ext cx="4297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1A3A"/>
              </a:buClr>
              <a:buSzPts val="1040"/>
              <a:buFont typeface="Arial"/>
              <a:buNone/>
            </a:pPr>
            <a:r>
              <a:rPr b="1" i="0" lang="en-US" sz="1040" u="none" cap="none" strike="noStrike">
                <a:solidFill>
                  <a:srgbClr val="071A3A"/>
                </a:solidFill>
                <a:latin typeface="Arial"/>
                <a:ea typeface="Arial"/>
                <a:cs typeface="Arial"/>
                <a:sym typeface="Arial"/>
              </a:rPr>
              <a:t>Mantener evidencia y trazabilidad de las HDU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h56ab5dad46e2c1f2_0_342"/>
          <p:cNvSpPr/>
          <p:nvPr/>
        </p:nvSpPr>
        <p:spPr>
          <a:xfrm>
            <a:off x="365770" y="5321808"/>
            <a:ext cx="11338800" cy="749700"/>
          </a:xfrm>
          <a:prstGeom prst="roundRect">
            <a:avLst>
              <a:gd fmla="val 10976" name="adj"/>
            </a:avLst>
          </a:prstGeom>
          <a:solidFill>
            <a:srgbClr val="EEF9FF"/>
          </a:solidFill>
          <a:ln cap="flat" cmpd="sng" w="12700">
            <a:solidFill>
              <a:srgbClr val="CFE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h56ab5dad46e2c1f2_0_342"/>
          <p:cNvSpPr/>
          <p:nvPr/>
        </p:nvSpPr>
        <p:spPr>
          <a:xfrm>
            <a:off x="859559" y="5477256"/>
            <a:ext cx="420600" cy="420600"/>
          </a:xfrm>
          <a:prstGeom prst="ellipse">
            <a:avLst/>
          </a:prstGeom>
          <a:solidFill>
            <a:srgbClr val="D9F0FF"/>
          </a:solidFill>
          <a:ln cap="flat" cmpd="sng" w="12700">
            <a:solidFill>
              <a:srgbClr val="D9F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h56ab5dad46e2c1f2_0_342"/>
          <p:cNvSpPr/>
          <p:nvPr/>
        </p:nvSpPr>
        <p:spPr>
          <a:xfrm>
            <a:off x="941857" y="5559552"/>
            <a:ext cx="265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🎯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10" name="Google Shape;710;h56ab5dad46e2c1f2_0_342"/>
          <p:cNvCxnSpPr/>
          <p:nvPr/>
        </p:nvCxnSpPr>
        <p:spPr>
          <a:xfrm>
            <a:off x="1481367" y="5449824"/>
            <a:ext cx="0" cy="475500"/>
          </a:xfrm>
          <a:prstGeom prst="straightConnector1">
            <a:avLst/>
          </a:prstGeom>
          <a:noFill/>
          <a:ln cap="flat" cmpd="sng" w="13950">
            <a:solidFill>
              <a:srgbClr val="CFE0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1" name="Google Shape;711;h56ab5dad46e2c1f2_0_342"/>
          <p:cNvSpPr/>
          <p:nvPr/>
        </p:nvSpPr>
        <p:spPr>
          <a:xfrm>
            <a:off x="1719118" y="5504688"/>
            <a:ext cx="95100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45A"/>
              </a:buClr>
              <a:buSzPts val="1520"/>
              <a:buFont typeface="Arial"/>
              <a:buNone/>
            </a:pPr>
            <a:r>
              <a:rPr b="1" i="0" lang="en-US" sz="1500" u="none" cap="none" strike="noStrike">
                <a:solidFill>
                  <a:srgbClr val="08245A"/>
                </a:solidFill>
                <a:latin typeface="Arial"/>
                <a:ea typeface="Arial"/>
                <a:cs typeface="Arial"/>
                <a:sym typeface="Arial"/>
              </a:rPr>
              <a:t>Sprint 3 incorpora el modelo validado y el nuevo acceso a Quality360.</a:t>
            </a: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45A"/>
              </a:buClr>
              <a:buSzPts val="1520"/>
              <a:buFont typeface="Arial"/>
              <a:buNone/>
            </a:pPr>
            <a:r>
              <a:rPr b="1" i="0" lang="en-US" sz="1500" u="none" cap="none" strike="noStrike">
                <a:solidFill>
                  <a:srgbClr val="08245A"/>
                </a:solidFill>
                <a:latin typeface="Arial"/>
                <a:ea typeface="Arial"/>
                <a:cs typeface="Arial"/>
                <a:sym typeface="Arial"/>
              </a:rPr>
              <a:t>El cierre requiere recertificación integral y verificación del entorno publicado.</a:t>
            </a: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h56ab5dad46e2c1f2_0_342"/>
          <p:cNvSpPr/>
          <p:nvPr/>
        </p:nvSpPr>
        <p:spPr>
          <a:xfrm>
            <a:off x="365770" y="6537960"/>
            <a:ext cx="31089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58A"/>
              </a:buClr>
              <a:buSzPts val="680"/>
              <a:buFont typeface="Arial"/>
              <a:buNone/>
            </a:pPr>
            <a:r>
              <a:rPr b="0" i="0" lang="en-US" sz="680" u="none" cap="none" strike="noStrike">
                <a:solidFill>
                  <a:srgbClr val="66758A"/>
                </a:solidFill>
                <a:latin typeface="Arial"/>
                <a:ea typeface="Arial"/>
                <a:cs typeface="Arial"/>
                <a:sym typeface="Arial"/>
              </a:rPr>
              <a:t>Quality360 · Capstone Grupo 8</a:t>
            </a:r>
            <a:endParaRPr b="0" i="0" sz="6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h56ab5dad46e2c1f2_0_342"/>
          <p:cNvSpPr/>
          <p:nvPr/>
        </p:nvSpPr>
        <p:spPr>
          <a:xfrm>
            <a:off x="9692898" y="6537960"/>
            <a:ext cx="2011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58A"/>
              </a:buClr>
              <a:buSzPts val="680"/>
              <a:buFont typeface="Arial"/>
              <a:buNone/>
            </a:pPr>
            <a:r>
              <a:rPr b="0" i="0" lang="en-US" sz="680" u="none" cap="none" strike="noStrike">
                <a:solidFill>
                  <a:srgbClr val="66758A"/>
                </a:solidFill>
                <a:latin typeface="Arial"/>
                <a:ea typeface="Arial"/>
                <a:cs typeface="Arial"/>
                <a:sym typeface="Arial"/>
              </a:rPr>
              <a:t>Sprint 3 en curso · 1/10/2026</a:t>
            </a:r>
            <a:endParaRPr b="0" i="0" sz="6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logo_corporativo_quality360_en_azul_y_turquesa.png" id="714" name="Google Shape;714;h56ab5dad46e2c1f2_0_3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28638" y="335951"/>
            <a:ext cx="957057" cy="7665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2026-09-24T23:02:06Z</dcterms:created>
  <dc:creator>OpenAI</dc:creator>
</cp:coreProperties>
</file>