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BzX0iT82rKRclVpP+gLhsIzB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h5adcd0903d5cb179_3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" name="Google Shape;16;h5adcd0903d5cb179_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h5adcd0903d5cb179_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5adcd0903d5cb179_4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h5adcd0903d5cb179_4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h5adcd0903d5cb179_4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5adcd0903d5cb179_4_83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h5adcd0903d5cb179_4_83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h5adcd0903d5cb179_4_83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4ee3c324ba353452_0_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4ee3c324ba353452_0_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20b37650884cf90a_0_9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h20b37650884cf90a_0_9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h20b37650884cf90a_0_9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20b37650884cf90a_0_1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h20b37650884cf90a_0_18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h20b37650884cf90a_0_18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1af1b7e802a7d6b2_1_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h1af1b7e802a7d6b2_1_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20b37650884cf90a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h20b37650884cf90a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" name="Google Shape;370;h20b37650884cf90a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h56ab5dad46e2c1f2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h56ab5dad46e2c1f2_0_0:notes"/>
          <p:cNvSpPr/>
          <p:nvPr>
            <p:ph idx="2" type="sldImg"/>
          </p:nvPr>
        </p:nvSpPr>
        <p:spPr>
          <a:xfrm>
            <a:off x="1143164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h56ab5dad46e2c1f2_0_342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h56ab5dad46e2c1f2_0_342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h56ab5dad46e2c1f2_0_342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6FAFD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h56ab5dad46e2c1f2_0_188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h56ab5dad46e2c1f2_0_188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h56ab5dad46e2c1f2_0_188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h5adcd0903d5cb179_3_0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h5adcd0903d5cb179_3_0"/>
          <p:cNvSpPr/>
          <p:nvPr/>
        </p:nvSpPr>
        <p:spPr>
          <a:xfrm>
            <a:off x="10515600" y="5577840"/>
            <a:ext cx="2286000" cy="22860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4F8FB">
              <a:alpha val="0"/>
            </a:srgbClr>
          </a:solidFill>
          <a:ln cap="flat" cmpd="sng" w="25400">
            <a:solidFill>
              <a:srgbClr val="D6F3F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21" name="Google Shape;21;h5adcd0903d5cb179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246888"/>
            <a:ext cx="566927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h5adcd0903d5cb179_3_0"/>
          <p:cNvSpPr/>
          <p:nvPr/>
        </p:nvSpPr>
        <p:spPr>
          <a:xfrm>
            <a:off x="0" y="0"/>
            <a:ext cx="3840600" cy="6858000"/>
          </a:xfrm>
          <a:prstGeom prst="rect">
            <a:avLst/>
          </a:prstGeom>
          <a:solidFill>
            <a:srgbClr val="0B2559"/>
          </a:solidFill>
          <a:ln cap="flat" cmpd="sng" w="12700">
            <a:solidFill>
              <a:srgbClr val="0B2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h5adcd0903d5cb179_3_0"/>
          <p:cNvSpPr/>
          <p:nvPr/>
        </p:nvSpPr>
        <p:spPr>
          <a:xfrm>
            <a:off x="457200" y="548640"/>
            <a:ext cx="301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7F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E7F1"/>
                </a:solidFill>
                <a:latin typeface="Arial"/>
                <a:ea typeface="Arial"/>
                <a:cs typeface="Arial"/>
                <a:sym typeface="Arial"/>
              </a:rPr>
              <a:t>CAPSTONE · GRUPO 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h5adcd0903d5cb179_3_0"/>
          <p:cNvSpPr/>
          <p:nvPr/>
        </p:nvSpPr>
        <p:spPr>
          <a:xfrm>
            <a:off x="457200" y="1417320"/>
            <a:ext cx="2926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h5adcd0903d5cb179_3_0"/>
          <p:cNvSpPr/>
          <p:nvPr/>
        </p:nvSpPr>
        <p:spPr>
          <a:xfrm>
            <a:off x="457200" y="2130552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avance y seguimiento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h5adcd0903d5cb179_3_0"/>
          <p:cNvSpPr/>
          <p:nvPr/>
        </p:nvSpPr>
        <p:spPr>
          <a:xfrm>
            <a:off x="457200" y="2606040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BF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DCEBFA"/>
                </a:solidFill>
              </a:rPr>
              <a:t>Avance del Sprint 2, arquitectura 4+1, casos de uso, modelo conceptual de datos y evolución de Quality360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h5adcd0903d5cb179_3_0"/>
          <p:cNvSpPr/>
          <p:nvPr/>
        </p:nvSpPr>
        <p:spPr>
          <a:xfrm>
            <a:off x="457200" y="3703320"/>
            <a:ext cx="1554600" cy="320100"/>
          </a:xfrm>
          <a:prstGeom prst="roundRect">
            <a:avLst>
              <a:gd fmla="val 22857" name="adj"/>
            </a:avLst>
          </a:prstGeom>
          <a:solidFill>
            <a:srgbClr val="176CCB"/>
          </a:solidFill>
          <a:ln cap="flat" cmpd="sng" w="12700">
            <a:solidFill>
              <a:srgbClr val="176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h5adcd0903d5cb179_3_0"/>
          <p:cNvSpPr/>
          <p:nvPr/>
        </p:nvSpPr>
        <p:spPr>
          <a:xfrm>
            <a:off x="457200" y="3753612"/>
            <a:ext cx="1554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CORTE </a:t>
            </a:r>
            <a:r>
              <a:rPr b="1" lang="en-US" sz="820">
                <a:solidFill>
                  <a:srgbClr val="FFFFFF"/>
                </a:solidFill>
              </a:rPr>
              <a:t>02</a:t>
            </a:r>
            <a:r>
              <a:rPr b="1" i="0" lang="en-US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r>
              <a:rPr b="1" lang="en-US" sz="820">
                <a:solidFill>
                  <a:srgbClr val="FFFFFF"/>
                </a:solidFill>
              </a:rPr>
              <a:t>10</a:t>
            </a:r>
            <a:r>
              <a:rPr b="1" i="0" lang="en-US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h5adcd0903d5cb179_3_0"/>
          <p:cNvSpPr/>
          <p:nvPr/>
        </p:nvSpPr>
        <p:spPr>
          <a:xfrm>
            <a:off x="457200" y="54406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B93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6B93B"/>
                </a:solidFill>
                <a:latin typeface="Arial"/>
                <a:ea typeface="Arial"/>
                <a:cs typeface="Arial"/>
                <a:sym typeface="Arial"/>
              </a:rPr>
              <a:t>José Seguel · Jonathan Choque · Matías Araos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30" name="Google Shape;30;h5adcd0903d5cb179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960120"/>
            <a:ext cx="4389119" cy="438911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h5adcd0903d5cb179_3_0"/>
          <p:cNvSpPr/>
          <p:nvPr/>
        </p:nvSpPr>
        <p:spPr>
          <a:xfrm>
            <a:off x="4800600" y="5715000"/>
            <a:ext cx="539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CC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6CCB"/>
                </a:solidFill>
                <a:latin typeface="Arial"/>
                <a:ea typeface="Arial"/>
                <a:cs typeface="Arial"/>
                <a:sym typeface="Arial"/>
              </a:rPr>
              <a:t>CALIDAD · VISIBILIDAD · ANÁLISIS · IMPACTO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h5adcd0903d5cb179_3_0"/>
          <p:cNvSpPr/>
          <p:nvPr/>
        </p:nvSpPr>
        <p:spPr>
          <a:xfrm>
            <a:off x="11631168" y="6473952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h5adcd0903d5cb179_4_8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h5adcd0903d5cb179_4_8"/>
          <p:cNvSpPr/>
          <p:nvPr/>
        </p:nvSpPr>
        <p:spPr>
          <a:xfrm>
            <a:off x="502920" y="6492240"/>
            <a:ext cx="3657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40" name="Google Shape;40;h5adcd0903d5cb179_4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246888"/>
            <a:ext cx="566927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h5adcd0903d5cb179_4_8"/>
          <p:cNvSpPr/>
          <p:nvPr/>
        </p:nvSpPr>
        <p:spPr>
          <a:xfrm>
            <a:off x="530352" y="420624"/>
            <a:ext cx="9784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B2559"/>
                </a:solidFill>
                <a:latin typeface="Play"/>
                <a:ea typeface="Play"/>
                <a:cs typeface="Play"/>
                <a:sym typeface="Play"/>
              </a:rPr>
              <a:t>Contenidos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h5adcd0903d5cb179_4_8"/>
          <p:cNvSpPr/>
          <p:nvPr/>
        </p:nvSpPr>
        <p:spPr>
          <a:xfrm>
            <a:off x="11631168" y="6473952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h5adcd0903d5cb179_4_8"/>
          <p:cNvSpPr/>
          <p:nvPr/>
        </p:nvSpPr>
        <p:spPr>
          <a:xfrm>
            <a:off x="5943538" y="1210508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h5adcd0903d5cb179_4_8"/>
          <p:cNvSpPr/>
          <p:nvPr/>
        </p:nvSpPr>
        <p:spPr>
          <a:xfrm>
            <a:off x="6172138" y="1439108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h5adcd0903d5cb179_4_8"/>
          <p:cNvSpPr/>
          <p:nvPr/>
        </p:nvSpPr>
        <p:spPr>
          <a:xfrm>
            <a:off x="6172138" y="145739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h5adcd0903d5cb179_4_8"/>
          <p:cNvSpPr/>
          <p:nvPr/>
        </p:nvSpPr>
        <p:spPr>
          <a:xfrm>
            <a:off x="6720777" y="137510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2559"/>
                </a:solidFill>
              </a:rPr>
              <a:t>Modelo conceptual Quality360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h5adcd0903d5cb179_4_8"/>
          <p:cNvSpPr/>
          <p:nvPr/>
        </p:nvSpPr>
        <p:spPr>
          <a:xfrm>
            <a:off x="6720777" y="164942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5D6F8B"/>
                </a:solidFill>
              </a:rPr>
              <a:t>Organización</a:t>
            </a:r>
            <a:r>
              <a:rPr lang="en-US" sz="960">
                <a:solidFill>
                  <a:srgbClr val="5D6F8B"/>
                </a:solidFill>
              </a:rPr>
              <a:t> y trazabilidad del proceso QA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h5adcd0903d5cb179_4_8"/>
          <p:cNvSpPr/>
          <p:nvPr/>
        </p:nvSpPr>
        <p:spPr>
          <a:xfrm>
            <a:off x="530358" y="2460295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h5adcd0903d5cb179_4_8"/>
          <p:cNvSpPr/>
          <p:nvPr/>
        </p:nvSpPr>
        <p:spPr>
          <a:xfrm>
            <a:off x="758958" y="2688895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h5adcd0903d5cb179_4_8"/>
          <p:cNvSpPr/>
          <p:nvPr/>
        </p:nvSpPr>
        <p:spPr>
          <a:xfrm>
            <a:off x="758958" y="2707183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h5adcd0903d5cb179_4_8"/>
          <p:cNvSpPr/>
          <p:nvPr/>
        </p:nvSpPr>
        <p:spPr>
          <a:xfrm>
            <a:off x="1307597" y="2624887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h5adcd0903d5cb179_4_8"/>
          <p:cNvSpPr/>
          <p:nvPr/>
        </p:nvSpPr>
        <p:spPr>
          <a:xfrm>
            <a:off x="1307597" y="2899207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Seguimiento semanal y dettale de cada Sprint 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h5adcd0903d5cb179_4_8"/>
          <p:cNvSpPr/>
          <p:nvPr/>
        </p:nvSpPr>
        <p:spPr>
          <a:xfrm>
            <a:off x="5943538" y="2486700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h5adcd0903d5cb179_4_8"/>
          <p:cNvSpPr/>
          <p:nvPr/>
        </p:nvSpPr>
        <p:spPr>
          <a:xfrm>
            <a:off x="6172138" y="2715300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h5adcd0903d5cb179_4_8"/>
          <p:cNvSpPr/>
          <p:nvPr/>
        </p:nvSpPr>
        <p:spPr>
          <a:xfrm>
            <a:off x="6172138" y="2733588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h5adcd0903d5cb179_4_8"/>
          <p:cNvSpPr/>
          <p:nvPr/>
        </p:nvSpPr>
        <p:spPr>
          <a:xfrm>
            <a:off x="6720777" y="2651292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Roadmap agil por Sprint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h5adcd0903d5cb179_4_8"/>
          <p:cNvSpPr/>
          <p:nvPr/>
        </p:nvSpPr>
        <p:spPr>
          <a:xfrm>
            <a:off x="6720777" y="2925612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Actividades y entregables por Sprint 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h5adcd0903d5cb179_4_8"/>
          <p:cNvSpPr/>
          <p:nvPr/>
        </p:nvSpPr>
        <p:spPr>
          <a:xfrm>
            <a:off x="6059008" y="3537200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h5adcd0903d5cb179_4_8"/>
          <p:cNvSpPr/>
          <p:nvPr/>
        </p:nvSpPr>
        <p:spPr>
          <a:xfrm>
            <a:off x="6287608" y="3765800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h5adcd0903d5cb179_4_8"/>
          <p:cNvSpPr/>
          <p:nvPr/>
        </p:nvSpPr>
        <p:spPr>
          <a:xfrm>
            <a:off x="6287608" y="3784088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h5adcd0903d5cb179_4_8"/>
          <p:cNvSpPr/>
          <p:nvPr/>
        </p:nvSpPr>
        <p:spPr>
          <a:xfrm>
            <a:off x="6836248" y="3701792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Burndown y estado actual del proyecto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h5adcd0903d5cb179_4_8"/>
          <p:cNvSpPr/>
          <p:nvPr/>
        </p:nvSpPr>
        <p:spPr>
          <a:xfrm>
            <a:off x="6836248" y="3976112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Seguimiento del sprint </a:t>
            </a:r>
            <a:r>
              <a:rPr lang="en-US" sz="960">
                <a:solidFill>
                  <a:srgbClr val="5D6F8B"/>
                </a:solidFill>
              </a:rPr>
              <a:t>2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h5adcd0903d5cb179_4_8"/>
          <p:cNvSpPr/>
          <p:nvPr/>
        </p:nvSpPr>
        <p:spPr>
          <a:xfrm>
            <a:off x="530338" y="1210508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h5adcd0903d5cb179_4_8"/>
          <p:cNvSpPr/>
          <p:nvPr/>
        </p:nvSpPr>
        <p:spPr>
          <a:xfrm>
            <a:off x="758938" y="1439108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h5adcd0903d5cb179_4_8"/>
          <p:cNvSpPr/>
          <p:nvPr/>
        </p:nvSpPr>
        <p:spPr>
          <a:xfrm>
            <a:off x="758938" y="145739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h5adcd0903d5cb179_4_8"/>
          <p:cNvSpPr/>
          <p:nvPr/>
        </p:nvSpPr>
        <p:spPr>
          <a:xfrm>
            <a:off x="1307578" y="137510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h5adcd0903d5cb179_4_8"/>
          <p:cNvSpPr/>
          <p:nvPr/>
        </p:nvSpPr>
        <p:spPr>
          <a:xfrm>
            <a:off x="1307578" y="164942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Identificación del cliente,usuarios clave y necesidades.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h5adcd0903d5cb179_4_8"/>
          <p:cNvSpPr/>
          <p:nvPr/>
        </p:nvSpPr>
        <p:spPr>
          <a:xfrm>
            <a:off x="3403538" y="4841025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h5adcd0903d5cb179_4_8"/>
          <p:cNvSpPr/>
          <p:nvPr/>
        </p:nvSpPr>
        <p:spPr>
          <a:xfrm>
            <a:off x="3632138" y="5069625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h5adcd0903d5cb179_4_8"/>
          <p:cNvSpPr/>
          <p:nvPr/>
        </p:nvSpPr>
        <p:spPr>
          <a:xfrm>
            <a:off x="3632138" y="5087913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h5adcd0903d5cb179_4_8"/>
          <p:cNvSpPr/>
          <p:nvPr/>
        </p:nvSpPr>
        <p:spPr>
          <a:xfrm>
            <a:off x="4180778" y="5005617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h5adcd0903d5cb179_4_8"/>
          <p:cNvSpPr/>
          <p:nvPr/>
        </p:nvSpPr>
        <p:spPr>
          <a:xfrm>
            <a:off x="4180778" y="5279937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Valor del proyecto,avances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h5adcd0903d5cb179_4_8"/>
          <p:cNvSpPr/>
          <p:nvPr/>
        </p:nvSpPr>
        <p:spPr>
          <a:xfrm>
            <a:off x="530358" y="3540788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h5adcd0903d5cb179_4_8"/>
          <p:cNvSpPr/>
          <p:nvPr/>
        </p:nvSpPr>
        <p:spPr>
          <a:xfrm>
            <a:off x="758958" y="3769388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h5adcd0903d5cb179_4_8"/>
          <p:cNvSpPr/>
          <p:nvPr/>
        </p:nvSpPr>
        <p:spPr>
          <a:xfrm>
            <a:off x="758958" y="3787676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h5adcd0903d5cb179_4_8"/>
          <p:cNvSpPr/>
          <p:nvPr/>
        </p:nvSpPr>
        <p:spPr>
          <a:xfrm>
            <a:off x="1307597" y="370538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2559"/>
                </a:solidFill>
              </a:rPr>
              <a:t>Modelo 4+1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h5adcd0903d5cb179_4_8"/>
          <p:cNvSpPr/>
          <p:nvPr/>
        </p:nvSpPr>
        <p:spPr>
          <a:xfrm>
            <a:off x="1307597" y="397970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>
                <a:solidFill>
                  <a:schemeClr val="dk1"/>
                </a:solidFill>
              </a:rPr>
              <a:t>Vista generall de la arquitectura de la solución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5adcd0903d5cb179_4_83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18BDB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84" name="Google Shape;84;h5adcd0903d5cb179_4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4755" y="164592"/>
            <a:ext cx="1142999" cy="1142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h5adcd0903d5cb179_4_83"/>
          <p:cNvSpPr/>
          <p:nvPr/>
        </p:nvSpPr>
        <p:spPr>
          <a:xfrm>
            <a:off x="502933" y="438912"/>
            <a:ext cx="7041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061B49"/>
                </a:solidFill>
                <a:latin typeface="Play"/>
                <a:ea typeface="Play"/>
                <a:cs typeface="Play"/>
                <a:sym typeface="Play"/>
              </a:rPr>
              <a:t>Cliente objetivo de Quality360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h5adcd0903d5cb179_4_83"/>
          <p:cNvSpPr/>
          <p:nvPr/>
        </p:nvSpPr>
        <p:spPr>
          <a:xfrm>
            <a:off x="530366" y="941832"/>
            <a:ext cx="813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Identificación del cliente, usuarios clave y necesidad que resuelve la plataforma.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h5adcd0903d5cb179_4_83"/>
          <p:cNvCxnSpPr/>
          <p:nvPr/>
        </p:nvCxnSpPr>
        <p:spPr>
          <a:xfrm>
            <a:off x="530366" y="1325880"/>
            <a:ext cx="1005900" cy="0"/>
          </a:xfrm>
          <a:prstGeom prst="straightConnector1">
            <a:avLst/>
          </a:prstGeom>
          <a:noFill/>
          <a:ln cap="flat" cmpd="sng" w="38100">
            <a:solidFill>
              <a:srgbClr val="18BD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h5adcd0903d5cb179_4_83"/>
          <p:cNvSpPr/>
          <p:nvPr/>
        </p:nvSpPr>
        <p:spPr>
          <a:xfrm>
            <a:off x="502933" y="1600200"/>
            <a:ext cx="3703200" cy="35205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h5adcd0903d5cb179_4_83"/>
          <p:cNvSpPr/>
          <p:nvPr/>
        </p:nvSpPr>
        <p:spPr>
          <a:xfrm>
            <a:off x="777261" y="1874520"/>
            <a:ext cx="1691700" cy="320100"/>
          </a:xfrm>
          <a:prstGeom prst="roundRect">
            <a:avLst>
              <a:gd fmla="val 22857" name="adj"/>
            </a:avLst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h5adcd0903d5cb179_4_83"/>
          <p:cNvSpPr/>
          <p:nvPr/>
        </p:nvSpPr>
        <p:spPr>
          <a:xfrm>
            <a:off x="777261" y="1883664"/>
            <a:ext cx="1691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h5adcd0903d5cb179_4_83"/>
          <p:cNvSpPr/>
          <p:nvPr/>
        </p:nvSpPr>
        <p:spPr>
          <a:xfrm>
            <a:off x="777261" y="2359152"/>
            <a:ext cx="567000" cy="567000"/>
          </a:xfrm>
          <a:prstGeom prst="ellipse">
            <a:avLst/>
          </a:prstGeom>
          <a:solidFill>
            <a:srgbClr val="EEF6FF"/>
          </a:solidFill>
          <a:ln cap="flat" cmpd="sng" w="12700">
            <a:solidFill>
              <a:srgbClr val="EEF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h5adcd0903d5cb179_4_83"/>
          <p:cNvSpPr/>
          <p:nvPr/>
        </p:nvSpPr>
        <p:spPr>
          <a:xfrm>
            <a:off x="777261" y="2368296"/>
            <a:ext cx="56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6D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66D6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h5adcd0903d5cb179_4_83"/>
          <p:cNvSpPr/>
          <p:nvPr/>
        </p:nvSpPr>
        <p:spPr>
          <a:xfrm>
            <a:off x="1444791" y="2331720"/>
            <a:ext cx="239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Área de Aseguramiento de Calidad (QA)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h5adcd0903d5cb179_4_83"/>
          <p:cNvSpPr/>
          <p:nvPr/>
        </p:nvSpPr>
        <p:spPr>
          <a:xfrm>
            <a:off x="777261" y="2971800"/>
            <a:ext cx="292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Organización del sector financiero con equipos ágiles de certificación de software.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h5adcd0903d5cb179_4_83"/>
          <p:cNvCxnSpPr/>
          <p:nvPr/>
        </p:nvCxnSpPr>
        <p:spPr>
          <a:xfrm>
            <a:off x="777261" y="3593592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DDEA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h5adcd0903d5cb179_4_83"/>
          <p:cNvSpPr/>
          <p:nvPr/>
        </p:nvSpPr>
        <p:spPr>
          <a:xfrm>
            <a:off x="777261" y="3767328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Dueño de la necesidad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h5adcd0903d5cb179_4_83"/>
          <p:cNvSpPr/>
          <p:nvPr/>
        </p:nvSpPr>
        <p:spPr>
          <a:xfrm>
            <a:off x="777261" y="4005072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Líder QA / Quality Engineer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h5adcd0903d5cb179_4_83"/>
          <p:cNvSpPr/>
          <p:nvPr/>
        </p:nvSpPr>
        <p:spPr>
          <a:xfrm>
            <a:off x="4480679" y="1600200"/>
            <a:ext cx="3383400" cy="3520500"/>
          </a:xfrm>
          <a:prstGeom prst="roundRect">
            <a:avLst>
              <a:gd fmla="val 3243" name="adj"/>
            </a:avLst>
          </a:prstGeom>
          <a:solidFill>
            <a:srgbClr val="E9FBF9"/>
          </a:solidFill>
          <a:ln cap="flat" cmpd="sng" w="12700">
            <a:solidFill>
              <a:srgbClr val="A7E7E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h5adcd0903d5cb179_4_83"/>
          <p:cNvSpPr/>
          <p:nvPr/>
        </p:nvSpPr>
        <p:spPr>
          <a:xfrm>
            <a:off x="4755007" y="1874520"/>
            <a:ext cx="1508700" cy="320100"/>
          </a:xfrm>
          <a:prstGeom prst="roundRect">
            <a:avLst>
              <a:gd fmla="val 22857" name="adj"/>
            </a:avLst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h5adcd0903d5cb179_4_83"/>
          <p:cNvSpPr/>
          <p:nvPr/>
        </p:nvSpPr>
        <p:spPr>
          <a:xfrm>
            <a:off x="4755007" y="1883664"/>
            <a:ext cx="150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USUARIOS CLAVE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h5adcd0903d5cb179_4_83"/>
          <p:cNvSpPr/>
          <p:nvPr/>
        </p:nvSpPr>
        <p:spPr>
          <a:xfrm>
            <a:off x="4782439" y="2395728"/>
            <a:ext cx="658500" cy="658500"/>
          </a:xfrm>
          <a:prstGeom prst="ellipse">
            <a:avLst/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h5adcd0903d5cb179_4_83"/>
          <p:cNvSpPr/>
          <p:nvPr/>
        </p:nvSpPr>
        <p:spPr>
          <a:xfrm>
            <a:off x="4782439" y="2404872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h5adcd0903d5cb179_4_83"/>
          <p:cNvSpPr/>
          <p:nvPr/>
        </p:nvSpPr>
        <p:spPr>
          <a:xfrm>
            <a:off x="5559700" y="2386584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 Engineer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h5adcd0903d5cb179_4_83"/>
          <p:cNvSpPr/>
          <p:nvPr/>
        </p:nvSpPr>
        <p:spPr>
          <a:xfrm>
            <a:off x="5559700" y="2724912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Supervisa avance, riesgos, cumplimiento y decisiones operativas.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h5adcd0903d5cb179_4_83"/>
          <p:cNvSpPr/>
          <p:nvPr/>
        </p:nvSpPr>
        <p:spPr>
          <a:xfrm>
            <a:off x="5532267" y="3337560"/>
            <a:ext cx="292500" cy="228600"/>
          </a:xfrm>
          <a:prstGeom prst="chevron">
            <a:avLst>
              <a:gd fmla="val 50000" name="adj"/>
            </a:avLst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h5adcd0903d5cb179_4_83"/>
          <p:cNvSpPr/>
          <p:nvPr/>
        </p:nvSpPr>
        <p:spPr>
          <a:xfrm>
            <a:off x="4782439" y="3703320"/>
            <a:ext cx="658500" cy="658500"/>
          </a:xfrm>
          <a:prstGeom prst="ellipse">
            <a:avLst/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h5adcd0903d5cb179_4_83"/>
          <p:cNvSpPr/>
          <p:nvPr/>
        </p:nvSpPr>
        <p:spPr>
          <a:xfrm>
            <a:off x="4782439" y="3712464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h5adcd0903d5cb179_4_83"/>
          <p:cNvSpPr/>
          <p:nvPr/>
        </p:nvSpPr>
        <p:spPr>
          <a:xfrm>
            <a:off x="5559700" y="3703320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Analista QA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h5adcd0903d5cb179_4_83"/>
          <p:cNvSpPr/>
          <p:nvPr/>
        </p:nvSpPr>
        <p:spPr>
          <a:xfrm>
            <a:off x="5559700" y="4041648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Actualiza estado de HU, checklist y evidencias de certificación.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h5adcd0903d5cb179_4_83"/>
          <p:cNvSpPr/>
          <p:nvPr/>
        </p:nvSpPr>
        <p:spPr>
          <a:xfrm>
            <a:off x="8138377" y="1600200"/>
            <a:ext cx="3520500" cy="35205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5adcd0903d5cb179_4_83"/>
          <p:cNvSpPr/>
          <p:nvPr/>
        </p:nvSpPr>
        <p:spPr>
          <a:xfrm>
            <a:off x="8412704" y="1874520"/>
            <a:ext cx="1920300" cy="320100"/>
          </a:xfrm>
          <a:prstGeom prst="roundRect">
            <a:avLst>
              <a:gd fmla="val 22857" name="adj"/>
            </a:avLst>
          </a:prstGeom>
          <a:solidFill>
            <a:srgbClr val="FFB547"/>
          </a:solidFill>
          <a:ln cap="flat" cmpd="sng" w="12700">
            <a:solidFill>
              <a:srgbClr val="FFB5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h5adcd0903d5cb179_4_83"/>
          <p:cNvSpPr/>
          <p:nvPr/>
        </p:nvSpPr>
        <p:spPr>
          <a:xfrm>
            <a:off x="8412704" y="1883664"/>
            <a:ext cx="1920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 DEL CLIENTE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h5adcd0903d5cb179_4_83"/>
          <p:cNvSpPr/>
          <p:nvPr/>
        </p:nvSpPr>
        <p:spPr>
          <a:xfrm>
            <a:off x="8412704" y="2313432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 información dispersa a una visión integrada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h5adcd0903d5cb179_4_83"/>
          <p:cNvSpPr/>
          <p:nvPr/>
        </p:nvSpPr>
        <p:spPr>
          <a:xfrm>
            <a:off x="8412704" y="2944368"/>
            <a:ext cx="2926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Consolidar HU, responsables y estados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Visualizar riesgos e impedimentos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Controlar cumplimiento QA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Priorizar acciones a tiempo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h5adcd0903d5cb179_4_83"/>
          <p:cNvSpPr/>
          <p:nvPr/>
        </p:nvSpPr>
        <p:spPr>
          <a:xfrm>
            <a:off x="8412704" y="4160520"/>
            <a:ext cx="2834700" cy="530400"/>
          </a:xfrm>
          <a:prstGeom prst="roundRect">
            <a:avLst>
              <a:gd fmla="val 13793" name="adj"/>
            </a:avLst>
          </a:prstGeom>
          <a:solidFill>
            <a:srgbClr val="EEF6FF"/>
          </a:solidFill>
          <a:ln cap="flat" cmpd="sng" w="12700">
            <a:solidFill>
              <a:srgbClr val="D6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h5adcd0903d5cb179_4_83"/>
          <p:cNvSpPr/>
          <p:nvPr/>
        </p:nvSpPr>
        <p:spPr>
          <a:xfrm>
            <a:off x="8549868" y="4215384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170"/>
              <a:buFont typeface="Arial"/>
              <a:buNone/>
            </a:pPr>
            <a:r>
              <a:rPr b="1" i="0" lang="en-US" sz="117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 entrega visibilidad, trazabilidad y KPI para la gestión QA.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h5adcd0903d5cb179_4_83"/>
          <p:cNvSpPr/>
          <p:nvPr/>
        </p:nvSpPr>
        <p:spPr>
          <a:xfrm>
            <a:off x="517958" y="5486573"/>
            <a:ext cx="11156100" cy="914400"/>
          </a:xfrm>
          <a:prstGeom prst="roundRect">
            <a:avLst>
              <a:gd fmla="val 12000" name="adj"/>
            </a:avLst>
          </a:prstGeom>
          <a:solidFill>
            <a:srgbClr val="EEF6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h5adcd0903d5cb179_4_83"/>
          <p:cNvSpPr/>
          <p:nvPr/>
        </p:nvSpPr>
        <p:spPr>
          <a:xfrm>
            <a:off x="795549" y="5559552"/>
            <a:ext cx="1600200" cy="292500"/>
          </a:xfrm>
          <a:prstGeom prst="roundRect">
            <a:avLst>
              <a:gd fmla="val 25000" name="adj"/>
            </a:avLst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h5adcd0903d5cb179_4_83"/>
          <p:cNvSpPr/>
          <p:nvPr/>
        </p:nvSpPr>
        <p:spPr>
          <a:xfrm>
            <a:off x="795549" y="5568696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TRAZABILIDAD DE VALOR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h5adcd0903d5cb179_4_83"/>
          <p:cNvSpPr/>
          <p:nvPr/>
        </p:nvSpPr>
        <p:spPr>
          <a:xfrm>
            <a:off x="841270" y="5888736"/>
            <a:ext cx="429900" cy="429900"/>
          </a:xfrm>
          <a:prstGeom prst="ellipse">
            <a:avLst/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h5adcd0903d5cb179_4_83"/>
          <p:cNvSpPr/>
          <p:nvPr/>
        </p:nvSpPr>
        <p:spPr>
          <a:xfrm>
            <a:off x="84127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h5adcd0903d5cb179_4_83"/>
          <p:cNvSpPr/>
          <p:nvPr/>
        </p:nvSpPr>
        <p:spPr>
          <a:xfrm>
            <a:off x="135334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h5adcd0903d5cb179_4_83"/>
          <p:cNvCxnSpPr/>
          <p:nvPr/>
        </p:nvCxnSpPr>
        <p:spPr>
          <a:xfrm>
            <a:off x="2532956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h5adcd0903d5cb179_4_83"/>
          <p:cNvSpPr/>
          <p:nvPr/>
        </p:nvSpPr>
        <p:spPr>
          <a:xfrm>
            <a:off x="2898725" y="5888736"/>
            <a:ext cx="429900" cy="429900"/>
          </a:xfrm>
          <a:prstGeom prst="ellipse">
            <a:avLst/>
          </a:prstGeom>
          <a:solidFill>
            <a:srgbClr val="FFB547"/>
          </a:solidFill>
          <a:ln cap="flat" cmpd="sng" w="12700">
            <a:solidFill>
              <a:srgbClr val="FFB5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h5adcd0903d5cb179_4_83"/>
          <p:cNvSpPr/>
          <p:nvPr/>
        </p:nvSpPr>
        <p:spPr>
          <a:xfrm>
            <a:off x="289872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h5adcd0903d5cb179_4_83"/>
          <p:cNvSpPr/>
          <p:nvPr/>
        </p:nvSpPr>
        <p:spPr>
          <a:xfrm>
            <a:off x="341080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operativa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h5adcd0903d5cb179_4_83"/>
          <p:cNvCxnSpPr/>
          <p:nvPr/>
        </p:nvCxnSpPr>
        <p:spPr>
          <a:xfrm>
            <a:off x="4590410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h5adcd0903d5cb179_4_83"/>
          <p:cNvSpPr/>
          <p:nvPr/>
        </p:nvSpPr>
        <p:spPr>
          <a:xfrm>
            <a:off x="4956180" y="5888736"/>
            <a:ext cx="429900" cy="429900"/>
          </a:xfrm>
          <a:prstGeom prst="ellipse">
            <a:avLst/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h5adcd0903d5cb179_4_83"/>
          <p:cNvSpPr/>
          <p:nvPr/>
        </p:nvSpPr>
        <p:spPr>
          <a:xfrm>
            <a:off x="495618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h5adcd0903d5cb179_4_83"/>
          <p:cNvSpPr/>
          <p:nvPr/>
        </p:nvSpPr>
        <p:spPr>
          <a:xfrm>
            <a:off x="546825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h5adcd0903d5cb179_4_83"/>
          <p:cNvCxnSpPr/>
          <p:nvPr/>
        </p:nvCxnSpPr>
        <p:spPr>
          <a:xfrm>
            <a:off x="6647865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" name="Google Shape;132;h5adcd0903d5cb179_4_83"/>
          <p:cNvSpPr/>
          <p:nvPr/>
        </p:nvSpPr>
        <p:spPr>
          <a:xfrm>
            <a:off x="7013635" y="5888736"/>
            <a:ext cx="429900" cy="429900"/>
          </a:xfrm>
          <a:prstGeom prst="ellipse">
            <a:avLst/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h5adcd0903d5cb179_4_83"/>
          <p:cNvSpPr/>
          <p:nvPr/>
        </p:nvSpPr>
        <p:spPr>
          <a:xfrm>
            <a:off x="701363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h5adcd0903d5cb179_4_83"/>
          <p:cNvSpPr/>
          <p:nvPr/>
        </p:nvSpPr>
        <p:spPr>
          <a:xfrm>
            <a:off x="752571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KPI y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h5adcd0903d5cb179_4_83"/>
          <p:cNvCxnSpPr/>
          <p:nvPr/>
        </p:nvCxnSpPr>
        <p:spPr>
          <a:xfrm>
            <a:off x="8705320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" name="Google Shape;136;h5adcd0903d5cb179_4_83"/>
          <p:cNvSpPr/>
          <p:nvPr/>
        </p:nvSpPr>
        <p:spPr>
          <a:xfrm>
            <a:off x="9071090" y="5888736"/>
            <a:ext cx="429900" cy="429900"/>
          </a:xfrm>
          <a:prstGeom prst="ellipse">
            <a:avLst/>
          </a:prstGeom>
          <a:solidFill>
            <a:srgbClr val="26B36B"/>
          </a:solidFill>
          <a:ln cap="flat" cmpd="sng" w="12700">
            <a:solidFill>
              <a:srgbClr val="26B36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h5adcd0903d5cb179_4_83"/>
          <p:cNvSpPr/>
          <p:nvPr/>
        </p:nvSpPr>
        <p:spPr>
          <a:xfrm>
            <a:off x="907109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h5adcd0903d5cb179_4_83"/>
          <p:cNvSpPr/>
          <p:nvPr/>
        </p:nvSpPr>
        <p:spPr>
          <a:xfrm>
            <a:off x="9583167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oportuna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h5adcd0903d5cb179_4_83"/>
          <p:cNvSpPr/>
          <p:nvPr/>
        </p:nvSpPr>
        <p:spPr>
          <a:xfrm>
            <a:off x="530366" y="6519672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h4ee3c324ba353452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20b37650884cf90a_0_9"/>
          <p:cNvSpPr/>
          <p:nvPr/>
        </p:nvSpPr>
        <p:spPr>
          <a:xfrm>
            <a:off x="0" y="0"/>
            <a:ext cx="12192000" cy="759000"/>
          </a:xfrm>
          <a:prstGeom prst="rect">
            <a:avLst/>
          </a:prstGeom>
          <a:solidFill>
            <a:srgbClr val="0E386B"/>
          </a:solidFill>
          <a:ln cap="flat" cmpd="sng" w="12700">
            <a:solidFill>
              <a:srgbClr val="0E3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h20b37650884cf90a_0_9"/>
          <p:cNvSpPr/>
          <p:nvPr/>
        </p:nvSpPr>
        <p:spPr>
          <a:xfrm>
            <a:off x="347481" y="91440"/>
            <a:ext cx="731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Roadmap de seguimiento semanal · Quality360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20b37650884cf90a_0_9"/>
          <p:cNvSpPr/>
          <p:nvPr/>
        </p:nvSpPr>
        <p:spPr>
          <a:xfrm>
            <a:off x="356626" y="448056"/>
            <a:ext cx="8778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EAF6FF"/>
                </a:solidFill>
                <a:latin typeface="Arial"/>
                <a:ea typeface="Arial"/>
                <a:cs typeface="Arial"/>
                <a:sym typeface="Arial"/>
              </a:rPr>
              <a:t>Eje X: semanas restantes · Eje Y: Sprints · Corte 24/09/2026 · Comisión desde 27/11/2026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quality360_cropped.png" id="153" name="Google Shape;153;h20b37650884cf90a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2823" y="82296"/>
            <a:ext cx="512077" cy="4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h20b37650884cf90a_0_9"/>
          <p:cNvSpPr/>
          <p:nvPr/>
        </p:nvSpPr>
        <p:spPr>
          <a:xfrm>
            <a:off x="310904" y="932688"/>
            <a:ext cx="11576700" cy="347400"/>
          </a:xfrm>
          <a:prstGeom prst="roundRect">
            <a:avLst>
              <a:gd fmla="val 15789" name="adj"/>
            </a:avLst>
          </a:prstGeom>
          <a:solidFill>
            <a:srgbClr val="EAF8FF"/>
          </a:solidFill>
          <a:ln cap="flat" cmpd="sng" w="10150">
            <a:solidFill>
              <a:srgbClr val="B7D5E9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h20b37650884cf90a_0_9"/>
          <p:cNvSpPr/>
          <p:nvPr/>
        </p:nvSpPr>
        <p:spPr>
          <a:xfrm>
            <a:off x="694963" y="1024128"/>
            <a:ext cx="64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86B"/>
              </a:buClr>
              <a:buSzPts val="710"/>
              <a:buFont typeface="Arial"/>
              <a:buNone/>
            </a:pPr>
            <a:r>
              <a:rPr b="1" i="0" lang="en-US" sz="710" u="none" cap="none" strike="noStrike">
                <a:solidFill>
                  <a:srgbClr val="0E386B"/>
                </a:solidFill>
                <a:latin typeface="Arial"/>
                <a:ea typeface="Arial"/>
                <a:cs typeface="Arial"/>
                <a:sym typeface="Arial"/>
              </a:rPr>
              <a:t>Hito previo</a:t>
            </a:r>
            <a:endParaRPr b="0" i="0" sz="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h20b37650884cf90a_0_9"/>
          <p:cNvSpPr/>
          <p:nvPr/>
        </p:nvSpPr>
        <p:spPr>
          <a:xfrm>
            <a:off x="1490512" y="996696"/>
            <a:ext cx="62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415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25415F"/>
                </a:solidFill>
                <a:latin typeface="Arial"/>
                <a:ea typeface="Arial"/>
                <a:cs typeface="Arial"/>
                <a:sym typeface="Arial"/>
              </a:rPr>
              <a:t>Sprint 1 · 11–24 sep: 14/14 SP completados. Base técnica, prototipo Vercel, arquitectura y modelo validados.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h20b37650884cf90a_0_9"/>
          <p:cNvSpPr/>
          <p:nvPr/>
        </p:nvSpPr>
        <p:spPr>
          <a:xfrm>
            <a:off x="10771919" y="1014984"/>
            <a:ext cx="822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6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008060"/>
                </a:solidFill>
                <a:latin typeface="Arial"/>
                <a:ea typeface="Arial"/>
                <a:cs typeface="Arial"/>
                <a:sym typeface="Arial"/>
              </a:rPr>
              <a:t>✓ cierre 100%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h20b37650884cf90a_0_9"/>
          <p:cNvSpPr/>
          <p:nvPr/>
        </p:nvSpPr>
        <p:spPr>
          <a:xfrm>
            <a:off x="310904" y="1481328"/>
            <a:ext cx="10278300" cy="4325100"/>
          </a:xfrm>
          <a:prstGeom prst="roundRect">
            <a:avLst>
              <a:gd fmla="val 423" name="adj"/>
            </a:avLst>
          </a:prstGeom>
          <a:solidFill>
            <a:srgbClr val="FFFFFF"/>
          </a:solidFill>
          <a:ln cap="flat" cmpd="sng" w="10150">
            <a:solidFill>
              <a:srgbClr val="C9D9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h20b37650884cf90a_0_9"/>
          <p:cNvSpPr/>
          <p:nvPr/>
        </p:nvSpPr>
        <p:spPr>
          <a:xfrm>
            <a:off x="310904" y="1481328"/>
            <a:ext cx="2121300" cy="804600"/>
          </a:xfrm>
          <a:prstGeom prst="rect">
            <a:avLst/>
          </a:prstGeom>
          <a:solidFill>
            <a:srgbClr val="0E386B"/>
          </a:solidFill>
          <a:ln cap="flat" cmpd="sng" w="10150">
            <a:solidFill>
              <a:srgbClr val="0A2D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h20b37650884cf90a_0_9"/>
          <p:cNvSpPr/>
          <p:nvPr/>
        </p:nvSpPr>
        <p:spPr>
          <a:xfrm>
            <a:off x="2432369" y="1481328"/>
            <a:ext cx="1572900" cy="804600"/>
          </a:xfrm>
          <a:prstGeom prst="rect">
            <a:avLst/>
          </a:prstGeom>
          <a:solidFill>
            <a:srgbClr val="0E386B"/>
          </a:solidFill>
          <a:ln cap="flat" cmpd="sng" w="10150">
            <a:solidFill>
              <a:srgbClr val="0A2D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h20b37650884cf90a_0_9"/>
          <p:cNvSpPr/>
          <p:nvPr/>
        </p:nvSpPr>
        <p:spPr>
          <a:xfrm>
            <a:off x="356626" y="1728216"/>
            <a:ext cx="203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h20b37650884cf90a_0_9"/>
          <p:cNvSpPr/>
          <p:nvPr/>
        </p:nvSpPr>
        <p:spPr>
          <a:xfrm>
            <a:off x="2478090" y="1728216"/>
            <a:ext cx="148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h20b37650884cf90a_0_9"/>
          <p:cNvSpPr/>
          <p:nvPr/>
        </p:nvSpPr>
        <p:spPr>
          <a:xfrm>
            <a:off x="4005179" y="1481328"/>
            <a:ext cx="658500" cy="384000"/>
          </a:xfrm>
          <a:prstGeom prst="rect">
            <a:avLst/>
          </a:prstGeom>
          <a:solidFill>
            <a:srgbClr val="0EA5A4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h20b37650884cf90a_0_9"/>
          <p:cNvSpPr/>
          <p:nvPr/>
        </p:nvSpPr>
        <p:spPr>
          <a:xfrm>
            <a:off x="4005179" y="1572768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SEP/OCT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20b37650884cf90a_0_9"/>
          <p:cNvSpPr/>
          <p:nvPr/>
        </p:nvSpPr>
        <p:spPr>
          <a:xfrm>
            <a:off x="4663564" y="1481328"/>
            <a:ext cx="2633400" cy="384000"/>
          </a:xfrm>
          <a:prstGeom prst="rect">
            <a:avLst/>
          </a:prstGeom>
          <a:solidFill>
            <a:srgbClr val="0EA5A4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h20b37650884cf90a_0_9"/>
          <p:cNvSpPr/>
          <p:nvPr/>
        </p:nvSpPr>
        <p:spPr>
          <a:xfrm>
            <a:off x="4663564" y="1572768"/>
            <a:ext cx="26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h20b37650884cf90a_0_9"/>
          <p:cNvSpPr/>
          <p:nvPr/>
        </p:nvSpPr>
        <p:spPr>
          <a:xfrm>
            <a:off x="7297107" y="1481328"/>
            <a:ext cx="2633400" cy="384000"/>
          </a:xfrm>
          <a:prstGeom prst="rect">
            <a:avLst/>
          </a:prstGeom>
          <a:solidFill>
            <a:srgbClr val="0EA5A4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h20b37650884cf90a_0_9"/>
          <p:cNvSpPr/>
          <p:nvPr/>
        </p:nvSpPr>
        <p:spPr>
          <a:xfrm>
            <a:off x="7297107" y="1572768"/>
            <a:ext cx="26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h20b37650884cf90a_0_9"/>
          <p:cNvSpPr/>
          <p:nvPr/>
        </p:nvSpPr>
        <p:spPr>
          <a:xfrm>
            <a:off x="9930649" y="1481328"/>
            <a:ext cx="658500" cy="384000"/>
          </a:xfrm>
          <a:prstGeom prst="rect">
            <a:avLst/>
          </a:prstGeom>
          <a:solidFill>
            <a:srgbClr val="0EA5A4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h20b37650884cf90a_0_9"/>
          <p:cNvSpPr/>
          <p:nvPr/>
        </p:nvSpPr>
        <p:spPr>
          <a:xfrm>
            <a:off x="9930649" y="1572768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NOV/DIC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h20b37650884cf90a_0_9"/>
          <p:cNvSpPr/>
          <p:nvPr/>
        </p:nvSpPr>
        <p:spPr>
          <a:xfrm>
            <a:off x="4005179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h20b37650884cf90a_0_9"/>
          <p:cNvSpPr/>
          <p:nvPr/>
        </p:nvSpPr>
        <p:spPr>
          <a:xfrm>
            <a:off x="4023467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 Sep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20b37650884cf90a_0_9"/>
          <p:cNvSpPr/>
          <p:nvPr/>
        </p:nvSpPr>
        <p:spPr>
          <a:xfrm>
            <a:off x="4663564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h20b37650884cf90a_0_9"/>
          <p:cNvSpPr/>
          <p:nvPr/>
        </p:nvSpPr>
        <p:spPr>
          <a:xfrm>
            <a:off x="4681853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02–08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h20b37650884cf90a_0_9"/>
          <p:cNvSpPr/>
          <p:nvPr/>
        </p:nvSpPr>
        <p:spPr>
          <a:xfrm>
            <a:off x="5321950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20b37650884cf90a_0_9"/>
          <p:cNvSpPr/>
          <p:nvPr/>
        </p:nvSpPr>
        <p:spPr>
          <a:xfrm>
            <a:off x="5340238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09–15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20b37650884cf90a_0_9"/>
          <p:cNvSpPr/>
          <p:nvPr/>
        </p:nvSpPr>
        <p:spPr>
          <a:xfrm>
            <a:off x="5980335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h20b37650884cf90a_0_9"/>
          <p:cNvSpPr/>
          <p:nvPr/>
        </p:nvSpPr>
        <p:spPr>
          <a:xfrm>
            <a:off x="5998624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16–22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h20b37650884cf90a_0_9"/>
          <p:cNvSpPr/>
          <p:nvPr/>
        </p:nvSpPr>
        <p:spPr>
          <a:xfrm>
            <a:off x="6638721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h20b37650884cf90a_0_9"/>
          <p:cNvSpPr/>
          <p:nvPr/>
        </p:nvSpPr>
        <p:spPr>
          <a:xfrm>
            <a:off x="6657009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23–29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20b37650884cf90a_0_9"/>
          <p:cNvSpPr/>
          <p:nvPr/>
        </p:nvSpPr>
        <p:spPr>
          <a:xfrm>
            <a:off x="7297107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h20b37650884cf90a_0_9"/>
          <p:cNvSpPr/>
          <p:nvPr/>
        </p:nvSpPr>
        <p:spPr>
          <a:xfrm>
            <a:off x="7315395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Oct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 Nov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h20b37650884cf90a_0_9"/>
          <p:cNvSpPr/>
          <p:nvPr/>
        </p:nvSpPr>
        <p:spPr>
          <a:xfrm>
            <a:off x="7955492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h20b37650884cf90a_0_9"/>
          <p:cNvSpPr/>
          <p:nvPr/>
        </p:nvSpPr>
        <p:spPr>
          <a:xfrm>
            <a:off x="7973781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06–12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20b37650884cf90a_0_9"/>
          <p:cNvSpPr/>
          <p:nvPr/>
        </p:nvSpPr>
        <p:spPr>
          <a:xfrm>
            <a:off x="8613878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h20b37650884cf90a_0_9"/>
          <p:cNvSpPr/>
          <p:nvPr/>
        </p:nvSpPr>
        <p:spPr>
          <a:xfrm>
            <a:off x="8632166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13–19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h20b37650884cf90a_0_9"/>
          <p:cNvSpPr/>
          <p:nvPr/>
        </p:nvSpPr>
        <p:spPr>
          <a:xfrm>
            <a:off x="9272263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20b37650884cf90a_0_9"/>
          <p:cNvSpPr/>
          <p:nvPr/>
        </p:nvSpPr>
        <p:spPr>
          <a:xfrm>
            <a:off x="9290552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20–26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20b37650884cf90a_0_9"/>
          <p:cNvSpPr/>
          <p:nvPr/>
        </p:nvSpPr>
        <p:spPr>
          <a:xfrm>
            <a:off x="9930649" y="1865376"/>
            <a:ext cx="658500" cy="420600"/>
          </a:xfrm>
          <a:prstGeom prst="rect">
            <a:avLst/>
          </a:prstGeom>
          <a:solidFill>
            <a:srgbClr val="0C7F8F"/>
          </a:solidFill>
          <a:ln cap="flat" cmpd="sng" w="9525">
            <a:solidFill>
              <a:srgbClr val="CF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h20b37650884cf90a_0_9"/>
          <p:cNvSpPr/>
          <p:nvPr/>
        </p:nvSpPr>
        <p:spPr>
          <a:xfrm>
            <a:off x="9948937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 Nov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b="1" i="0" lang="en-US" sz="6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Dic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h20b37650884cf90a_0_9"/>
          <p:cNvSpPr/>
          <p:nvPr/>
        </p:nvSpPr>
        <p:spPr>
          <a:xfrm>
            <a:off x="310904" y="2286000"/>
            <a:ext cx="21213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h20b37650884cf90a_0_9"/>
          <p:cNvSpPr/>
          <p:nvPr/>
        </p:nvSpPr>
        <p:spPr>
          <a:xfrm>
            <a:off x="2432369" y="2286000"/>
            <a:ext cx="15729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20b37650884cf90a_0_9"/>
          <p:cNvSpPr/>
          <p:nvPr/>
        </p:nvSpPr>
        <p:spPr>
          <a:xfrm>
            <a:off x="384058" y="235915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1 · Cierre base técnica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h20b37650884cf90a_0_9"/>
          <p:cNvSpPr/>
          <p:nvPr/>
        </p:nvSpPr>
        <p:spPr>
          <a:xfrm>
            <a:off x="2505523" y="237744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Arquitectura · Modelo · Prototipo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h20b37650884cf90a_0_9"/>
          <p:cNvSpPr/>
          <p:nvPr/>
        </p:nvSpPr>
        <p:spPr>
          <a:xfrm>
            <a:off x="4005179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20b37650884cf90a_0_9"/>
          <p:cNvSpPr/>
          <p:nvPr/>
        </p:nvSpPr>
        <p:spPr>
          <a:xfrm>
            <a:off x="4663564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20b37650884cf90a_0_9"/>
          <p:cNvSpPr/>
          <p:nvPr/>
        </p:nvSpPr>
        <p:spPr>
          <a:xfrm>
            <a:off x="5321950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h20b37650884cf90a_0_9"/>
          <p:cNvSpPr/>
          <p:nvPr/>
        </p:nvSpPr>
        <p:spPr>
          <a:xfrm>
            <a:off x="5980335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h20b37650884cf90a_0_9"/>
          <p:cNvSpPr/>
          <p:nvPr/>
        </p:nvSpPr>
        <p:spPr>
          <a:xfrm>
            <a:off x="6638721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20b37650884cf90a_0_9"/>
          <p:cNvSpPr/>
          <p:nvPr/>
        </p:nvSpPr>
        <p:spPr>
          <a:xfrm>
            <a:off x="7297107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20b37650884cf90a_0_9"/>
          <p:cNvSpPr/>
          <p:nvPr/>
        </p:nvSpPr>
        <p:spPr>
          <a:xfrm>
            <a:off x="7955492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h20b37650884cf90a_0_9"/>
          <p:cNvSpPr/>
          <p:nvPr/>
        </p:nvSpPr>
        <p:spPr>
          <a:xfrm>
            <a:off x="8613878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h20b37650884cf90a_0_9"/>
          <p:cNvSpPr/>
          <p:nvPr/>
        </p:nvSpPr>
        <p:spPr>
          <a:xfrm>
            <a:off x="9272263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h20b37650884cf90a_0_9"/>
          <p:cNvSpPr/>
          <p:nvPr/>
        </p:nvSpPr>
        <p:spPr>
          <a:xfrm>
            <a:off x="9930649" y="22860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h20b37650884cf90a_0_9"/>
          <p:cNvSpPr/>
          <p:nvPr/>
        </p:nvSpPr>
        <p:spPr>
          <a:xfrm>
            <a:off x="310904" y="2788920"/>
            <a:ext cx="21213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h20b37650884cf90a_0_9"/>
          <p:cNvSpPr/>
          <p:nvPr/>
        </p:nvSpPr>
        <p:spPr>
          <a:xfrm>
            <a:off x="2432419" y="3337570"/>
            <a:ext cx="15729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h20b37650884cf90a_0_9"/>
          <p:cNvSpPr/>
          <p:nvPr/>
        </p:nvSpPr>
        <p:spPr>
          <a:xfrm>
            <a:off x="384058" y="286207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2 · Arquitectura modelo de datos y casos de uso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h20b37650884cf90a_0_9"/>
          <p:cNvSpPr/>
          <p:nvPr/>
        </p:nvSpPr>
        <p:spPr>
          <a:xfrm>
            <a:off x="4005179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h20b37650884cf90a_0_9"/>
          <p:cNvSpPr/>
          <p:nvPr/>
        </p:nvSpPr>
        <p:spPr>
          <a:xfrm>
            <a:off x="4663564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h20b37650884cf90a_0_9"/>
          <p:cNvSpPr/>
          <p:nvPr/>
        </p:nvSpPr>
        <p:spPr>
          <a:xfrm>
            <a:off x="5321950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h20b37650884cf90a_0_9"/>
          <p:cNvSpPr/>
          <p:nvPr/>
        </p:nvSpPr>
        <p:spPr>
          <a:xfrm>
            <a:off x="5980335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h20b37650884cf90a_0_9"/>
          <p:cNvSpPr/>
          <p:nvPr/>
        </p:nvSpPr>
        <p:spPr>
          <a:xfrm>
            <a:off x="6638721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h20b37650884cf90a_0_9"/>
          <p:cNvSpPr/>
          <p:nvPr/>
        </p:nvSpPr>
        <p:spPr>
          <a:xfrm>
            <a:off x="7297107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h20b37650884cf90a_0_9"/>
          <p:cNvSpPr/>
          <p:nvPr/>
        </p:nvSpPr>
        <p:spPr>
          <a:xfrm>
            <a:off x="7955492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h20b37650884cf90a_0_9"/>
          <p:cNvSpPr/>
          <p:nvPr/>
        </p:nvSpPr>
        <p:spPr>
          <a:xfrm>
            <a:off x="8613878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h20b37650884cf90a_0_9"/>
          <p:cNvSpPr/>
          <p:nvPr/>
        </p:nvSpPr>
        <p:spPr>
          <a:xfrm>
            <a:off x="9272263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h20b37650884cf90a_0_9"/>
          <p:cNvSpPr/>
          <p:nvPr/>
        </p:nvSpPr>
        <p:spPr>
          <a:xfrm>
            <a:off x="9930649" y="27889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h20b37650884cf90a_0_9"/>
          <p:cNvSpPr/>
          <p:nvPr/>
        </p:nvSpPr>
        <p:spPr>
          <a:xfrm>
            <a:off x="310904" y="3291840"/>
            <a:ext cx="21213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h20b37650884cf90a_0_9"/>
          <p:cNvSpPr/>
          <p:nvPr/>
        </p:nvSpPr>
        <p:spPr>
          <a:xfrm>
            <a:off x="2432200" y="3296450"/>
            <a:ext cx="15960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Conexión · Roles · CRUD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t/>
            </a:r>
            <a:endParaRPr b="0" i="0" sz="620" u="none" cap="none" strike="noStrike">
              <a:solidFill>
                <a:srgbClr val="58708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API REST · PostgreSQL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h20b37650884cf90a_0_9"/>
          <p:cNvSpPr/>
          <p:nvPr/>
        </p:nvSpPr>
        <p:spPr>
          <a:xfrm>
            <a:off x="384058" y="336499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3 · Integración frontend-backend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h20b37650884cf90a_0_9"/>
          <p:cNvSpPr/>
          <p:nvPr/>
        </p:nvSpPr>
        <p:spPr>
          <a:xfrm>
            <a:off x="4005179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h20b37650884cf90a_0_9"/>
          <p:cNvSpPr/>
          <p:nvPr/>
        </p:nvSpPr>
        <p:spPr>
          <a:xfrm>
            <a:off x="4663564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h20b37650884cf90a_0_9"/>
          <p:cNvSpPr/>
          <p:nvPr/>
        </p:nvSpPr>
        <p:spPr>
          <a:xfrm>
            <a:off x="5321950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h20b37650884cf90a_0_9"/>
          <p:cNvSpPr/>
          <p:nvPr/>
        </p:nvSpPr>
        <p:spPr>
          <a:xfrm>
            <a:off x="5980335" y="3291828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h20b37650884cf90a_0_9"/>
          <p:cNvSpPr/>
          <p:nvPr/>
        </p:nvSpPr>
        <p:spPr>
          <a:xfrm>
            <a:off x="6638721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h20b37650884cf90a_0_9"/>
          <p:cNvSpPr/>
          <p:nvPr/>
        </p:nvSpPr>
        <p:spPr>
          <a:xfrm>
            <a:off x="7297107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h20b37650884cf90a_0_9"/>
          <p:cNvSpPr/>
          <p:nvPr/>
        </p:nvSpPr>
        <p:spPr>
          <a:xfrm>
            <a:off x="7955492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h20b37650884cf90a_0_9"/>
          <p:cNvSpPr/>
          <p:nvPr/>
        </p:nvSpPr>
        <p:spPr>
          <a:xfrm>
            <a:off x="8613878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h20b37650884cf90a_0_9"/>
          <p:cNvSpPr/>
          <p:nvPr/>
        </p:nvSpPr>
        <p:spPr>
          <a:xfrm>
            <a:off x="9272263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h20b37650884cf90a_0_9"/>
          <p:cNvSpPr/>
          <p:nvPr/>
        </p:nvSpPr>
        <p:spPr>
          <a:xfrm>
            <a:off x="9930649" y="329184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h20b37650884cf90a_0_9"/>
          <p:cNvSpPr/>
          <p:nvPr/>
        </p:nvSpPr>
        <p:spPr>
          <a:xfrm>
            <a:off x="310904" y="3794760"/>
            <a:ext cx="21213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h20b37650884cf90a_0_9"/>
          <p:cNvSpPr/>
          <p:nvPr/>
        </p:nvSpPr>
        <p:spPr>
          <a:xfrm>
            <a:off x="2432369" y="3794760"/>
            <a:ext cx="15729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h20b37650884cf90a_0_9"/>
          <p:cNvSpPr/>
          <p:nvPr/>
        </p:nvSpPr>
        <p:spPr>
          <a:xfrm>
            <a:off x="384058" y="386791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4 · Jira / dashboards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h20b37650884cf90a_0_9"/>
          <p:cNvSpPr/>
          <p:nvPr/>
        </p:nvSpPr>
        <p:spPr>
          <a:xfrm>
            <a:off x="2505523" y="388620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Integración · KPI QE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h20b37650884cf90a_0_9"/>
          <p:cNvSpPr/>
          <p:nvPr/>
        </p:nvSpPr>
        <p:spPr>
          <a:xfrm>
            <a:off x="4005179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h20b37650884cf90a_0_9"/>
          <p:cNvSpPr/>
          <p:nvPr/>
        </p:nvSpPr>
        <p:spPr>
          <a:xfrm>
            <a:off x="4663564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h20b37650884cf90a_0_9"/>
          <p:cNvSpPr/>
          <p:nvPr/>
        </p:nvSpPr>
        <p:spPr>
          <a:xfrm>
            <a:off x="5321950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h20b37650884cf90a_0_9"/>
          <p:cNvSpPr/>
          <p:nvPr/>
        </p:nvSpPr>
        <p:spPr>
          <a:xfrm>
            <a:off x="5980335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h20b37650884cf90a_0_9"/>
          <p:cNvSpPr/>
          <p:nvPr/>
        </p:nvSpPr>
        <p:spPr>
          <a:xfrm>
            <a:off x="6638721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h20b37650884cf90a_0_9"/>
          <p:cNvSpPr/>
          <p:nvPr/>
        </p:nvSpPr>
        <p:spPr>
          <a:xfrm>
            <a:off x="7297107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h20b37650884cf90a_0_9"/>
          <p:cNvSpPr/>
          <p:nvPr/>
        </p:nvSpPr>
        <p:spPr>
          <a:xfrm>
            <a:off x="7955492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h20b37650884cf90a_0_9"/>
          <p:cNvSpPr/>
          <p:nvPr/>
        </p:nvSpPr>
        <p:spPr>
          <a:xfrm>
            <a:off x="8613878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h20b37650884cf90a_0_9"/>
          <p:cNvSpPr/>
          <p:nvPr/>
        </p:nvSpPr>
        <p:spPr>
          <a:xfrm>
            <a:off x="9272263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h20b37650884cf90a_0_9"/>
          <p:cNvSpPr/>
          <p:nvPr/>
        </p:nvSpPr>
        <p:spPr>
          <a:xfrm>
            <a:off x="9930649" y="379476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h20b37650884cf90a_0_9"/>
          <p:cNvSpPr/>
          <p:nvPr/>
        </p:nvSpPr>
        <p:spPr>
          <a:xfrm>
            <a:off x="310904" y="4297680"/>
            <a:ext cx="21213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h20b37650884cf90a_0_9"/>
          <p:cNvSpPr/>
          <p:nvPr/>
        </p:nvSpPr>
        <p:spPr>
          <a:xfrm>
            <a:off x="2432369" y="4297680"/>
            <a:ext cx="15729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h20b37650884cf90a_0_9"/>
          <p:cNvSpPr/>
          <p:nvPr/>
        </p:nvSpPr>
        <p:spPr>
          <a:xfrm>
            <a:off x="384058" y="437083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5 · Validación funcional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h20b37650884cf90a_0_9"/>
          <p:cNvSpPr/>
          <p:nvPr/>
        </p:nvSpPr>
        <p:spPr>
          <a:xfrm>
            <a:off x="2505523" y="438912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Pruebas · Medición SIN/CON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h20b37650884cf90a_0_9"/>
          <p:cNvSpPr/>
          <p:nvPr/>
        </p:nvSpPr>
        <p:spPr>
          <a:xfrm>
            <a:off x="4005179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h20b37650884cf90a_0_9"/>
          <p:cNvSpPr/>
          <p:nvPr/>
        </p:nvSpPr>
        <p:spPr>
          <a:xfrm>
            <a:off x="4663564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h20b37650884cf90a_0_9"/>
          <p:cNvSpPr/>
          <p:nvPr/>
        </p:nvSpPr>
        <p:spPr>
          <a:xfrm>
            <a:off x="5321950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h20b37650884cf90a_0_9"/>
          <p:cNvSpPr/>
          <p:nvPr/>
        </p:nvSpPr>
        <p:spPr>
          <a:xfrm>
            <a:off x="5980335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h20b37650884cf90a_0_9"/>
          <p:cNvSpPr/>
          <p:nvPr/>
        </p:nvSpPr>
        <p:spPr>
          <a:xfrm>
            <a:off x="6638721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h20b37650884cf90a_0_9"/>
          <p:cNvSpPr/>
          <p:nvPr/>
        </p:nvSpPr>
        <p:spPr>
          <a:xfrm>
            <a:off x="7297107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h20b37650884cf90a_0_9"/>
          <p:cNvSpPr/>
          <p:nvPr/>
        </p:nvSpPr>
        <p:spPr>
          <a:xfrm>
            <a:off x="7955492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h20b37650884cf90a_0_9"/>
          <p:cNvSpPr/>
          <p:nvPr/>
        </p:nvSpPr>
        <p:spPr>
          <a:xfrm>
            <a:off x="8613878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h20b37650884cf90a_0_9"/>
          <p:cNvSpPr/>
          <p:nvPr/>
        </p:nvSpPr>
        <p:spPr>
          <a:xfrm>
            <a:off x="9272263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h20b37650884cf90a_0_9"/>
          <p:cNvSpPr/>
          <p:nvPr/>
        </p:nvSpPr>
        <p:spPr>
          <a:xfrm>
            <a:off x="9930649" y="429768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h20b37650884cf90a_0_9"/>
          <p:cNvSpPr/>
          <p:nvPr/>
        </p:nvSpPr>
        <p:spPr>
          <a:xfrm>
            <a:off x="310904" y="4800600"/>
            <a:ext cx="21213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h20b37650884cf90a_0_9"/>
          <p:cNvSpPr/>
          <p:nvPr/>
        </p:nvSpPr>
        <p:spPr>
          <a:xfrm>
            <a:off x="2432369" y="4800600"/>
            <a:ext cx="1572900" cy="502800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h20b37650884cf90a_0_9"/>
          <p:cNvSpPr/>
          <p:nvPr/>
        </p:nvSpPr>
        <p:spPr>
          <a:xfrm>
            <a:off x="384058" y="487375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6 · Cierre técnico y evidencias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h20b37650884cf90a_0_9"/>
          <p:cNvSpPr/>
          <p:nvPr/>
        </p:nvSpPr>
        <p:spPr>
          <a:xfrm>
            <a:off x="2505523" y="489204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Docs · Costos · Release freeze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h20b37650884cf90a_0_9"/>
          <p:cNvSpPr/>
          <p:nvPr/>
        </p:nvSpPr>
        <p:spPr>
          <a:xfrm>
            <a:off x="4005179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h20b37650884cf90a_0_9"/>
          <p:cNvSpPr/>
          <p:nvPr/>
        </p:nvSpPr>
        <p:spPr>
          <a:xfrm>
            <a:off x="4663564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h20b37650884cf90a_0_9"/>
          <p:cNvSpPr/>
          <p:nvPr/>
        </p:nvSpPr>
        <p:spPr>
          <a:xfrm>
            <a:off x="5321950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h20b37650884cf90a_0_9"/>
          <p:cNvSpPr/>
          <p:nvPr/>
        </p:nvSpPr>
        <p:spPr>
          <a:xfrm>
            <a:off x="5980335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h20b37650884cf90a_0_9"/>
          <p:cNvSpPr/>
          <p:nvPr/>
        </p:nvSpPr>
        <p:spPr>
          <a:xfrm>
            <a:off x="6638721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h20b37650884cf90a_0_9"/>
          <p:cNvSpPr/>
          <p:nvPr/>
        </p:nvSpPr>
        <p:spPr>
          <a:xfrm>
            <a:off x="7297107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h20b37650884cf90a_0_9"/>
          <p:cNvSpPr/>
          <p:nvPr/>
        </p:nvSpPr>
        <p:spPr>
          <a:xfrm>
            <a:off x="7955492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h20b37650884cf90a_0_9"/>
          <p:cNvSpPr/>
          <p:nvPr/>
        </p:nvSpPr>
        <p:spPr>
          <a:xfrm>
            <a:off x="8613878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h20b37650884cf90a_0_9"/>
          <p:cNvSpPr/>
          <p:nvPr/>
        </p:nvSpPr>
        <p:spPr>
          <a:xfrm>
            <a:off x="9272263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h20b37650884cf90a_0_9"/>
          <p:cNvSpPr/>
          <p:nvPr/>
        </p:nvSpPr>
        <p:spPr>
          <a:xfrm>
            <a:off x="9930649" y="480060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h20b37650884cf90a_0_9"/>
          <p:cNvSpPr/>
          <p:nvPr/>
        </p:nvSpPr>
        <p:spPr>
          <a:xfrm>
            <a:off x="310904" y="5303520"/>
            <a:ext cx="21213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h20b37650884cf90a_0_9"/>
          <p:cNvSpPr/>
          <p:nvPr/>
        </p:nvSpPr>
        <p:spPr>
          <a:xfrm>
            <a:off x="2432369" y="5303520"/>
            <a:ext cx="15729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h20b37650884cf90a_0_9"/>
          <p:cNvSpPr/>
          <p:nvPr/>
        </p:nvSpPr>
        <p:spPr>
          <a:xfrm>
            <a:off x="384058" y="537667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Presentación · Comisión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h20b37650884cf90a_0_9"/>
          <p:cNvSpPr/>
          <p:nvPr/>
        </p:nvSpPr>
        <p:spPr>
          <a:xfrm>
            <a:off x="2505523" y="539496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Demo · Defensa · Entrega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h20b37650884cf90a_0_9"/>
          <p:cNvSpPr/>
          <p:nvPr/>
        </p:nvSpPr>
        <p:spPr>
          <a:xfrm>
            <a:off x="4005179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h20b37650884cf90a_0_9"/>
          <p:cNvSpPr/>
          <p:nvPr/>
        </p:nvSpPr>
        <p:spPr>
          <a:xfrm>
            <a:off x="4663564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h20b37650884cf90a_0_9"/>
          <p:cNvSpPr/>
          <p:nvPr/>
        </p:nvSpPr>
        <p:spPr>
          <a:xfrm>
            <a:off x="5321950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h20b37650884cf90a_0_9"/>
          <p:cNvSpPr/>
          <p:nvPr/>
        </p:nvSpPr>
        <p:spPr>
          <a:xfrm>
            <a:off x="5980335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h20b37650884cf90a_0_9"/>
          <p:cNvSpPr/>
          <p:nvPr/>
        </p:nvSpPr>
        <p:spPr>
          <a:xfrm>
            <a:off x="6638721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h20b37650884cf90a_0_9"/>
          <p:cNvSpPr/>
          <p:nvPr/>
        </p:nvSpPr>
        <p:spPr>
          <a:xfrm>
            <a:off x="7297107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h20b37650884cf90a_0_9"/>
          <p:cNvSpPr/>
          <p:nvPr/>
        </p:nvSpPr>
        <p:spPr>
          <a:xfrm>
            <a:off x="7955492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h20b37650884cf90a_0_9"/>
          <p:cNvSpPr/>
          <p:nvPr/>
        </p:nvSpPr>
        <p:spPr>
          <a:xfrm>
            <a:off x="8613878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h20b37650884cf90a_0_9"/>
          <p:cNvSpPr/>
          <p:nvPr/>
        </p:nvSpPr>
        <p:spPr>
          <a:xfrm>
            <a:off x="9272263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h20b37650884cf90a_0_9"/>
          <p:cNvSpPr/>
          <p:nvPr/>
        </p:nvSpPr>
        <p:spPr>
          <a:xfrm>
            <a:off x="9930649" y="5303520"/>
            <a:ext cx="658500" cy="50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h20b37650884cf90a_0_9"/>
          <p:cNvSpPr/>
          <p:nvPr/>
        </p:nvSpPr>
        <p:spPr>
          <a:xfrm>
            <a:off x="4050900" y="237744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12B886"/>
          </a:solidFill>
          <a:ln cap="flat" cmpd="sng" w="10150">
            <a:solidFill>
              <a:srgbClr val="12B88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h20b37650884cf90a_0_9"/>
          <p:cNvSpPr/>
          <p:nvPr/>
        </p:nvSpPr>
        <p:spPr>
          <a:xfrm>
            <a:off x="4078333" y="238658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"/>
              <a:buFont typeface="Arial"/>
              <a:buNone/>
            </a:pPr>
            <a:r>
              <a:rPr b="1" i="0" lang="en-US" sz="5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"/>
              <a:buFont typeface="Arial"/>
              <a:buNone/>
            </a:pPr>
            <a:r>
              <a:rPr b="1" i="0" lang="en-US" sz="5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b="0" i="0" sz="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h20b37650884cf90a_0_9"/>
          <p:cNvSpPr/>
          <p:nvPr/>
        </p:nvSpPr>
        <p:spPr>
          <a:xfrm>
            <a:off x="4050900" y="288036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1FA7D8"/>
          </a:solidFill>
          <a:ln cap="flat" cmpd="sng" w="10150">
            <a:solidFill>
              <a:srgbClr val="1FA7D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h20b37650884cf90a_0_9"/>
          <p:cNvSpPr/>
          <p:nvPr/>
        </p:nvSpPr>
        <p:spPr>
          <a:xfrm>
            <a:off x="4078333" y="288950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"/>
              <a:buFont typeface="Arial"/>
              <a:buNone/>
            </a:pPr>
            <a:r>
              <a:rPr b="1" i="0" lang="en-US" sz="5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y modelo de datos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h20b37650884cf90a_0_9"/>
          <p:cNvSpPr/>
          <p:nvPr/>
        </p:nvSpPr>
        <p:spPr>
          <a:xfrm>
            <a:off x="4709286" y="288036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1FA7D8"/>
          </a:solidFill>
          <a:ln cap="flat" cmpd="sng" w="10150">
            <a:solidFill>
              <a:srgbClr val="1FA7D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h20b37650884cf90a_0_9"/>
          <p:cNvSpPr/>
          <p:nvPr/>
        </p:nvSpPr>
        <p:spPr>
          <a:xfrm>
            <a:off x="4736718" y="288950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"/>
              <a:buFont typeface="Arial"/>
              <a:buNone/>
            </a:pPr>
            <a:r>
              <a:rPr b="1" i="0" lang="en-US" sz="5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BD + API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h20b37650884cf90a_0_9"/>
          <p:cNvSpPr/>
          <p:nvPr/>
        </p:nvSpPr>
        <p:spPr>
          <a:xfrm>
            <a:off x="5367671" y="338328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08A6A5"/>
          </a:solidFill>
          <a:ln cap="flat" cmpd="sng" w="10150">
            <a:solidFill>
              <a:srgbClr val="08A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h20b37650884cf90a_0_9"/>
          <p:cNvSpPr/>
          <p:nvPr/>
        </p:nvSpPr>
        <p:spPr>
          <a:xfrm>
            <a:off x="6026094" y="3383193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08A6A5"/>
          </a:solidFill>
          <a:ln cap="flat" cmpd="sng" w="10150">
            <a:solidFill>
              <a:srgbClr val="08A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h20b37650884cf90a_0_9"/>
          <p:cNvSpPr/>
          <p:nvPr/>
        </p:nvSpPr>
        <p:spPr>
          <a:xfrm>
            <a:off x="6064979" y="3392349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"/>
              <a:buFont typeface="Arial"/>
              <a:buNone/>
            </a:pPr>
            <a:r>
              <a:rPr b="1" i="0" lang="en-US" sz="5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Conexión</a:t>
            </a:r>
            <a:endParaRPr b="0" i="0" sz="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h20b37650884cf90a_0_9"/>
          <p:cNvSpPr/>
          <p:nvPr/>
        </p:nvSpPr>
        <p:spPr>
          <a:xfrm>
            <a:off x="5395139" y="3392337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"/>
              <a:buFont typeface="Arial"/>
              <a:buNone/>
            </a:pPr>
            <a:r>
              <a:rPr b="1" i="0" lang="en-US" sz="5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CRUD + roles</a:t>
            </a:r>
            <a:endParaRPr b="0" i="0" sz="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h20b37650884cf90a_0_9"/>
          <p:cNvSpPr/>
          <p:nvPr/>
        </p:nvSpPr>
        <p:spPr>
          <a:xfrm>
            <a:off x="6684442" y="388620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7C4DDF"/>
          </a:solidFill>
          <a:ln cap="flat" cmpd="sng" w="10150">
            <a:solidFill>
              <a:srgbClr val="7C4DD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h20b37650884cf90a_0_9"/>
          <p:cNvSpPr/>
          <p:nvPr/>
        </p:nvSpPr>
        <p:spPr>
          <a:xfrm>
            <a:off x="6711875" y="389534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"/>
              <a:buFont typeface="Arial"/>
              <a:buNone/>
            </a:pPr>
            <a:r>
              <a:rPr b="1" i="0" lang="en-US" sz="5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Jira / CSV</a:t>
            </a:r>
            <a:endParaRPr b="0" i="0" sz="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h20b37650884cf90a_0_9"/>
          <p:cNvSpPr/>
          <p:nvPr/>
        </p:nvSpPr>
        <p:spPr>
          <a:xfrm>
            <a:off x="7342828" y="388620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7C4DDF"/>
          </a:solidFill>
          <a:ln cap="flat" cmpd="sng" w="10150">
            <a:solidFill>
              <a:srgbClr val="7C4DD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h20b37650884cf90a_0_9"/>
          <p:cNvSpPr/>
          <p:nvPr/>
        </p:nvSpPr>
        <p:spPr>
          <a:xfrm>
            <a:off x="7370260" y="389534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KPI +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h20b37650884cf90a_0_9"/>
          <p:cNvSpPr/>
          <p:nvPr/>
        </p:nvSpPr>
        <p:spPr>
          <a:xfrm>
            <a:off x="8001213" y="438912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F59E0B"/>
          </a:solidFill>
          <a:ln cap="flat" cmpd="sng" w="101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h20b37650884cf90a_0_9"/>
          <p:cNvSpPr/>
          <p:nvPr/>
        </p:nvSpPr>
        <p:spPr>
          <a:xfrm>
            <a:off x="8028646" y="439826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"/>
              <a:buFont typeface="Arial"/>
              <a:buNone/>
            </a:pPr>
            <a:r>
              <a:rPr b="1" i="0" lang="en-US" sz="5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b="0" i="0" sz="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h20b37650884cf90a_0_9"/>
          <p:cNvSpPr/>
          <p:nvPr/>
        </p:nvSpPr>
        <p:spPr>
          <a:xfrm>
            <a:off x="8659599" y="438912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F59E0B"/>
          </a:solidFill>
          <a:ln cap="flat" cmpd="sng" w="101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h20b37650884cf90a_0_9"/>
          <p:cNvSpPr/>
          <p:nvPr/>
        </p:nvSpPr>
        <p:spPr>
          <a:xfrm>
            <a:off x="8687032" y="439826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SIN/CON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ajustes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h20b37650884cf90a_0_9"/>
          <p:cNvSpPr/>
          <p:nvPr/>
        </p:nvSpPr>
        <p:spPr>
          <a:xfrm>
            <a:off x="9317984" y="4892040"/>
            <a:ext cx="567000" cy="365700"/>
          </a:xfrm>
          <a:prstGeom prst="roundRect">
            <a:avLst>
              <a:gd fmla="val 22500" name="adj"/>
            </a:avLst>
          </a:prstGeom>
          <a:solidFill>
            <a:srgbClr val="12B886"/>
          </a:solidFill>
          <a:ln cap="flat" cmpd="sng" w="10150">
            <a:solidFill>
              <a:srgbClr val="12B88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h20b37650884cf90a_0_9"/>
          <p:cNvSpPr/>
          <p:nvPr/>
        </p:nvSpPr>
        <p:spPr>
          <a:xfrm>
            <a:off x="9345417" y="4901184"/>
            <a:ext cx="51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b="1" i="0" lang="en-US" sz="4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Release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b="1" i="0" lang="en-US" sz="4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freeze 26/11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h20b37650884cf90a_0_9"/>
          <p:cNvSpPr/>
          <p:nvPr/>
        </p:nvSpPr>
        <p:spPr>
          <a:xfrm>
            <a:off x="9976370" y="5394960"/>
            <a:ext cx="567000" cy="320100"/>
          </a:xfrm>
          <a:prstGeom prst="roundRect">
            <a:avLst>
              <a:gd fmla="val 25714" name="adj"/>
            </a:avLst>
          </a:prstGeom>
          <a:solidFill>
            <a:srgbClr val="24364F"/>
          </a:solidFill>
          <a:ln cap="flat" cmpd="sng" w="10150">
            <a:solidFill>
              <a:srgbClr val="24364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h20b37650884cf90a_0_9"/>
          <p:cNvSpPr/>
          <p:nvPr/>
        </p:nvSpPr>
        <p:spPr>
          <a:xfrm>
            <a:off x="10003803" y="540410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"/>
              <a:buFont typeface="Arial"/>
              <a:buNone/>
            </a:pPr>
            <a:r>
              <a:rPr b="1" lang="en-US" sz="520">
                <a:solidFill>
                  <a:srgbClr val="FFFFFF"/>
                </a:solidFill>
              </a:rPr>
              <a:t>Presentación</a:t>
            </a:r>
            <a:r>
              <a:rPr b="1" lang="en-US" sz="520">
                <a:solidFill>
                  <a:srgbClr val="FFFFFF"/>
                </a:solidFill>
              </a:rPr>
              <a:t> ante </a:t>
            </a:r>
            <a:r>
              <a:rPr b="1" i="0" lang="en-US" sz="5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Comisión</a:t>
            </a:r>
            <a:endParaRPr b="0" i="0" sz="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"/>
              <a:buFont typeface="Arial"/>
              <a:buNone/>
            </a:pPr>
            <a:r>
              <a:t/>
            </a:r>
            <a:endParaRPr b="0" i="0" sz="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h20b37650884cf90a_0_9"/>
          <p:cNvSpPr/>
          <p:nvPr/>
        </p:nvSpPr>
        <p:spPr>
          <a:xfrm>
            <a:off x="310904" y="6071616"/>
            <a:ext cx="11576700" cy="4755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0150">
            <a:solidFill>
              <a:srgbClr val="C9D9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h20b37650884cf90a_0_9"/>
          <p:cNvSpPr/>
          <p:nvPr/>
        </p:nvSpPr>
        <p:spPr>
          <a:xfrm>
            <a:off x="530366" y="6217920"/>
            <a:ext cx="914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86B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0E386B"/>
                </a:solidFill>
                <a:latin typeface="Arial"/>
                <a:ea typeface="Arial"/>
                <a:cs typeface="Arial"/>
                <a:sym typeface="Arial"/>
              </a:rPr>
              <a:t>Uso esperado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h20b37650884cf90a_0_9"/>
          <p:cNvSpPr/>
          <p:nvPr/>
        </p:nvSpPr>
        <p:spPr>
          <a:xfrm>
            <a:off x="1627675" y="6199632"/>
            <a:ext cx="8687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Actualizar semanalmente según Jira Cloud y GitHub: estado real, evidencia, riesgos y ajustes. Nueva fecha crítica: liberar la versión candidata y evidencias antes del 27/11.</a:t>
            </a:r>
            <a:endParaRPr b="0" i="0" sz="6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h20b37650884cf90a_0_9"/>
          <p:cNvSpPr/>
          <p:nvPr/>
        </p:nvSpPr>
        <p:spPr>
          <a:xfrm>
            <a:off x="10561602" y="6364224"/>
            <a:ext cx="9144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520"/>
              <a:buFont typeface="Arial"/>
              <a:buNone/>
            </a:pPr>
            <a:r>
              <a:rPr b="0" i="0" lang="en-US" sz="5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h20b37650884cf90a_0_9"/>
          <p:cNvSpPr/>
          <p:nvPr/>
        </p:nvSpPr>
        <p:spPr>
          <a:xfrm>
            <a:off x="11905805" y="6611112"/>
            <a:ext cx="1830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h20b37650884cf90a_0_9"/>
          <p:cNvSpPr/>
          <p:nvPr/>
        </p:nvSpPr>
        <p:spPr>
          <a:xfrm>
            <a:off x="2505435" y="2944315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b="0" i="0" lang="en-US" sz="620" u="none" cap="none" strike="noStrik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Documentación y propuesta de modelo   </a:t>
            </a:r>
            <a:endParaRPr b="0" i="0" sz="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D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20b37650884cf90a_0_186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14B8B3"/>
          </a:solidFill>
          <a:ln cap="flat" cmpd="sng" w="12700">
            <a:solidFill>
              <a:srgbClr val="14B8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h20b37650884cf90a_0_186"/>
          <p:cNvSpPr/>
          <p:nvPr/>
        </p:nvSpPr>
        <p:spPr>
          <a:xfrm>
            <a:off x="182880" y="210312"/>
            <a:ext cx="7772400" cy="1152000"/>
          </a:xfrm>
          <a:prstGeom prst="roundRect">
            <a:avLst>
              <a:gd fmla="val 16667" name="adj"/>
            </a:avLst>
          </a:prstGeom>
          <a:solidFill>
            <a:srgbClr val="082A5D"/>
          </a:solidFill>
          <a:ln cap="flat" cmpd="sng" w="12700">
            <a:solidFill>
              <a:srgbClr val="082A5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7D6E5">
                <a:alpha val="2392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h20b37650884cf90a_0_186"/>
          <p:cNvSpPr/>
          <p:nvPr/>
        </p:nvSpPr>
        <p:spPr>
          <a:xfrm>
            <a:off x="7626096" y="210312"/>
            <a:ext cx="384000" cy="1152000"/>
          </a:xfrm>
          <a:prstGeom prst="roundRect">
            <a:avLst>
              <a:gd fmla="val 16667" name="adj"/>
            </a:avLst>
          </a:prstGeom>
          <a:solidFill>
            <a:srgbClr val="20C7E6"/>
          </a:solidFill>
          <a:ln cap="flat" cmpd="sng" w="12700">
            <a:solidFill>
              <a:srgbClr val="20C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h20b37650884cf90a_0_186"/>
          <p:cNvSpPr/>
          <p:nvPr/>
        </p:nvSpPr>
        <p:spPr>
          <a:xfrm>
            <a:off x="365760" y="347472"/>
            <a:ext cx="6675000" cy="411600"/>
          </a:xfrm>
          <a:prstGeom prst="rect">
            <a:avLst/>
          </a:prstGeom>
          <a:noFill/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Roadmap ágil por </a:t>
            </a:r>
            <a:r>
              <a:rPr b="1" i="0" lang="en-US" sz="3100" u="none" cap="none" strike="noStrike">
                <a:solidFill>
                  <a:srgbClr val="20C7E6"/>
                </a:solidFill>
                <a:latin typeface="Play"/>
                <a:ea typeface="Play"/>
                <a:cs typeface="Play"/>
                <a:sym typeface="Play"/>
              </a:rPr>
              <a:t>Sprint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h20b37650884cf90a_0_186"/>
          <p:cNvSpPr/>
          <p:nvPr/>
        </p:nvSpPr>
        <p:spPr>
          <a:xfrm>
            <a:off x="365760" y="868680"/>
            <a:ext cx="1143000" cy="36600"/>
          </a:xfrm>
          <a:prstGeom prst="roundRect">
            <a:avLst>
              <a:gd fmla="val 16667" name="adj"/>
            </a:avLst>
          </a:prstGeom>
          <a:solidFill>
            <a:srgbClr val="14B8B3"/>
          </a:solidFill>
          <a:ln cap="flat" cmpd="sng" w="12700">
            <a:solidFill>
              <a:srgbClr val="14B8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h20b37650884cf90a_0_186"/>
          <p:cNvSpPr/>
          <p:nvPr/>
        </p:nvSpPr>
        <p:spPr>
          <a:xfrm>
            <a:off x="365760" y="950976"/>
            <a:ext cx="7388400" cy="228600"/>
          </a:xfrm>
          <a:prstGeom prst="rect">
            <a:avLst/>
          </a:prstGeom>
          <a:noFill/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Sprint cierra con una entrega parcial verificable del producto Quality360.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h20b37650884cf90a_0_186"/>
          <p:cNvSpPr/>
          <p:nvPr/>
        </p:nvSpPr>
        <p:spPr>
          <a:xfrm>
            <a:off x="10104120" y="384048"/>
            <a:ext cx="9000" cy="594300"/>
          </a:xfrm>
          <a:prstGeom prst="rect">
            <a:avLst/>
          </a:prstGeom>
          <a:solidFill>
            <a:srgbClr val="B7C5D5"/>
          </a:solidFill>
          <a:ln cap="flat" cmpd="sng" w="12700">
            <a:solidFill>
              <a:srgbClr val="B7C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327" name="Google Shape;327;h20b37650884cf90a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7856" y="182880"/>
            <a:ext cx="1325879" cy="99669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h20b37650884cf90a_0_186"/>
          <p:cNvSpPr/>
          <p:nvPr/>
        </p:nvSpPr>
        <p:spPr>
          <a:xfrm>
            <a:off x="274320" y="1481328"/>
            <a:ext cx="11631300" cy="4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F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AEC1D2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h20b37650884cf90a_0_186"/>
          <p:cNvSpPr/>
          <p:nvPr/>
        </p:nvSpPr>
        <p:spPr>
          <a:xfrm>
            <a:off x="274320" y="1481328"/>
            <a:ext cx="1371600" cy="512100"/>
          </a:xfrm>
          <a:prstGeom prst="rect">
            <a:avLst/>
          </a:prstGeom>
          <a:solidFill>
            <a:srgbClr val="082A5D"/>
          </a:solidFill>
          <a:ln cap="flat" cmpd="sng" w="9525">
            <a:solidFill>
              <a:srgbClr val="7DB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h20b37650884cf90a_0_186"/>
          <p:cNvSpPr/>
          <p:nvPr/>
        </p:nvSpPr>
        <p:spPr>
          <a:xfrm>
            <a:off x="1645920" y="1481328"/>
            <a:ext cx="1417200" cy="512100"/>
          </a:xfrm>
          <a:prstGeom prst="rect">
            <a:avLst/>
          </a:prstGeom>
          <a:solidFill>
            <a:srgbClr val="082A5D"/>
          </a:solidFill>
          <a:ln cap="flat" cmpd="sng" w="9525">
            <a:solidFill>
              <a:srgbClr val="7DB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Semanas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h20b37650884cf90a_0_186"/>
          <p:cNvSpPr/>
          <p:nvPr/>
        </p:nvSpPr>
        <p:spPr>
          <a:xfrm>
            <a:off x="3063240" y="1481328"/>
            <a:ext cx="3867900" cy="512100"/>
          </a:xfrm>
          <a:prstGeom prst="rect">
            <a:avLst/>
          </a:prstGeom>
          <a:solidFill>
            <a:srgbClr val="082A5D"/>
          </a:solidFill>
          <a:ln cap="flat" cmpd="sng" w="9525">
            <a:solidFill>
              <a:srgbClr val="7DB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Qué se realizará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h20b37650884cf90a_0_186"/>
          <p:cNvSpPr/>
          <p:nvPr/>
        </p:nvSpPr>
        <p:spPr>
          <a:xfrm>
            <a:off x="6931152" y="1481328"/>
            <a:ext cx="4974300" cy="512100"/>
          </a:xfrm>
          <a:prstGeom prst="rect">
            <a:avLst/>
          </a:prstGeom>
          <a:solidFill>
            <a:srgbClr val="082A5D"/>
          </a:solidFill>
          <a:ln cap="flat" cmpd="sng" w="9525">
            <a:solidFill>
              <a:srgbClr val="7DB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Entrega parcial del producto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h20b37650884cf90a_0_186"/>
          <p:cNvSpPr/>
          <p:nvPr/>
        </p:nvSpPr>
        <p:spPr>
          <a:xfrm>
            <a:off x="1645920" y="1993392"/>
            <a:ext cx="1417200" cy="557700"/>
          </a:xfrm>
          <a:prstGeom prst="rect">
            <a:avLst/>
          </a:prstGeom>
          <a:solidFill>
            <a:srgbClr val="F2F8FE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i="0" lang="en-US" sz="124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11–24 sep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h20b37650884cf90a_0_186"/>
          <p:cNvSpPr/>
          <p:nvPr/>
        </p:nvSpPr>
        <p:spPr>
          <a:xfrm>
            <a:off x="3063240" y="1993392"/>
            <a:ext cx="38679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Arquitectura, modelo de datos,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dashboards/KPI iniciales y línea base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del prototipo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h20b37650884cf90a_0_186"/>
          <p:cNvSpPr/>
          <p:nvPr/>
        </p:nvSpPr>
        <p:spPr>
          <a:xfrm>
            <a:off x="6931152" y="1993392"/>
            <a:ext cx="49743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Prototipo desplegado en Vercel con acceso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por rol + base técnica documentada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h20b37650884cf90a_0_186"/>
          <p:cNvSpPr/>
          <p:nvPr/>
        </p:nvSpPr>
        <p:spPr>
          <a:xfrm>
            <a:off x="1645920" y="2551176"/>
            <a:ext cx="14172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i="0" lang="en-US" sz="124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25 sep–0</a:t>
            </a:r>
            <a:r>
              <a:rPr b="1" lang="en-US" sz="1240">
                <a:solidFill>
                  <a:srgbClr val="0B1E44"/>
                </a:solidFill>
              </a:rPr>
              <a:t>9</a:t>
            </a:r>
            <a:r>
              <a:rPr b="1" i="0" lang="en-US" sz="124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 oct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h20b37650884cf90a_0_186"/>
          <p:cNvSpPr/>
          <p:nvPr/>
        </p:nvSpPr>
        <p:spPr>
          <a:xfrm>
            <a:off x="3063240" y="2551176"/>
            <a:ext cx="38679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chemeClr val="dk1"/>
                </a:solidFill>
              </a:rPr>
              <a:t>Documentación </a:t>
            </a:r>
            <a:r>
              <a:rPr lang="en-US" sz="1130">
                <a:solidFill>
                  <a:schemeClr val="dk1"/>
                </a:solidFill>
              </a:rPr>
              <a:t> arquitectura, casos de uso y </a:t>
            </a:r>
            <a:r>
              <a:rPr lang="en-US" sz="1130">
                <a:solidFill>
                  <a:schemeClr val="dk1"/>
                </a:solidFill>
              </a:rPr>
              <a:t>propuesta</a:t>
            </a:r>
            <a:r>
              <a:rPr lang="en-US" sz="1130">
                <a:solidFill>
                  <a:schemeClr val="dk1"/>
                </a:solidFill>
              </a:rPr>
              <a:t> del modelo de datos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h20b37650884cf90a_0_186"/>
          <p:cNvSpPr/>
          <p:nvPr/>
        </p:nvSpPr>
        <p:spPr>
          <a:xfrm>
            <a:off x="6931152" y="2551176"/>
            <a:ext cx="49743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lang="en-US" sz="1130">
                <a:solidFill>
                  <a:schemeClr val="dk1"/>
                </a:solidFill>
              </a:rPr>
              <a:t>Diagramas casos de uso, arquitectura y modelo de datos conceptual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h20b37650884cf90a_0_186"/>
          <p:cNvSpPr/>
          <p:nvPr/>
        </p:nvSpPr>
        <p:spPr>
          <a:xfrm>
            <a:off x="1645920" y="3108960"/>
            <a:ext cx="1417200" cy="557700"/>
          </a:xfrm>
          <a:prstGeom prst="rect">
            <a:avLst/>
          </a:prstGeom>
          <a:solidFill>
            <a:srgbClr val="F2F8FE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0B1E44"/>
                </a:solidFill>
              </a:rPr>
              <a:t>10</a:t>
            </a:r>
            <a:r>
              <a:rPr b="1" i="0" lang="en-US" sz="124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–22 oct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h20b37650884cf90a_0_186"/>
          <p:cNvSpPr/>
          <p:nvPr/>
        </p:nvSpPr>
        <p:spPr>
          <a:xfrm>
            <a:off x="3063250" y="3108950"/>
            <a:ext cx="3867900" cy="5943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t/>
            </a:r>
            <a:endParaRPr sz="1130">
              <a:solidFill>
                <a:srgbClr val="0B1E44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Integración frontend-backend, CRUD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persistente y roles Backend Spring Boot, entidades base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y PostgreSQL inicial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t/>
            </a:r>
            <a:endParaRPr b="0" i="0" sz="1130" u="none" cap="none" strike="noStrike">
              <a:solidFill>
                <a:srgbClr val="0B1E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h20b37650884cf90a_0_186"/>
          <p:cNvSpPr/>
          <p:nvPr/>
        </p:nvSpPr>
        <p:spPr>
          <a:xfrm>
            <a:off x="6931152" y="3108960"/>
            <a:ext cx="49743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Prototipo conectado a backend con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datos persistidos API REST inicial + BD base conectable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t/>
            </a:r>
            <a:endParaRPr b="0" i="0" sz="1130" u="none" cap="none" strike="noStrike">
              <a:solidFill>
                <a:srgbClr val="0B1E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h20b37650884cf90a_0_186"/>
          <p:cNvSpPr/>
          <p:nvPr/>
        </p:nvSpPr>
        <p:spPr>
          <a:xfrm>
            <a:off x="1645920" y="3666744"/>
            <a:ext cx="14172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i="0" lang="en-US" sz="124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23 oct–05 nov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h20b37650884cf90a_0_186"/>
          <p:cNvSpPr/>
          <p:nvPr/>
        </p:nvSpPr>
        <p:spPr>
          <a:xfrm>
            <a:off x="3063240" y="3680547"/>
            <a:ext cx="38679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Integración Jira/CSV-JSON,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dashboards QE y métricas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h20b37650884cf90a_0_186"/>
          <p:cNvSpPr/>
          <p:nvPr/>
        </p:nvSpPr>
        <p:spPr>
          <a:xfrm>
            <a:off x="6931152" y="3666744"/>
            <a:ext cx="49743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Dashboard QE con datos integrados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y KPI operativos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h20b37650884cf90a_0_186"/>
          <p:cNvSpPr/>
          <p:nvPr/>
        </p:nvSpPr>
        <p:spPr>
          <a:xfrm>
            <a:off x="1645920" y="4224528"/>
            <a:ext cx="1417200" cy="557700"/>
          </a:xfrm>
          <a:prstGeom prst="rect">
            <a:avLst/>
          </a:prstGeom>
          <a:solidFill>
            <a:srgbClr val="F2F8FE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i="0" lang="en-US" sz="124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06–19 nov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h20b37650884cf90a_0_186"/>
          <p:cNvSpPr/>
          <p:nvPr/>
        </p:nvSpPr>
        <p:spPr>
          <a:xfrm>
            <a:off x="3063240" y="4224528"/>
            <a:ext cx="38679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Pruebas QA, validación funcional,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medición SIN/CON Quality360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h20b37650884cf90a_0_186"/>
          <p:cNvSpPr/>
          <p:nvPr/>
        </p:nvSpPr>
        <p:spPr>
          <a:xfrm>
            <a:off x="6931152" y="4224528"/>
            <a:ext cx="49743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Versión validada con evidencias de pruebas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y beneficio medido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h20b37650884cf90a_0_186"/>
          <p:cNvSpPr/>
          <p:nvPr/>
        </p:nvSpPr>
        <p:spPr>
          <a:xfrm>
            <a:off x="1645920" y="4818888"/>
            <a:ext cx="14172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i="0" lang="en-US" sz="124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20–26 nov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h20b37650884cf90a_0_186"/>
          <p:cNvSpPr/>
          <p:nvPr/>
        </p:nvSpPr>
        <p:spPr>
          <a:xfrm>
            <a:off x="3063240" y="4782312"/>
            <a:ext cx="38679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Ajustes finales, documentación,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costos, riesgos y trazabilidad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h20b37650884cf90a_0_186"/>
          <p:cNvSpPr/>
          <p:nvPr/>
        </p:nvSpPr>
        <p:spPr>
          <a:xfrm>
            <a:off x="6931152" y="4782312"/>
            <a:ext cx="4974300" cy="55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Release versión final +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documentación completa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h20b37650884cf90a_0_186"/>
          <p:cNvSpPr/>
          <p:nvPr/>
        </p:nvSpPr>
        <p:spPr>
          <a:xfrm>
            <a:off x="1645920" y="5340096"/>
            <a:ext cx="1417200" cy="557700"/>
          </a:xfrm>
          <a:prstGeom prst="rect">
            <a:avLst/>
          </a:prstGeom>
          <a:solidFill>
            <a:srgbClr val="F2F8FE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240"/>
              <a:buFont typeface="Arial"/>
              <a:buNone/>
            </a:pPr>
            <a:r>
              <a:rPr b="1" i="0" lang="en-US" sz="124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27 nov–04 dic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h20b37650884cf90a_0_186"/>
          <p:cNvSpPr/>
          <p:nvPr/>
        </p:nvSpPr>
        <p:spPr>
          <a:xfrm>
            <a:off x="3063240" y="5340096"/>
            <a:ext cx="38679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Ensayo, estabilización y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presentación final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h20b37650884cf90a_0_186"/>
          <p:cNvSpPr/>
          <p:nvPr/>
        </p:nvSpPr>
        <p:spPr>
          <a:xfrm>
            <a:off x="6931152" y="5340096"/>
            <a:ext cx="4974300" cy="557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E4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0B1E44"/>
                </a:solidFill>
                <a:latin typeface="Arial"/>
                <a:ea typeface="Arial"/>
                <a:cs typeface="Arial"/>
                <a:sym typeface="Arial"/>
              </a:rPr>
              <a:t>Versión final lista para  presentar ante comisión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h20b37650884cf90a_0_186"/>
          <p:cNvSpPr/>
          <p:nvPr/>
        </p:nvSpPr>
        <p:spPr>
          <a:xfrm>
            <a:off x="274320" y="6409944"/>
            <a:ext cx="11631300" cy="292500"/>
          </a:xfrm>
          <a:prstGeom prst="roundRect">
            <a:avLst>
              <a:gd fmla="val 16667" name="adj"/>
            </a:avLst>
          </a:prstGeom>
          <a:solidFill>
            <a:srgbClr val="EAF7FA"/>
          </a:solidFill>
          <a:ln cap="flat" cmpd="sng" w="12700">
            <a:solidFill>
              <a:srgbClr val="B5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h20b37650884cf90a_0_186"/>
          <p:cNvSpPr/>
          <p:nvPr/>
        </p:nvSpPr>
        <p:spPr>
          <a:xfrm>
            <a:off x="457200" y="6487668"/>
            <a:ext cx="11247000" cy="128100"/>
          </a:xfrm>
          <a:prstGeom prst="rect">
            <a:avLst/>
          </a:prstGeom>
          <a:noFill/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A5D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082A5D"/>
                </a:solidFill>
                <a:latin typeface="Arial"/>
                <a:ea typeface="Arial"/>
                <a:cs typeface="Arial"/>
                <a:sym typeface="Arial"/>
              </a:rPr>
              <a:t>Lectura ágil: cada Sprint entrega un incremento funcional, demostrable y trazable en Jira + GitHub. El cierre se adelanta a la primera semana de presentación ante comisión.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h20b37650884cf90a_0_1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442" y="1993392"/>
            <a:ext cx="1502720" cy="3995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h20b37650884cf90a_0_1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0839" y="451180"/>
            <a:ext cx="1649631" cy="41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h20b37650884cf90a_0_1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1243" y="1589702"/>
            <a:ext cx="333422" cy="295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h20b37650884cf90a_0_1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51162" y="1593378"/>
            <a:ext cx="304762" cy="285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h20b37650884cf90a_0_18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56851" y="1545165"/>
            <a:ext cx="352474" cy="35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h20b37650884cf90a_0_18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76408" y="1589431"/>
            <a:ext cx="314286" cy="342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h1af1b7e802a7d6b2_1_5" title="Modelo 4+1 de Arquitectura Quality36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80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ogo_quality360_cropped.png" id="372" name="Google Shape;372;h20b37650884cf90a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80650" y="0"/>
            <a:ext cx="2152174" cy="8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56ab5dad46e2c1f2_0_0"/>
          <p:cNvSpPr/>
          <p:nvPr/>
        </p:nvSpPr>
        <p:spPr>
          <a:xfrm>
            <a:off x="0" y="0"/>
            <a:ext cx="12192000" cy="777300"/>
          </a:xfrm>
          <a:prstGeom prst="rect">
            <a:avLst/>
          </a:prstGeom>
          <a:solidFill>
            <a:srgbClr val="09315C"/>
          </a:solidFill>
          <a:ln cap="flat" cmpd="sng" w="9525">
            <a:solidFill>
              <a:srgbClr val="0931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h56ab5dad46e2c1f2_0_0"/>
          <p:cNvSpPr txBox="1"/>
          <p:nvPr/>
        </p:nvSpPr>
        <p:spPr>
          <a:xfrm>
            <a:off x="320049" y="73152"/>
            <a:ext cx="713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Burndown y estado actual del proyecto</a:t>
            </a:r>
            <a:endParaRPr/>
          </a:p>
        </p:txBody>
      </p:sp>
      <p:sp>
        <p:nvSpPr>
          <p:cNvPr id="379" name="Google Shape;379;h56ab5dad46e2c1f2_0_0"/>
          <p:cNvSpPr txBox="1"/>
          <p:nvPr/>
        </p:nvSpPr>
        <p:spPr>
          <a:xfrm>
            <a:off x="329193" y="438912"/>
            <a:ext cx="438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7EBFF"/>
                </a:solidFill>
                <a:latin typeface="Arial"/>
                <a:ea typeface="Arial"/>
                <a:cs typeface="Arial"/>
                <a:sym typeface="Arial"/>
              </a:rPr>
              <a:t>Seguimiento del Sprint 2 · Corte 02/10/2026</a:t>
            </a:r>
            <a:endParaRPr/>
          </a:p>
        </p:txBody>
      </p:sp>
      <p:pic>
        <p:nvPicPr>
          <p:cNvPr descr="logo_corporativo_quality360_en_azul_y_turquesa.png" id="380" name="Google Shape;380;h56ab5dad46e2c1f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3044" y="54864"/>
            <a:ext cx="1143030" cy="59436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h56ab5dad46e2c1f2_0_0"/>
          <p:cNvSpPr/>
          <p:nvPr/>
        </p:nvSpPr>
        <p:spPr>
          <a:xfrm>
            <a:off x="228606" y="960120"/>
            <a:ext cx="7727100" cy="507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D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h56ab5dad46e2c1f2_0_0"/>
          <p:cNvSpPr/>
          <p:nvPr/>
        </p:nvSpPr>
        <p:spPr>
          <a:xfrm>
            <a:off x="228606" y="960120"/>
            <a:ext cx="7727100" cy="475500"/>
          </a:xfrm>
          <a:prstGeom prst="rect">
            <a:avLst/>
          </a:prstGeom>
          <a:solidFill>
            <a:srgbClr val="F6FBFF"/>
          </a:solidFill>
          <a:ln cap="flat" cmpd="sng" w="9525">
            <a:solidFill>
              <a:srgbClr val="CD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h56ab5dad46e2c1f2_0_0"/>
          <p:cNvSpPr txBox="1"/>
          <p:nvPr/>
        </p:nvSpPr>
        <p:spPr>
          <a:xfrm>
            <a:off x="384058" y="1078992"/>
            <a:ext cx="27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A0DC"/>
                </a:solidFill>
                <a:latin typeface="Arial"/>
                <a:ea typeface="Arial"/>
                <a:cs typeface="Arial"/>
                <a:sym typeface="Arial"/>
              </a:rPr>
              <a:t>▮</a:t>
            </a:r>
            <a:endParaRPr/>
          </a:p>
        </p:txBody>
      </p:sp>
      <p:sp>
        <p:nvSpPr>
          <p:cNvPr id="384" name="Google Shape;384;h56ab5dad46e2c1f2_0_0"/>
          <p:cNvSpPr txBox="1"/>
          <p:nvPr/>
        </p:nvSpPr>
        <p:spPr>
          <a:xfrm>
            <a:off x="685818" y="1051560"/>
            <a:ext cx="301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Burndown del Sprint 2</a:t>
            </a:r>
            <a:endParaRPr/>
          </a:p>
        </p:txBody>
      </p:sp>
      <p:sp>
        <p:nvSpPr>
          <p:cNvPr id="385" name="Google Shape;385;h56ab5dad46e2c1f2_0_0"/>
          <p:cNvSpPr/>
          <p:nvPr/>
        </p:nvSpPr>
        <p:spPr>
          <a:xfrm>
            <a:off x="411491" y="1600200"/>
            <a:ext cx="411600" cy="411600"/>
          </a:xfrm>
          <a:prstGeom prst="ellipse">
            <a:avLst/>
          </a:prstGeom>
          <a:solidFill>
            <a:srgbClr val="E6F4FF"/>
          </a:solidFill>
          <a:ln cap="flat" cmpd="sng" w="9525">
            <a:solidFill>
              <a:srgbClr val="E1EE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h56ab5dad46e2c1f2_0_0"/>
          <p:cNvSpPr txBox="1"/>
          <p:nvPr/>
        </p:nvSpPr>
        <p:spPr>
          <a:xfrm>
            <a:off x="411491" y="1600200"/>
            <a:ext cx="41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📅</a:t>
            </a:r>
            <a:endParaRPr/>
          </a:p>
        </p:txBody>
      </p:sp>
      <p:sp>
        <p:nvSpPr>
          <p:cNvPr id="387" name="Google Shape;387;h56ab5dad46e2c1f2_0_0"/>
          <p:cNvSpPr txBox="1"/>
          <p:nvPr/>
        </p:nvSpPr>
        <p:spPr>
          <a:xfrm>
            <a:off x="868703" y="1554480"/>
            <a:ext cx="822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Sprint:</a:t>
            </a:r>
            <a:endParaRPr/>
          </a:p>
        </p:txBody>
      </p:sp>
      <p:sp>
        <p:nvSpPr>
          <p:cNvPr id="388" name="Google Shape;388;h56ab5dad46e2c1f2_0_0"/>
          <p:cNvSpPr txBox="1"/>
          <p:nvPr/>
        </p:nvSpPr>
        <p:spPr>
          <a:xfrm>
            <a:off x="868703" y="1737360"/>
            <a:ext cx="1371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Q360-Sprint 2</a:t>
            </a:r>
            <a:endParaRPr/>
          </a:p>
        </p:txBody>
      </p:sp>
      <p:sp>
        <p:nvSpPr>
          <p:cNvPr id="389" name="Google Shape;389;h56ab5dad46e2c1f2_0_0"/>
          <p:cNvSpPr/>
          <p:nvPr/>
        </p:nvSpPr>
        <p:spPr>
          <a:xfrm>
            <a:off x="1920291" y="1527048"/>
            <a:ext cx="13800" cy="502800"/>
          </a:xfrm>
          <a:prstGeom prst="rect">
            <a:avLst/>
          </a:prstGeom>
          <a:solidFill>
            <a:srgbClr val="D7E1EB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h56ab5dad46e2c1f2_0_0"/>
          <p:cNvSpPr/>
          <p:nvPr/>
        </p:nvSpPr>
        <p:spPr>
          <a:xfrm>
            <a:off x="2148897" y="1600200"/>
            <a:ext cx="411600" cy="411600"/>
          </a:xfrm>
          <a:prstGeom prst="ellipse">
            <a:avLst/>
          </a:prstGeom>
          <a:solidFill>
            <a:srgbClr val="E6F4FF"/>
          </a:solidFill>
          <a:ln cap="flat" cmpd="sng" w="9525">
            <a:solidFill>
              <a:srgbClr val="E1EE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h56ab5dad46e2c1f2_0_0"/>
          <p:cNvSpPr txBox="1"/>
          <p:nvPr/>
        </p:nvSpPr>
        <p:spPr>
          <a:xfrm>
            <a:off x="2148897" y="1600200"/>
            <a:ext cx="41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🗓</a:t>
            </a:r>
            <a:endParaRPr/>
          </a:p>
        </p:txBody>
      </p:sp>
      <p:sp>
        <p:nvSpPr>
          <p:cNvPr id="392" name="Google Shape;392;h56ab5dad46e2c1f2_0_0"/>
          <p:cNvSpPr txBox="1"/>
          <p:nvPr/>
        </p:nvSpPr>
        <p:spPr>
          <a:xfrm>
            <a:off x="2606109" y="1554480"/>
            <a:ext cx="822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Periodo:</a:t>
            </a:r>
            <a:endParaRPr/>
          </a:p>
        </p:txBody>
      </p:sp>
      <p:sp>
        <p:nvSpPr>
          <p:cNvPr id="393" name="Google Shape;393;h56ab5dad46e2c1f2_0_0"/>
          <p:cNvSpPr txBox="1"/>
          <p:nvPr/>
        </p:nvSpPr>
        <p:spPr>
          <a:xfrm>
            <a:off x="2606109" y="1737360"/>
            <a:ext cx="201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25 sep 2026 – 08 oct 2026</a:t>
            </a:r>
            <a:endParaRPr/>
          </a:p>
        </p:txBody>
      </p:sp>
      <p:sp>
        <p:nvSpPr>
          <p:cNvPr id="394" name="Google Shape;394;h56ab5dad46e2c1f2_0_0"/>
          <p:cNvSpPr/>
          <p:nvPr/>
        </p:nvSpPr>
        <p:spPr>
          <a:xfrm>
            <a:off x="4617843" y="1527048"/>
            <a:ext cx="13800" cy="502800"/>
          </a:xfrm>
          <a:prstGeom prst="rect">
            <a:avLst/>
          </a:prstGeom>
          <a:solidFill>
            <a:srgbClr val="D7E1EB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h56ab5dad46e2c1f2_0_0"/>
          <p:cNvSpPr/>
          <p:nvPr/>
        </p:nvSpPr>
        <p:spPr>
          <a:xfrm>
            <a:off x="4846449" y="1600200"/>
            <a:ext cx="411600" cy="411600"/>
          </a:xfrm>
          <a:prstGeom prst="ellipse">
            <a:avLst/>
          </a:prstGeom>
          <a:solidFill>
            <a:srgbClr val="E6F4FF"/>
          </a:solidFill>
          <a:ln cap="flat" cmpd="sng" w="9525">
            <a:solidFill>
              <a:srgbClr val="E1EE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h56ab5dad46e2c1f2_0_0"/>
          <p:cNvSpPr txBox="1"/>
          <p:nvPr/>
        </p:nvSpPr>
        <p:spPr>
          <a:xfrm>
            <a:off x="4846449" y="1600200"/>
            <a:ext cx="41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/>
          </a:p>
        </p:txBody>
      </p:sp>
      <p:sp>
        <p:nvSpPr>
          <p:cNvPr id="397" name="Google Shape;397;h56ab5dad46e2c1f2_0_0"/>
          <p:cNvSpPr txBox="1"/>
          <p:nvPr/>
        </p:nvSpPr>
        <p:spPr>
          <a:xfrm>
            <a:off x="5303661" y="1508760"/>
            <a:ext cx="1188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Meta del sprint:</a:t>
            </a:r>
            <a:endParaRPr/>
          </a:p>
        </p:txBody>
      </p:sp>
      <p:sp>
        <p:nvSpPr>
          <p:cNvPr id="398" name="Google Shape;398;h56ab5dad46e2c1f2_0_0"/>
          <p:cNvSpPr txBox="1"/>
          <p:nvPr/>
        </p:nvSpPr>
        <p:spPr>
          <a:xfrm>
            <a:off x="5303661" y="1700784"/>
            <a:ext cx="2423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Consolidar arquitectura, casos de uso y modelo conceptual de datos para habilitar backend y persistencia.</a:t>
            </a:r>
            <a:endParaRPr/>
          </a:p>
        </p:txBody>
      </p:sp>
      <p:sp>
        <p:nvSpPr>
          <p:cNvPr id="399" name="Google Shape;399;h56ab5dad46e2c1f2_0_0"/>
          <p:cNvSpPr/>
          <p:nvPr/>
        </p:nvSpPr>
        <p:spPr>
          <a:xfrm>
            <a:off x="594376" y="2478024"/>
            <a:ext cx="411600" cy="27300"/>
          </a:xfrm>
          <a:prstGeom prst="rect">
            <a:avLst/>
          </a:prstGeom>
          <a:solidFill>
            <a:srgbClr val="24A855"/>
          </a:solidFill>
          <a:ln cap="flat" cmpd="sng" w="9525">
            <a:solidFill>
              <a:srgbClr val="24A8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h56ab5dad46e2c1f2_0_0"/>
          <p:cNvSpPr txBox="1"/>
          <p:nvPr/>
        </p:nvSpPr>
        <p:spPr>
          <a:xfrm>
            <a:off x="1097309" y="2264410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Trabajo completado</a:t>
            </a:r>
            <a:endParaRPr/>
          </a:p>
        </p:txBody>
      </p:sp>
      <p:sp>
        <p:nvSpPr>
          <p:cNvPr id="401" name="Google Shape;401;h56ab5dad46e2c1f2_0_0"/>
          <p:cNvSpPr txBox="1"/>
          <p:nvPr/>
        </p:nvSpPr>
        <p:spPr>
          <a:xfrm>
            <a:off x="1097309" y="2606040"/>
            <a:ext cx="1645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Puntos cerrados del Sprint 2</a:t>
            </a:r>
            <a:endParaRPr/>
          </a:p>
        </p:txBody>
      </p:sp>
      <p:sp>
        <p:nvSpPr>
          <p:cNvPr id="402" name="Google Shape;402;h56ab5dad46e2c1f2_0_0"/>
          <p:cNvSpPr/>
          <p:nvPr/>
        </p:nvSpPr>
        <p:spPr>
          <a:xfrm>
            <a:off x="3154763" y="2478024"/>
            <a:ext cx="411600" cy="27300"/>
          </a:xfrm>
          <a:prstGeom prst="rect">
            <a:avLst/>
          </a:prstGeom>
          <a:solidFill>
            <a:srgbClr val="828C9B"/>
          </a:solidFill>
          <a:ln cap="flat" cmpd="sng" w="9525">
            <a:solidFill>
              <a:srgbClr val="828C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h56ab5dad46e2c1f2_0_0"/>
          <p:cNvSpPr txBox="1"/>
          <p:nvPr/>
        </p:nvSpPr>
        <p:spPr>
          <a:xfrm>
            <a:off x="3657698" y="2423160"/>
            <a:ext cx="6402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Directriz</a:t>
            </a:r>
            <a:endParaRPr/>
          </a:p>
        </p:txBody>
      </p:sp>
      <p:sp>
        <p:nvSpPr>
          <p:cNvPr id="404" name="Google Shape;404;h56ab5dad46e2c1f2_0_0"/>
          <p:cNvSpPr txBox="1"/>
          <p:nvPr/>
        </p:nvSpPr>
        <p:spPr>
          <a:xfrm>
            <a:off x="3657698" y="2606040"/>
            <a:ext cx="1463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Avance ideal</a:t>
            </a:r>
            <a:endParaRPr/>
          </a:p>
        </p:txBody>
      </p:sp>
      <p:sp>
        <p:nvSpPr>
          <p:cNvPr id="405" name="Google Shape;405;h56ab5dad46e2c1f2_0_0"/>
          <p:cNvSpPr/>
          <p:nvPr/>
        </p:nvSpPr>
        <p:spPr>
          <a:xfrm>
            <a:off x="5166498" y="2478024"/>
            <a:ext cx="411600" cy="27300"/>
          </a:xfrm>
          <a:prstGeom prst="rect">
            <a:avLst/>
          </a:prstGeom>
          <a:solidFill>
            <a:srgbClr val="E63946"/>
          </a:solidFill>
          <a:ln cap="flat" cmpd="sng" w="9525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h56ab5dad46e2c1f2_0_0"/>
          <p:cNvSpPr txBox="1"/>
          <p:nvPr/>
        </p:nvSpPr>
        <p:spPr>
          <a:xfrm>
            <a:off x="5669431" y="2423160"/>
            <a:ext cx="1188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Alcance del trabajo</a:t>
            </a:r>
            <a:endParaRPr/>
          </a:p>
        </p:txBody>
      </p:sp>
      <p:sp>
        <p:nvSpPr>
          <p:cNvPr id="407" name="Google Shape;407;h56ab5dad46e2c1f2_0_0"/>
          <p:cNvSpPr txBox="1"/>
          <p:nvPr/>
        </p:nvSpPr>
        <p:spPr>
          <a:xfrm>
            <a:off x="5669431" y="2606040"/>
            <a:ext cx="1463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13 SP planificados</a:t>
            </a:r>
            <a:endParaRPr/>
          </a:p>
        </p:txBody>
      </p:sp>
      <p:sp>
        <p:nvSpPr>
          <p:cNvPr id="408" name="Google Shape;408;h56ab5dad46e2c1f2_0_0"/>
          <p:cNvSpPr/>
          <p:nvPr/>
        </p:nvSpPr>
        <p:spPr>
          <a:xfrm>
            <a:off x="640097" y="4754880"/>
            <a:ext cx="6995400" cy="4500"/>
          </a:xfrm>
          <a:prstGeom prst="rect">
            <a:avLst/>
          </a:prstGeom>
          <a:solidFill>
            <a:srgbClr val="E1EBF5"/>
          </a:solidFill>
          <a:ln cap="flat" cmpd="sng" w="9525">
            <a:solidFill>
              <a:srgbClr val="E1EB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h56ab5dad46e2c1f2_0_0"/>
          <p:cNvSpPr/>
          <p:nvPr/>
        </p:nvSpPr>
        <p:spPr>
          <a:xfrm>
            <a:off x="640097" y="4398264"/>
            <a:ext cx="6995400" cy="4500"/>
          </a:xfrm>
          <a:prstGeom prst="rect">
            <a:avLst/>
          </a:prstGeom>
          <a:solidFill>
            <a:srgbClr val="E1EBF5"/>
          </a:solidFill>
          <a:ln cap="flat" cmpd="sng" w="9525">
            <a:solidFill>
              <a:srgbClr val="E1EB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h56ab5dad46e2c1f2_0_0"/>
          <p:cNvSpPr/>
          <p:nvPr/>
        </p:nvSpPr>
        <p:spPr>
          <a:xfrm>
            <a:off x="640097" y="4041648"/>
            <a:ext cx="6995400" cy="4500"/>
          </a:xfrm>
          <a:prstGeom prst="rect">
            <a:avLst/>
          </a:prstGeom>
          <a:solidFill>
            <a:srgbClr val="E1EBF5"/>
          </a:solidFill>
          <a:ln cap="flat" cmpd="sng" w="9525">
            <a:solidFill>
              <a:srgbClr val="E1EB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h56ab5dad46e2c1f2_0_0"/>
          <p:cNvSpPr/>
          <p:nvPr/>
        </p:nvSpPr>
        <p:spPr>
          <a:xfrm>
            <a:off x="640097" y="3685032"/>
            <a:ext cx="6995400" cy="4500"/>
          </a:xfrm>
          <a:prstGeom prst="rect">
            <a:avLst/>
          </a:prstGeom>
          <a:solidFill>
            <a:srgbClr val="E1EBF5"/>
          </a:solidFill>
          <a:ln cap="flat" cmpd="sng" w="9525">
            <a:solidFill>
              <a:srgbClr val="E1EB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h56ab5dad46e2c1f2_0_0"/>
          <p:cNvSpPr/>
          <p:nvPr/>
        </p:nvSpPr>
        <p:spPr>
          <a:xfrm>
            <a:off x="640097" y="3328416"/>
            <a:ext cx="6995400" cy="4500"/>
          </a:xfrm>
          <a:prstGeom prst="rect">
            <a:avLst/>
          </a:prstGeom>
          <a:solidFill>
            <a:srgbClr val="E1EBF5"/>
          </a:solidFill>
          <a:ln cap="flat" cmpd="sng" w="9525">
            <a:solidFill>
              <a:srgbClr val="E1EB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h56ab5dad46e2c1f2_0_0"/>
          <p:cNvSpPr/>
          <p:nvPr/>
        </p:nvSpPr>
        <p:spPr>
          <a:xfrm>
            <a:off x="640097" y="2971800"/>
            <a:ext cx="6995400" cy="4500"/>
          </a:xfrm>
          <a:prstGeom prst="rect">
            <a:avLst/>
          </a:prstGeom>
          <a:solidFill>
            <a:srgbClr val="E1EBF5"/>
          </a:solidFill>
          <a:ln cap="flat" cmpd="sng" w="9525">
            <a:solidFill>
              <a:srgbClr val="E1EB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h56ab5dad46e2c1f2_0_0"/>
          <p:cNvSpPr/>
          <p:nvPr/>
        </p:nvSpPr>
        <p:spPr>
          <a:xfrm>
            <a:off x="640097" y="2971800"/>
            <a:ext cx="4500" cy="1783200"/>
          </a:xfrm>
          <a:prstGeom prst="rect">
            <a:avLst/>
          </a:prstGeom>
          <a:solidFill>
            <a:srgbClr val="EBF2F8"/>
          </a:solidFill>
          <a:ln cap="flat" cmpd="sng" w="9525">
            <a:solidFill>
              <a:srgbClr val="EBF2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h56ab5dad46e2c1f2_0_0"/>
          <p:cNvSpPr/>
          <p:nvPr/>
        </p:nvSpPr>
        <p:spPr>
          <a:xfrm>
            <a:off x="1805988" y="2971800"/>
            <a:ext cx="4500" cy="1783200"/>
          </a:xfrm>
          <a:prstGeom prst="rect">
            <a:avLst/>
          </a:prstGeom>
          <a:solidFill>
            <a:srgbClr val="EBF2F8"/>
          </a:solidFill>
          <a:ln cap="flat" cmpd="sng" w="9525">
            <a:solidFill>
              <a:srgbClr val="EBF2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h56ab5dad46e2c1f2_0_0"/>
          <p:cNvSpPr/>
          <p:nvPr/>
        </p:nvSpPr>
        <p:spPr>
          <a:xfrm>
            <a:off x="2971879" y="2971800"/>
            <a:ext cx="4500" cy="1783200"/>
          </a:xfrm>
          <a:prstGeom prst="rect">
            <a:avLst/>
          </a:prstGeom>
          <a:solidFill>
            <a:srgbClr val="EBF2F8"/>
          </a:solidFill>
          <a:ln cap="flat" cmpd="sng" w="9525">
            <a:solidFill>
              <a:srgbClr val="EBF2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h56ab5dad46e2c1f2_0_0"/>
          <p:cNvSpPr/>
          <p:nvPr/>
        </p:nvSpPr>
        <p:spPr>
          <a:xfrm>
            <a:off x="4137770" y="2971800"/>
            <a:ext cx="4500" cy="1783200"/>
          </a:xfrm>
          <a:prstGeom prst="rect">
            <a:avLst/>
          </a:prstGeom>
          <a:solidFill>
            <a:srgbClr val="EBF2F8"/>
          </a:solidFill>
          <a:ln cap="flat" cmpd="sng" w="9525">
            <a:solidFill>
              <a:srgbClr val="EBF2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h56ab5dad46e2c1f2_0_0"/>
          <p:cNvSpPr/>
          <p:nvPr/>
        </p:nvSpPr>
        <p:spPr>
          <a:xfrm>
            <a:off x="5303661" y="2971800"/>
            <a:ext cx="4500" cy="1783200"/>
          </a:xfrm>
          <a:prstGeom prst="rect">
            <a:avLst/>
          </a:prstGeom>
          <a:solidFill>
            <a:srgbClr val="EBF2F8"/>
          </a:solidFill>
          <a:ln cap="flat" cmpd="sng" w="9525">
            <a:solidFill>
              <a:srgbClr val="EBF2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h56ab5dad46e2c1f2_0_0"/>
          <p:cNvSpPr/>
          <p:nvPr/>
        </p:nvSpPr>
        <p:spPr>
          <a:xfrm>
            <a:off x="6469552" y="2971800"/>
            <a:ext cx="4500" cy="1783200"/>
          </a:xfrm>
          <a:prstGeom prst="rect">
            <a:avLst/>
          </a:prstGeom>
          <a:solidFill>
            <a:srgbClr val="EBF2F8"/>
          </a:solidFill>
          <a:ln cap="flat" cmpd="sng" w="9525">
            <a:solidFill>
              <a:srgbClr val="EBF2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h56ab5dad46e2c1f2_0_0"/>
          <p:cNvSpPr/>
          <p:nvPr/>
        </p:nvSpPr>
        <p:spPr>
          <a:xfrm>
            <a:off x="7635444" y="2971800"/>
            <a:ext cx="4500" cy="1783200"/>
          </a:xfrm>
          <a:prstGeom prst="rect">
            <a:avLst/>
          </a:prstGeom>
          <a:solidFill>
            <a:srgbClr val="EBF2F8"/>
          </a:solidFill>
          <a:ln cap="flat" cmpd="sng" w="9525">
            <a:solidFill>
              <a:srgbClr val="EBF2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h56ab5dad46e2c1f2_0_0"/>
          <p:cNvSpPr/>
          <p:nvPr/>
        </p:nvSpPr>
        <p:spPr>
          <a:xfrm>
            <a:off x="640097" y="4754880"/>
            <a:ext cx="6995400" cy="11100"/>
          </a:xfrm>
          <a:prstGeom prst="rect">
            <a:avLst/>
          </a:prstGeom>
          <a:solidFill>
            <a:srgbClr val="828C9B"/>
          </a:solidFill>
          <a:ln cap="flat" cmpd="sng" w="9525">
            <a:solidFill>
              <a:srgbClr val="828C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h56ab5dad46e2c1f2_0_0"/>
          <p:cNvSpPr/>
          <p:nvPr/>
        </p:nvSpPr>
        <p:spPr>
          <a:xfrm>
            <a:off x="640097" y="2971800"/>
            <a:ext cx="11100" cy="1783200"/>
          </a:xfrm>
          <a:prstGeom prst="rect">
            <a:avLst/>
          </a:prstGeom>
          <a:solidFill>
            <a:srgbClr val="828C9B"/>
          </a:solidFill>
          <a:ln cap="flat" cmpd="sng" w="9525">
            <a:solidFill>
              <a:srgbClr val="828C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h56ab5dad46e2c1f2_0_0"/>
          <p:cNvSpPr txBox="1"/>
          <p:nvPr/>
        </p:nvSpPr>
        <p:spPr>
          <a:xfrm>
            <a:off x="320049" y="4681728"/>
            <a:ext cx="22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24" name="Google Shape;424;h56ab5dad46e2c1f2_0_0"/>
          <p:cNvSpPr txBox="1"/>
          <p:nvPr/>
        </p:nvSpPr>
        <p:spPr>
          <a:xfrm>
            <a:off x="320049" y="4270248"/>
            <a:ext cx="22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25" name="Google Shape;425;h56ab5dad46e2c1f2_0_0"/>
          <p:cNvSpPr txBox="1"/>
          <p:nvPr/>
        </p:nvSpPr>
        <p:spPr>
          <a:xfrm>
            <a:off x="320049" y="3858768"/>
            <a:ext cx="22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26" name="Google Shape;426;h56ab5dad46e2c1f2_0_0"/>
          <p:cNvSpPr txBox="1"/>
          <p:nvPr/>
        </p:nvSpPr>
        <p:spPr>
          <a:xfrm>
            <a:off x="320049" y="3447288"/>
            <a:ext cx="22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427" name="Google Shape;427;h56ab5dad46e2c1f2_0_0"/>
          <p:cNvSpPr txBox="1"/>
          <p:nvPr/>
        </p:nvSpPr>
        <p:spPr>
          <a:xfrm>
            <a:off x="320049" y="2898648"/>
            <a:ext cx="22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428" name="Google Shape;428;h56ab5dad46e2c1f2_0_0"/>
          <p:cNvSpPr txBox="1"/>
          <p:nvPr/>
        </p:nvSpPr>
        <p:spPr>
          <a:xfrm>
            <a:off x="411490" y="4800600"/>
            <a:ext cx="5028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25 sep</a:t>
            </a:r>
            <a:endParaRPr/>
          </a:p>
        </p:txBody>
      </p:sp>
      <p:sp>
        <p:nvSpPr>
          <p:cNvPr id="429" name="Google Shape;429;h56ab5dad46e2c1f2_0_0"/>
          <p:cNvSpPr txBox="1"/>
          <p:nvPr/>
        </p:nvSpPr>
        <p:spPr>
          <a:xfrm>
            <a:off x="1810560" y="4800600"/>
            <a:ext cx="5028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28 sep</a:t>
            </a:r>
            <a:endParaRPr/>
          </a:p>
        </p:txBody>
      </p:sp>
      <p:sp>
        <p:nvSpPr>
          <p:cNvPr id="430" name="Google Shape;430;h56ab5dad46e2c1f2_0_0"/>
          <p:cNvSpPr txBox="1"/>
          <p:nvPr/>
        </p:nvSpPr>
        <p:spPr>
          <a:xfrm>
            <a:off x="3209630" y="4800600"/>
            <a:ext cx="5028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01 oct</a:t>
            </a:r>
            <a:endParaRPr/>
          </a:p>
        </p:txBody>
      </p:sp>
      <p:sp>
        <p:nvSpPr>
          <p:cNvPr id="431" name="Google Shape;431;h56ab5dad46e2c1f2_0_0"/>
          <p:cNvSpPr txBox="1"/>
          <p:nvPr/>
        </p:nvSpPr>
        <p:spPr>
          <a:xfrm>
            <a:off x="4608699" y="4800600"/>
            <a:ext cx="5028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04 oct</a:t>
            </a:r>
            <a:endParaRPr/>
          </a:p>
        </p:txBody>
      </p:sp>
      <p:sp>
        <p:nvSpPr>
          <p:cNvPr id="432" name="Google Shape;432;h56ab5dad46e2c1f2_0_0"/>
          <p:cNvSpPr txBox="1"/>
          <p:nvPr/>
        </p:nvSpPr>
        <p:spPr>
          <a:xfrm>
            <a:off x="6007768" y="4800600"/>
            <a:ext cx="5028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06 oct</a:t>
            </a:r>
            <a:endParaRPr/>
          </a:p>
        </p:txBody>
      </p:sp>
      <p:sp>
        <p:nvSpPr>
          <p:cNvPr id="433" name="Google Shape;433;h56ab5dad46e2c1f2_0_0"/>
          <p:cNvSpPr txBox="1"/>
          <p:nvPr/>
        </p:nvSpPr>
        <p:spPr>
          <a:xfrm>
            <a:off x="7406837" y="4800600"/>
            <a:ext cx="5028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08 oct</a:t>
            </a:r>
            <a:endParaRPr/>
          </a:p>
        </p:txBody>
      </p:sp>
      <p:sp>
        <p:nvSpPr>
          <p:cNvPr id="434" name="Google Shape;434;h56ab5dad46e2c1f2_0_0"/>
          <p:cNvSpPr txBox="1"/>
          <p:nvPr/>
        </p:nvSpPr>
        <p:spPr>
          <a:xfrm>
            <a:off x="3817722" y="5074920"/>
            <a:ext cx="64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Fecha</a:t>
            </a:r>
            <a:endParaRPr/>
          </a:p>
        </p:txBody>
      </p:sp>
      <p:sp>
        <p:nvSpPr>
          <p:cNvPr id="435" name="Google Shape;435;h56ab5dad46e2c1f2_0_0"/>
          <p:cNvSpPr txBox="1"/>
          <p:nvPr/>
        </p:nvSpPr>
        <p:spPr>
          <a:xfrm>
            <a:off x="137163" y="3611880"/>
            <a:ext cx="32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endParaRPr/>
          </a:p>
        </p:txBody>
      </p:sp>
      <p:cxnSp>
        <p:nvCxnSpPr>
          <p:cNvPr id="436" name="Google Shape;436;h56ab5dad46e2c1f2_0_0"/>
          <p:cNvCxnSpPr/>
          <p:nvPr/>
        </p:nvCxnSpPr>
        <p:spPr>
          <a:xfrm>
            <a:off x="640097" y="2971800"/>
            <a:ext cx="6995400" cy="0"/>
          </a:xfrm>
          <a:prstGeom prst="straightConnector1">
            <a:avLst/>
          </a:prstGeom>
          <a:noFill/>
          <a:ln cap="flat" cmpd="sng" w="254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37" name="Google Shape;437;h56ab5dad46e2c1f2_0_0"/>
          <p:cNvCxnSpPr/>
          <p:nvPr/>
        </p:nvCxnSpPr>
        <p:spPr>
          <a:xfrm flipH="1" rot="10800000">
            <a:off x="640097" y="2971680"/>
            <a:ext cx="6995400" cy="1783200"/>
          </a:xfrm>
          <a:prstGeom prst="straightConnector1">
            <a:avLst/>
          </a:prstGeom>
          <a:noFill/>
          <a:ln cap="flat" cmpd="sng" w="25400">
            <a:solidFill>
              <a:srgbClr val="828C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38" name="Google Shape;438;h56ab5dad46e2c1f2_0_0"/>
          <p:cNvCxnSpPr/>
          <p:nvPr/>
        </p:nvCxnSpPr>
        <p:spPr>
          <a:xfrm>
            <a:off x="640097" y="4754880"/>
            <a:ext cx="6995400" cy="0"/>
          </a:xfrm>
          <a:prstGeom prst="straightConnector1">
            <a:avLst/>
          </a:prstGeom>
          <a:noFill/>
          <a:ln cap="flat" cmpd="sng" w="31750">
            <a:solidFill>
              <a:srgbClr val="24A8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39" name="Google Shape;439;h56ab5dad46e2c1f2_0_0"/>
          <p:cNvSpPr/>
          <p:nvPr/>
        </p:nvSpPr>
        <p:spPr>
          <a:xfrm>
            <a:off x="603519" y="4718304"/>
            <a:ext cx="73200" cy="73200"/>
          </a:xfrm>
          <a:prstGeom prst="ellipse">
            <a:avLst/>
          </a:prstGeom>
          <a:solidFill>
            <a:srgbClr val="24A855"/>
          </a:solidFill>
          <a:ln cap="flat" cmpd="sng" w="9525">
            <a:solidFill>
              <a:srgbClr val="24A8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h56ab5dad46e2c1f2_0_0"/>
          <p:cNvSpPr/>
          <p:nvPr/>
        </p:nvSpPr>
        <p:spPr>
          <a:xfrm>
            <a:off x="7598867" y="4718304"/>
            <a:ext cx="73200" cy="73200"/>
          </a:xfrm>
          <a:prstGeom prst="ellipse">
            <a:avLst/>
          </a:prstGeom>
          <a:solidFill>
            <a:srgbClr val="24A855"/>
          </a:solidFill>
          <a:ln cap="flat" cmpd="sng" w="9525">
            <a:solidFill>
              <a:srgbClr val="24A8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h56ab5dad46e2c1f2_0_0"/>
          <p:cNvSpPr/>
          <p:nvPr/>
        </p:nvSpPr>
        <p:spPr>
          <a:xfrm>
            <a:off x="7598867" y="2935224"/>
            <a:ext cx="73200" cy="73200"/>
          </a:xfrm>
          <a:prstGeom prst="ellipse">
            <a:avLst/>
          </a:prstGeom>
          <a:solidFill>
            <a:srgbClr val="E63946"/>
          </a:solidFill>
          <a:ln cap="flat" cmpd="sng" w="9525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h56ab5dad46e2c1f2_0_0"/>
          <p:cNvSpPr txBox="1"/>
          <p:nvPr/>
        </p:nvSpPr>
        <p:spPr>
          <a:xfrm>
            <a:off x="7544001" y="4480560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4A85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43" name="Google Shape;443;h56ab5dad46e2c1f2_0_0"/>
          <p:cNvSpPr txBox="1"/>
          <p:nvPr/>
        </p:nvSpPr>
        <p:spPr>
          <a:xfrm>
            <a:off x="7589721" y="2679192"/>
            <a:ext cx="4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6394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444" name="Google Shape;444;h56ab5dad46e2c1f2_0_0"/>
          <p:cNvSpPr/>
          <p:nvPr/>
        </p:nvSpPr>
        <p:spPr>
          <a:xfrm>
            <a:off x="685818" y="5166360"/>
            <a:ext cx="502800" cy="502800"/>
          </a:xfrm>
          <a:prstGeom prst="ellipse">
            <a:avLst/>
          </a:prstGeom>
          <a:solidFill>
            <a:srgbClr val="E6F4FF"/>
          </a:solidFill>
          <a:ln cap="flat" cmpd="sng" w="9525">
            <a:solidFill>
              <a:srgbClr val="E1EE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h56ab5dad46e2c1f2_0_0"/>
          <p:cNvSpPr txBox="1"/>
          <p:nvPr/>
        </p:nvSpPr>
        <p:spPr>
          <a:xfrm>
            <a:off x="685818" y="5166360"/>
            <a:ext cx="50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▣</a:t>
            </a:r>
            <a:endParaRPr/>
          </a:p>
        </p:txBody>
      </p:sp>
      <p:sp>
        <p:nvSpPr>
          <p:cNvPr id="446" name="Google Shape;446;h56ab5dad46e2c1f2_0_0"/>
          <p:cNvSpPr txBox="1"/>
          <p:nvPr/>
        </p:nvSpPr>
        <p:spPr>
          <a:xfrm>
            <a:off x="1234473" y="5148072"/>
            <a:ext cx="50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447" name="Google Shape;447;h56ab5dad46e2c1f2_0_0"/>
          <p:cNvSpPr txBox="1"/>
          <p:nvPr/>
        </p:nvSpPr>
        <p:spPr>
          <a:xfrm>
            <a:off x="1783128" y="5285232"/>
            <a:ext cx="1280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puntos planificados</a:t>
            </a:r>
            <a:endParaRPr/>
          </a:p>
        </p:txBody>
      </p:sp>
      <p:sp>
        <p:nvSpPr>
          <p:cNvPr id="448" name="Google Shape;448;h56ab5dad46e2c1f2_0_0"/>
          <p:cNvSpPr/>
          <p:nvPr/>
        </p:nvSpPr>
        <p:spPr>
          <a:xfrm>
            <a:off x="3063322" y="5138928"/>
            <a:ext cx="11100" cy="502800"/>
          </a:xfrm>
          <a:prstGeom prst="rect">
            <a:avLst/>
          </a:prstGeom>
          <a:solidFill>
            <a:srgbClr val="D2E1EB"/>
          </a:solidFill>
          <a:ln cap="flat" cmpd="sng" w="9525">
            <a:solidFill>
              <a:srgbClr val="D2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h56ab5dad46e2c1f2_0_0"/>
          <p:cNvSpPr/>
          <p:nvPr/>
        </p:nvSpPr>
        <p:spPr>
          <a:xfrm>
            <a:off x="3337649" y="5166360"/>
            <a:ext cx="502800" cy="502800"/>
          </a:xfrm>
          <a:prstGeom prst="ellipse">
            <a:avLst/>
          </a:prstGeom>
          <a:solidFill>
            <a:srgbClr val="EBFAEE"/>
          </a:solidFill>
          <a:ln cap="flat" cmpd="sng" w="9525">
            <a:solidFill>
              <a:srgbClr val="E1EE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h56ab5dad46e2c1f2_0_0"/>
          <p:cNvSpPr txBox="1"/>
          <p:nvPr/>
        </p:nvSpPr>
        <p:spPr>
          <a:xfrm>
            <a:off x="3337649" y="5166360"/>
            <a:ext cx="50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4A855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/>
          </a:p>
        </p:txBody>
      </p:sp>
      <p:sp>
        <p:nvSpPr>
          <p:cNvPr id="451" name="Google Shape;451;h56ab5dad46e2c1f2_0_0"/>
          <p:cNvSpPr txBox="1"/>
          <p:nvPr/>
        </p:nvSpPr>
        <p:spPr>
          <a:xfrm>
            <a:off x="3886304" y="5148072"/>
            <a:ext cx="50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4A855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452" name="Google Shape;452;h56ab5dad46e2c1f2_0_0"/>
          <p:cNvSpPr txBox="1"/>
          <p:nvPr/>
        </p:nvSpPr>
        <p:spPr>
          <a:xfrm>
            <a:off x="4434958" y="5285232"/>
            <a:ext cx="1280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puntos en curso</a:t>
            </a:r>
            <a:endParaRPr/>
          </a:p>
        </p:txBody>
      </p:sp>
      <p:sp>
        <p:nvSpPr>
          <p:cNvPr id="453" name="Google Shape;453;h56ab5dad46e2c1f2_0_0"/>
          <p:cNvSpPr/>
          <p:nvPr/>
        </p:nvSpPr>
        <p:spPr>
          <a:xfrm>
            <a:off x="5577989" y="5138928"/>
            <a:ext cx="11100" cy="502800"/>
          </a:xfrm>
          <a:prstGeom prst="rect">
            <a:avLst/>
          </a:prstGeom>
          <a:solidFill>
            <a:srgbClr val="D2E1EB"/>
          </a:solidFill>
          <a:ln cap="flat" cmpd="sng" w="9525">
            <a:solidFill>
              <a:srgbClr val="D2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h56ab5dad46e2c1f2_0_0"/>
          <p:cNvSpPr/>
          <p:nvPr/>
        </p:nvSpPr>
        <p:spPr>
          <a:xfrm>
            <a:off x="5898037" y="5166360"/>
            <a:ext cx="502800" cy="502800"/>
          </a:xfrm>
          <a:prstGeom prst="ellipse">
            <a:avLst/>
          </a:prstGeom>
          <a:solidFill>
            <a:srgbClr val="E6F4FF"/>
          </a:solidFill>
          <a:ln cap="flat" cmpd="sng" w="9525">
            <a:solidFill>
              <a:srgbClr val="E1EE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h56ab5dad46e2c1f2_0_0"/>
          <p:cNvSpPr txBox="1"/>
          <p:nvPr/>
        </p:nvSpPr>
        <p:spPr>
          <a:xfrm>
            <a:off x="5898037" y="5166360"/>
            <a:ext cx="50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◎</a:t>
            </a:r>
            <a:endParaRPr/>
          </a:p>
        </p:txBody>
      </p:sp>
      <p:sp>
        <p:nvSpPr>
          <p:cNvPr id="456" name="Google Shape;456;h56ab5dad46e2c1f2_0_0"/>
          <p:cNvSpPr txBox="1"/>
          <p:nvPr/>
        </p:nvSpPr>
        <p:spPr>
          <a:xfrm>
            <a:off x="6446692" y="5148072"/>
            <a:ext cx="73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/>
          </a:p>
        </p:txBody>
      </p:sp>
      <p:sp>
        <p:nvSpPr>
          <p:cNvPr id="457" name="Google Shape;457;h56ab5dad46e2c1f2_0_0"/>
          <p:cNvSpPr txBox="1"/>
          <p:nvPr/>
        </p:nvSpPr>
        <p:spPr>
          <a:xfrm>
            <a:off x="7114222" y="5285232"/>
            <a:ext cx="68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cerrado</a:t>
            </a:r>
            <a:endParaRPr/>
          </a:p>
        </p:txBody>
      </p:sp>
      <p:sp>
        <p:nvSpPr>
          <p:cNvPr id="458" name="Google Shape;458;h56ab5dad46e2c1f2_0_0"/>
          <p:cNvSpPr/>
          <p:nvPr/>
        </p:nvSpPr>
        <p:spPr>
          <a:xfrm>
            <a:off x="8138377" y="960120"/>
            <a:ext cx="37032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D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h56ab5dad46e2c1f2_0_0"/>
          <p:cNvSpPr txBox="1"/>
          <p:nvPr/>
        </p:nvSpPr>
        <p:spPr>
          <a:xfrm>
            <a:off x="8394416" y="1078992"/>
            <a:ext cx="164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🏆  Estado del sprint</a:t>
            </a:r>
            <a:endParaRPr/>
          </a:p>
        </p:txBody>
      </p:sp>
      <p:sp>
        <p:nvSpPr>
          <p:cNvPr id="460" name="Google Shape;460;h56ab5dad46e2c1f2_0_0"/>
          <p:cNvSpPr/>
          <p:nvPr/>
        </p:nvSpPr>
        <p:spPr>
          <a:xfrm>
            <a:off x="8394416" y="1353312"/>
            <a:ext cx="3246000" cy="457200"/>
          </a:xfrm>
          <a:prstGeom prst="roundRect">
            <a:avLst>
              <a:gd fmla="val 16667" name="adj"/>
            </a:avLst>
          </a:prstGeom>
          <a:solidFill>
            <a:srgbClr val="EAF8EC"/>
          </a:solidFill>
          <a:ln cap="flat" cmpd="sng" w="12700">
            <a:solidFill>
              <a:srgbClr val="EAF8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h56ab5dad46e2c1f2_0_0"/>
          <p:cNvSpPr txBox="1"/>
          <p:nvPr/>
        </p:nvSpPr>
        <p:spPr>
          <a:xfrm>
            <a:off x="8549868" y="1426464"/>
            <a:ext cx="32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62" name="Google Shape;462;h56ab5dad46e2c1f2_0_0"/>
          <p:cNvSpPr txBox="1"/>
          <p:nvPr/>
        </p:nvSpPr>
        <p:spPr>
          <a:xfrm>
            <a:off x="8915638" y="1444752"/>
            <a:ext cx="1737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75A00"/>
                </a:solidFill>
                <a:latin typeface="Arial"/>
                <a:ea typeface="Arial"/>
                <a:cs typeface="Arial"/>
                <a:sym typeface="Arial"/>
              </a:rPr>
              <a:t>Sprint 2 en curso</a:t>
            </a:r>
            <a:endParaRPr/>
          </a:p>
        </p:txBody>
      </p:sp>
      <p:sp>
        <p:nvSpPr>
          <p:cNvPr id="463" name="Google Shape;463;h56ab5dad46e2c1f2_0_0"/>
          <p:cNvSpPr txBox="1"/>
          <p:nvPr/>
        </p:nvSpPr>
        <p:spPr>
          <a:xfrm>
            <a:off x="10881650" y="1344168"/>
            <a:ext cx="68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/>
          </a:p>
        </p:txBody>
      </p:sp>
      <p:sp>
        <p:nvSpPr>
          <p:cNvPr id="464" name="Google Shape;464;h56ab5dad46e2c1f2_0_0"/>
          <p:cNvSpPr/>
          <p:nvPr/>
        </p:nvSpPr>
        <p:spPr>
          <a:xfrm>
            <a:off x="8138377" y="2148840"/>
            <a:ext cx="3703200" cy="14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D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h56ab5dad46e2c1f2_0_0"/>
          <p:cNvSpPr txBox="1"/>
          <p:nvPr/>
        </p:nvSpPr>
        <p:spPr>
          <a:xfrm>
            <a:off x="8394416" y="2267712"/>
            <a:ext cx="155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▮  Indicadores clave</a:t>
            </a:r>
            <a:endParaRPr/>
          </a:p>
        </p:txBody>
      </p:sp>
      <p:sp>
        <p:nvSpPr>
          <p:cNvPr id="466" name="Google Shape;466;h56ab5dad46e2c1f2_0_0"/>
          <p:cNvSpPr/>
          <p:nvPr/>
        </p:nvSpPr>
        <p:spPr>
          <a:xfrm>
            <a:off x="8366983" y="2560320"/>
            <a:ext cx="3246000" cy="777300"/>
          </a:xfrm>
          <a:prstGeom prst="roundRect">
            <a:avLst>
              <a:gd fmla="val 16667" name="adj"/>
            </a:avLst>
          </a:prstGeom>
          <a:solidFill>
            <a:srgbClr val="EFF8FF"/>
          </a:solidFill>
          <a:ln cap="flat" cmpd="sng" w="12700">
            <a:solidFill>
              <a:srgbClr val="EFF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h56ab5dad46e2c1f2_0_0"/>
          <p:cNvSpPr txBox="1"/>
          <p:nvPr/>
        </p:nvSpPr>
        <p:spPr>
          <a:xfrm>
            <a:off x="8595589" y="2633472"/>
            <a:ext cx="256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Story points planificados: 13 / 13</a:t>
            </a:r>
            <a:endParaRPr/>
          </a:p>
        </p:txBody>
      </p:sp>
      <p:sp>
        <p:nvSpPr>
          <p:cNvPr id="468" name="Google Shape;468;h56ab5dad46e2c1f2_0_0"/>
          <p:cNvSpPr txBox="1"/>
          <p:nvPr/>
        </p:nvSpPr>
        <p:spPr>
          <a:xfrm>
            <a:off x="8595589" y="2871216"/>
            <a:ext cx="256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Actividades cerradas: 0 / 3</a:t>
            </a:r>
            <a:endParaRPr/>
          </a:p>
        </p:txBody>
      </p:sp>
      <p:sp>
        <p:nvSpPr>
          <p:cNvPr id="469" name="Google Shape;469;h56ab5dad46e2c1f2_0_0"/>
          <p:cNvSpPr txBox="1"/>
          <p:nvPr/>
        </p:nvSpPr>
        <p:spPr>
          <a:xfrm>
            <a:off x="8595589" y="3108960"/>
            <a:ext cx="2651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Estado general: en curso</a:t>
            </a:r>
            <a:endParaRPr/>
          </a:p>
        </p:txBody>
      </p:sp>
      <p:sp>
        <p:nvSpPr>
          <p:cNvPr id="470" name="Google Shape;470;h56ab5dad46e2c1f2_0_0"/>
          <p:cNvSpPr/>
          <p:nvPr/>
        </p:nvSpPr>
        <p:spPr>
          <a:xfrm>
            <a:off x="8138377" y="3703320"/>
            <a:ext cx="3703200" cy="132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D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h56ab5dad46e2c1f2_0_0"/>
          <p:cNvSpPr txBox="1"/>
          <p:nvPr/>
        </p:nvSpPr>
        <p:spPr>
          <a:xfrm>
            <a:off x="8394416" y="3822191"/>
            <a:ext cx="201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▣  Estado actual del proyecto</a:t>
            </a:r>
            <a:endParaRPr/>
          </a:p>
        </p:txBody>
      </p:sp>
      <p:sp>
        <p:nvSpPr>
          <p:cNvPr id="472" name="Google Shape;472;h56ab5dad46e2c1f2_0_0"/>
          <p:cNvSpPr/>
          <p:nvPr/>
        </p:nvSpPr>
        <p:spPr>
          <a:xfrm>
            <a:off x="8366983" y="4087368"/>
            <a:ext cx="3246000" cy="731400"/>
          </a:xfrm>
          <a:prstGeom prst="roundRect">
            <a:avLst>
              <a:gd fmla="val 16667" name="adj"/>
            </a:avLst>
          </a:prstGeom>
          <a:solidFill>
            <a:srgbClr val="FFF8E5"/>
          </a:solidFill>
          <a:ln cap="flat" cmpd="sng" w="12700">
            <a:solidFill>
              <a:srgbClr val="FFF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h56ab5dad46e2c1f2_0_0"/>
          <p:cNvSpPr txBox="1"/>
          <p:nvPr/>
        </p:nvSpPr>
        <p:spPr>
          <a:xfrm>
            <a:off x="8549868" y="4133087"/>
            <a:ext cx="22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A85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74" name="Google Shape;474;h56ab5dad46e2c1f2_0_0"/>
          <p:cNvSpPr txBox="1"/>
          <p:nvPr/>
        </p:nvSpPr>
        <p:spPr>
          <a:xfrm>
            <a:off x="8796762" y="4133087"/>
            <a:ext cx="27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Arquitectura por capas + 4+1 en curso</a:t>
            </a:r>
            <a:endParaRPr/>
          </a:p>
        </p:txBody>
      </p:sp>
      <p:sp>
        <p:nvSpPr>
          <p:cNvPr id="475" name="Google Shape;475;h56ab5dad46e2c1f2_0_0"/>
          <p:cNvSpPr txBox="1"/>
          <p:nvPr/>
        </p:nvSpPr>
        <p:spPr>
          <a:xfrm>
            <a:off x="8549868" y="4352544"/>
            <a:ext cx="22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A85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76" name="Google Shape;476;h56ab5dad46e2c1f2_0_0"/>
          <p:cNvSpPr txBox="1"/>
          <p:nvPr/>
        </p:nvSpPr>
        <p:spPr>
          <a:xfrm>
            <a:off x="8796762" y="4352544"/>
            <a:ext cx="27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Casos de uso en curso</a:t>
            </a:r>
            <a:endParaRPr/>
          </a:p>
        </p:txBody>
      </p:sp>
      <p:sp>
        <p:nvSpPr>
          <p:cNvPr id="477" name="Google Shape;477;h56ab5dad46e2c1f2_0_0"/>
          <p:cNvSpPr txBox="1"/>
          <p:nvPr/>
        </p:nvSpPr>
        <p:spPr>
          <a:xfrm>
            <a:off x="8549868" y="4572000"/>
            <a:ext cx="22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4A85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78" name="Google Shape;478;h56ab5dad46e2c1f2_0_0"/>
          <p:cNvSpPr txBox="1"/>
          <p:nvPr/>
        </p:nvSpPr>
        <p:spPr>
          <a:xfrm>
            <a:off x="8796762" y="4572000"/>
            <a:ext cx="27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Modelo conceptual de datos en curso</a:t>
            </a:r>
            <a:endParaRPr/>
          </a:p>
        </p:txBody>
      </p:sp>
      <p:sp>
        <p:nvSpPr>
          <p:cNvPr id="479" name="Google Shape;479;h56ab5dad46e2c1f2_0_0"/>
          <p:cNvSpPr/>
          <p:nvPr/>
        </p:nvSpPr>
        <p:spPr>
          <a:xfrm>
            <a:off x="8138377" y="5212080"/>
            <a:ext cx="3703200" cy="82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D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h56ab5dad46e2c1f2_0_0"/>
          <p:cNvSpPr txBox="1"/>
          <p:nvPr/>
        </p:nvSpPr>
        <p:spPr>
          <a:xfrm>
            <a:off x="8394416" y="5321808"/>
            <a:ext cx="201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◔  Avance global referencial</a:t>
            </a:r>
            <a:endParaRPr/>
          </a:p>
        </p:txBody>
      </p:sp>
      <p:sp>
        <p:nvSpPr>
          <p:cNvPr id="481" name="Google Shape;481;h56ab5dad46e2c1f2_0_0"/>
          <p:cNvSpPr/>
          <p:nvPr/>
        </p:nvSpPr>
        <p:spPr>
          <a:xfrm>
            <a:off x="8366983" y="5577840"/>
            <a:ext cx="3246000" cy="320100"/>
          </a:xfrm>
          <a:prstGeom prst="roundRect">
            <a:avLst>
              <a:gd fmla="val 16667" name="adj"/>
            </a:avLst>
          </a:prstGeom>
          <a:solidFill>
            <a:srgbClr val="EFF8FF"/>
          </a:solidFill>
          <a:ln cap="flat" cmpd="sng" w="12700">
            <a:solidFill>
              <a:srgbClr val="EFF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h56ab5dad46e2c1f2_0_0"/>
          <p:cNvSpPr txBox="1"/>
          <p:nvPr/>
        </p:nvSpPr>
        <p:spPr>
          <a:xfrm>
            <a:off x="8577301" y="5632704"/>
            <a:ext cx="6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9315C"/>
                </a:solidFill>
                <a:latin typeface="Arial"/>
                <a:ea typeface="Arial"/>
                <a:cs typeface="Arial"/>
                <a:sym typeface="Arial"/>
              </a:rPr>
              <a:t>16,7%</a:t>
            </a:r>
            <a:endParaRPr/>
          </a:p>
        </p:txBody>
      </p:sp>
      <p:sp>
        <p:nvSpPr>
          <p:cNvPr id="483" name="Google Shape;483;h56ab5dad46e2c1f2_0_0"/>
          <p:cNvSpPr txBox="1"/>
          <p:nvPr/>
        </p:nvSpPr>
        <p:spPr>
          <a:xfrm>
            <a:off x="9327129" y="5641848"/>
            <a:ext cx="2194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1 de 6 sprints completado</a:t>
            </a:r>
            <a:endParaRPr/>
          </a:p>
        </p:txBody>
      </p:sp>
      <p:sp>
        <p:nvSpPr>
          <p:cNvPr id="484" name="Google Shape;484;h56ab5dad46e2c1f2_0_0"/>
          <p:cNvSpPr/>
          <p:nvPr/>
        </p:nvSpPr>
        <p:spPr>
          <a:xfrm>
            <a:off x="228606" y="6263640"/>
            <a:ext cx="11613300" cy="347400"/>
          </a:xfrm>
          <a:prstGeom prst="roundRect">
            <a:avLst>
              <a:gd fmla="val 16667" name="adj"/>
            </a:avLst>
          </a:prstGeom>
          <a:solidFill>
            <a:srgbClr val="E9FCFD"/>
          </a:solidFill>
          <a:ln cap="flat" cmpd="sng" w="12700">
            <a:solidFill>
              <a:srgbClr val="71D3D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h56ab5dad46e2c1f2_0_0"/>
          <p:cNvSpPr txBox="1"/>
          <p:nvPr/>
        </p:nvSpPr>
        <p:spPr>
          <a:xfrm>
            <a:off x="438924" y="6336792"/>
            <a:ext cx="25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2B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486" name="Google Shape;486;h56ab5dad46e2c1f2_0_0"/>
          <p:cNvSpPr txBox="1"/>
          <p:nvPr/>
        </p:nvSpPr>
        <p:spPr>
          <a:xfrm>
            <a:off x="758972" y="6336792"/>
            <a:ext cx="10881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A2341"/>
                </a:solidFill>
                <a:latin typeface="Arial"/>
                <a:ea typeface="Arial"/>
                <a:cs typeface="Arial"/>
                <a:sym typeface="Arial"/>
              </a:rPr>
              <a:t>Conclusión: el Sprint 2 inicia la consolidación arquitectónica. La meta es cerrar una línea base técnica validada antes de iniciar backend y persistencia.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h56ab5dad46e2c1f2_0_342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00B6AE"/>
          </a:solidFill>
          <a:ln cap="flat" cmpd="sng" w="12700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go_quality360_cropped.png" id="493" name="Google Shape;493;h56ab5dad46e2c1f2_0_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1919" y="137160"/>
            <a:ext cx="914424" cy="621791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h56ab5dad46e2c1f2_0_342"/>
          <p:cNvSpPr/>
          <p:nvPr/>
        </p:nvSpPr>
        <p:spPr>
          <a:xfrm>
            <a:off x="347481" y="246888"/>
            <a:ext cx="8046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5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8245A"/>
                </a:solidFill>
                <a:latin typeface="Play"/>
                <a:ea typeface="Play"/>
                <a:cs typeface="Play"/>
                <a:sym typeface="Play"/>
              </a:rPr>
              <a:t>Conclusiones y próximos pasos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h56ab5dad46e2c1f2_0_342"/>
          <p:cNvSpPr/>
          <p:nvPr/>
        </p:nvSpPr>
        <p:spPr>
          <a:xfrm>
            <a:off x="356626" y="713232"/>
            <a:ext cx="694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F7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Cierre del avance arquitectónico y evolución de Quality360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h56ab5dad46e2c1f2_0_342"/>
          <p:cNvCxnSpPr/>
          <p:nvPr/>
        </p:nvCxnSpPr>
        <p:spPr>
          <a:xfrm>
            <a:off x="356626" y="1033272"/>
            <a:ext cx="567000" cy="0"/>
          </a:xfrm>
          <a:prstGeom prst="straightConnector1">
            <a:avLst/>
          </a:prstGeom>
          <a:noFill/>
          <a:ln cap="flat" cmpd="sng" w="27925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h56ab5dad46e2c1f2_0_342"/>
          <p:cNvSpPr/>
          <p:nvPr/>
        </p:nvSpPr>
        <p:spPr>
          <a:xfrm>
            <a:off x="365759" y="1353297"/>
            <a:ext cx="2432400" cy="13251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h56ab5dad46e2c1f2_0_342"/>
          <p:cNvSpPr/>
          <p:nvPr/>
        </p:nvSpPr>
        <p:spPr>
          <a:xfrm>
            <a:off x="512078" y="1517904"/>
            <a:ext cx="438900" cy="438900"/>
          </a:xfrm>
          <a:prstGeom prst="ellipse">
            <a:avLst/>
          </a:prstGeom>
          <a:solidFill>
            <a:srgbClr val="EAF4FF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h56ab5dad46e2c1f2_0_342"/>
          <p:cNvSpPr/>
          <p:nvPr/>
        </p:nvSpPr>
        <p:spPr>
          <a:xfrm>
            <a:off x="585232" y="1600200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3E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63E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h56ab5dad46e2c1f2_0_342"/>
          <p:cNvSpPr/>
          <p:nvPr/>
        </p:nvSpPr>
        <p:spPr>
          <a:xfrm>
            <a:off x="1097309" y="1554480"/>
            <a:ext cx="1280100" cy="329100"/>
          </a:xfrm>
          <a:prstGeom prst="roundRect">
            <a:avLst>
              <a:gd fmla="val 16667" name="adj"/>
            </a:avLst>
          </a:prstGeom>
          <a:solidFill>
            <a:srgbClr val="0B63E5"/>
          </a:solidFill>
          <a:ln cap="flat" cmpd="sng" w="12700">
            <a:solidFill>
              <a:srgbClr val="0B6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h56ab5dad46e2c1f2_0_342"/>
          <p:cNvSpPr/>
          <p:nvPr/>
        </p:nvSpPr>
        <p:spPr>
          <a:xfrm>
            <a:off x="1225329" y="1618488"/>
            <a:ext cx="105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 completado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2" name="Google Shape;502;h56ab5dad46e2c1f2_0_342"/>
          <p:cNvCxnSpPr/>
          <p:nvPr/>
        </p:nvCxnSpPr>
        <p:spPr>
          <a:xfrm>
            <a:off x="1115598" y="2020824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h56ab5dad46e2c1f2_0_342"/>
          <p:cNvSpPr/>
          <p:nvPr/>
        </p:nvSpPr>
        <p:spPr>
          <a:xfrm>
            <a:off x="1115605" y="1903953"/>
            <a:ext cx="1398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14 de 14 Story Points finalizados. Base técnica, planificación, arquitectura inicial y modelo de datos preliminar consolidados.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h56ab5dad46e2c1f2_0_342"/>
          <p:cNvSpPr/>
          <p:nvPr/>
        </p:nvSpPr>
        <p:spPr>
          <a:xfrm>
            <a:off x="3017606" y="1353296"/>
            <a:ext cx="2926200" cy="13716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h56ab5dad46e2c1f2_0_342"/>
          <p:cNvSpPr/>
          <p:nvPr/>
        </p:nvSpPr>
        <p:spPr>
          <a:xfrm>
            <a:off x="3163908" y="1517904"/>
            <a:ext cx="438900" cy="438900"/>
          </a:xfrm>
          <a:prstGeom prst="ellipse">
            <a:avLst/>
          </a:prstGeom>
          <a:solidFill>
            <a:srgbClr val="E9FBF7"/>
          </a:solidFill>
          <a:ln cap="flat" cmpd="sng" w="12700">
            <a:solidFill>
              <a:srgbClr val="E9FB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h56ab5dad46e2c1f2_0_342"/>
          <p:cNvSpPr/>
          <p:nvPr/>
        </p:nvSpPr>
        <p:spPr>
          <a:xfrm>
            <a:off x="3237062" y="1600200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h56ab5dad46e2c1f2_0_342"/>
          <p:cNvSpPr/>
          <p:nvPr/>
        </p:nvSpPr>
        <p:spPr>
          <a:xfrm>
            <a:off x="3749140" y="1554480"/>
            <a:ext cx="1691700" cy="329100"/>
          </a:xfrm>
          <a:prstGeom prst="roundRect">
            <a:avLst>
              <a:gd fmla="val 16667" name="adj"/>
            </a:avLst>
          </a:prstGeom>
          <a:solidFill>
            <a:srgbClr val="00B6AE"/>
          </a:solidFill>
          <a:ln cap="flat" cmpd="sng" w="12700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h56ab5dad46e2c1f2_0_342"/>
          <p:cNvSpPr/>
          <p:nvPr/>
        </p:nvSpPr>
        <p:spPr>
          <a:xfrm>
            <a:off x="3877159" y="1618488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Prototipo funcional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9" name="Google Shape;509;h56ab5dad46e2c1f2_0_342"/>
          <p:cNvCxnSpPr/>
          <p:nvPr/>
        </p:nvCxnSpPr>
        <p:spPr>
          <a:xfrm>
            <a:off x="3767428" y="2020824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0" name="Google Shape;510;h56ab5dad46e2c1f2_0_342"/>
          <p:cNvSpPr/>
          <p:nvPr/>
        </p:nvSpPr>
        <p:spPr>
          <a:xfrm>
            <a:off x="3767428" y="2157984"/>
            <a:ext cx="1810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Versión web desplegada en Vercel con acceso diferenciado por rol y funcionalidades iniciales de seguimiento QA.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h56ab5dad46e2c1f2_0_342"/>
          <p:cNvSpPr/>
          <p:nvPr/>
        </p:nvSpPr>
        <p:spPr>
          <a:xfrm>
            <a:off x="365759" y="2826348"/>
            <a:ext cx="2432400" cy="13251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h56ab5dad46e2c1f2_0_342"/>
          <p:cNvSpPr/>
          <p:nvPr/>
        </p:nvSpPr>
        <p:spPr>
          <a:xfrm>
            <a:off x="512078" y="2990948"/>
            <a:ext cx="438900" cy="438900"/>
          </a:xfrm>
          <a:prstGeom prst="ellipse">
            <a:avLst/>
          </a:prstGeom>
          <a:solidFill>
            <a:srgbClr val="EAF8EF"/>
          </a:solidFill>
          <a:ln cap="flat" cmpd="sng" w="12700">
            <a:solidFill>
              <a:srgbClr val="EAF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h56ab5dad46e2c1f2_0_342"/>
          <p:cNvSpPr/>
          <p:nvPr/>
        </p:nvSpPr>
        <p:spPr>
          <a:xfrm>
            <a:off x="585232" y="3073244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h56ab5dad46e2c1f2_0_342"/>
          <p:cNvSpPr/>
          <p:nvPr/>
        </p:nvSpPr>
        <p:spPr>
          <a:xfrm>
            <a:off x="1097309" y="3027524"/>
            <a:ext cx="1280100" cy="32910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h56ab5dad46e2c1f2_0_342"/>
          <p:cNvSpPr/>
          <p:nvPr/>
        </p:nvSpPr>
        <p:spPr>
          <a:xfrm>
            <a:off x="1225329" y="3091532"/>
            <a:ext cx="105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en consolidación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h56ab5dad46e2c1f2_0_342"/>
          <p:cNvCxnSpPr/>
          <p:nvPr/>
        </p:nvCxnSpPr>
        <p:spPr>
          <a:xfrm>
            <a:off x="1115598" y="3493868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h56ab5dad46e2c1f2_0_342"/>
          <p:cNvSpPr/>
          <p:nvPr/>
        </p:nvSpPr>
        <p:spPr>
          <a:xfrm>
            <a:off x="1115598" y="3631028"/>
            <a:ext cx="139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Sprint 2 profundiza casos de uso, modelo 4+1 y modelo conceptual de datos.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h56ab5dad46e2c1f2_0_342"/>
          <p:cNvSpPr/>
          <p:nvPr/>
        </p:nvSpPr>
        <p:spPr>
          <a:xfrm>
            <a:off x="3017605" y="2826350"/>
            <a:ext cx="2743200" cy="13251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h56ab5dad46e2c1f2_0_342"/>
          <p:cNvSpPr/>
          <p:nvPr/>
        </p:nvSpPr>
        <p:spPr>
          <a:xfrm>
            <a:off x="3163908" y="2990948"/>
            <a:ext cx="438900" cy="438900"/>
          </a:xfrm>
          <a:prstGeom prst="ellipse">
            <a:avLst/>
          </a:prstGeom>
          <a:solidFill>
            <a:srgbClr val="EAF4FF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h56ab5dad46e2c1f2_0_342"/>
          <p:cNvSpPr/>
          <p:nvPr/>
        </p:nvSpPr>
        <p:spPr>
          <a:xfrm>
            <a:off x="3237062" y="3073244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3E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63E5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h56ab5dad46e2c1f2_0_342"/>
          <p:cNvSpPr/>
          <p:nvPr/>
        </p:nvSpPr>
        <p:spPr>
          <a:xfrm>
            <a:off x="3749140" y="3027524"/>
            <a:ext cx="1691700" cy="329100"/>
          </a:xfrm>
          <a:prstGeom prst="roundRect">
            <a:avLst>
              <a:gd fmla="val 16667" name="adj"/>
            </a:avLst>
          </a:prstGeom>
          <a:solidFill>
            <a:srgbClr val="0B63E5"/>
          </a:solidFill>
          <a:ln cap="flat" cmpd="sng" w="12700">
            <a:solidFill>
              <a:srgbClr val="0B6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h56ab5dad46e2c1f2_0_342"/>
          <p:cNvSpPr/>
          <p:nvPr/>
        </p:nvSpPr>
        <p:spPr>
          <a:xfrm>
            <a:off x="3877159" y="3091532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Trazabilidad del diseño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3" name="Google Shape;523;h56ab5dad46e2c1f2_0_342"/>
          <p:cNvCxnSpPr/>
          <p:nvPr/>
        </p:nvCxnSpPr>
        <p:spPr>
          <a:xfrm>
            <a:off x="3767428" y="3493868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h56ab5dad46e2c1f2_0_342"/>
          <p:cNvSpPr/>
          <p:nvPr/>
        </p:nvSpPr>
        <p:spPr>
          <a:xfrm>
            <a:off x="3767428" y="3631028"/>
            <a:ext cx="1810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Los requerimientos funcionales comienzan a relacionarse con arquitectura, datos y evidencia técnica en Jira/GitHub.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h56ab5dad46e2c1f2_0_342"/>
          <p:cNvSpPr/>
          <p:nvPr/>
        </p:nvSpPr>
        <p:spPr>
          <a:xfrm>
            <a:off x="6126643" y="1454756"/>
            <a:ext cx="5577900" cy="3602700"/>
          </a:xfrm>
          <a:prstGeom prst="roundRect">
            <a:avLst>
              <a:gd fmla="val 2538" name="adj"/>
            </a:avLst>
          </a:prstGeom>
          <a:solidFill>
            <a:srgbClr val="ECFFFB"/>
          </a:solidFill>
          <a:ln cap="flat" cmpd="sng" w="15225">
            <a:solidFill>
              <a:srgbClr val="9CE7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h56ab5dad46e2c1f2_0_342"/>
          <p:cNvSpPr/>
          <p:nvPr/>
        </p:nvSpPr>
        <p:spPr>
          <a:xfrm>
            <a:off x="6364394" y="1536192"/>
            <a:ext cx="5084100" cy="429900"/>
          </a:xfrm>
          <a:prstGeom prst="roundRect">
            <a:avLst>
              <a:gd fmla="val 17021" name="adj"/>
            </a:avLst>
          </a:prstGeom>
          <a:solidFill>
            <a:srgbClr val="00B6AE"/>
          </a:solidFill>
          <a:ln cap="flat" cmpd="sng" w="12700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h56ab5dad46e2c1f2_0_342"/>
          <p:cNvSpPr/>
          <p:nvPr/>
        </p:nvSpPr>
        <p:spPr>
          <a:xfrm>
            <a:off x="6565567" y="1627632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h56ab5dad46e2c1f2_0_342"/>
          <p:cNvSpPr/>
          <p:nvPr/>
        </p:nvSpPr>
        <p:spPr>
          <a:xfrm>
            <a:off x="6419259" y="2185416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h56ab5dad46e2c1f2_0_342"/>
          <p:cNvSpPr/>
          <p:nvPr/>
        </p:nvSpPr>
        <p:spPr>
          <a:xfrm>
            <a:off x="6419259" y="2249424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h56ab5dad46e2c1f2_0_342"/>
          <p:cNvSpPr/>
          <p:nvPr/>
        </p:nvSpPr>
        <p:spPr>
          <a:xfrm>
            <a:off x="6913048" y="2212848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Finalizar y validar Sprint 2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1" name="Google Shape;531;h56ab5dad46e2c1f2_0_342"/>
          <p:cNvCxnSpPr/>
          <p:nvPr/>
        </p:nvCxnSpPr>
        <p:spPr>
          <a:xfrm>
            <a:off x="6391826" y="2624328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2" name="Google Shape;532;h56ab5dad46e2c1f2_0_342"/>
          <p:cNvSpPr/>
          <p:nvPr/>
        </p:nvSpPr>
        <p:spPr>
          <a:xfrm>
            <a:off x="6419259" y="2660904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h56ab5dad46e2c1f2_0_342"/>
          <p:cNvSpPr/>
          <p:nvPr/>
        </p:nvSpPr>
        <p:spPr>
          <a:xfrm>
            <a:off x="6419259" y="2724912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h56ab5dad46e2c1f2_0_342"/>
          <p:cNvSpPr/>
          <p:nvPr/>
        </p:nvSpPr>
        <p:spPr>
          <a:xfrm>
            <a:off x="6913048" y="2688336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Consolidar línea base arquitectónica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5" name="Google Shape;535;h56ab5dad46e2c1f2_0_342"/>
          <p:cNvCxnSpPr/>
          <p:nvPr/>
        </p:nvCxnSpPr>
        <p:spPr>
          <a:xfrm>
            <a:off x="6391826" y="3099816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h56ab5dad46e2c1f2_0_342"/>
          <p:cNvSpPr/>
          <p:nvPr/>
        </p:nvSpPr>
        <p:spPr>
          <a:xfrm>
            <a:off x="6419259" y="3136392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h56ab5dad46e2c1f2_0_342"/>
          <p:cNvSpPr/>
          <p:nvPr/>
        </p:nvSpPr>
        <p:spPr>
          <a:xfrm>
            <a:off x="6419259" y="3200400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h56ab5dad46e2c1f2_0_342"/>
          <p:cNvSpPr/>
          <p:nvPr/>
        </p:nvSpPr>
        <p:spPr>
          <a:xfrm>
            <a:off x="6913048" y="3163824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Implementar backend Spring Boot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h56ab5dad46e2c1f2_0_342"/>
          <p:cNvCxnSpPr/>
          <p:nvPr/>
        </p:nvCxnSpPr>
        <p:spPr>
          <a:xfrm>
            <a:off x="6391826" y="3575304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h56ab5dad46e2c1f2_0_342"/>
          <p:cNvSpPr/>
          <p:nvPr/>
        </p:nvSpPr>
        <p:spPr>
          <a:xfrm>
            <a:off x="6419259" y="3611880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h56ab5dad46e2c1f2_0_342"/>
          <p:cNvSpPr/>
          <p:nvPr/>
        </p:nvSpPr>
        <p:spPr>
          <a:xfrm>
            <a:off x="6419259" y="3675888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h56ab5dad46e2c1f2_0_342"/>
          <p:cNvSpPr/>
          <p:nvPr/>
        </p:nvSpPr>
        <p:spPr>
          <a:xfrm>
            <a:off x="6913048" y="3639312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Incorporar persistencia PostgreSQL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3" name="Google Shape;543;h56ab5dad46e2c1f2_0_342"/>
          <p:cNvCxnSpPr/>
          <p:nvPr/>
        </p:nvCxnSpPr>
        <p:spPr>
          <a:xfrm>
            <a:off x="6391826" y="4050792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h56ab5dad46e2c1f2_0_342"/>
          <p:cNvSpPr/>
          <p:nvPr/>
        </p:nvSpPr>
        <p:spPr>
          <a:xfrm>
            <a:off x="6419259" y="4087368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h56ab5dad46e2c1f2_0_342"/>
          <p:cNvSpPr/>
          <p:nvPr/>
        </p:nvSpPr>
        <p:spPr>
          <a:xfrm>
            <a:off x="6419259" y="4151376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h56ab5dad46e2c1f2_0_342"/>
          <p:cNvSpPr/>
          <p:nvPr/>
        </p:nvSpPr>
        <p:spPr>
          <a:xfrm>
            <a:off x="6913048" y="4114800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Integrar frontend y fuentes Jira / CSV-JSON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h56ab5dad46e2c1f2_0_342"/>
          <p:cNvCxnSpPr/>
          <p:nvPr/>
        </p:nvCxnSpPr>
        <p:spPr>
          <a:xfrm>
            <a:off x="6391826" y="4526280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8" name="Google Shape;548;h56ab5dad46e2c1f2_0_342"/>
          <p:cNvSpPr/>
          <p:nvPr/>
        </p:nvSpPr>
        <p:spPr>
          <a:xfrm>
            <a:off x="6419259" y="4562856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h56ab5dad46e2c1f2_0_342"/>
          <p:cNvSpPr/>
          <p:nvPr/>
        </p:nvSpPr>
        <p:spPr>
          <a:xfrm>
            <a:off x="6419259" y="4626864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h56ab5dad46e2c1f2_0_342"/>
          <p:cNvSpPr/>
          <p:nvPr/>
        </p:nvSpPr>
        <p:spPr>
          <a:xfrm>
            <a:off x="6913048" y="4590288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Ejecutar pruebas y medición SIN/CON Quality360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h56ab5dad46e2c1f2_0_342"/>
          <p:cNvSpPr/>
          <p:nvPr/>
        </p:nvSpPr>
        <p:spPr>
          <a:xfrm>
            <a:off x="365770" y="5321808"/>
            <a:ext cx="11338800" cy="749700"/>
          </a:xfrm>
          <a:prstGeom prst="roundRect">
            <a:avLst>
              <a:gd fmla="val 10976" name="adj"/>
            </a:avLst>
          </a:prstGeom>
          <a:solidFill>
            <a:srgbClr val="EEF9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h56ab5dad46e2c1f2_0_342"/>
          <p:cNvSpPr/>
          <p:nvPr/>
        </p:nvSpPr>
        <p:spPr>
          <a:xfrm>
            <a:off x="859559" y="5477256"/>
            <a:ext cx="420600" cy="420600"/>
          </a:xfrm>
          <a:prstGeom prst="ellipse">
            <a:avLst/>
          </a:prstGeom>
          <a:solidFill>
            <a:srgbClr val="D9F0FF"/>
          </a:solidFill>
          <a:ln cap="flat" cmpd="sng" w="12700">
            <a:solidFill>
              <a:srgbClr val="D9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h56ab5dad46e2c1f2_0_342"/>
          <p:cNvSpPr/>
          <p:nvPr/>
        </p:nvSpPr>
        <p:spPr>
          <a:xfrm>
            <a:off x="941857" y="5559552"/>
            <a:ext cx="26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h56ab5dad46e2c1f2_0_342"/>
          <p:cNvCxnSpPr/>
          <p:nvPr/>
        </p:nvCxnSpPr>
        <p:spPr>
          <a:xfrm>
            <a:off x="1481367" y="5449824"/>
            <a:ext cx="0" cy="475500"/>
          </a:xfrm>
          <a:prstGeom prst="straightConnector1">
            <a:avLst/>
          </a:prstGeom>
          <a:noFill/>
          <a:ln cap="flat" cmpd="sng" w="139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h56ab5dad46e2c1f2_0_342"/>
          <p:cNvSpPr/>
          <p:nvPr/>
        </p:nvSpPr>
        <p:spPr>
          <a:xfrm>
            <a:off x="1719118" y="5504688"/>
            <a:ext cx="9510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45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8245A"/>
                </a:solidFill>
                <a:latin typeface="Arial"/>
                <a:ea typeface="Arial"/>
                <a:cs typeface="Arial"/>
                <a:sym typeface="Arial"/>
              </a:rPr>
              <a:t>Quality360 evoluciona desde un prototipo funcional hacia una solución QA trazable, </a:t>
            </a:r>
            <a:r>
              <a:rPr b="1" i="0" lang="en-US" sz="152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sustentada por una arquitectura definida y un modelo de datos preparado para la implementación.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h56ab5dad46e2c1f2_0_342"/>
          <p:cNvSpPr/>
          <p:nvPr/>
        </p:nvSpPr>
        <p:spPr>
          <a:xfrm>
            <a:off x="365770" y="6537960"/>
            <a:ext cx="310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58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66758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h56ab5dad46e2c1f2_0_342"/>
          <p:cNvSpPr/>
          <p:nvPr/>
        </p:nvSpPr>
        <p:spPr>
          <a:xfrm>
            <a:off x="9692898" y="6537960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58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66758A"/>
                </a:solidFill>
                <a:latin typeface="Arial"/>
                <a:ea typeface="Arial"/>
                <a:cs typeface="Arial"/>
                <a:sym typeface="Arial"/>
              </a:rPr>
              <a:t>Cierre de avance · Sprint 2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2026-09-24T23:02:06Z</dcterms:created>
  <dc:creator>OpenAI</dc:creator>
</cp:coreProperties>
</file>