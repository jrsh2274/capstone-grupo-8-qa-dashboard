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57" r:id="rId5"/>
    <p:sldId id="268" r:id="rId6"/>
    <p:sldId id="259" r:id="rId7"/>
    <p:sldId id="260" r:id="rId8"/>
    <p:sldId id="263" r:id="rId9"/>
    <p:sldId id="261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7D0A6-093C-4E1E-B4C0-93872F5E2B51}" v="1" dt="2026-09-11T23:17:33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90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Seguel" userId="46438015789fe8b1" providerId="LiveId" clId="{2C162306-BAED-425F-BF99-66E4F0511F8A}"/>
    <pc:docChg chg="addSld delSld modSld">
      <pc:chgData name="Renato Seguel" userId="46438015789fe8b1" providerId="LiveId" clId="{2C162306-BAED-425F-BF99-66E4F0511F8A}" dt="2026-09-11T23:18:07.103" v="20" actId="1076"/>
      <pc:docMkLst>
        <pc:docMk/>
      </pc:docMkLst>
      <pc:sldChg chg="modSp mod">
        <pc:chgData name="Renato Seguel" userId="46438015789fe8b1" providerId="LiveId" clId="{2C162306-BAED-425F-BF99-66E4F0511F8A}" dt="2026-09-11T21:36:36.480" v="0" actId="1076"/>
        <pc:sldMkLst>
          <pc:docMk/>
          <pc:sldMk cId="0" sldId="258"/>
        </pc:sldMkLst>
        <pc:spChg chg="mod">
          <ac:chgData name="Renato Seguel" userId="46438015789fe8b1" providerId="LiveId" clId="{2C162306-BAED-425F-BF99-66E4F0511F8A}" dt="2026-09-11T21:36:36.480" v="0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1:36:36.480" v="0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1:36:36.480" v="0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1:36:36.480" v="0" actId="107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1:36:36.480" v="0" actId="107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1:36:36.480" v="0" actId="1076"/>
          <ac:spMkLst>
            <pc:docMk/>
            <pc:sldMk cId="0" sldId="258"/>
            <ac:spMk id="44" creationId="{00000000-0000-0000-0000-000000000000}"/>
          </ac:spMkLst>
        </pc:spChg>
      </pc:sldChg>
      <pc:sldChg chg="modSp add del mod">
        <pc:chgData name="Renato Seguel" userId="46438015789fe8b1" providerId="LiveId" clId="{2C162306-BAED-425F-BF99-66E4F0511F8A}" dt="2026-09-11T23:18:07.103" v="20" actId="1076"/>
        <pc:sldMkLst>
          <pc:docMk/>
          <pc:sldMk cId="0" sldId="261"/>
        </pc:sldMkLst>
        <pc:spChg chg="mod">
          <ac:chgData name="Renato Seguel" userId="46438015789fe8b1" providerId="LiveId" clId="{2C162306-BAED-425F-BF99-66E4F0511F8A}" dt="2026-09-11T22:01:19.709" v="4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2:01:43.205" v="6" actId="20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2:30:32.555" v="16" actId="1392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2:01:24.011" v="5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2:06:24.590" v="12" actId="10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2:06:28.520" v="13" actId="10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2:07:56.924" v="15" actId="1392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3:17:59.212" v="19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enato Seguel" userId="46438015789fe8b1" providerId="LiveId" clId="{2C162306-BAED-425F-BF99-66E4F0511F8A}" dt="2026-09-11T23:18:07.103" v="20" actId="1076"/>
          <ac:spMkLst>
            <pc:docMk/>
            <pc:sldMk cId="0" sldId="261"/>
            <ac:spMk id="33" creationId="{00000000-0000-0000-0000-000000000000}"/>
          </ac:spMkLst>
        </pc:spChg>
      </pc:sldChg>
      <pc:sldChg chg="modSp mod">
        <pc:chgData name="Renato Seguel" userId="46438015789fe8b1" providerId="LiveId" clId="{2C162306-BAED-425F-BF99-66E4F0511F8A}" dt="2026-09-11T21:43:31.672" v="1" actId="14100"/>
        <pc:sldMkLst>
          <pc:docMk/>
          <pc:sldMk cId="3381375241" sldId="267"/>
        </pc:sldMkLst>
        <pc:picChg chg="mod">
          <ac:chgData name="Renato Seguel" userId="46438015789fe8b1" providerId="LiveId" clId="{2C162306-BAED-425F-BF99-66E4F0511F8A}" dt="2026-09-11T21:43:31.672" v="1" actId="14100"/>
          <ac:picMkLst>
            <pc:docMk/>
            <pc:sldMk cId="3381375241" sldId="267"/>
            <ac:picMk id="35" creationId="{DB8D9624-CC40-3C46-9CA1-7385D45F67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85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E265-D3A1-A2C3-FBBE-A76B61DC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7834E-E45E-D3D7-53C0-B5E87079C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43FF8-2D90-839A-2E3F-6B0414E0A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69B1E-CB9D-C051-09BC-493EDC58A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7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16D1-AEED-A2CD-374E-56920C6C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F9B02-5548-3C05-40E9-D25F6A55D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38F45-EC1D-DCEB-2420-F46857B4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6C88D-AEBE-2824-00E6-C156E5EBB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12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457200" y="548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FE7F1"/>
                </a:solidFill>
              </a:rPr>
              <a:t>CAPSTONE · GRUPO 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Quality360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457200" y="2130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Presentación de avance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CEBFA"/>
                </a:solidFill>
              </a:rPr>
              <a:t>Estado de actividades, riesgos, avance real vs. planificado y gestión ágil del Sprint.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70332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57200" y="375361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CORTE 11/09/2026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45720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B93B"/>
                </a:solidFill>
              </a:rPr>
              <a:t>José Seguel · Jonathan Choque · Matías Araos</a:t>
            </a:r>
            <a:endParaRPr lang="en-US" sz="1000" dirty="0"/>
          </a:p>
        </p:txBody>
      </p:sp>
      <p:pic>
        <p:nvPicPr>
          <p:cNvPr id="13" name="Image 1" descr="/mnt/data/logo_corporativo_quality360_en_azul_y_turque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60120"/>
            <a:ext cx="4389120" cy="4389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57150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6CCB"/>
                </a:solidFill>
              </a:rPr>
              <a:t>CALIDAD · VISIBILIDAD · ANÁLISIS · IMPACTO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Actividades realizadas · Logros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Avances completados y verificables de Quality360.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03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914400" y="1645920"/>
            <a:ext cx="384048" cy="38404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914400" y="16642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15819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59"/>
                </a:solidFill>
              </a:rPr>
              <a:t>Definición del proyecto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463040" y="18562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D6F8B"/>
                </a:solidFill>
              </a:rPr>
              <a:t>Contexto, problema, alcance, propuesta de valor y objetivos definidos.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6446520" y="1645920"/>
            <a:ext cx="384048" cy="38404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446520" y="16642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95160" y="15819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59"/>
                </a:solidFill>
              </a:rPr>
              <a:t>Metodología y organización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95160" y="18562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D6F8B"/>
                </a:solidFill>
              </a:rPr>
              <a:t>Scrum, roles del equipo y roadmap de trabajo establecidos.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85800" y="27432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914400" y="2971800"/>
            <a:ext cx="384048" cy="38404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914400" y="2990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63040" y="29077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59"/>
                </a:solidFill>
              </a:rPr>
              <a:t>Gestión y trazabilidad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463040" y="3182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D6F8B"/>
                </a:solidFill>
              </a:rPr>
              <a:t>GitHub público, estructura por fases y Jira Cloud configurado.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217920" y="27432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2"/>
          <p:cNvSpPr/>
          <p:nvPr/>
        </p:nvSpPr>
        <p:spPr>
          <a:xfrm>
            <a:off x="6446520" y="2971800"/>
            <a:ext cx="384048" cy="38404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446520" y="2990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95160" y="29077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59"/>
                </a:solidFill>
              </a:rPr>
              <a:t>Prototipo funcional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995160" y="3182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D6F8B"/>
                </a:solidFill>
              </a:rPr>
              <a:t>Aplicación React + Vite operativa con gestión de Historias de Usuario.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85800" y="406908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914400" y="4297680"/>
            <a:ext cx="384048" cy="38404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914400" y="43159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463040" y="42336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59"/>
                </a:solidFill>
              </a:rPr>
              <a:t>Funcionalidades QA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463040" y="4507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D6F8B"/>
                </a:solidFill>
              </a:rPr>
              <a:t>CRUD, persistencia temporal, vistas QE / Analista QA y checklist.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6217920" y="406908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2"/>
          <p:cNvSpPr/>
          <p:nvPr/>
        </p:nvSpPr>
        <p:spPr>
          <a:xfrm>
            <a:off x="6446520" y="4297680"/>
            <a:ext cx="384048" cy="38404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6446520" y="43159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95160" y="42336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59"/>
                </a:solidFill>
              </a:rPr>
              <a:t>Documentación Fase 1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995160" y="4507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D6F8B"/>
                </a:solidFill>
              </a:rPr>
              <a:t>Guía, presentación, autoevaluaciones y evidencias iniciales desarrolladas.</a:t>
            </a: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685800" y="5129784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ECF8E8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40" name="Text 37"/>
          <p:cNvSpPr/>
          <p:nvPr/>
        </p:nvSpPr>
        <p:spPr>
          <a:xfrm>
            <a:off x="708660" y="52943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9</a:t>
            </a:r>
            <a:endParaRPr lang="en-US" sz="2500" dirty="0"/>
          </a:p>
        </p:txBody>
      </p:sp>
      <p:sp>
        <p:nvSpPr>
          <p:cNvPr id="41" name="Text 38"/>
          <p:cNvSpPr/>
          <p:nvPr/>
        </p:nvSpPr>
        <p:spPr>
          <a:xfrm>
            <a:off x="845820" y="5980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actividades históricas finalizadas en Jira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200400" y="5141032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E6FAF8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3268980" y="5349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0</a:t>
            </a:r>
            <a:endParaRPr lang="en-US" sz="2500" dirty="0"/>
          </a:p>
        </p:txBody>
      </p:sp>
      <p:sp>
        <p:nvSpPr>
          <p:cNvPr id="44" name="Text 41"/>
          <p:cNvSpPr/>
          <p:nvPr/>
        </p:nvSpPr>
        <p:spPr>
          <a:xfrm>
            <a:off x="3406140" y="5980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bloqueos abiertos de Fase 1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806440" y="5486400"/>
            <a:ext cx="54406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/>
          <p:nvPr/>
        </p:nvSpPr>
        <p:spPr>
          <a:xfrm>
            <a:off x="6080760" y="5669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559"/>
                </a:solidFill>
              </a:rPr>
              <a:t>Evidencia disponible: GitHub, documentación de Fase 1, Jira Cloud y prototipo funcional Quality360.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518F0-4277-499E-F607-3B8951D6C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BE0FDE-07B1-9B4F-6AD7-6FF0689D624C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DB79A0-F163-3733-985D-4464245F31DC}"/>
              </a:ext>
            </a:extLst>
          </p:cNvPr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99EE72-7F17-08DD-8B90-D424ADECA83C}"/>
              </a:ext>
            </a:extLst>
          </p:cNvPr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>
            <a:extLst>
              <a:ext uri="{FF2B5EF4-FFF2-40B4-BE49-F238E27FC236}">
                <a16:creationId xmlns:a16="http://schemas.microsoft.com/office/drawing/2014/main" id="{14D02F22-1793-9F26-A0A2-EADFC567B8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F96E44F-32A0-0C2A-21CC-A94B735703F1}"/>
              </a:ext>
            </a:extLst>
          </p:cNvPr>
          <p:cNvSpPr/>
          <p:nvPr/>
        </p:nvSpPr>
        <p:spPr>
          <a:xfrm>
            <a:off x="560832" y="47091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B2559"/>
                </a:solidFill>
                <a:latin typeface="Aptos Display" pitchFamily="34" charset="0"/>
              </a:rPr>
              <a:t>Detalle</a:t>
            </a: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</a:rPr>
              <a:t> Tareas </a:t>
            </a:r>
            <a:r>
              <a:rPr lang="en-US" sz="2600" b="1" dirty="0" err="1">
                <a:solidFill>
                  <a:srgbClr val="0B2559"/>
                </a:solidFill>
                <a:latin typeface="Aptos Display" pitchFamily="34" charset="0"/>
              </a:rPr>
              <a:t>fase</a:t>
            </a: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</a:rPr>
              <a:t> 1 - </a:t>
            </a:r>
            <a:r>
              <a:rPr lang="en-US" sz="2600" b="1" dirty="0" err="1">
                <a:solidFill>
                  <a:srgbClr val="0B2559"/>
                </a:solidFill>
                <a:latin typeface="Aptos Display" pitchFamily="34" charset="0"/>
              </a:rPr>
              <a:t>Finalizada</a:t>
            </a:r>
            <a:endParaRPr lang="en-US" sz="2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2FBC86-823F-C777-CE38-2585CEB4506F}"/>
              </a:ext>
            </a:extLst>
          </p:cNvPr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: Proyecto Quality 360 Jira cloud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3C76008-AFE5-962A-F82B-12CA4D0A9336}"/>
              </a:ext>
            </a:extLst>
          </p:cNvPr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02</a:t>
            </a:r>
            <a:endParaRPr lang="en-US" sz="7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DB8D9624-CC40-3C46-9CA1-7385D45F6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24" y="1444752"/>
            <a:ext cx="10542167" cy="363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7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 del avance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 actual del proyecto Quality360 al corte de presentación.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02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40080" y="1508760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ECF8E8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77240" y="17099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Fase 1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2296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cerrada y evidenciada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1508760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E6FAF8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383280" y="17099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9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342900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actividades finalizadas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1508760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5989320" y="17099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14 SP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603504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comprometidos en Sprint 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58200" y="1508760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FFF7E7"/>
          </a:solidFill>
          <a:ln w="12700">
            <a:solidFill>
              <a:srgbClr val="F6B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8595360" y="17099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21,4%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864108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avance inicial Sprint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5800" y="2971800"/>
            <a:ext cx="10835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960120" y="320040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960120" y="32506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ESTADO GENERAL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1051560" y="3694176"/>
            <a:ext cx="109728" cy="10972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1234440" y="365760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33F"/>
                </a:solidFill>
              </a:rPr>
              <a:t>Fase 1 completada: definición funcional, documentación, repositorio y prototipo inicial.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1051560" y="4105656"/>
            <a:ext cx="109728" cy="109728"/>
          </a:xfrm>
          <a:prstGeom prst="ellipse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1234440" y="40690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33F"/>
                </a:solidFill>
              </a:rPr>
              <a:t>Jira Cloud configurado con proyecto Quality360, equipo integrado, épicas y Sprint activo.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1051560" y="4517136"/>
            <a:ext cx="109728" cy="109728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1234440" y="448056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33F"/>
                </a:solidFill>
              </a:rPr>
              <a:t>Sprint actual </a:t>
            </a:r>
            <a:r>
              <a:rPr lang="en-US" sz="1120" dirty="0" err="1">
                <a:solidFill>
                  <a:srgbClr val="10233F"/>
                </a:solidFill>
              </a:rPr>
              <a:t>orientado</a:t>
            </a:r>
            <a:r>
              <a:rPr lang="en-US" sz="1120" dirty="0">
                <a:solidFill>
                  <a:srgbClr val="10233F"/>
                </a:solidFill>
              </a:rPr>
              <a:t> a la  arquitectura, modelo de datos, dashboards/KPI y formalización del backlog.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1051560" y="4928616"/>
            <a:ext cx="109728" cy="109728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1234440" y="489204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33F"/>
                </a:solidFill>
              </a:rPr>
              <a:t>Principal desviación: formalización tardía de Jira/Planning por acceso institucional y carga laboral.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85800" y="5715000"/>
            <a:ext cx="10835640" cy="438912"/>
          </a:xfrm>
          <a:prstGeom prst="roundRect">
            <a:avLst>
              <a:gd name="adj" fmla="val 12500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868680" y="584301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Mensaje clave: el proyecto tiene una base funcional y documental cerrada; el siguiente bloque queda controlado mediante Scrum y Burndown en Jira.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E9A90-24D6-0F98-B286-5D538177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BE5822-8AE2-4CB4-9EF5-5D2AEF1F2649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4F635A-8ED5-99F4-D5A5-4CEB1CF9F175}"/>
              </a:ext>
            </a:extLst>
          </p:cNvPr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BBFA00-5D23-9224-9EC8-6F3462BC0764}"/>
              </a:ext>
            </a:extLst>
          </p:cNvPr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>
            <a:extLst>
              <a:ext uri="{FF2B5EF4-FFF2-40B4-BE49-F238E27FC236}">
                <a16:creationId xmlns:a16="http://schemas.microsoft.com/office/drawing/2014/main" id="{7866E2CA-592C-2507-89CE-17455211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F5EC33F-D9B7-807E-A064-950400D49AC7}"/>
              </a:ext>
            </a:extLst>
          </p:cNvPr>
          <p:cNvSpPr/>
          <p:nvPr/>
        </p:nvSpPr>
        <p:spPr>
          <a:xfrm>
            <a:off x="560832" y="47091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</a:rPr>
              <a:t> Backlog – Sprint 1</a:t>
            </a:r>
            <a:endParaRPr lang="en-US" sz="2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1A17FA8-534B-6903-099C-3373A802D55F}"/>
              </a:ext>
            </a:extLst>
          </p:cNvPr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: Proyecto Quality 360 Jira cloud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8954431-ABAD-F4DA-B8AA-133B215ED5B2}"/>
              </a:ext>
            </a:extLst>
          </p:cNvPr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02</a:t>
            </a:r>
            <a:endParaRPr lang="en-US" sz="7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D4A4B34-F179-233F-8ADB-C3EBB5FF1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30" y="1346575"/>
            <a:ext cx="10594948" cy="40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Actividades en progreso y próximas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activo y próximas actividades priorizadas para sostener la ejecución.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04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960120" y="1691640"/>
            <a:ext cx="1280160" cy="301752"/>
          </a:xfrm>
          <a:prstGeom prst="roundRect">
            <a:avLst>
              <a:gd name="adj" fmla="val 24242"/>
            </a:avLst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960120" y="17419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EN PROGRESO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960120" y="2148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59"/>
                </a:solidFill>
              </a:rPr>
              <a:t>Sprint 1 · 11/09 al 24/09 · 14 SP comprometidos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25603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6CCB"/>
                </a:solidFill>
              </a:rPr>
              <a:t>Q360-2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691640" y="2560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0233F"/>
                </a:solidFill>
              </a:rPr>
              <a:t>Completar arquitectura inicial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4251960" y="2560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5D6F8B"/>
                </a:solidFill>
              </a:rPr>
              <a:t>Matías</a:t>
            </a:r>
            <a:endParaRPr lang="en-US" sz="910" dirty="0"/>
          </a:p>
        </p:txBody>
      </p:sp>
      <p:sp>
        <p:nvSpPr>
          <p:cNvPr id="16" name="Text 13"/>
          <p:cNvSpPr/>
          <p:nvPr/>
        </p:nvSpPr>
        <p:spPr>
          <a:xfrm>
            <a:off x="4892040" y="25603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0B2559"/>
                </a:solidFill>
              </a:rPr>
              <a:t>5 SP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960120" y="31272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6CCB"/>
                </a:solidFill>
              </a:rPr>
              <a:t>Q360-1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691640" y="31272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0233F"/>
                </a:solidFill>
              </a:rPr>
              <a:t>Product Backlog y Sprint Planning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4251960" y="31272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5D6F8B"/>
                </a:solidFill>
              </a:rPr>
              <a:t>José</a:t>
            </a:r>
            <a:endParaRPr lang="en-US" sz="910" dirty="0"/>
          </a:p>
        </p:txBody>
      </p:sp>
      <p:sp>
        <p:nvSpPr>
          <p:cNvPr id="20" name="Text 17"/>
          <p:cNvSpPr/>
          <p:nvPr/>
        </p:nvSpPr>
        <p:spPr>
          <a:xfrm>
            <a:off x="4892040" y="31272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0B2559"/>
                </a:solidFill>
              </a:rPr>
              <a:t>3 SP · Finalizado</a:t>
            </a:r>
            <a:endParaRPr lang="en-US" sz="910" dirty="0"/>
          </a:p>
        </p:txBody>
      </p:sp>
      <p:sp>
        <p:nvSpPr>
          <p:cNvPr id="21" name="Text 18"/>
          <p:cNvSpPr/>
          <p:nvPr/>
        </p:nvSpPr>
        <p:spPr>
          <a:xfrm>
            <a:off x="960120" y="36941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6CCB"/>
                </a:solidFill>
              </a:rPr>
              <a:t>Q360-17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691640" y="36941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0233F"/>
                </a:solidFill>
              </a:rPr>
              <a:t>Dashboards y KPI para rol QE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4251960" y="36941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5D6F8B"/>
                </a:solidFill>
              </a:rPr>
              <a:t>Jonathan</a:t>
            </a:r>
            <a:endParaRPr lang="en-US" sz="910" dirty="0"/>
          </a:p>
        </p:txBody>
      </p:sp>
      <p:sp>
        <p:nvSpPr>
          <p:cNvPr id="24" name="Text 21"/>
          <p:cNvSpPr/>
          <p:nvPr/>
        </p:nvSpPr>
        <p:spPr>
          <a:xfrm>
            <a:off x="4892040" y="36941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0B2559"/>
                </a:solidFill>
              </a:rPr>
              <a:t>3 SP</a:t>
            </a:r>
            <a:endParaRPr lang="en-US" sz="910" dirty="0"/>
          </a:p>
        </p:txBody>
      </p:sp>
      <p:sp>
        <p:nvSpPr>
          <p:cNvPr id="25" name="Text 22"/>
          <p:cNvSpPr/>
          <p:nvPr/>
        </p:nvSpPr>
        <p:spPr>
          <a:xfrm>
            <a:off x="960120" y="4261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6CCB"/>
                </a:solidFill>
              </a:rPr>
              <a:t>Q360-18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691640" y="4261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0233F"/>
                </a:solidFill>
              </a:rPr>
              <a:t>Modelo de datos inicial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4251960" y="426110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5D6F8B"/>
                </a:solidFill>
              </a:rPr>
              <a:t>Matías</a:t>
            </a:r>
            <a:endParaRPr lang="en-US" sz="910" dirty="0"/>
          </a:p>
        </p:txBody>
      </p:sp>
      <p:sp>
        <p:nvSpPr>
          <p:cNvPr id="28" name="Text 25"/>
          <p:cNvSpPr/>
          <p:nvPr/>
        </p:nvSpPr>
        <p:spPr>
          <a:xfrm>
            <a:off x="4892040" y="4261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0B2559"/>
                </a:solidFill>
              </a:rPr>
              <a:t>3 SP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6263640" y="141732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6537960" y="1691640"/>
            <a:ext cx="2011680" cy="301752"/>
          </a:xfrm>
          <a:prstGeom prst="roundRect">
            <a:avLst>
              <a:gd name="adj" fmla="val 24242"/>
            </a:avLst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6537960" y="17419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PRÓXIMAS / NO INICIADAS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537960" y="2203704"/>
            <a:ext cx="109728" cy="109728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6720840" y="21671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33F"/>
                </a:solidFill>
              </a:rPr>
              <a:t>Backend Spring Boot</a:t>
            </a:r>
            <a:endParaRPr lang="en-US" sz="990" dirty="0"/>
          </a:p>
        </p:txBody>
      </p:sp>
      <p:sp>
        <p:nvSpPr>
          <p:cNvPr id="34" name="Text 31"/>
          <p:cNvSpPr/>
          <p:nvPr/>
        </p:nvSpPr>
        <p:spPr>
          <a:xfrm>
            <a:off x="6720840" y="239572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D6F8B"/>
                </a:solidFill>
              </a:rPr>
              <a:t>Servicios base y API REST.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6537960" y="2807208"/>
            <a:ext cx="109728" cy="109728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6720840" y="2770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33F"/>
                </a:solidFill>
              </a:rPr>
              <a:t>PostgreSQL</a:t>
            </a:r>
            <a:endParaRPr lang="en-US" sz="990" dirty="0"/>
          </a:p>
        </p:txBody>
      </p:sp>
      <p:sp>
        <p:nvSpPr>
          <p:cNvPr id="37" name="Text 34"/>
          <p:cNvSpPr/>
          <p:nvPr/>
        </p:nvSpPr>
        <p:spPr>
          <a:xfrm>
            <a:off x="6720840" y="299923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D6F8B"/>
                </a:solidFill>
              </a:rPr>
              <a:t>Persistencia definitiva de datos.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6537960" y="3410712"/>
            <a:ext cx="109728" cy="109728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6720840" y="33741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33F"/>
                </a:solidFill>
              </a:rPr>
              <a:t>Conexión frontend–backend</a:t>
            </a:r>
            <a:endParaRPr lang="en-US" sz="990" dirty="0"/>
          </a:p>
        </p:txBody>
      </p:sp>
      <p:sp>
        <p:nvSpPr>
          <p:cNvPr id="40" name="Text 37"/>
          <p:cNvSpPr/>
          <p:nvPr/>
        </p:nvSpPr>
        <p:spPr>
          <a:xfrm>
            <a:off x="6720840" y="3602736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D6F8B"/>
                </a:solidFill>
              </a:rPr>
              <a:t>Reemplazo gradual de persistencia local.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6537960" y="4014216"/>
            <a:ext cx="109728" cy="109728"/>
          </a:xfrm>
          <a:prstGeom prst="ellipse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6720840" y="39776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33F"/>
                </a:solidFill>
              </a:rPr>
              <a:t>Integración Jira REST API / CSV-JSON</a:t>
            </a:r>
            <a:endParaRPr lang="en-US" sz="990" dirty="0"/>
          </a:p>
        </p:txBody>
      </p:sp>
      <p:sp>
        <p:nvSpPr>
          <p:cNvPr id="43" name="Text 40"/>
          <p:cNvSpPr/>
          <p:nvPr/>
        </p:nvSpPr>
        <p:spPr>
          <a:xfrm>
            <a:off x="6720840" y="420624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D6F8B"/>
                </a:solidFill>
              </a:rPr>
              <a:t>Fuente controlada de HU.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6537960" y="4617720"/>
            <a:ext cx="109728" cy="109728"/>
          </a:xfrm>
          <a:prstGeom prst="ellipse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/>
          <p:nvPr/>
        </p:nvSpPr>
        <p:spPr>
          <a:xfrm>
            <a:off x="6720840" y="45811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33F"/>
                </a:solidFill>
              </a:rPr>
              <a:t>Medición SIN vs CON Q360</a:t>
            </a:r>
            <a:endParaRPr lang="en-US" sz="990" dirty="0"/>
          </a:p>
        </p:txBody>
      </p:sp>
      <p:sp>
        <p:nvSpPr>
          <p:cNvPr id="46" name="Text 43"/>
          <p:cNvSpPr/>
          <p:nvPr/>
        </p:nvSpPr>
        <p:spPr>
          <a:xfrm>
            <a:off x="6720840" y="480974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D6F8B"/>
                </a:solidFill>
              </a:rPr>
              <a:t>Prueba piloto con tiempos reales.</a:t>
            </a:r>
            <a:endParaRPr lang="en-US" sz="860" dirty="0"/>
          </a:p>
        </p:txBody>
      </p:sp>
      <p:sp>
        <p:nvSpPr>
          <p:cNvPr id="47" name="Shape 44"/>
          <p:cNvSpPr/>
          <p:nvPr/>
        </p:nvSpPr>
        <p:spPr>
          <a:xfrm>
            <a:off x="685800" y="5989320"/>
            <a:ext cx="10835640" cy="384048"/>
          </a:xfrm>
          <a:prstGeom prst="roundRect">
            <a:avLst>
              <a:gd name="adj" fmla="val 14286"/>
            </a:avLst>
          </a:prstGeom>
          <a:solidFill>
            <a:srgbClr val="E6FAF8"/>
          </a:solidFill>
          <a:ln w="12700">
            <a:solidFill>
              <a:srgbClr val="20B8B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5"/>
          <p:cNvSpPr/>
          <p:nvPr/>
        </p:nvSpPr>
        <p:spPr>
          <a:xfrm>
            <a:off x="868680" y="6108192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2559"/>
                </a:solidFill>
              </a:rPr>
              <a:t>Criterio de priorización: cerrar arquitectura y datos antes de profundizar backend, integración y dashboards definitivos.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Actividades retrasadas · Issue y plan de acción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Desviaciones identificadas y acciones correctivas para recuperar el ritmo del proyecto.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05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40080" y="1508760"/>
            <a:ext cx="10927080" cy="411480"/>
          </a:xfrm>
          <a:prstGeom prst="roundRect">
            <a:avLst>
              <a:gd name="adj" fmla="val 11111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804672" y="163677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</a:rPr>
              <a:t>Issue / problema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3913632" y="16367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</a:rPr>
              <a:t>Impacto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5833872" y="163677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</a:rPr>
              <a:t>Plan de acción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10268712" y="16367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</a:rPr>
              <a:t>Estado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640080" y="2039112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04672" y="21671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0233F"/>
                </a:solidFill>
              </a:rPr>
              <a:t>Formalización tardía de Jira Cloud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3913632" y="21671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No existía Burndown histórico de Fase 1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5833872" y="216712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Crear Jira Cloud propio, invitar equipo, registrar épicas y Sprint actual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10268712" y="216712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88C846"/>
                </a:solidFill>
              </a:rPr>
              <a:t>Mitigado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640080" y="2953512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F8FBFD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804672" y="30815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0233F"/>
                </a:solidFill>
              </a:rPr>
              <a:t>Acceso institucional a Jira con aprobación externa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3913632" y="3081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No permitía asignar formalmente tareas a todos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5833872" y="308152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Migración a Jira Cloud del grupo y uso de correos personales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10268712" y="308152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88C846"/>
                </a:solidFill>
              </a:rPr>
              <a:t>Mitigado</a:t>
            </a:r>
            <a:endParaRPr lang="en-US" sz="910" dirty="0"/>
          </a:p>
        </p:txBody>
      </p:sp>
      <p:sp>
        <p:nvSpPr>
          <p:cNvPr id="24" name="Shape 21"/>
          <p:cNvSpPr/>
          <p:nvPr/>
        </p:nvSpPr>
        <p:spPr>
          <a:xfrm>
            <a:off x="640080" y="3867912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804672" y="39959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0233F"/>
                </a:solidFill>
              </a:rPr>
              <a:t>Arquitectura y modelo de datos pendientes de cierre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3913632" y="39959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Retrasa backend, persistencia e integración</a:t>
            </a:r>
            <a:endParaRPr lang="en-US" sz="870" dirty="0"/>
          </a:p>
        </p:txBody>
      </p:sp>
      <p:sp>
        <p:nvSpPr>
          <p:cNvPr id="27" name="Text 24"/>
          <p:cNvSpPr/>
          <p:nvPr/>
        </p:nvSpPr>
        <p:spPr>
          <a:xfrm>
            <a:off x="5833872" y="399592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Comprometer en Sprint 1: arquitectura 5 SP + modelo de datos 3 SP</a:t>
            </a:r>
            <a:endParaRPr lang="en-US" sz="870" dirty="0"/>
          </a:p>
        </p:txBody>
      </p:sp>
      <p:sp>
        <p:nvSpPr>
          <p:cNvPr id="28" name="Text 25"/>
          <p:cNvSpPr/>
          <p:nvPr/>
        </p:nvSpPr>
        <p:spPr>
          <a:xfrm>
            <a:off x="10268712" y="399592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6B93B"/>
                </a:solidFill>
              </a:rPr>
              <a:t>En curso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640080" y="4782312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F8FBFD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804672" y="49103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0233F"/>
                </a:solidFill>
              </a:rPr>
              <a:t>Carga laboral redujo continuidad del avance</a:t>
            </a:r>
            <a:endParaRPr lang="en-US" sz="870" dirty="0"/>
          </a:p>
        </p:txBody>
      </p:sp>
      <p:sp>
        <p:nvSpPr>
          <p:cNvPr id="31" name="Text 28"/>
          <p:cNvSpPr/>
          <p:nvPr/>
        </p:nvSpPr>
        <p:spPr>
          <a:xfrm>
            <a:off x="3913632" y="49103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Riesgo de desfase frente al roadmap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5833872" y="491032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0233F"/>
                </a:solidFill>
              </a:rPr>
              <a:t>Repriorizar backlog, limitar alcance y seguimiento semanal en Jira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10268712" y="491032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76CCB"/>
                </a:solidFill>
              </a:rPr>
              <a:t>En seguimiento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640080" y="5806440"/>
            <a:ext cx="10927080" cy="493776"/>
          </a:xfrm>
          <a:prstGeom prst="roundRect">
            <a:avLst>
              <a:gd name="adj" fmla="val 11111"/>
            </a:avLst>
          </a:prstGeom>
          <a:solidFill>
            <a:srgbClr val="FFF7E7"/>
          </a:solidFill>
          <a:ln w="12700">
            <a:solidFill>
              <a:srgbClr val="F6B93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868680" y="5971032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2559"/>
                </a:solidFill>
              </a:rPr>
              <a:t>Mensaje para la revisión: los retrasos están identificados, tienen responsable y ya fueron incorporados al Sprint 1 y al seguimiento del proyecto.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· Definición, Backlog y Planning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activo para iniciar la base técnica de Quality360.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08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3017520" cy="4480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Shape 7"/>
          <p:cNvSpPr/>
          <p:nvPr/>
        </p:nvSpPr>
        <p:spPr>
          <a:xfrm>
            <a:off x="960120" y="1691640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960120" y="17419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DEFINICIÓN DEL SPRINT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960120" y="2212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59"/>
                </a:solidFill>
              </a:rPr>
              <a:t>Q360-Sprint 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25786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F8B"/>
                </a:solidFill>
              </a:rPr>
              <a:t>11/09/2026 – 24/09/2026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0120" y="3035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33F"/>
                </a:solidFill>
              </a:rPr>
              <a:t>Meta del Sprint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37260" y="3111549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D6F8B"/>
                </a:solidFill>
              </a:rPr>
              <a:t>Completar la base técnica y de planificación, cerrando arquitectura y modelo de datos, formalizando el backlog y dejando preparada la implementación del backend y la persistencia.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960120" y="4576572"/>
            <a:ext cx="1143000" cy="502920"/>
          </a:xfrm>
          <a:prstGeom prst="roundRect">
            <a:avLst>
              <a:gd name="adj" fmla="val 21818"/>
            </a:avLst>
          </a:prstGeom>
          <a:solidFill>
            <a:srgbClr val="E6FAF8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1051560" y="4673191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14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1188720" y="5217259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SP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240280" y="4576572"/>
            <a:ext cx="1143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2308860" y="46588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559"/>
                </a:solidFill>
              </a:rPr>
              <a:t>4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2377440" y="5193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F8B"/>
                </a:solidFill>
              </a:rPr>
              <a:t>Tareas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977640" y="1417320"/>
            <a:ext cx="7543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4251960" y="1691640"/>
            <a:ext cx="2057400" cy="301752"/>
          </a:xfrm>
          <a:prstGeom prst="roundRect">
            <a:avLst>
              <a:gd name="adj" fmla="val 24242"/>
            </a:avLst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251960" y="17419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SPRINT BACKLOG / PLANNING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4251960" y="2148840"/>
            <a:ext cx="6812280" cy="320040"/>
          </a:xfrm>
          <a:prstGeom prst="roundRect">
            <a:avLst>
              <a:gd name="adj" fmla="val 11429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4389120" y="2249424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Actividad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726680" y="224942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Resp.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869680" y="224942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9875520" y="224942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Estado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251960" y="2578608"/>
            <a:ext cx="6812280" cy="384048"/>
          </a:xfrm>
          <a:prstGeom prst="roundRect">
            <a:avLst>
              <a:gd name="adj" fmla="val 28571"/>
            </a:avLst>
          </a:prstGeom>
          <a:solidFill>
            <a:srgbClr val="F8FBFD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4389120" y="2688336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Completar Product Backlog y Sprint Planning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7726680" y="26883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0233F"/>
                </a:solidFill>
              </a:rPr>
              <a:t>José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8869680" y="268833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3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9875520" y="268833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88C846"/>
                </a:solidFill>
              </a:rPr>
              <a:t>Done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4251960" y="3081528"/>
            <a:ext cx="68122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4389120" y="3191256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Completar arquitectura inicial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7726680" y="319125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0233F"/>
                </a:solidFill>
              </a:rPr>
              <a:t>Matías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8869680" y="319125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5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9875520" y="319125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6B93B"/>
                </a:solidFill>
              </a:rPr>
              <a:t>In Progress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251960" y="3584448"/>
            <a:ext cx="6812280" cy="384048"/>
          </a:xfrm>
          <a:prstGeom prst="roundRect">
            <a:avLst>
              <a:gd name="adj" fmla="val 28571"/>
            </a:avLst>
          </a:prstGeom>
          <a:solidFill>
            <a:srgbClr val="F8FBFD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4389120" y="3694176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Dashboards y KPI para rol QE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7726680" y="36941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0233F"/>
                </a:solidFill>
              </a:rPr>
              <a:t>Jonathan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8869680" y="369417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3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9875520" y="369417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76CCB"/>
                </a:solidFill>
              </a:rPr>
              <a:t>To Do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4251960" y="4087368"/>
            <a:ext cx="68122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/>
          <p:nvPr/>
        </p:nvSpPr>
        <p:spPr>
          <a:xfrm>
            <a:off x="4389120" y="4197096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Modelo de datos inicial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7726680" y="41970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0233F"/>
                </a:solidFill>
              </a:rPr>
              <a:t>Matías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8869680" y="41970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0233F"/>
                </a:solidFill>
              </a:rPr>
              <a:t>3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9875520" y="41970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76CCB"/>
                </a:solidFill>
              </a:rPr>
              <a:t>To Do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4251960" y="5212080"/>
            <a:ext cx="6812280" cy="320040"/>
          </a:xfrm>
          <a:prstGeom prst="roundRect">
            <a:avLst>
              <a:gd name="adj" fmla="val 11429"/>
            </a:avLst>
          </a:prstGeom>
          <a:solidFill>
            <a:srgbClr val="E6FAF8"/>
          </a:solidFill>
          <a:ln w="12700">
            <a:solidFill>
              <a:srgbClr val="20B8B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8"/>
          <p:cNvSpPr/>
          <p:nvPr/>
        </p:nvSpPr>
        <p:spPr>
          <a:xfrm>
            <a:off x="4480560" y="532180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2559"/>
                </a:solidFill>
              </a:rPr>
              <a:t>Planning: 14 SP comprometidos · 3 SP cerrados · 11 SP restantes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del proyecto y plan de mitigación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 dirty="0" err="1">
                <a:solidFill>
                  <a:srgbClr val="5D6F8B"/>
                </a:solidFill>
                <a:latin typeface="Aptos"/>
              </a:rPr>
              <a:t>Probabilidad</a:t>
            </a:r>
            <a:r>
              <a:rPr sz="1150" dirty="0">
                <a:solidFill>
                  <a:srgbClr val="5D6F8B"/>
                </a:solidFill>
                <a:latin typeface="Aptos"/>
              </a:rPr>
              <a:t> × Impacto con </a:t>
            </a:r>
            <a:r>
              <a:rPr sz="1150" dirty="0" err="1">
                <a:solidFill>
                  <a:srgbClr val="5D6F8B"/>
                </a:solidFill>
                <a:latin typeface="Aptos"/>
              </a:rPr>
              <a:t>responsable</a:t>
            </a:r>
            <a:r>
              <a:rPr sz="1150" dirty="0">
                <a:solidFill>
                  <a:srgbClr val="5D6F8B"/>
                </a:solidFill>
                <a:latin typeface="Aptos"/>
              </a:rPr>
              <a:t> y </a:t>
            </a:r>
            <a:r>
              <a:rPr sz="1150" dirty="0" err="1">
                <a:solidFill>
                  <a:srgbClr val="5D6F8B"/>
                </a:solidFill>
                <a:latin typeface="Aptos"/>
              </a:rPr>
              <a:t>fecha</a:t>
            </a:r>
            <a:r>
              <a:rPr sz="1150" dirty="0">
                <a:solidFill>
                  <a:srgbClr val="5D6F8B"/>
                </a:solidFill>
                <a:latin typeface="Aptos"/>
              </a:rPr>
              <a:t> de control para </a:t>
            </a:r>
            <a:r>
              <a:rPr sz="1150" dirty="0" err="1">
                <a:solidFill>
                  <a:srgbClr val="5D6F8B"/>
                </a:solidFill>
                <a:latin typeface="Aptos"/>
              </a:rPr>
              <a:t>evitar</a:t>
            </a:r>
            <a:r>
              <a:rPr sz="1150" dirty="0">
                <a:solidFill>
                  <a:srgbClr val="5D6F8B"/>
                </a:solidFill>
                <a:latin typeface="Aptos"/>
              </a:rPr>
              <a:t> </a:t>
            </a:r>
            <a:r>
              <a:rPr sz="1150" dirty="0" err="1">
                <a:solidFill>
                  <a:srgbClr val="5D6F8B"/>
                </a:solidFill>
                <a:latin typeface="Aptos"/>
              </a:rPr>
              <a:t>riesgos</a:t>
            </a:r>
            <a:r>
              <a:rPr sz="1150" dirty="0">
                <a:solidFill>
                  <a:srgbClr val="5D6F8B"/>
                </a:solidFill>
                <a:latin typeface="Aptos"/>
              </a:rPr>
              <a:t> no </a:t>
            </a:r>
            <a:r>
              <a:rPr sz="1150" dirty="0" err="1">
                <a:solidFill>
                  <a:srgbClr val="5D6F8B"/>
                </a:solidFill>
                <a:latin typeface="Aptos"/>
              </a:rPr>
              <a:t>controlados</a:t>
            </a:r>
            <a:r>
              <a:rPr sz="1150" dirty="0">
                <a:solidFill>
                  <a:srgbClr val="5D6F8B"/>
                </a:solidFill>
                <a:latin typeface="Aptos"/>
              </a:rPr>
              <a:t>.</a:t>
            </a:r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06</a:t>
            </a:r>
            <a:endParaRPr lang="en-US" sz="700" dirty="0"/>
          </a:p>
        </p:txBody>
      </p:sp>
      <p:sp>
        <p:nvSpPr>
          <p:cNvPr id="9" name="Rounded Rectangle 8"/>
          <p:cNvSpPr/>
          <p:nvPr/>
        </p:nvSpPr>
        <p:spPr>
          <a:xfrm>
            <a:off x="658368" y="1444752"/>
            <a:ext cx="3822191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82496"/>
            <a:ext cx="237744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2559"/>
                </a:solidFill>
                <a:latin typeface="Aptos Display"/>
              </a:rPr>
              <a:t>Matriz de riesgos 3×3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682496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5D6F8B"/>
                </a:solidFill>
                <a:latin typeface="Aptos"/>
              </a:rPr>
              <a:t>Corte 11/09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30632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5D6F8B"/>
                </a:solidFill>
                <a:latin typeface="Aptos"/>
              </a:rPr>
              <a:t>Nivel inherente = Probabilidad × Impacto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468880"/>
            <a:ext cx="795528" cy="795528"/>
          </a:xfrm>
          <a:prstGeom prst="rect">
            <a:avLst/>
          </a:prstGeom>
          <a:solidFill>
            <a:srgbClr val="FFFF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2167128" y="2468880"/>
            <a:ext cx="795528" cy="795528"/>
          </a:xfrm>
          <a:prstGeom prst="rect">
            <a:avLst/>
          </a:prstGeom>
          <a:solidFill>
            <a:srgbClr val="FF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62656" y="2468880"/>
            <a:ext cx="795528" cy="795528"/>
          </a:xfrm>
          <a:prstGeom prst="rect">
            <a:avLst/>
          </a:prstGeom>
          <a:solidFill>
            <a:srgbClr val="FF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3300569"/>
            <a:ext cx="795528" cy="723207"/>
          </a:xfrm>
          <a:prstGeom prst="rect">
            <a:avLst/>
          </a:prstGeom>
          <a:solidFill>
            <a:srgbClr val="00B05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5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67128" y="3264408"/>
            <a:ext cx="795528" cy="795528"/>
          </a:xfrm>
          <a:prstGeom prst="rect">
            <a:avLst/>
          </a:prstGeom>
          <a:solidFill>
            <a:srgbClr val="FFFF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62656" y="3264408"/>
            <a:ext cx="795528" cy="795528"/>
          </a:xfrm>
          <a:prstGeom prst="rect">
            <a:avLst/>
          </a:prstGeom>
          <a:solidFill>
            <a:srgbClr val="FF00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71600" y="4059936"/>
            <a:ext cx="795528" cy="795528"/>
          </a:xfrm>
          <a:prstGeom prst="rect">
            <a:avLst/>
          </a:prstGeom>
          <a:solidFill>
            <a:srgbClr val="00B05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5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167128" y="4059936"/>
            <a:ext cx="795528" cy="795528"/>
          </a:xfrm>
          <a:prstGeom prst="rect">
            <a:avLst/>
          </a:prstGeom>
          <a:solidFill>
            <a:srgbClr val="00B05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5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62656" y="4059936"/>
            <a:ext cx="795528" cy="795528"/>
          </a:xfrm>
          <a:prstGeom prst="rect">
            <a:avLst/>
          </a:prstGeom>
          <a:solidFill>
            <a:srgbClr val="FFFF0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238658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0">
                <a:solidFill>
                  <a:srgbClr val="5D6F8B"/>
                </a:solidFill>
                <a:latin typeface="Aptos"/>
              </a:rPr>
              <a:t>Baja              Media              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104779"/>
            <a:ext cx="9601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60" b="1" dirty="0" err="1">
                <a:solidFill>
                  <a:srgbClr val="0B2559"/>
                </a:solidFill>
                <a:latin typeface="Aptos"/>
              </a:rPr>
              <a:t>Probabilidad</a:t>
            </a:r>
            <a:endParaRPr sz="860" b="1" dirty="0">
              <a:solidFill>
                <a:srgbClr val="0B2559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6112" y="2450592"/>
            <a:ext cx="3474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19" b="1">
                <a:solidFill>
                  <a:srgbClr val="5D6F8B"/>
                </a:solidFill>
                <a:latin typeface="Aptos"/>
              </a:rPr>
              <a:t>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246120"/>
            <a:ext cx="3474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19" b="1">
                <a:solidFill>
                  <a:srgbClr val="5D6F8B"/>
                </a:solidFill>
                <a:latin typeface="Aptos"/>
              </a:rPr>
              <a:t>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3474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19" b="1">
                <a:solidFill>
                  <a:srgbClr val="5D6F8B"/>
                </a:solidFill>
                <a:latin typeface="Aptos"/>
              </a:rPr>
              <a:t>Bajo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2148840"/>
            <a:ext cx="6400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0B2559"/>
                </a:solidFill>
                <a:latin typeface="Aptos"/>
              </a:rPr>
              <a:t>Impacto 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58568" y="2578608"/>
            <a:ext cx="256032" cy="21945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R1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87752" y="2578608"/>
            <a:ext cx="256032" cy="21945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R4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27832" y="2743200"/>
            <a:ext cx="256032" cy="21945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R2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58568" y="3429000"/>
            <a:ext cx="256032" cy="219456"/>
          </a:xfrm>
          <a:prstGeom prst="roundRect">
            <a:avLst/>
          </a:prstGeom>
          <a:solidFill>
            <a:srgbClr val="FFFF00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1" dirty="0">
                <a:solidFill>
                  <a:srgbClr val="1E293B"/>
                </a:solidFill>
                <a:latin typeface="Aptos"/>
              </a:rPr>
              <a:t>R3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87752" y="3429000"/>
            <a:ext cx="256032" cy="219456"/>
          </a:xfrm>
          <a:prstGeom prst="roundRect">
            <a:avLst/>
          </a:prstGeom>
          <a:solidFill>
            <a:srgbClr val="FFFF00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1">
                <a:solidFill>
                  <a:srgbClr val="1E293B"/>
                </a:solidFill>
                <a:latin typeface="Aptos"/>
              </a:rPr>
              <a:t>R5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9576" y="5316305"/>
            <a:ext cx="713232" cy="256032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 dirty="0">
                <a:solidFill>
                  <a:srgbClr val="1E293B"/>
                </a:solidFill>
                <a:latin typeface="Aptos"/>
              </a:rPr>
              <a:t>BAJO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95918" y="5312340"/>
            <a:ext cx="786384" cy="256032"/>
          </a:xfrm>
          <a:prstGeom prst="roundRect">
            <a:avLst/>
          </a:prstGeom>
          <a:solidFill>
            <a:srgbClr val="FACC15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1E293B"/>
                </a:solidFill>
                <a:latin typeface="Aptos"/>
              </a:rPr>
              <a:t>MEDIO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86447" y="5294052"/>
            <a:ext cx="713232" cy="256032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ALTO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45152" y="1444752"/>
            <a:ext cx="69037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19472" y="1682496"/>
            <a:ext cx="2743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2559"/>
                </a:solidFill>
                <a:latin typeface="Aptos Display"/>
              </a:rPr>
              <a:t>Registro y control de riesgos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1682496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5D6F8B"/>
                </a:solidFill>
                <a:latin typeface="Aptos"/>
              </a:rPr>
              <a:t>Identificación inicial: 11/09/2026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1938528"/>
            <a:ext cx="61264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5D6F8B"/>
                </a:solidFill>
                <a:latin typeface="Aptos"/>
              </a:rPr>
              <a:t>Cada riesgo tiene próxima fecha de control, responsable y plan de mitigación.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2267712"/>
            <a:ext cx="384048" cy="310896"/>
          </a:xfrm>
          <a:prstGeom prst="rect">
            <a:avLst/>
          </a:prstGeom>
          <a:solidFill>
            <a:srgbClr val="0B2559"/>
          </a:solidFill>
          <a:ln>
            <a:solidFill>
              <a:srgbClr val="0B2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19472" y="2286000"/>
            <a:ext cx="32918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76088" y="2267712"/>
            <a:ext cx="2487168" cy="310896"/>
          </a:xfrm>
          <a:prstGeom prst="rect">
            <a:avLst/>
          </a:prstGeom>
          <a:solidFill>
            <a:srgbClr val="0B2559"/>
          </a:solidFill>
          <a:ln>
            <a:solidFill>
              <a:srgbClr val="0B2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0" y="2286000"/>
            <a:ext cx="243230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Aptos"/>
              </a:rPr>
              <a:t>Riesgo + mitigación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63256" y="2267712"/>
            <a:ext cx="502920" cy="310896"/>
          </a:xfrm>
          <a:prstGeom prst="rect">
            <a:avLst/>
          </a:prstGeom>
          <a:solidFill>
            <a:srgbClr val="0B2559"/>
          </a:solidFill>
          <a:ln>
            <a:solidFill>
              <a:srgbClr val="0B2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90688" y="2286000"/>
            <a:ext cx="44805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P×I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6176" y="2267712"/>
            <a:ext cx="822960" cy="310896"/>
          </a:xfrm>
          <a:prstGeom prst="rect">
            <a:avLst/>
          </a:prstGeom>
          <a:solidFill>
            <a:srgbClr val="0B2559"/>
          </a:solidFill>
          <a:ln>
            <a:solidFill>
              <a:srgbClr val="0B2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93608" y="2286000"/>
            <a:ext cx="76809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89136" y="2267712"/>
            <a:ext cx="713232" cy="310896"/>
          </a:xfrm>
          <a:prstGeom prst="rect">
            <a:avLst/>
          </a:prstGeom>
          <a:solidFill>
            <a:srgbClr val="0B2559"/>
          </a:solidFill>
          <a:ln>
            <a:solidFill>
              <a:srgbClr val="0B2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16568" y="2286000"/>
            <a:ext cx="65836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Resp.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02368" y="2267712"/>
            <a:ext cx="1261872" cy="310896"/>
          </a:xfrm>
          <a:prstGeom prst="rect">
            <a:avLst/>
          </a:prstGeom>
          <a:solidFill>
            <a:srgbClr val="0B2559"/>
          </a:solidFill>
          <a:ln>
            <a:solidFill>
              <a:srgbClr val="0B2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29800" y="2286000"/>
            <a:ext cx="1207007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Estado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2578608"/>
            <a:ext cx="38404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276088" y="2578608"/>
            <a:ext cx="248716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763256" y="2578608"/>
            <a:ext cx="50292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66176" y="2578608"/>
            <a:ext cx="82296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089136" y="2578608"/>
            <a:ext cx="71323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02368" y="2578608"/>
            <a:ext cx="126187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919472" y="2615184"/>
            <a:ext cx="329184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0" b="1">
                <a:solidFill>
                  <a:srgbClr val="0B2559"/>
                </a:solidFill>
                <a:latin typeface="Aptos"/>
              </a:rPr>
              <a:t>R1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2610612"/>
            <a:ext cx="23774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0" b="1">
                <a:solidFill>
                  <a:srgbClr val="1E293B"/>
                </a:solidFill>
                <a:latin typeface="Aptos"/>
              </a:rPr>
              <a:t>Crecimiento del alcance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2834639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90" b="0">
                <a:solidFill>
                  <a:srgbClr val="5D6F8B"/>
                </a:solidFill>
                <a:latin typeface="Aptos"/>
              </a:rPr>
              <a:t>Backlog priorizado + control de cambios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54696" y="2724912"/>
            <a:ext cx="310896" cy="256032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93608" y="2615184"/>
            <a:ext cx="768096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1E293B"/>
                </a:solidFill>
                <a:latin typeface="Aptos"/>
              </a:rPr>
              <a:t>18/09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16568" y="2615184"/>
            <a:ext cx="658368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1E293B"/>
                </a:solidFill>
                <a:latin typeface="Aptos"/>
              </a:rPr>
              <a:t>José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12096" y="2715768"/>
            <a:ext cx="1042415" cy="274320"/>
          </a:xfrm>
          <a:prstGeom prst="roundRect">
            <a:avLst/>
          </a:prstGeom>
          <a:solidFill>
            <a:srgbClr val="FACC15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80" b="1">
                <a:solidFill>
                  <a:srgbClr val="1E293B"/>
                </a:solidFill>
                <a:latin typeface="Aptos"/>
              </a:rPr>
              <a:t>En tratamiento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92040" y="3136391"/>
            <a:ext cx="384048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276088" y="3136391"/>
            <a:ext cx="2487168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763256" y="3136391"/>
            <a:ext cx="502920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266176" y="3136391"/>
            <a:ext cx="822960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089136" y="3136391"/>
            <a:ext cx="713232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3136391"/>
            <a:ext cx="1261872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19472" y="3172968"/>
            <a:ext cx="329184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0" b="1">
                <a:solidFill>
                  <a:srgbClr val="0B2559"/>
                </a:solidFill>
                <a:latin typeface="Aptos"/>
              </a:rPr>
              <a:t>R2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49240" y="3168396"/>
            <a:ext cx="23774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0" b="1">
                <a:solidFill>
                  <a:srgbClr val="1E293B"/>
                </a:solidFill>
                <a:latin typeface="Aptos"/>
              </a:rPr>
              <a:t>Disponibilidad del equipo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3392424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90" b="0">
                <a:solidFill>
                  <a:srgbClr val="5D6F8B"/>
                </a:solidFill>
                <a:latin typeface="Aptos"/>
              </a:rPr>
              <a:t>Revisar capacidad y redistribuir trabajo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54696" y="3282696"/>
            <a:ext cx="310896" cy="256032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93608" y="3172968"/>
            <a:ext cx="768096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1E293B"/>
                </a:solidFill>
                <a:latin typeface="Aptos"/>
              </a:rPr>
              <a:t>15/09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16568" y="3172968"/>
            <a:ext cx="658368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1E293B"/>
                </a:solidFill>
                <a:latin typeface="Aptos"/>
              </a:rPr>
              <a:t>José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12096" y="3273551"/>
            <a:ext cx="1042415" cy="274320"/>
          </a:xfrm>
          <a:prstGeom prst="roundRect">
            <a:avLst/>
          </a:prstGeom>
          <a:solidFill>
            <a:srgbClr val="FACC15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80" b="1">
                <a:solidFill>
                  <a:srgbClr val="1E293B"/>
                </a:solidFill>
                <a:latin typeface="Aptos"/>
              </a:rPr>
              <a:t>En tratamiento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92040" y="3694176"/>
            <a:ext cx="38404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276088" y="3694176"/>
            <a:ext cx="248716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763256" y="3694176"/>
            <a:ext cx="50292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266176" y="3694176"/>
            <a:ext cx="82296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089136" y="3694176"/>
            <a:ext cx="71323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802368" y="3694176"/>
            <a:ext cx="126187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19472" y="3730752"/>
            <a:ext cx="329184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0" b="1">
                <a:solidFill>
                  <a:srgbClr val="0B2559"/>
                </a:solidFill>
                <a:latin typeface="Aptos"/>
              </a:rPr>
              <a:t>R3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49240" y="3726180"/>
            <a:ext cx="23774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0" b="1">
                <a:solidFill>
                  <a:srgbClr val="1E293B"/>
                </a:solidFill>
                <a:latin typeface="Aptos"/>
              </a:rPr>
              <a:t>Integración Jira Cloud / API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49240" y="3950208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90" b="0">
                <a:solidFill>
                  <a:srgbClr val="5D6F8B"/>
                </a:solidFill>
                <a:latin typeface="Aptos"/>
              </a:rPr>
              <a:t>Validar API + contingencia CSV/JSON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854696" y="3840480"/>
            <a:ext cx="310896" cy="256032"/>
          </a:xfrm>
          <a:prstGeom prst="roundRect">
            <a:avLst/>
          </a:prstGeom>
          <a:solidFill>
            <a:srgbClr val="FACC15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E293B"/>
                </a:solidFill>
                <a:latin typeface="Aptos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93608" y="3730752"/>
            <a:ext cx="768096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1E293B"/>
                </a:solidFill>
                <a:latin typeface="Aptos"/>
              </a:rPr>
              <a:t>24/09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16568" y="3730752"/>
            <a:ext cx="658368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1E293B"/>
                </a:solidFill>
                <a:latin typeface="Aptos"/>
              </a:rPr>
              <a:t>Matías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12096" y="3831336"/>
            <a:ext cx="1042415" cy="274320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80" b="1">
                <a:solidFill>
                  <a:srgbClr val="1E293B"/>
                </a:solidFill>
                <a:latin typeface="Aptos"/>
              </a:rPr>
              <a:t>Monitoreado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2040" y="4251960"/>
            <a:ext cx="384048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276088" y="4251960"/>
            <a:ext cx="2487168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763256" y="4251960"/>
            <a:ext cx="502920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266176" y="4251960"/>
            <a:ext cx="822960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089136" y="4251960"/>
            <a:ext cx="713232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802368" y="4251960"/>
            <a:ext cx="1261872" cy="557784"/>
          </a:xfrm>
          <a:prstGeom prst="rect">
            <a:avLst/>
          </a:prstGeom>
          <a:solidFill>
            <a:srgbClr val="F8FAFC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19472" y="4288536"/>
            <a:ext cx="329184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0" b="1">
                <a:solidFill>
                  <a:srgbClr val="0B2559"/>
                </a:solidFill>
                <a:latin typeface="Aptos"/>
              </a:rPr>
              <a:t>R4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49240" y="4283964"/>
            <a:ext cx="23774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0" b="1">
                <a:solidFill>
                  <a:srgbClr val="1E293B"/>
                </a:solidFill>
                <a:latin typeface="Aptos"/>
              </a:rPr>
              <a:t>Arquitectura / modelo no cerrado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49240" y="4507992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90" b="0">
                <a:solidFill>
                  <a:srgbClr val="5D6F8B"/>
                </a:solidFill>
                <a:latin typeface="Aptos"/>
              </a:rPr>
              <a:t>Cerrar arquitectura + modelo en Sprint 1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854696" y="4398264"/>
            <a:ext cx="310896" cy="256032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93608" y="4288536"/>
            <a:ext cx="768096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1E293B"/>
                </a:solidFill>
                <a:latin typeface="Aptos"/>
              </a:rPr>
              <a:t>18/09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16568" y="4288536"/>
            <a:ext cx="658368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1E293B"/>
                </a:solidFill>
                <a:latin typeface="Aptos"/>
              </a:rPr>
              <a:t>Matías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12096" y="4389120"/>
            <a:ext cx="1042415" cy="274320"/>
          </a:xfrm>
          <a:prstGeom prst="roundRect">
            <a:avLst/>
          </a:prstGeom>
          <a:solidFill>
            <a:srgbClr val="FACC15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80" b="1">
                <a:solidFill>
                  <a:srgbClr val="1E293B"/>
                </a:solidFill>
                <a:latin typeface="Aptos"/>
              </a:rPr>
              <a:t>En tratamiento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92040" y="4809744"/>
            <a:ext cx="38404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5276088" y="4809744"/>
            <a:ext cx="248716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763256" y="4809744"/>
            <a:ext cx="50292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266176" y="4809744"/>
            <a:ext cx="82296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89136" y="4809744"/>
            <a:ext cx="71323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02368" y="4809744"/>
            <a:ext cx="126187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919472" y="4846320"/>
            <a:ext cx="329184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0" b="1">
                <a:solidFill>
                  <a:srgbClr val="0B2559"/>
                </a:solidFill>
                <a:latin typeface="Aptos"/>
              </a:rPr>
              <a:t>R5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49240" y="4841748"/>
            <a:ext cx="23774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0" b="1">
                <a:solidFill>
                  <a:srgbClr val="1E293B"/>
                </a:solidFill>
                <a:latin typeface="Aptos"/>
              </a:rPr>
              <a:t>Dependencia front–back–datos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49240" y="5065776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90" b="0">
                <a:solidFill>
                  <a:srgbClr val="5D6F8B"/>
                </a:solidFill>
                <a:latin typeface="Aptos"/>
              </a:rPr>
              <a:t>Contratos API + integración incremental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854696" y="4956048"/>
            <a:ext cx="310896" cy="256032"/>
          </a:xfrm>
          <a:prstGeom prst="roundRect">
            <a:avLst/>
          </a:prstGeom>
          <a:solidFill>
            <a:srgbClr val="FACC15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E293B"/>
                </a:solidFill>
                <a:latin typeface="Aptos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93608" y="4846320"/>
            <a:ext cx="768096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1E293B"/>
                </a:solidFill>
                <a:latin typeface="Aptos"/>
              </a:rPr>
              <a:t>24/09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16568" y="4846320"/>
            <a:ext cx="658368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1E293B"/>
                </a:solidFill>
                <a:latin typeface="Aptos"/>
              </a:rPr>
              <a:t>Equipo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12096" y="4946904"/>
            <a:ext cx="1042415" cy="274320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80" b="1">
                <a:solidFill>
                  <a:srgbClr val="1E293B"/>
                </a:solidFill>
                <a:latin typeface="Aptos"/>
              </a:rPr>
              <a:t>Monitoreado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58368" y="5806440"/>
            <a:ext cx="10890504" cy="43891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86968" y="5907024"/>
            <a:ext cx="1040587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69" b="1">
                <a:solidFill>
                  <a:srgbClr val="0B2559"/>
                </a:solidFill>
                <a:latin typeface="Aptos"/>
              </a:rPr>
              <a:t>Regla de escalamiento: si vence la fecha de control y la mitigación no es efectiva, el riesgo pasa a ROJO / no controlado y se escala en la revisión del Sprint.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700" dirty="0"/>
          </a:p>
        </p:txBody>
      </p:sp>
      <p:pic>
        <p:nvPicPr>
          <p:cNvPr id="5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Burndown del Sprint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trabajo pendiente frente a la línea ideal del Sprint.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09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40080" y="1191632"/>
            <a:ext cx="1859280" cy="89863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 sz="1050"/>
          </a:p>
        </p:txBody>
      </p:sp>
      <p:sp>
        <p:nvSpPr>
          <p:cNvPr id="10" name="Text 7"/>
          <p:cNvSpPr/>
          <p:nvPr/>
        </p:nvSpPr>
        <p:spPr>
          <a:xfrm>
            <a:off x="777240" y="1392801"/>
            <a:ext cx="1626870" cy="32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59"/>
                </a:solidFill>
              </a:rPr>
              <a:t>14 SP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1850001"/>
            <a:ext cx="1549400" cy="2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F8B"/>
                </a:solidFill>
              </a:rPr>
              <a:t>compromiso inicial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81528" y="1191633"/>
            <a:ext cx="1859280" cy="815192"/>
          </a:xfrm>
          <a:prstGeom prst="roundRect">
            <a:avLst>
              <a:gd name="adj" fmla="val 12632"/>
            </a:avLst>
          </a:prstGeom>
          <a:solidFill>
            <a:srgbClr val="ECF8E8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 sz="1050"/>
          </a:p>
        </p:txBody>
      </p:sp>
      <p:sp>
        <p:nvSpPr>
          <p:cNvPr id="13" name="Text 10"/>
          <p:cNvSpPr/>
          <p:nvPr/>
        </p:nvSpPr>
        <p:spPr>
          <a:xfrm>
            <a:off x="3218688" y="1392801"/>
            <a:ext cx="1626870" cy="32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59"/>
                </a:solidFill>
              </a:rPr>
              <a:t>3 SP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64408" y="1688770"/>
            <a:ext cx="1549400" cy="2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F8B"/>
                </a:solidFill>
              </a:rPr>
              <a:t>completados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91226" y="1183541"/>
            <a:ext cx="1859280" cy="815192"/>
          </a:xfrm>
          <a:prstGeom prst="roundRect">
            <a:avLst>
              <a:gd name="adj" fmla="val 12632"/>
            </a:avLst>
          </a:prstGeom>
          <a:solidFill>
            <a:srgbClr val="FFF7E7"/>
          </a:solidFill>
          <a:ln w="12700">
            <a:solidFill>
              <a:srgbClr val="F6B93B"/>
            </a:solidFill>
            <a:prstDash val="solid"/>
          </a:ln>
        </p:spPr>
        <p:txBody>
          <a:bodyPr/>
          <a:lstStyle/>
          <a:p>
            <a:endParaRPr lang="es-CL" sz="1050"/>
          </a:p>
        </p:txBody>
      </p:sp>
      <p:sp>
        <p:nvSpPr>
          <p:cNvPr id="16" name="Text 13"/>
          <p:cNvSpPr/>
          <p:nvPr/>
        </p:nvSpPr>
        <p:spPr>
          <a:xfrm>
            <a:off x="5660136" y="1392801"/>
            <a:ext cx="1626870" cy="32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59"/>
                </a:solidFill>
              </a:rPr>
              <a:t>11 SP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0136" y="1751068"/>
            <a:ext cx="1549400" cy="2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F8B"/>
                </a:solidFill>
              </a:rPr>
              <a:t>restantes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32674" y="1151288"/>
            <a:ext cx="1859280" cy="815192"/>
          </a:xfrm>
          <a:prstGeom prst="roundRect">
            <a:avLst>
              <a:gd name="adj" fmla="val 12632"/>
            </a:avLst>
          </a:prstGeom>
          <a:solidFill>
            <a:srgbClr val="E6FAF8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 sz="1050"/>
          </a:p>
        </p:txBody>
      </p:sp>
      <p:sp>
        <p:nvSpPr>
          <p:cNvPr id="19" name="Text 16"/>
          <p:cNvSpPr/>
          <p:nvPr/>
        </p:nvSpPr>
        <p:spPr>
          <a:xfrm>
            <a:off x="8101584" y="1392801"/>
            <a:ext cx="1626870" cy="32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59"/>
                </a:solidFill>
              </a:rPr>
              <a:t>21,4%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47304" y="1696044"/>
            <a:ext cx="1549400" cy="2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F8B"/>
                </a:solidFill>
              </a:rPr>
              <a:t>avance Sprint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955280" y="2212654"/>
            <a:ext cx="3494950" cy="373094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4"/>
          <p:cNvSpPr/>
          <p:nvPr/>
        </p:nvSpPr>
        <p:spPr>
          <a:xfrm>
            <a:off x="8092440" y="288036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5"/>
          <p:cNvSpPr/>
          <p:nvPr/>
        </p:nvSpPr>
        <p:spPr>
          <a:xfrm>
            <a:off x="8092440" y="29306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LECTURA DEL BURNDOWN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8092440" y="3465576"/>
            <a:ext cx="109728" cy="109728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7"/>
          <p:cNvSpPr/>
          <p:nvPr/>
        </p:nvSpPr>
        <p:spPr>
          <a:xfrm>
            <a:off x="8275320" y="3429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33F"/>
                </a:solidFill>
              </a:rPr>
              <a:t>El Sprint inicia con 14 puntos comprometidos.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092440" y="3922776"/>
            <a:ext cx="109728" cy="109728"/>
          </a:xfrm>
          <a:prstGeom prst="ellipse">
            <a:avLst/>
          </a:prstGeom>
          <a:solidFill>
            <a:srgbClr val="88C846"/>
          </a:solidFill>
          <a:ln w="12700">
            <a:solidFill>
              <a:srgbClr val="88C8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49"/>
          <p:cNvSpPr/>
          <p:nvPr/>
        </p:nvSpPr>
        <p:spPr>
          <a:xfrm>
            <a:off x="8275320" y="3886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33F"/>
                </a:solidFill>
              </a:rPr>
              <a:t>Ya se cerró el Planning: 3 SP completados.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8092440" y="4379976"/>
            <a:ext cx="109728" cy="109728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1"/>
          <p:cNvSpPr/>
          <p:nvPr/>
        </p:nvSpPr>
        <p:spPr>
          <a:xfrm>
            <a:off x="8275320" y="4343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33F"/>
                </a:solidFill>
              </a:rPr>
              <a:t>Quedan 11 SP por completar al 24/09.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092440" y="4837176"/>
            <a:ext cx="109728" cy="109728"/>
          </a:xfrm>
          <a:prstGeom prst="ellipse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3"/>
          <p:cNvSpPr/>
          <p:nvPr/>
        </p:nvSpPr>
        <p:spPr>
          <a:xfrm>
            <a:off x="8275320" y="4800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33F"/>
                </a:solidFill>
              </a:rPr>
              <a:t>La curva real se actualizará con cada cierre de actividad.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092440" y="5440680"/>
            <a:ext cx="2971800" cy="310896"/>
          </a:xfrm>
          <a:prstGeom prst="roundRect">
            <a:avLst>
              <a:gd name="adj" fmla="val 14706"/>
            </a:avLst>
          </a:prstGeom>
          <a:solidFill>
            <a:srgbClr val="E6FAF8"/>
          </a:solidFill>
          <a:ln w="12700">
            <a:solidFill>
              <a:srgbClr val="20B8B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5"/>
          <p:cNvSpPr/>
          <p:nvPr/>
        </p:nvSpPr>
        <p:spPr>
          <a:xfrm>
            <a:off x="8275320" y="5550408"/>
            <a:ext cx="2606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2559"/>
                </a:solidFill>
              </a:rPr>
              <a:t>Fuente: Jira Cloud · Q360-Sprint 1</a:t>
            </a:r>
            <a:endParaRPr lang="en-US" sz="75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72192572-5082-AC6D-462C-608E5DB64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44" y="2507927"/>
            <a:ext cx="7463896" cy="3293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515600" y="5577840"/>
            <a:ext cx="2286000" cy="2286000"/>
          </a:xfrm>
          <a:prstGeom prst="arc">
            <a:avLst/>
          </a:prstGeom>
          <a:solidFill>
            <a:srgbClr val="F4F8FB">
              <a:alpha val="0"/>
            </a:srgbClr>
          </a:solidFill>
          <a:ln w="25400">
            <a:solidFill>
              <a:srgbClr val="D6F3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/mnt/data/logo_corporativo_quality360_en_azul_y_turque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4240" y="24688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" y="4206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compromisos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9509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de trabajo hasta la siguiente revisión del proyecto.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631168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6F8B"/>
                </a:solidFill>
              </a:rPr>
              <a:t>10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60020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1527048" y="1874520"/>
            <a:ext cx="594360" cy="594360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527048" y="20299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559"/>
                </a:solidFill>
              </a:rPr>
              <a:t>Cerrar arquitectura y modelo de datos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105156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D6F8B"/>
                </a:solidFill>
              </a:rPr>
              <a:t>Matías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1280160" y="41605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1280160" y="42108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24/09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108960" y="160020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E6FAF8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3767328" y="1874520"/>
            <a:ext cx="594360" cy="594360"/>
          </a:xfrm>
          <a:prstGeom prst="ellipse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3767328" y="20299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9184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559"/>
                </a:solidFill>
              </a:rPr>
              <a:t>Definir KPI finales y estructura de dashboard QE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329184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D6F8B"/>
                </a:solidFill>
              </a:rPr>
              <a:t>Jonathan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3520440" y="41605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3520440" y="42108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24/09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5349240" y="160020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6007608" y="1874520"/>
            <a:ext cx="594360" cy="594360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6007608" y="20299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3212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559"/>
                </a:solidFill>
              </a:rPr>
              <a:t>Mantener Jira actualizado y seguimiento Scrum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53212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D6F8B"/>
                </a:solidFill>
              </a:rPr>
              <a:t>José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5760720" y="41605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5760720" y="42108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Semanal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7589520" y="160020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E6FAF8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8247888" y="1874520"/>
            <a:ext cx="594360" cy="594360"/>
          </a:xfrm>
          <a:prstGeom prst="ellipse">
            <a:avLst/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8247888" y="20299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77240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559"/>
                </a:solidFill>
              </a:rPr>
              <a:t>Preparar backend, persistencia e integración controlada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777240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D6F8B"/>
                </a:solidFill>
              </a:rPr>
              <a:t>Equipo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8001000" y="41605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20B8B4"/>
          </a:solidFill>
          <a:ln w="12700">
            <a:solidFill>
              <a:srgbClr val="20B8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8001000" y="42108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Sprint siguiente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9829800" y="1600200"/>
            <a:ext cx="1920240" cy="3154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3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4"/>
          <p:cNvSpPr/>
          <p:nvPr/>
        </p:nvSpPr>
        <p:spPr>
          <a:xfrm>
            <a:off x="10488168" y="1874520"/>
            <a:ext cx="594360" cy="594360"/>
          </a:xfrm>
          <a:prstGeom prst="ellipse">
            <a:avLst/>
          </a:prstGeom>
          <a:solidFill>
            <a:srgbClr val="176CCB"/>
          </a:solidFill>
          <a:ln w="12700">
            <a:solidFill>
              <a:srgbClr val="176C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10488168" y="20299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01268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559"/>
                </a:solidFill>
              </a:rPr>
              <a:t>Ejecutar medición SIN vs CON Quality360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1001268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D6F8B"/>
                </a:solidFill>
              </a:rPr>
              <a:t>José / Equipo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10241280" y="41605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10241280" y="42108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Próxima validación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914400" y="553212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0B2559"/>
          </a:solidFill>
          <a:ln w="12700">
            <a:solidFill>
              <a:srgbClr val="0B255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1"/>
          <p:cNvSpPr/>
          <p:nvPr/>
        </p:nvSpPr>
        <p:spPr>
          <a:xfrm>
            <a:off x="1143000" y="5733288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Cierre: Quality360 avanza desde una Fase 1 completada hacia una Fase 2 controlada con Sprint, Backlog, Planning y Burndown en Jira Cloud.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120640" y="6355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B8B4"/>
                </a:solidFill>
              </a:rPr>
              <a:t>Gracias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1166</Words>
  <Application>Microsoft Office PowerPoint</Application>
  <PresentationFormat>Panorámica</PresentationFormat>
  <Paragraphs>275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Capstone Grupo 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Quality360 - Presentación de avance</dc:title>
  <dc:subject>Presentación de avance Quality360</dc:subject>
  <dc:creator>Quality360 · Capstone Grupo 8</dc:creator>
  <cp:lastModifiedBy>Renato Seguel</cp:lastModifiedBy>
  <cp:revision>2</cp:revision>
  <dcterms:created xsi:type="dcterms:W3CDTF">2026-09-11T20:42:03Z</dcterms:created>
  <dcterms:modified xsi:type="dcterms:W3CDTF">2026-09-11T23:20:00Z</dcterms:modified>
</cp:coreProperties>
</file>