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2CB36-3B1B-48EB-8D1F-F92FABE0681C}" type="datetimeFigureOut">
              <a:t>28-08-2026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72342-F4D2-49E4-8A06-CA8FC4F248DC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88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Logotipo y contenido: material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Contenido: presentación original proporcionada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Contenido: presentación original proporcionada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Contenido: presentación original proporcionada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Contenido: presentación original proporcionada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Captura del prototipo y contenido: material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Captura del prototipo y contenido: material proporcionado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Contenido: síntesis basada en la presentación original proporcionada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Quality360 · Capstone Grupo 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228600" y="5440680"/>
            <a:ext cx="960120" cy="960120"/>
          </a:xfrm>
          <a:prstGeom prst="ellipse">
            <a:avLst/>
          </a:prstGeom>
          <a:solidFill>
            <a:srgbClr val="18B7B1">
              <a:alpha val="90000"/>
            </a:srgbClr>
          </a:solidFill>
          <a:ln w="12700">
            <a:solidFill>
              <a:srgbClr val="18B7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FEDEA"/>
                </a:solidFill>
              </a:rPr>
              <a:t>CAPSTONE · GRUPO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Quality360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85216" y="2084832"/>
            <a:ext cx="3611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CEAF5"/>
                </a:solidFill>
              </a:rPr>
              <a:t>Gestión integral de certificaciones QA para la toma de decisiones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216" y="336499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</a:rPr>
              <a:t>De datos dispersos a una visión clara, accionable y oportuna.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5216" y="5084064"/>
            <a:ext cx="2139696" cy="274320"/>
          </a:xfrm>
          <a:prstGeom prst="roundRect">
            <a:avLst>
              <a:gd name="adj" fmla="val 40000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58368" y="512978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PRESENTACIÓN PRELIMINAR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74984" y="583844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000"/>
                </a:solidFill>
              </a:rPr>
              <a:t>Grupo 8: </a:t>
            </a:r>
            <a:br>
              <a:rPr lang="en-US" sz="1050" b="1" dirty="0">
                <a:solidFill>
                  <a:srgbClr val="FFC000"/>
                </a:solidFill>
              </a:rPr>
            </a:br>
            <a:r>
              <a:rPr lang="en-US" sz="1050" b="1" dirty="0">
                <a:solidFill>
                  <a:srgbClr val="FFC000"/>
                </a:solidFill>
              </a:rPr>
              <a:t>José Seguel · Jonathan Choque · Matías Araos</a:t>
            </a:r>
          </a:p>
        </p:txBody>
      </p:sp>
      <p:pic>
        <p:nvPicPr>
          <p:cNvPr id="11" name="Image 0" descr="/mnt/data/q360_work/original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452" y="713232"/>
            <a:ext cx="4754880" cy="4754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580644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1167C7"/>
                </a:solidFill>
              </a:rPr>
              <a:t>CALIDAD · VISIBILIDAD · ANÁLISIS · IMPACTO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D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y problema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</a:rPr>
              <a:t>El desafío no es generar más datos, sino convertir el seguimiento operativo en visibilidad de gestión.</a:t>
            </a:r>
            <a:endParaRPr lang="en-US" sz="1050" dirty="0"/>
          </a:p>
        </p:txBody>
      </p:sp>
      <p:pic>
        <p:nvPicPr>
          <p:cNvPr id="4" name="Image 0" descr="/mnt/data/q360_work/original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28600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98448"/>
            <a:ext cx="672084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804672" y="1554480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77824" y="16002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PROCESO ACTUAL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22960" y="21396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07592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D1833"/>
                </a:solidFill>
              </a:rPr>
              <a:t>Planificación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07792" y="2057400"/>
            <a:ext cx="384048" cy="384048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2907792" y="21396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92424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D1833"/>
                </a:solidFill>
              </a:rPr>
              <a:t>Casos de prueba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92624" y="2057400"/>
            <a:ext cx="384048" cy="384048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992624" y="21396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77256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D1833"/>
                </a:solidFill>
              </a:rPr>
              <a:t>Ejecución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3108960"/>
            <a:ext cx="384048" cy="384048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822960" y="31912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07592" y="3136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D1833"/>
                </a:solidFill>
              </a:rPr>
              <a:t>Evidencias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907792" y="3108960"/>
            <a:ext cx="384048" cy="384048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2907792" y="31912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392424" y="3136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D1833"/>
                </a:solidFill>
              </a:rPr>
              <a:t>Defectos / UAT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992624" y="3108960"/>
            <a:ext cx="384048" cy="384048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4992624" y="31912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77256" y="3136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D1833"/>
                </a:solidFill>
              </a:rPr>
              <a:t>Cierre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024128" y="4325112"/>
            <a:ext cx="5440680" cy="0"/>
          </a:xfrm>
          <a:prstGeom prst="line">
            <a:avLst/>
          </a:prstGeom>
          <a:noFill/>
          <a:ln w="1524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841248" y="4572000"/>
            <a:ext cx="58521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D49"/>
                </a:solidFill>
              </a:rPr>
              <a:t>El Quality Engineer supervisa múltiples HU, responsables, avances, riesgos e impedimentos.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516368" y="1298448"/>
            <a:ext cx="4114800" cy="2048256"/>
          </a:xfrm>
          <a:prstGeom prst="roundRect">
            <a:avLst>
              <a:gd name="adj" fmla="val 3571"/>
            </a:avLst>
          </a:prstGeom>
          <a:solidFill>
            <a:srgbClr val="FFF9ED"/>
          </a:solidFill>
          <a:ln w="12700">
            <a:solidFill>
              <a:srgbClr val="F2D79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7772400" y="1554480"/>
            <a:ext cx="1444752" cy="274320"/>
          </a:xfrm>
          <a:prstGeom prst="roundRect">
            <a:avLst>
              <a:gd name="adj" fmla="val 40000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7845552" y="16002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FRAGMENTACIÓN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790688" y="2121408"/>
            <a:ext cx="98755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9D7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7845552" y="2286000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833"/>
                </a:solidFill>
              </a:rPr>
              <a:t>Planillas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979408" y="2121408"/>
            <a:ext cx="98755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9D7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/>
          <p:nvPr/>
        </p:nvSpPr>
        <p:spPr>
          <a:xfrm>
            <a:off x="9034272" y="2286000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833"/>
                </a:solidFill>
              </a:rPr>
              <a:t>Jira / Zephyr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0168128" y="2121408"/>
            <a:ext cx="98755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9D7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10222992" y="2286000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833"/>
                </a:solidFill>
              </a:rPr>
              <a:t>Registros separados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790688" y="288036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F"/>
                </a:solidFill>
              </a:rPr>
              <a:t>La información existe, pero no está consolidada en una vista actualizada.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516368" y="3584448"/>
            <a:ext cx="4114800" cy="2212848"/>
          </a:xfrm>
          <a:prstGeom prst="roundRect">
            <a:avLst>
              <a:gd name="adj" fmla="val 3306"/>
            </a:avLst>
          </a:prstGeom>
          <a:solidFill>
            <a:srgbClr val="FFF4F4"/>
          </a:solidFill>
          <a:ln w="12700">
            <a:solidFill>
              <a:srgbClr val="F0C1C1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9" name="Shape 36"/>
          <p:cNvSpPr/>
          <p:nvPr/>
        </p:nvSpPr>
        <p:spPr>
          <a:xfrm>
            <a:off x="7772400" y="3840480"/>
            <a:ext cx="969264" cy="274320"/>
          </a:xfrm>
          <a:prstGeom prst="roundRect">
            <a:avLst>
              <a:gd name="adj" fmla="val 40000"/>
            </a:avLst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7"/>
          <p:cNvSpPr/>
          <p:nvPr/>
        </p:nvSpPr>
        <p:spPr>
          <a:xfrm>
            <a:off x="7845552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IMPACTO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827264" y="4425696"/>
            <a:ext cx="164592" cy="164592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/>
          <p:nvPr/>
        </p:nvSpPr>
        <p:spPr>
          <a:xfrm>
            <a:off x="8101584" y="43616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833"/>
                </a:solidFill>
              </a:rPr>
              <a:t>Seguimiento manual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827264" y="4809744"/>
            <a:ext cx="164592" cy="164592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1"/>
          <p:cNvSpPr/>
          <p:nvPr/>
        </p:nvSpPr>
        <p:spPr>
          <a:xfrm>
            <a:off x="8101584" y="47457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833"/>
                </a:solidFill>
              </a:rPr>
              <a:t>Mayor tiempo de gestión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827264" y="5193792"/>
            <a:ext cx="164592" cy="164592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3"/>
          <p:cNvSpPr/>
          <p:nvPr/>
        </p:nvSpPr>
        <p:spPr>
          <a:xfrm>
            <a:off x="8101584" y="51297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833"/>
                </a:solidFill>
              </a:rPr>
              <a:t>Detección tardía de bloqueos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97280" y="5998464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71D49"/>
                </a:solidFill>
              </a:rPr>
              <a:t>“La información está fragmentada y no entrega una visión oportuna para decidir.”</a:t>
            </a:r>
            <a:endParaRPr lang="en-US" sz="16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D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Solución propuesta y valor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</a:rPr>
              <a:t>Quality360 centraliza, visualiza y ayuda a priorizar las acciones QA.</a:t>
            </a:r>
            <a:endParaRPr lang="en-US" sz="1050" dirty="0"/>
          </a:p>
        </p:txBody>
      </p:sp>
      <p:pic>
        <p:nvPicPr>
          <p:cNvPr id="4" name="Image 0" descr="/mnt/data/q360_work/original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28600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444752"/>
            <a:ext cx="3063240" cy="3218688"/>
          </a:xfrm>
          <a:prstGeom prst="roundRect">
            <a:avLst>
              <a:gd name="adj" fmla="val 2388"/>
            </a:avLst>
          </a:prstGeom>
          <a:solidFill>
            <a:srgbClr val="EAF1F8"/>
          </a:solidFill>
          <a:ln w="12700">
            <a:solidFill>
              <a:srgbClr val="CBD9E7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1389888" y="1700784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463040" y="174650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ANTES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65376" y="2240280"/>
            <a:ext cx="621792" cy="621792"/>
          </a:xfrm>
          <a:prstGeom prst="ellipse">
            <a:avLst/>
          </a:prstGeom>
          <a:solidFill>
            <a:srgbClr val="DDE7F1"/>
          </a:solidFill>
          <a:ln w="12700">
            <a:solidFill>
              <a:srgbClr val="5B6B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1865376" y="237744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F"/>
                </a:solidFill>
              </a:rPr>
              <a:t>•••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50976" y="306324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D49"/>
                </a:solidFill>
              </a:rPr>
              <a:t>Información fragmentada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9264" y="3694176"/>
            <a:ext cx="24048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833"/>
                </a:solidFill>
              </a:rPr>
              <a:t>Planillas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833"/>
                </a:solidFill>
              </a:rPr>
              <a:t>Jira · Zephyr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833"/>
                </a:solidFill>
              </a:rPr>
              <a:t>Registros separados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70248" y="1444752"/>
            <a:ext cx="3063240" cy="3218688"/>
          </a:xfrm>
          <a:prstGeom prst="roundRect">
            <a:avLst>
              <a:gd name="adj" fmla="val 2388"/>
            </a:avLst>
          </a:prstGeom>
          <a:solidFill>
            <a:srgbClr val="E8FAF8"/>
          </a:solidFill>
          <a:ln w="25400">
            <a:solidFill>
              <a:srgbClr val="18B7B1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5020056" y="1700784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5093208" y="174650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QUALITY360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95544" y="2240280"/>
            <a:ext cx="621792" cy="621792"/>
          </a:xfrm>
          <a:prstGeom prst="ellipse">
            <a:avLst/>
          </a:prstGeom>
          <a:solidFill>
            <a:srgbClr val="BFEDEA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5495544" y="237744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B7B1"/>
                </a:solidFill>
              </a:rPr>
              <a:t>360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81144" y="306324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D49"/>
                </a:solidFill>
              </a:rPr>
              <a:t>Vista integral de gestión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99432" y="3694176"/>
            <a:ext cx="24048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833"/>
                </a:solidFill>
              </a:rPr>
              <a:t>Estado · Responsables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833"/>
                </a:solidFill>
              </a:rPr>
              <a:t>Cumplimiento · Riesgos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833"/>
                </a:solidFill>
              </a:rPr>
              <a:t>Impedimentos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900416" y="1444752"/>
            <a:ext cx="3063240" cy="3218688"/>
          </a:xfrm>
          <a:prstGeom prst="roundRect">
            <a:avLst>
              <a:gd name="adj" fmla="val 2388"/>
            </a:avLst>
          </a:prstGeom>
          <a:solidFill>
            <a:srgbClr val="EAF2FF"/>
          </a:solidFill>
          <a:ln w="12700">
            <a:solidFill>
              <a:srgbClr val="CBD9E7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8650224" y="1700784"/>
            <a:ext cx="1572768" cy="274320"/>
          </a:xfrm>
          <a:prstGeom prst="roundRect">
            <a:avLst>
              <a:gd name="adj" fmla="val 40000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8723376" y="174650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RESULTADO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25712" y="2240280"/>
            <a:ext cx="621792" cy="621792"/>
          </a:xfrm>
          <a:prstGeom prst="ellipse">
            <a:avLst/>
          </a:prstGeom>
          <a:solidFill>
            <a:srgbClr val="D6E7FF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9125712" y="237744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67C7"/>
                </a:solidFill>
              </a:rPr>
              <a:t>✓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211312" y="306324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D49"/>
                </a:solidFill>
              </a:rPr>
              <a:t>Decisión oportuna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229600" y="3694176"/>
            <a:ext cx="24048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833"/>
                </a:solidFill>
              </a:rPr>
              <a:t>Priorizar acciones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833"/>
                </a:solidFill>
              </a:rPr>
              <a:t>Gestionar bloqueos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D1833"/>
                </a:solidFill>
              </a:rPr>
              <a:t>Anticipar riesgos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803904" y="2578608"/>
            <a:ext cx="310896" cy="512064"/>
          </a:xfrm>
          <a:prstGeom prst="chevron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4"/>
          <p:cNvSpPr/>
          <p:nvPr/>
        </p:nvSpPr>
        <p:spPr>
          <a:xfrm>
            <a:off x="7434072" y="2578608"/>
            <a:ext cx="310896" cy="512064"/>
          </a:xfrm>
          <a:prstGeom prst="chevron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5"/>
          <p:cNvSpPr/>
          <p:nvPr/>
        </p:nvSpPr>
        <p:spPr>
          <a:xfrm>
            <a:off x="932688" y="498348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1170432" y="5138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FE0DB"/>
                </a:solidFill>
              </a:rPr>
              <a:t>PROPUESTA DE VALOR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907792" y="516636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 información QA dispersa a una visión integral para la toma de decisiones.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2926080" y="55595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AF5"/>
                </a:solidFill>
              </a:rPr>
              <a:t>Centralización  ·  Visibilidad  ·  Análisis  ·  Priorización</a:t>
            </a:r>
            <a:endParaRPr lang="en-US" sz="10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D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del proyecto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</a:rPr>
              <a:t>Una ruta clara para convertir el proceso QA en información accionable.</a:t>
            </a:r>
            <a:endParaRPr lang="en-US" sz="1050" dirty="0"/>
          </a:p>
        </p:txBody>
      </p:sp>
      <p:pic>
        <p:nvPicPr>
          <p:cNvPr id="4" name="Image 0" descr="/mnt/data/q360_work/original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28600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280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68680" y="15727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FE0DB"/>
                </a:solidFill>
              </a:rPr>
              <a:t>OBJETIVO GENERAL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395728" y="1472184"/>
            <a:ext cx="8705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Desarrollar una plataforma web para gestionar y visualizar certificaciones QA, centralizando estado, cumplimiento, riesgos e impedimentos mediante dashboards para apoyar la supervisión y la toma de decisiones.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66928" y="2834640"/>
            <a:ext cx="1984248" cy="2542032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D6E0E9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1225296" y="3090672"/>
            <a:ext cx="658368" cy="658368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225296" y="3273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400507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D49"/>
                </a:solidFill>
              </a:rPr>
              <a:t>ANALIZAR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8096" y="4425696"/>
            <a:ext cx="15819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D1833"/>
                </a:solidFill>
              </a:rPr>
              <a:t>Proceso, actores, estados, evidencias, riesgos e impedimentos.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2788920" y="2834640"/>
            <a:ext cx="1984248" cy="2542032"/>
          </a:xfrm>
          <a:prstGeom prst="roundRect">
            <a:avLst>
              <a:gd name="adj" fmla="val 3687"/>
            </a:avLst>
          </a:prstGeom>
          <a:solidFill>
            <a:srgbClr val="F1FBFA"/>
          </a:solidFill>
          <a:ln w="12700">
            <a:solidFill>
              <a:srgbClr val="BCE8E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3447288" y="3090672"/>
            <a:ext cx="658368" cy="658368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3447288" y="3273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971800" y="400507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D49"/>
                </a:solidFill>
              </a:rPr>
              <a:t>GESTIONAR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90088" y="4425696"/>
            <a:ext cx="15819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D1833"/>
                </a:solidFill>
              </a:rPr>
              <a:t>Historias de Usuario y responsables.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010912" y="2834640"/>
            <a:ext cx="1984248" cy="2542032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D6E0E9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5669280" y="3090672"/>
            <a:ext cx="658368" cy="658368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5669280" y="3273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93792" y="400507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D49"/>
                </a:solidFill>
              </a:rPr>
              <a:t>SEGUIR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212080" y="4425696"/>
            <a:ext cx="15819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D1833"/>
                </a:solidFill>
              </a:rPr>
              <a:t>Cumplimiento de actividades de certificación.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232904" y="2834640"/>
            <a:ext cx="1984248" cy="2542032"/>
          </a:xfrm>
          <a:prstGeom prst="roundRect">
            <a:avLst>
              <a:gd name="adj" fmla="val 3687"/>
            </a:avLst>
          </a:prstGeom>
          <a:solidFill>
            <a:srgbClr val="F1FBFA"/>
          </a:solidFill>
          <a:ln w="12700">
            <a:solidFill>
              <a:srgbClr val="BCE8E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7891272" y="3090672"/>
            <a:ext cx="658368" cy="658368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7891272" y="3273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15784" y="400507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D49"/>
                </a:solidFill>
              </a:rPr>
              <a:t>VISUALIZAR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434072" y="4425696"/>
            <a:ext cx="15819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D1833"/>
                </a:solidFill>
              </a:rPr>
              <a:t>Avance, riesgos, impedimentos y carga de trabajo.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9454896" y="2834640"/>
            <a:ext cx="1984248" cy="2542032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D6E0E9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10113264" y="3090672"/>
            <a:ext cx="658368" cy="658368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10113264" y="3273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637776" y="4005072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D49"/>
                </a:solidFill>
              </a:rPr>
              <a:t>VALIDAR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656064" y="4425696"/>
            <a:ext cx="15819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D1833"/>
                </a:solidFill>
              </a:rPr>
              <a:t>Pruebas funcionales con datos simulados o anonimizados.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1463040" y="5724144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7C7"/>
                </a:solidFill>
              </a:rPr>
              <a:t>Resultado esperado: trazabilidad del proceso + indicadores claros + foco en intervención temprana.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D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Equipo y metodología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</a:rPr>
              <a:t>Roles complementarios, entregas incrementales y validación continua.</a:t>
            </a:r>
            <a:endParaRPr lang="en-US" sz="1050" dirty="0"/>
          </a:p>
        </p:txBody>
      </p:sp>
      <p:pic>
        <p:nvPicPr>
          <p:cNvPr id="4" name="Image 0" descr="/mnt/data/q360_work/original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28600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2487168" cy="299923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1353312" y="1673352"/>
            <a:ext cx="914400" cy="914400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353312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JS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D49"/>
                </a:solidFill>
              </a:rPr>
              <a:t>José Seguel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167C7"/>
                </a:solidFill>
              </a:rPr>
              <a:t>Líder de Proyecto / Analista Funcional QA</a:t>
            </a:r>
            <a:endParaRPr lang="en-US" sz="1040" dirty="0"/>
          </a:p>
        </p:txBody>
      </p:sp>
      <p:sp>
        <p:nvSpPr>
          <p:cNvPr id="10" name="Text 7"/>
          <p:cNvSpPr/>
          <p:nvPr/>
        </p:nvSpPr>
        <p:spPr>
          <a:xfrm>
            <a:off x="822960" y="3749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B6B7F"/>
                </a:solidFill>
              </a:rPr>
              <a:t>Requerimientos · Proceso QA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5B6B7F"/>
                </a:solidFill>
              </a:rPr>
              <a:t>Coordinación · Validación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3328416" y="1371600"/>
            <a:ext cx="2487168" cy="299923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114800" y="1673352"/>
            <a:ext cx="914400" cy="914400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41148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JC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538728" y="278892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D49"/>
                </a:solidFill>
              </a:rPr>
              <a:t>Jonathan Choque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38728" y="315468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8B7B1"/>
                </a:solidFill>
              </a:rPr>
              <a:t>Frontend y Dashboards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3584448" y="3749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B6B7F"/>
                </a:solidFill>
              </a:rPr>
              <a:t>Interfaz · KPI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5B6B7F"/>
                </a:solidFill>
              </a:rPr>
              <a:t>Visualizaciones · UX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6089904" y="1371600"/>
            <a:ext cx="2487168" cy="299923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6876288" y="1673352"/>
            <a:ext cx="914400" cy="914400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6876288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MA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300216" y="278892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D49"/>
                </a:solidFill>
              </a:rPr>
              <a:t>Matías Araos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00216" y="315468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167C7"/>
                </a:solidFill>
              </a:rPr>
              <a:t>Backend y Datos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6345936" y="374904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B6B7F"/>
                </a:solidFill>
              </a:rPr>
              <a:t>API · Lógica de negocio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5B6B7F"/>
                </a:solidFill>
              </a:rPr>
              <a:t>Persistencia · Integración</a:t>
            </a:r>
            <a:endParaRPr lang="en-US" sz="970" dirty="0"/>
          </a:p>
        </p:txBody>
      </p:sp>
      <p:sp>
        <p:nvSpPr>
          <p:cNvPr id="23" name="Shape 20"/>
          <p:cNvSpPr/>
          <p:nvPr/>
        </p:nvSpPr>
        <p:spPr>
          <a:xfrm>
            <a:off x="9034272" y="1371600"/>
            <a:ext cx="2596896" cy="2999232"/>
          </a:xfrm>
          <a:prstGeom prst="roundRect">
            <a:avLst>
              <a:gd name="adj" fmla="val 2817"/>
            </a:avLst>
          </a:prstGeom>
          <a:solidFill>
            <a:srgbClr val="EEF7FF"/>
          </a:solidFill>
          <a:ln w="12700">
            <a:solidFill>
              <a:srgbClr val="C8DDF5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9784080" y="1682496"/>
            <a:ext cx="1078992" cy="274320"/>
          </a:xfrm>
          <a:prstGeom prst="roundRect">
            <a:avLst>
              <a:gd name="adj" fmla="val 40000"/>
            </a:avLst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9857232" y="172821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SCRUM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9253728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D49"/>
                </a:solidFill>
              </a:rPr>
              <a:t>Sprints cortos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26880" y="2788920"/>
            <a:ext cx="19842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833"/>
                </a:solidFill>
              </a:rPr>
              <a:t>Backlog priorizado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833"/>
                </a:solidFill>
              </a:rPr>
              <a:t>Revisión de avances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833"/>
                </a:solidFill>
              </a:rPr>
              <a:t>Retroalimentación docente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833"/>
                </a:solidFill>
              </a:rPr>
              <a:t>Ajuste de prioridades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2648" y="4791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B7F"/>
                </a:solidFill>
              </a:rPr>
              <a:t>HOJA DE RUTA INCREMENTAL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21792" y="5230368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731520" y="539496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Definición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 diseño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606040" y="5404104"/>
            <a:ext cx="219456" cy="292608"/>
          </a:xfrm>
          <a:prstGeom prst="chevron">
            <a:avLst/>
          </a:prstGeom>
          <a:solidFill>
            <a:srgbClr val="9DB0C1"/>
          </a:solidFill>
          <a:ln w="12700">
            <a:solidFill>
              <a:srgbClr val="9DB0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29"/>
          <p:cNvSpPr/>
          <p:nvPr/>
        </p:nvSpPr>
        <p:spPr>
          <a:xfrm>
            <a:off x="2880360" y="5230368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2990088" y="539496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  Gestión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operacional QA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64608" y="5404104"/>
            <a:ext cx="219456" cy="292608"/>
          </a:xfrm>
          <a:prstGeom prst="chevron">
            <a:avLst/>
          </a:prstGeom>
          <a:solidFill>
            <a:srgbClr val="9DB0C1"/>
          </a:solidFill>
          <a:ln w="12700">
            <a:solidFill>
              <a:srgbClr val="9DB0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2"/>
          <p:cNvSpPr/>
          <p:nvPr/>
        </p:nvSpPr>
        <p:spPr>
          <a:xfrm>
            <a:off x="5138928" y="5230368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5248656" y="539496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  Persistencia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 integración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23176" y="5404104"/>
            <a:ext cx="219456" cy="292608"/>
          </a:xfrm>
          <a:prstGeom prst="chevron">
            <a:avLst/>
          </a:prstGeom>
          <a:solidFill>
            <a:srgbClr val="9DB0C1"/>
          </a:solidFill>
          <a:ln w="12700">
            <a:solidFill>
              <a:srgbClr val="9DB0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5"/>
          <p:cNvSpPr/>
          <p:nvPr/>
        </p:nvSpPr>
        <p:spPr>
          <a:xfrm>
            <a:off x="7397496" y="5230368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7507224" y="539496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Dashboards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 indicadores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381744" y="5404104"/>
            <a:ext cx="219456" cy="292608"/>
          </a:xfrm>
          <a:prstGeom prst="chevron">
            <a:avLst/>
          </a:prstGeom>
          <a:solidFill>
            <a:srgbClr val="9DB0C1"/>
          </a:solidFill>
          <a:ln w="12700">
            <a:solidFill>
              <a:srgbClr val="9DB0C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8"/>
          <p:cNvSpPr/>
          <p:nvPr/>
        </p:nvSpPr>
        <p:spPr>
          <a:xfrm>
            <a:off x="9656064" y="5230368"/>
            <a:ext cx="1947672" cy="658368"/>
          </a:xfrm>
          <a:prstGeom prst="roundRect">
            <a:avLst>
              <a:gd name="adj" fmla="val 11111"/>
            </a:avLst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/>
          <p:nvPr/>
        </p:nvSpPr>
        <p:spPr>
          <a:xfrm>
            <a:off x="9765792" y="539496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  Pruebas, ajustes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 cierre</a:t>
            </a:r>
            <a:endParaRPr lang="en-US" sz="10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D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funcional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</a:rPr>
              <a:t>Vista Quality Engineer: monitoreo consolidado para intervenir donde más importa.</a:t>
            </a:r>
            <a:endParaRPr lang="en-US" sz="1050" dirty="0"/>
          </a:p>
        </p:txBody>
      </p:sp>
      <p:pic>
        <p:nvPicPr>
          <p:cNvPr id="4" name="Image 0" descr="/mnt/data/q360_work/original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28600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25296"/>
            <a:ext cx="84582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CFDAE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6" name="Image 1" descr="/mnt/data/q360_work/original/ppt/media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13" y="1426464"/>
            <a:ext cx="7259997" cy="4754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5440" y="1225296"/>
            <a:ext cx="2395728" cy="5166360"/>
          </a:xfrm>
          <a:prstGeom prst="roundRect">
            <a:avLst>
              <a:gd name="adj" fmla="val 3053"/>
            </a:avLst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4"/>
          <p:cNvSpPr/>
          <p:nvPr/>
        </p:nvSpPr>
        <p:spPr>
          <a:xfrm>
            <a:off x="9756648" y="1572768"/>
            <a:ext cx="1335024" cy="274320"/>
          </a:xfrm>
          <a:prstGeom prst="roundRect">
            <a:avLst>
              <a:gd name="adj" fmla="val 40000"/>
            </a:avLst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/>
          <p:nvPr/>
        </p:nvSpPr>
        <p:spPr>
          <a:xfrm>
            <a:off x="9829800" y="16184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VISTA QE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528048" y="2194560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¿Qué permite visualizar?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509760" y="2907792"/>
            <a:ext cx="219456" cy="219456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/>
          <p:nvPr/>
        </p:nvSpPr>
        <p:spPr>
          <a:xfrm>
            <a:off x="9866376" y="2834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Estado global de HU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509760" y="3566160"/>
            <a:ext cx="219456" cy="219456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9866376" y="3493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Avance y cumplimiento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509760" y="4224528"/>
            <a:ext cx="219456" cy="219456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/>
          <p:nvPr/>
        </p:nvSpPr>
        <p:spPr>
          <a:xfrm>
            <a:off x="9866376" y="4151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Riesgos e impedimentos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509760" y="4882896"/>
            <a:ext cx="219456" cy="219456"/>
          </a:xfrm>
          <a:prstGeom prst="ellipse">
            <a:avLst/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9866376" y="4809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Puntos de intervención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491472" y="568756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BFEDEA"/>
                </a:solidFill>
              </a:rPr>
              <a:t>Una sola vista para priorizar la gestión diaria.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D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funcional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</a:rPr>
              <a:t>Vista Analista QA: foco en ejecución, evidencias y avance de cada certificación.</a:t>
            </a:r>
            <a:endParaRPr lang="en-US" sz="1050" dirty="0"/>
          </a:p>
        </p:txBody>
      </p:sp>
      <p:pic>
        <p:nvPicPr>
          <p:cNvPr id="4" name="Image 0" descr="/mnt/data/q360_work/original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28600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25296"/>
            <a:ext cx="84582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CFDAE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6" name="Image 1" descr="/mnt/data/q360_work/original/ppt/media/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423" y="1426464"/>
            <a:ext cx="6911778" cy="4754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5440" y="1225296"/>
            <a:ext cx="2395728" cy="5166360"/>
          </a:xfrm>
          <a:prstGeom prst="roundRect">
            <a:avLst>
              <a:gd name="adj" fmla="val 3053"/>
            </a:avLst>
          </a:prstGeom>
          <a:solidFill>
            <a:srgbClr val="E9FAF8"/>
          </a:solidFill>
          <a:ln w="12700">
            <a:solidFill>
              <a:srgbClr val="BCE8E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4"/>
          <p:cNvSpPr/>
          <p:nvPr/>
        </p:nvSpPr>
        <p:spPr>
          <a:xfrm>
            <a:off x="9756648" y="1572768"/>
            <a:ext cx="1335024" cy="274320"/>
          </a:xfrm>
          <a:prstGeom prst="roundRect">
            <a:avLst>
              <a:gd name="adj" fmla="val 40000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/>
          <p:nvPr/>
        </p:nvSpPr>
        <p:spPr>
          <a:xfrm>
            <a:off x="9829800" y="16184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VISTA QA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528048" y="21945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D49"/>
                </a:solidFill>
              </a:rPr>
              <a:t>Foco operativo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9509760" y="2907792"/>
            <a:ext cx="219456" cy="219456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/>
          <p:nvPr/>
        </p:nvSpPr>
        <p:spPr>
          <a:xfrm>
            <a:off x="9866376" y="2834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D1833"/>
                </a:solidFill>
              </a:rPr>
              <a:t>Historias asignadas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509760" y="3566160"/>
            <a:ext cx="219456" cy="219456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9866376" y="3493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D1833"/>
                </a:solidFill>
              </a:rPr>
              <a:t>Detalle de la certificación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509760" y="4224528"/>
            <a:ext cx="219456" cy="219456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/>
          <p:nvPr/>
        </p:nvSpPr>
        <p:spPr>
          <a:xfrm>
            <a:off x="9866376" y="4151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D1833"/>
                </a:solidFill>
              </a:rPr>
              <a:t>Checklist de actividades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509760" y="4882896"/>
            <a:ext cx="219456" cy="219456"/>
          </a:xfrm>
          <a:prstGeom prst="ellipse">
            <a:avLst/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9866376" y="4809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D1833"/>
                </a:solidFill>
              </a:rPr>
              <a:t>Registro centralizado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491472" y="568756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167C7"/>
                </a:solidFill>
              </a:rPr>
              <a:t>Trazabilidad desde la asignación hasta el cierre.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360_work/original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092" y="438912"/>
            <a:ext cx="1600200" cy="1600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17520" y="2267712"/>
            <a:ext cx="6181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Quality360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2468880" y="301752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FEDEA"/>
                </a:solidFill>
              </a:rPr>
              <a:t>Una visión integral para decidir mejor en QA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51560" y="38404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61288" y="4078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CENTRALIZAR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61288" y="4407408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5FA"/>
                </a:solidFill>
              </a:rPr>
              <a:t>Información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813048" y="38404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3922776" y="4078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22776" y="4407408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5FA"/>
                </a:solidFill>
              </a:rPr>
              <a:t>Cumplimiento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74536" y="38404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67C7"/>
          </a:solidFill>
          <a:ln w="12700">
            <a:solidFill>
              <a:srgbClr val="1167C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684264" y="4078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ANTICIPAR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84264" y="4407408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5FA"/>
                </a:solidFill>
              </a:rPr>
              <a:t>Riesgos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36024" y="38404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8B7B1"/>
          </a:solidFill>
          <a:ln w="12700">
            <a:solidFill>
              <a:srgbClr val="18B7B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9445752" y="4078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PRIORIZAR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45752" y="4407408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5FA"/>
                </a:solidFill>
              </a:rPr>
              <a:t>Acciones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965960" y="5413248"/>
            <a:ext cx="8275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Próximo foco: completar la implementación incremental y validar la solución mediante pruebas funcionales.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46320" y="61447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E0DB"/>
                </a:solidFill>
              </a:rPr>
              <a:t>Gracias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674</Words>
  <Application>Microsoft Office PowerPoint</Application>
  <PresentationFormat>Panorámica</PresentationFormat>
  <Paragraphs>162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Capstone Grupo 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Quality360 - Presentación del Proyecto</dc:title>
  <dc:subject>Quality360 - Gestión integral de certificaciones QA</dc:subject>
  <dc:creator>Jose Seguel H.</dc:creator>
  <cp:lastModifiedBy>Renato Seguel</cp:lastModifiedBy>
  <cp:revision>4</cp:revision>
  <dcterms:created xsi:type="dcterms:W3CDTF">2026-08-28T04:37:52Z</dcterms:created>
  <dcterms:modified xsi:type="dcterms:W3CDTF">2026-08-28T21:42:28Z</dcterms:modified>
</cp:coreProperties>
</file>