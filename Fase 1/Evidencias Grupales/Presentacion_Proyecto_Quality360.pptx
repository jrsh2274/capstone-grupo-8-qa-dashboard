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MDyu+tfrgKh2PXJn6nMsJeS5m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Logotipo y contenido: material proporcionado por el usuario.</a:t>
            </a:r>
            <a:endParaRPr/>
          </a:p>
        </p:txBody>
      </p:sp>
      <p:sp>
        <p:nvSpPr>
          <p:cNvPr id="98" name="Google Shape;98;p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Contenido: presentación original proporcionada por el usuario.</a:t>
            </a:r>
            <a:endParaRPr/>
          </a:p>
        </p:txBody>
      </p:sp>
      <p:sp>
        <p:nvSpPr>
          <p:cNvPr id="114" name="Google Shape;114;p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Contenido: presentación original proporcionada por el usuario.</a:t>
            </a:r>
            <a:endParaRPr/>
          </a:p>
        </p:txBody>
      </p:sp>
      <p:sp>
        <p:nvSpPr>
          <p:cNvPr id="219" name="Google Shape;219;p3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8c1bc5668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f8c1bc5668_0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8c1bc5668_0_45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f8c1bc5668_0_45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Contenido: presentación original proporcionada por el usuario.</a:t>
            </a:r>
            <a:endParaRPr/>
          </a:p>
        </p:txBody>
      </p:sp>
      <p:sp>
        <p:nvSpPr>
          <p:cNvPr id="559" name="Google Shape;559;p5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Captura del prototipo y contenido: material proporcionado por el usuario.</a:t>
            </a:r>
            <a:endParaRPr/>
          </a:p>
        </p:txBody>
      </p:sp>
      <p:sp>
        <p:nvSpPr>
          <p:cNvPr id="598" name="Google Shape;598;p8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p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Captura del prototipo y contenido: material proporcionado por el usuario.</a:t>
            </a:r>
            <a:endParaRPr/>
          </a:p>
        </p:txBody>
      </p:sp>
      <p:sp>
        <p:nvSpPr>
          <p:cNvPr id="622" name="Google Shape;622;p9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p1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Contenido: síntesis basada en la presentación original proporcionada por el usuario.</a:t>
            </a:r>
            <a:endParaRPr/>
          </a:p>
        </p:txBody>
      </p:sp>
      <p:sp>
        <p:nvSpPr>
          <p:cNvPr id="646" name="Google Shape;646;p10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AFC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B7B1"/>
          </a:solidFill>
          <a:ln cap="flat" cmpd="sng" w="127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3"/>
          <p:cNvSpPr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8c1bc5668_0_305"/>
          <p:cNvSpPr txBox="1"/>
          <p:nvPr>
            <p:ph idx="10" type="dt"/>
          </p:nvPr>
        </p:nvSpPr>
        <p:spPr>
          <a:xfrm>
            <a:off x="38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g3f8c1bc5668_0_305"/>
          <p:cNvSpPr txBox="1"/>
          <p:nvPr>
            <p:ph idx="11" type="ftr"/>
          </p:nvPr>
        </p:nvSpPr>
        <p:spPr>
          <a:xfrm>
            <a:off x="2603500" y="5296958"/>
            <a:ext cx="2412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" name="Google Shape;19;g3f8c1bc5668_0_305"/>
          <p:cNvSpPr txBox="1"/>
          <p:nvPr>
            <p:ph idx="12" type="sldNum"/>
          </p:nvPr>
        </p:nvSpPr>
        <p:spPr>
          <a:xfrm>
            <a:off x="546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8c1bc5668_0_535"/>
          <p:cNvSpPr txBox="1"/>
          <p:nvPr>
            <p:ph idx="10" type="dt"/>
          </p:nvPr>
        </p:nvSpPr>
        <p:spPr>
          <a:xfrm>
            <a:off x="38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" name="Google Shape;28;g3f8c1bc5668_0_535"/>
          <p:cNvSpPr txBox="1"/>
          <p:nvPr>
            <p:ph idx="11" type="ftr"/>
          </p:nvPr>
        </p:nvSpPr>
        <p:spPr>
          <a:xfrm>
            <a:off x="2603500" y="5296958"/>
            <a:ext cx="2412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" name="Google Shape;29;g3f8c1bc5668_0_535"/>
          <p:cNvSpPr txBox="1"/>
          <p:nvPr>
            <p:ph idx="12" type="sldNum"/>
          </p:nvPr>
        </p:nvSpPr>
        <p:spPr>
          <a:xfrm>
            <a:off x="546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f8c1bc5668_0_539"/>
          <p:cNvSpPr txBox="1"/>
          <p:nvPr>
            <p:ph type="ctrTitle"/>
          </p:nvPr>
        </p:nvSpPr>
        <p:spPr>
          <a:xfrm>
            <a:off x="571500" y="1775354"/>
            <a:ext cx="64770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" name="Google Shape;32;g3f8c1bc5668_0_539"/>
          <p:cNvSpPr txBox="1"/>
          <p:nvPr>
            <p:ph idx="1" type="subTitle"/>
          </p:nvPr>
        </p:nvSpPr>
        <p:spPr>
          <a:xfrm>
            <a:off x="1143000" y="3238500"/>
            <a:ext cx="5334000" cy="14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75" lIns="76200" spcFirstLastPara="1" rIns="76200" wrap="square" tIns="380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g3f8c1bc5668_0_539"/>
          <p:cNvSpPr txBox="1"/>
          <p:nvPr>
            <p:ph idx="10" type="dt"/>
          </p:nvPr>
        </p:nvSpPr>
        <p:spPr>
          <a:xfrm>
            <a:off x="38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" name="Google Shape;34;g3f8c1bc5668_0_539"/>
          <p:cNvSpPr txBox="1"/>
          <p:nvPr>
            <p:ph idx="11" type="ftr"/>
          </p:nvPr>
        </p:nvSpPr>
        <p:spPr>
          <a:xfrm>
            <a:off x="2603500" y="5296958"/>
            <a:ext cx="2412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" name="Google Shape;35;g3f8c1bc5668_0_539"/>
          <p:cNvSpPr txBox="1"/>
          <p:nvPr>
            <p:ph idx="12" type="sldNum"/>
          </p:nvPr>
        </p:nvSpPr>
        <p:spPr>
          <a:xfrm>
            <a:off x="546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8c1bc5668_0_545"/>
          <p:cNvSpPr txBox="1"/>
          <p:nvPr>
            <p:ph type="title"/>
          </p:nvPr>
        </p:nvSpPr>
        <p:spPr>
          <a:xfrm>
            <a:off x="381000" y="228865"/>
            <a:ext cx="6858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" name="Google Shape;38;g3f8c1bc5668_0_545"/>
          <p:cNvSpPr txBox="1"/>
          <p:nvPr>
            <p:ph idx="1" type="body"/>
          </p:nvPr>
        </p:nvSpPr>
        <p:spPr>
          <a:xfrm>
            <a:off x="381000" y="1333500"/>
            <a:ext cx="68580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75" lIns="76200" spcFirstLastPara="1" rIns="76200" wrap="square" tIns="38075">
            <a:normAutofit/>
          </a:bodyPr>
          <a:lstStyle>
            <a:lvl1pPr indent="-32385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39" name="Google Shape;39;g3f8c1bc5668_0_545"/>
          <p:cNvSpPr txBox="1"/>
          <p:nvPr>
            <p:ph idx="10" type="dt"/>
          </p:nvPr>
        </p:nvSpPr>
        <p:spPr>
          <a:xfrm>
            <a:off x="38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g3f8c1bc5668_0_545"/>
          <p:cNvSpPr txBox="1"/>
          <p:nvPr>
            <p:ph idx="11" type="ftr"/>
          </p:nvPr>
        </p:nvSpPr>
        <p:spPr>
          <a:xfrm>
            <a:off x="2603500" y="5296958"/>
            <a:ext cx="2412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" name="Google Shape;41;g3f8c1bc5668_0_545"/>
          <p:cNvSpPr txBox="1"/>
          <p:nvPr>
            <p:ph idx="12" type="sldNum"/>
          </p:nvPr>
        </p:nvSpPr>
        <p:spPr>
          <a:xfrm>
            <a:off x="546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f8c1bc5668_0_551"/>
          <p:cNvSpPr txBox="1"/>
          <p:nvPr>
            <p:ph type="title"/>
          </p:nvPr>
        </p:nvSpPr>
        <p:spPr>
          <a:xfrm>
            <a:off x="601927" y="3672417"/>
            <a:ext cx="6477000" cy="11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75" lIns="76200" spcFirstLastPara="1" rIns="76200" wrap="square" tIns="380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1" sz="3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" name="Google Shape;44;g3f8c1bc5668_0_551"/>
          <p:cNvSpPr txBox="1"/>
          <p:nvPr>
            <p:ph idx="1" type="body"/>
          </p:nvPr>
        </p:nvSpPr>
        <p:spPr>
          <a:xfrm>
            <a:off x="601927" y="2422261"/>
            <a:ext cx="6477000" cy="1250400"/>
          </a:xfrm>
          <a:prstGeom prst="rect">
            <a:avLst/>
          </a:prstGeom>
          <a:noFill/>
          <a:ln>
            <a:noFill/>
          </a:ln>
        </p:spPr>
        <p:txBody>
          <a:bodyPr anchorCtr="0" anchor="b" bIns="38075" lIns="76200" spcFirstLastPara="1" rIns="76200" wrap="square" tIns="380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 sz="17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g3f8c1bc5668_0_551"/>
          <p:cNvSpPr txBox="1"/>
          <p:nvPr>
            <p:ph idx="10" type="dt"/>
          </p:nvPr>
        </p:nvSpPr>
        <p:spPr>
          <a:xfrm>
            <a:off x="38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" name="Google Shape;46;g3f8c1bc5668_0_551"/>
          <p:cNvSpPr txBox="1"/>
          <p:nvPr>
            <p:ph idx="11" type="ftr"/>
          </p:nvPr>
        </p:nvSpPr>
        <p:spPr>
          <a:xfrm>
            <a:off x="2603500" y="5296958"/>
            <a:ext cx="2412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" name="Google Shape;47;g3f8c1bc5668_0_551"/>
          <p:cNvSpPr txBox="1"/>
          <p:nvPr>
            <p:ph idx="12" type="sldNum"/>
          </p:nvPr>
        </p:nvSpPr>
        <p:spPr>
          <a:xfrm>
            <a:off x="546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8c1bc5668_0_557"/>
          <p:cNvSpPr txBox="1"/>
          <p:nvPr>
            <p:ph type="title"/>
          </p:nvPr>
        </p:nvSpPr>
        <p:spPr>
          <a:xfrm>
            <a:off x="381000" y="228865"/>
            <a:ext cx="6858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" name="Google Shape;50;g3f8c1bc5668_0_557"/>
          <p:cNvSpPr txBox="1"/>
          <p:nvPr>
            <p:ph idx="1" type="body"/>
          </p:nvPr>
        </p:nvSpPr>
        <p:spPr>
          <a:xfrm>
            <a:off x="381000" y="1333500"/>
            <a:ext cx="33654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75" lIns="76200" spcFirstLastPara="1" rIns="76200" wrap="square" tIns="38075">
            <a:normAutofit/>
          </a:bodyPr>
          <a:lstStyle>
            <a:lvl1pPr indent="-37465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365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1" name="Google Shape;51;g3f8c1bc5668_0_557"/>
          <p:cNvSpPr txBox="1"/>
          <p:nvPr>
            <p:ph idx="2" type="body"/>
          </p:nvPr>
        </p:nvSpPr>
        <p:spPr>
          <a:xfrm>
            <a:off x="3873500" y="1333500"/>
            <a:ext cx="33654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75" lIns="76200" spcFirstLastPara="1" rIns="76200" wrap="square" tIns="38075">
            <a:normAutofit/>
          </a:bodyPr>
          <a:lstStyle>
            <a:lvl1pPr indent="-37465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365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2" name="Google Shape;52;g3f8c1bc5668_0_557"/>
          <p:cNvSpPr txBox="1"/>
          <p:nvPr>
            <p:ph idx="10" type="dt"/>
          </p:nvPr>
        </p:nvSpPr>
        <p:spPr>
          <a:xfrm>
            <a:off x="38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" name="Google Shape;53;g3f8c1bc5668_0_557"/>
          <p:cNvSpPr txBox="1"/>
          <p:nvPr>
            <p:ph idx="11" type="ftr"/>
          </p:nvPr>
        </p:nvSpPr>
        <p:spPr>
          <a:xfrm>
            <a:off x="2603500" y="5296958"/>
            <a:ext cx="2412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" name="Google Shape;54;g3f8c1bc5668_0_557"/>
          <p:cNvSpPr txBox="1"/>
          <p:nvPr>
            <p:ph idx="12" type="sldNum"/>
          </p:nvPr>
        </p:nvSpPr>
        <p:spPr>
          <a:xfrm>
            <a:off x="546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8c1bc5668_0_564"/>
          <p:cNvSpPr txBox="1"/>
          <p:nvPr>
            <p:ph type="title"/>
          </p:nvPr>
        </p:nvSpPr>
        <p:spPr>
          <a:xfrm>
            <a:off x="381000" y="228865"/>
            <a:ext cx="6858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" name="Google Shape;57;g3f8c1bc5668_0_564"/>
          <p:cNvSpPr txBox="1"/>
          <p:nvPr>
            <p:ph idx="1" type="body"/>
          </p:nvPr>
        </p:nvSpPr>
        <p:spPr>
          <a:xfrm>
            <a:off x="381000" y="1279261"/>
            <a:ext cx="3366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8075" lIns="76200" spcFirstLastPara="1" rIns="76200" wrap="square" tIns="380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9pPr>
          </a:lstStyle>
          <a:p/>
        </p:txBody>
      </p:sp>
      <p:sp>
        <p:nvSpPr>
          <p:cNvPr id="58" name="Google Shape;58;g3f8c1bc5668_0_564"/>
          <p:cNvSpPr txBox="1"/>
          <p:nvPr>
            <p:ph idx="2" type="body"/>
          </p:nvPr>
        </p:nvSpPr>
        <p:spPr>
          <a:xfrm>
            <a:off x="381000" y="1812396"/>
            <a:ext cx="3366900" cy="3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75" lIns="76200" spcFirstLastPara="1" rIns="76200" wrap="square" tIns="38075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365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  <a:defRPr sz="17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11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indent="-3111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indent="-3111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indent="-3111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indent="-3111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indent="-3111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/>
        </p:txBody>
      </p:sp>
      <p:sp>
        <p:nvSpPr>
          <p:cNvPr id="59" name="Google Shape;59;g3f8c1bc5668_0_564"/>
          <p:cNvSpPr txBox="1"/>
          <p:nvPr>
            <p:ph idx="3" type="body"/>
          </p:nvPr>
        </p:nvSpPr>
        <p:spPr>
          <a:xfrm>
            <a:off x="3870854" y="1279261"/>
            <a:ext cx="3368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8075" lIns="76200" spcFirstLastPara="1" rIns="76200" wrap="square" tIns="380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9pPr>
          </a:lstStyle>
          <a:p/>
        </p:txBody>
      </p:sp>
      <p:sp>
        <p:nvSpPr>
          <p:cNvPr id="60" name="Google Shape;60;g3f8c1bc5668_0_564"/>
          <p:cNvSpPr txBox="1"/>
          <p:nvPr>
            <p:ph idx="4" type="body"/>
          </p:nvPr>
        </p:nvSpPr>
        <p:spPr>
          <a:xfrm>
            <a:off x="3870854" y="1812396"/>
            <a:ext cx="3368400" cy="3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75" lIns="76200" spcFirstLastPara="1" rIns="76200" wrap="square" tIns="38075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365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  <a:defRPr sz="17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11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indent="-3111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indent="-3111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indent="-3111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indent="-3111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indent="-3111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/>
        </p:txBody>
      </p:sp>
      <p:sp>
        <p:nvSpPr>
          <p:cNvPr id="61" name="Google Shape;61;g3f8c1bc5668_0_564"/>
          <p:cNvSpPr txBox="1"/>
          <p:nvPr>
            <p:ph idx="10" type="dt"/>
          </p:nvPr>
        </p:nvSpPr>
        <p:spPr>
          <a:xfrm>
            <a:off x="38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g3f8c1bc5668_0_564"/>
          <p:cNvSpPr txBox="1"/>
          <p:nvPr>
            <p:ph idx="11" type="ftr"/>
          </p:nvPr>
        </p:nvSpPr>
        <p:spPr>
          <a:xfrm>
            <a:off x="2603500" y="5296958"/>
            <a:ext cx="2412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g3f8c1bc5668_0_564"/>
          <p:cNvSpPr txBox="1"/>
          <p:nvPr>
            <p:ph idx="12" type="sldNum"/>
          </p:nvPr>
        </p:nvSpPr>
        <p:spPr>
          <a:xfrm>
            <a:off x="546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8c1bc5668_0_573"/>
          <p:cNvSpPr txBox="1"/>
          <p:nvPr>
            <p:ph type="title"/>
          </p:nvPr>
        </p:nvSpPr>
        <p:spPr>
          <a:xfrm>
            <a:off x="381000" y="228865"/>
            <a:ext cx="6858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g3f8c1bc5668_0_573"/>
          <p:cNvSpPr txBox="1"/>
          <p:nvPr>
            <p:ph idx="10" type="dt"/>
          </p:nvPr>
        </p:nvSpPr>
        <p:spPr>
          <a:xfrm>
            <a:off x="38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" name="Google Shape;67;g3f8c1bc5668_0_573"/>
          <p:cNvSpPr txBox="1"/>
          <p:nvPr>
            <p:ph idx="11" type="ftr"/>
          </p:nvPr>
        </p:nvSpPr>
        <p:spPr>
          <a:xfrm>
            <a:off x="2603500" y="5296958"/>
            <a:ext cx="2412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" name="Google Shape;68;g3f8c1bc5668_0_573"/>
          <p:cNvSpPr txBox="1"/>
          <p:nvPr>
            <p:ph idx="12" type="sldNum"/>
          </p:nvPr>
        </p:nvSpPr>
        <p:spPr>
          <a:xfrm>
            <a:off x="546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8c1bc5668_0_578"/>
          <p:cNvSpPr txBox="1"/>
          <p:nvPr>
            <p:ph type="title"/>
          </p:nvPr>
        </p:nvSpPr>
        <p:spPr>
          <a:xfrm>
            <a:off x="381000" y="227542"/>
            <a:ext cx="25071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8075" lIns="76200" spcFirstLastPara="1" rIns="76200" wrap="square" tIns="380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  <a:defRPr b="1" sz="17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g3f8c1bc5668_0_578"/>
          <p:cNvSpPr txBox="1"/>
          <p:nvPr>
            <p:ph idx="1" type="body"/>
          </p:nvPr>
        </p:nvSpPr>
        <p:spPr>
          <a:xfrm>
            <a:off x="2979208" y="227542"/>
            <a:ext cx="4259700" cy="48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75" lIns="76200" spcFirstLastPara="1" rIns="76200" wrap="square" tIns="38075">
            <a:normAutofit/>
          </a:bodyPr>
          <a:lstStyle>
            <a:lvl1pPr indent="-40005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1pPr>
            <a:lvl2pPr indent="-374650" lvl="1" marL="914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365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  <a:defRPr sz="1700"/>
            </a:lvl4pPr>
            <a:lvl5pPr indent="-3365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»"/>
              <a:defRPr sz="1700"/>
            </a:lvl5pPr>
            <a:lvl6pPr indent="-3365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6pPr>
            <a:lvl7pPr indent="-3365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7pPr>
            <a:lvl8pPr indent="-3365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8pPr>
            <a:lvl9pPr indent="-3365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9pPr>
          </a:lstStyle>
          <a:p/>
        </p:txBody>
      </p:sp>
      <p:sp>
        <p:nvSpPr>
          <p:cNvPr id="72" name="Google Shape;72;g3f8c1bc5668_0_578"/>
          <p:cNvSpPr txBox="1"/>
          <p:nvPr>
            <p:ph idx="2" type="body"/>
          </p:nvPr>
        </p:nvSpPr>
        <p:spPr>
          <a:xfrm>
            <a:off x="381000" y="1195917"/>
            <a:ext cx="2507100" cy="39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75" lIns="76200" spcFirstLastPara="1" rIns="76200" wrap="square" tIns="380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3" name="Google Shape;73;g3f8c1bc5668_0_578"/>
          <p:cNvSpPr txBox="1"/>
          <p:nvPr>
            <p:ph idx="10" type="dt"/>
          </p:nvPr>
        </p:nvSpPr>
        <p:spPr>
          <a:xfrm>
            <a:off x="38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4" name="Google Shape;74;g3f8c1bc5668_0_578"/>
          <p:cNvSpPr txBox="1"/>
          <p:nvPr>
            <p:ph idx="11" type="ftr"/>
          </p:nvPr>
        </p:nvSpPr>
        <p:spPr>
          <a:xfrm>
            <a:off x="2603500" y="5296958"/>
            <a:ext cx="2412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5" name="Google Shape;75;g3f8c1bc5668_0_578"/>
          <p:cNvSpPr txBox="1"/>
          <p:nvPr>
            <p:ph idx="12" type="sldNum"/>
          </p:nvPr>
        </p:nvSpPr>
        <p:spPr>
          <a:xfrm>
            <a:off x="546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8c1bc5668_0_585"/>
          <p:cNvSpPr txBox="1"/>
          <p:nvPr>
            <p:ph type="title"/>
          </p:nvPr>
        </p:nvSpPr>
        <p:spPr>
          <a:xfrm>
            <a:off x="1493573" y="4000500"/>
            <a:ext cx="4572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8075" lIns="76200" spcFirstLastPara="1" rIns="76200" wrap="square" tIns="380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  <a:defRPr b="1" sz="17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g3f8c1bc5668_0_585"/>
          <p:cNvSpPr/>
          <p:nvPr>
            <p:ph idx="2" type="pic"/>
          </p:nvPr>
        </p:nvSpPr>
        <p:spPr>
          <a:xfrm>
            <a:off x="1493573" y="510646"/>
            <a:ext cx="45720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g3f8c1bc5668_0_585"/>
          <p:cNvSpPr txBox="1"/>
          <p:nvPr>
            <p:ph idx="1" type="body"/>
          </p:nvPr>
        </p:nvSpPr>
        <p:spPr>
          <a:xfrm>
            <a:off x="1493573" y="4472782"/>
            <a:ext cx="45720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75" lIns="76200" spcFirstLastPara="1" rIns="76200" wrap="square" tIns="380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80" name="Google Shape;80;g3f8c1bc5668_0_585"/>
          <p:cNvSpPr txBox="1"/>
          <p:nvPr>
            <p:ph idx="10" type="dt"/>
          </p:nvPr>
        </p:nvSpPr>
        <p:spPr>
          <a:xfrm>
            <a:off x="38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1" name="Google Shape;81;g3f8c1bc5668_0_585"/>
          <p:cNvSpPr txBox="1"/>
          <p:nvPr>
            <p:ph idx="11" type="ftr"/>
          </p:nvPr>
        </p:nvSpPr>
        <p:spPr>
          <a:xfrm>
            <a:off x="2603500" y="5296958"/>
            <a:ext cx="2412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" name="Google Shape;82;g3f8c1bc5668_0_585"/>
          <p:cNvSpPr txBox="1"/>
          <p:nvPr>
            <p:ph idx="12" type="sldNum"/>
          </p:nvPr>
        </p:nvSpPr>
        <p:spPr>
          <a:xfrm>
            <a:off x="546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8c1bc5668_0_592"/>
          <p:cNvSpPr txBox="1"/>
          <p:nvPr>
            <p:ph type="title"/>
          </p:nvPr>
        </p:nvSpPr>
        <p:spPr>
          <a:xfrm>
            <a:off x="381000" y="228865"/>
            <a:ext cx="6858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g3f8c1bc5668_0_592"/>
          <p:cNvSpPr txBox="1"/>
          <p:nvPr>
            <p:ph idx="1" type="body"/>
          </p:nvPr>
        </p:nvSpPr>
        <p:spPr>
          <a:xfrm rot="5400000">
            <a:off x="1924050" y="-209550"/>
            <a:ext cx="37719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75" lIns="76200" spcFirstLastPara="1" rIns="76200" wrap="square" tIns="38075">
            <a:normAutofit/>
          </a:bodyPr>
          <a:lstStyle>
            <a:lvl1pPr indent="-32385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86" name="Google Shape;86;g3f8c1bc5668_0_592"/>
          <p:cNvSpPr txBox="1"/>
          <p:nvPr>
            <p:ph idx="10" type="dt"/>
          </p:nvPr>
        </p:nvSpPr>
        <p:spPr>
          <a:xfrm>
            <a:off x="38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g3f8c1bc5668_0_592"/>
          <p:cNvSpPr txBox="1"/>
          <p:nvPr>
            <p:ph idx="11" type="ftr"/>
          </p:nvPr>
        </p:nvSpPr>
        <p:spPr>
          <a:xfrm>
            <a:off x="2603500" y="5296958"/>
            <a:ext cx="2412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g3f8c1bc5668_0_592"/>
          <p:cNvSpPr txBox="1"/>
          <p:nvPr>
            <p:ph idx="12" type="sldNum"/>
          </p:nvPr>
        </p:nvSpPr>
        <p:spPr>
          <a:xfrm>
            <a:off x="546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8c1bc5668_0_598"/>
          <p:cNvSpPr txBox="1"/>
          <p:nvPr>
            <p:ph type="title"/>
          </p:nvPr>
        </p:nvSpPr>
        <p:spPr>
          <a:xfrm rot="5400000">
            <a:off x="3943650" y="1809715"/>
            <a:ext cx="4876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" name="Google Shape;91;g3f8c1bc5668_0_598"/>
          <p:cNvSpPr txBox="1"/>
          <p:nvPr>
            <p:ph idx="1" type="body"/>
          </p:nvPr>
        </p:nvSpPr>
        <p:spPr>
          <a:xfrm rot="5400000">
            <a:off x="451100" y="158665"/>
            <a:ext cx="4876200" cy="50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75" lIns="76200" spcFirstLastPara="1" rIns="76200" wrap="square" tIns="38075">
            <a:normAutofit/>
          </a:bodyPr>
          <a:lstStyle>
            <a:lvl1pPr indent="-32385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92" name="Google Shape;92;g3f8c1bc5668_0_598"/>
          <p:cNvSpPr txBox="1"/>
          <p:nvPr>
            <p:ph idx="10" type="dt"/>
          </p:nvPr>
        </p:nvSpPr>
        <p:spPr>
          <a:xfrm>
            <a:off x="38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g3f8c1bc5668_0_598"/>
          <p:cNvSpPr txBox="1"/>
          <p:nvPr>
            <p:ph idx="11" type="ftr"/>
          </p:nvPr>
        </p:nvSpPr>
        <p:spPr>
          <a:xfrm>
            <a:off x="2603500" y="5296958"/>
            <a:ext cx="2412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4" name="Google Shape;94;g3f8c1bc5668_0_598"/>
          <p:cNvSpPr txBox="1"/>
          <p:nvPr>
            <p:ph idx="12" type="sldNum"/>
          </p:nvPr>
        </p:nvSpPr>
        <p:spPr>
          <a:xfrm>
            <a:off x="546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2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8c1bc5668_0_529"/>
          <p:cNvSpPr txBox="1"/>
          <p:nvPr>
            <p:ph type="title"/>
          </p:nvPr>
        </p:nvSpPr>
        <p:spPr>
          <a:xfrm>
            <a:off x="381000" y="228865"/>
            <a:ext cx="6858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None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9pPr>
          </a:lstStyle>
          <a:p/>
        </p:txBody>
      </p:sp>
      <p:sp>
        <p:nvSpPr>
          <p:cNvPr id="22" name="Google Shape;22;g3f8c1bc5668_0_529"/>
          <p:cNvSpPr txBox="1"/>
          <p:nvPr>
            <p:ph idx="1" type="body"/>
          </p:nvPr>
        </p:nvSpPr>
        <p:spPr>
          <a:xfrm>
            <a:off x="381000" y="1333500"/>
            <a:ext cx="68580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75" lIns="76200" spcFirstLastPara="1" rIns="76200" wrap="square" tIns="38075">
            <a:normAutofit/>
          </a:bodyPr>
          <a:lstStyle>
            <a:lvl1pPr indent="-40005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74650" lvl="1" marL="9144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  <a:def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65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65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»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65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65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65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65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3f8c1bc5668_0_529"/>
          <p:cNvSpPr txBox="1"/>
          <p:nvPr>
            <p:ph idx="10" type="dt"/>
          </p:nvPr>
        </p:nvSpPr>
        <p:spPr>
          <a:xfrm>
            <a:off x="38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g3f8c1bc5668_0_529"/>
          <p:cNvSpPr txBox="1"/>
          <p:nvPr>
            <p:ph idx="11" type="ftr"/>
          </p:nvPr>
        </p:nvSpPr>
        <p:spPr>
          <a:xfrm>
            <a:off x="2603500" y="5296958"/>
            <a:ext cx="2412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g3f8c1bc5668_0_529"/>
          <p:cNvSpPr txBox="1"/>
          <p:nvPr>
            <p:ph idx="12" type="sldNum"/>
          </p:nvPr>
        </p:nvSpPr>
        <p:spPr>
          <a:xfrm>
            <a:off x="5461000" y="5296958"/>
            <a:ext cx="1778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200" spcFirstLastPara="1" rIns="76200" wrap="square" tIns="380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71D49"/>
          </a:solidFill>
          <a:ln cap="flat" cmpd="sng" w="12700">
            <a:solidFill>
              <a:srgbClr val="071D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228600" y="5440680"/>
            <a:ext cx="960120" cy="960120"/>
          </a:xfrm>
          <a:prstGeom prst="ellipse">
            <a:avLst/>
          </a:prstGeom>
          <a:solidFill>
            <a:srgbClr val="18B7B1">
              <a:alpha val="90196"/>
            </a:srgbClr>
          </a:solidFill>
          <a:ln cap="flat" cmpd="sng" w="12700">
            <a:solidFill>
              <a:srgbClr val="18B7B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566928" y="53035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EDE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FEDEA"/>
                </a:solidFill>
                <a:latin typeface="Arial"/>
                <a:ea typeface="Arial"/>
                <a:cs typeface="Arial"/>
                <a:sym typeface="Arial"/>
              </a:rPr>
              <a:t>CAPSTONE · GRUPO 8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566928" y="123444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Play"/>
              <a:buNone/>
            </a:pPr>
            <a:r>
              <a:rPr b="1" lang="en-US" sz="3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Quality360</a:t>
            </a:r>
            <a:endParaRPr sz="3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585216" y="2084832"/>
            <a:ext cx="3611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AF5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DCEAF5"/>
                </a:solidFill>
                <a:latin typeface="Arial"/>
                <a:ea typeface="Arial"/>
                <a:cs typeface="Arial"/>
                <a:sym typeface="Arial"/>
              </a:rPr>
              <a:t>Gestión integral de certificaciones QA para la toma de decisiones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585216" y="3364992"/>
            <a:ext cx="3429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i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datos dispersos a una visión clara, accionable y oportuna.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585216" y="5084064"/>
            <a:ext cx="2139696" cy="274320"/>
          </a:xfrm>
          <a:prstGeom prst="roundRect">
            <a:avLst>
              <a:gd fmla="val 40000" name="adj"/>
            </a:avLst>
          </a:prstGeom>
          <a:solidFill>
            <a:srgbClr val="1167C7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658368" y="5129784"/>
            <a:ext cx="19933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PRELIMINAR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1274984" y="5838444"/>
            <a:ext cx="3749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Grupo 8: </a:t>
            </a:r>
            <a:br>
              <a:rPr b="1" lang="en-US" sz="105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05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José Seguel · Jonathan Choque · Matías Araos</a:t>
            </a:r>
            <a:endParaRPr/>
          </a:p>
        </p:txBody>
      </p:sp>
      <p:pic>
        <p:nvPicPr>
          <p:cNvPr descr="/mnt/data/q360_work/original/ppt/media/image15.png" id="109" name="Google Shape;1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2452" y="713232"/>
            <a:ext cx="475488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"/>
          <p:cNvSpPr/>
          <p:nvPr/>
        </p:nvSpPr>
        <p:spPr>
          <a:xfrm>
            <a:off x="5806440" y="5806440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67C7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67C7"/>
                </a:solidFill>
                <a:latin typeface="Arial"/>
                <a:ea typeface="Arial"/>
                <a:cs typeface="Arial"/>
                <a:sym typeface="Arial"/>
              </a:rPr>
              <a:t>CALIDAD · VISIBILIDAD · ANÁLISIS · IMPACTO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/>
          <p:nvPr/>
        </p:nvSpPr>
        <p:spPr>
          <a:xfrm>
            <a:off x="530352" y="34747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D49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071D49"/>
                </a:solidFill>
                <a:latin typeface="Play"/>
                <a:ea typeface="Play"/>
                <a:cs typeface="Play"/>
                <a:sym typeface="Play"/>
              </a:rPr>
              <a:t>Contexto y problema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548640" y="804672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B7F"/>
                </a:solidFill>
                <a:latin typeface="Arial"/>
                <a:ea typeface="Arial"/>
                <a:cs typeface="Arial"/>
                <a:sym typeface="Arial"/>
              </a:rPr>
              <a:t>El desafío no es generar más datos, sino convertir el seguimiento operativo en visibilidad de gestión.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q360_work/original/ppt/media/image15.png" id="118" name="Google Shape;1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22860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"/>
          <p:cNvSpPr/>
          <p:nvPr/>
        </p:nvSpPr>
        <p:spPr>
          <a:xfrm>
            <a:off x="548640" y="1298448"/>
            <a:ext cx="6720840" cy="4498848"/>
          </a:xfrm>
          <a:prstGeom prst="roundRect">
            <a:avLst>
              <a:gd fmla="val 1626" name="adj"/>
            </a:avLst>
          </a:prstGeom>
          <a:solidFill>
            <a:srgbClr val="FFFFFF"/>
          </a:solidFill>
          <a:ln cap="flat" cmpd="sng" w="12700">
            <a:solidFill>
              <a:srgbClr val="D9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804672" y="1554480"/>
            <a:ext cx="1417320" cy="274320"/>
          </a:xfrm>
          <a:prstGeom prst="roundRect">
            <a:avLst>
              <a:gd fmla="val 40000" name="adj"/>
            </a:avLst>
          </a:prstGeom>
          <a:solidFill>
            <a:srgbClr val="1167C7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877824" y="1600200"/>
            <a:ext cx="12710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PROCESO ACTUAL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822960" y="2057400"/>
            <a:ext cx="384048" cy="384048"/>
          </a:xfrm>
          <a:prstGeom prst="ellipse">
            <a:avLst/>
          </a:prstGeom>
          <a:solidFill>
            <a:srgbClr val="1167C7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822960" y="2139696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1307592" y="2084832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2907792" y="2057400"/>
            <a:ext cx="384048" cy="384048"/>
          </a:xfrm>
          <a:prstGeom prst="ellipse">
            <a:avLst/>
          </a:prstGeom>
          <a:solidFill>
            <a:srgbClr val="1167C7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2907792" y="2139696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3392424" y="2084832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Casos de prueba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4992624" y="2057400"/>
            <a:ext cx="384048" cy="384048"/>
          </a:xfrm>
          <a:prstGeom prst="ellipse">
            <a:avLst/>
          </a:prstGeom>
          <a:solidFill>
            <a:srgbClr val="1167C7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4992624" y="2139696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5477256" y="2084832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Ejecución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822960" y="3108960"/>
            <a:ext cx="384048" cy="384048"/>
          </a:xfrm>
          <a:prstGeom prst="ellipse">
            <a:avLst/>
          </a:prstGeom>
          <a:solidFill>
            <a:srgbClr val="18B7B1"/>
          </a:solidFill>
          <a:ln cap="flat" cmpd="sng" w="127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822960" y="3191256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1307592" y="3136392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Evidencias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2907792" y="3108960"/>
            <a:ext cx="384048" cy="384048"/>
          </a:xfrm>
          <a:prstGeom prst="ellipse">
            <a:avLst/>
          </a:prstGeom>
          <a:solidFill>
            <a:srgbClr val="18B7B1"/>
          </a:solidFill>
          <a:ln cap="flat" cmpd="sng" w="127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2907792" y="3191256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3392424" y="3136392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Defectos / UAT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4992624" y="3108960"/>
            <a:ext cx="384048" cy="384048"/>
          </a:xfrm>
          <a:prstGeom prst="ellipse">
            <a:avLst/>
          </a:prstGeom>
          <a:solidFill>
            <a:srgbClr val="18B7B1"/>
          </a:solidFill>
          <a:ln cap="flat" cmpd="sng" w="127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4992624" y="3191256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5477256" y="3136392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2"/>
          <p:cNvCxnSpPr/>
          <p:nvPr/>
        </p:nvCxnSpPr>
        <p:spPr>
          <a:xfrm>
            <a:off x="1024128" y="4325112"/>
            <a:ext cx="5440680" cy="0"/>
          </a:xfrm>
          <a:prstGeom prst="straightConnector1">
            <a:avLst/>
          </a:prstGeom>
          <a:noFill/>
          <a:ln cap="flat" cmpd="sng" w="15225">
            <a:solidFill>
              <a:srgbClr val="CBD7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2"/>
          <p:cNvSpPr/>
          <p:nvPr/>
        </p:nvSpPr>
        <p:spPr>
          <a:xfrm>
            <a:off x="841248" y="4572000"/>
            <a:ext cx="5852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D49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71D49"/>
                </a:solidFill>
                <a:latin typeface="Arial"/>
                <a:ea typeface="Arial"/>
                <a:cs typeface="Arial"/>
                <a:sym typeface="Arial"/>
              </a:rPr>
              <a:t>El Quality Engineer supervisa múltiples HU, responsables, avances, riesgos e impedimentos.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7516368" y="1298448"/>
            <a:ext cx="4114800" cy="2048256"/>
          </a:xfrm>
          <a:prstGeom prst="roundRect">
            <a:avLst>
              <a:gd fmla="val 3571" name="adj"/>
            </a:avLst>
          </a:prstGeom>
          <a:solidFill>
            <a:srgbClr val="FFF9ED"/>
          </a:solidFill>
          <a:ln cap="flat" cmpd="sng" w="12700">
            <a:solidFill>
              <a:srgbClr val="F2D79D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7772400" y="1554480"/>
            <a:ext cx="1444752" cy="274320"/>
          </a:xfrm>
          <a:prstGeom prst="roundRect">
            <a:avLst>
              <a:gd fmla="val 40000" name="adj"/>
            </a:avLst>
          </a:prstGeom>
          <a:solidFill>
            <a:srgbClr val="F4B740"/>
          </a:solidFill>
          <a:ln cap="flat" cmpd="sng" w="12700">
            <a:solidFill>
              <a:srgbClr val="F4B7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7845552" y="1600200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FRAGMENTACIÓN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7790688" y="2121408"/>
            <a:ext cx="987552" cy="585216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2700">
            <a:solidFill>
              <a:srgbClr val="E9D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7845552" y="2286000"/>
            <a:ext cx="8778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Planillas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8979408" y="2121408"/>
            <a:ext cx="987552" cy="585216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2700">
            <a:solidFill>
              <a:srgbClr val="E9D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9034272" y="2286000"/>
            <a:ext cx="8778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Jira / Zephyr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10168128" y="2121408"/>
            <a:ext cx="987552" cy="585216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2700">
            <a:solidFill>
              <a:srgbClr val="E9D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10222992" y="2286000"/>
            <a:ext cx="8778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Registros separados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7790688" y="2880360"/>
            <a:ext cx="34930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B7F"/>
                </a:solidFill>
                <a:latin typeface="Arial"/>
                <a:ea typeface="Arial"/>
                <a:cs typeface="Arial"/>
                <a:sym typeface="Arial"/>
              </a:rPr>
              <a:t>La información existe, pero no está consolidada en una vista actualizada.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7516368" y="3584448"/>
            <a:ext cx="4114800" cy="2212848"/>
          </a:xfrm>
          <a:prstGeom prst="roundRect">
            <a:avLst>
              <a:gd fmla="val 3306" name="adj"/>
            </a:avLst>
          </a:prstGeom>
          <a:solidFill>
            <a:srgbClr val="FFF4F4"/>
          </a:solidFill>
          <a:ln cap="flat" cmpd="sng" w="12700">
            <a:solidFill>
              <a:srgbClr val="F0C1C1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7772400" y="3840480"/>
            <a:ext cx="969264" cy="274320"/>
          </a:xfrm>
          <a:prstGeom prst="roundRect">
            <a:avLst>
              <a:gd fmla="val 40000" name="adj"/>
            </a:avLst>
          </a:prstGeom>
          <a:solidFill>
            <a:srgbClr val="E85D5D"/>
          </a:solidFill>
          <a:ln cap="flat" cmpd="sng" w="12700">
            <a:solidFill>
              <a:srgbClr val="E8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7845552" y="3886200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7827264" y="4425696"/>
            <a:ext cx="164592" cy="164592"/>
          </a:xfrm>
          <a:prstGeom prst="ellipse">
            <a:avLst/>
          </a:prstGeom>
          <a:solidFill>
            <a:srgbClr val="E85D5D"/>
          </a:solidFill>
          <a:ln cap="flat" cmpd="sng" w="12700">
            <a:solidFill>
              <a:srgbClr val="E8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8101584" y="4361688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Seguimiento manual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7827264" y="4809744"/>
            <a:ext cx="164592" cy="164592"/>
          </a:xfrm>
          <a:prstGeom prst="ellipse">
            <a:avLst/>
          </a:prstGeom>
          <a:solidFill>
            <a:srgbClr val="E85D5D"/>
          </a:solidFill>
          <a:ln cap="flat" cmpd="sng" w="12700">
            <a:solidFill>
              <a:srgbClr val="E8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8101584" y="4745736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Mayor tiempo de gestión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7827264" y="5193792"/>
            <a:ext cx="164592" cy="164592"/>
          </a:xfrm>
          <a:prstGeom prst="ellipse">
            <a:avLst/>
          </a:prstGeom>
          <a:solidFill>
            <a:srgbClr val="E85D5D"/>
          </a:solidFill>
          <a:ln cap="flat" cmpd="sng" w="12700">
            <a:solidFill>
              <a:srgbClr val="E8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8101584" y="5129784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Detección tardía de bloqueos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1097280" y="5998464"/>
            <a:ext cx="9738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D49"/>
              </a:buClr>
              <a:buSzPts val="1600"/>
              <a:buFont typeface="Arial"/>
              <a:buNone/>
            </a:pPr>
            <a:r>
              <a:rPr b="1" i="1" lang="en-US" sz="1600">
                <a:solidFill>
                  <a:srgbClr val="071D49"/>
                </a:solidFill>
                <a:latin typeface="Arial"/>
                <a:ea typeface="Arial"/>
                <a:cs typeface="Arial"/>
                <a:sym typeface="Arial"/>
              </a:rPr>
              <a:t>“La información está fragmentada y no entrega una visión oportuna para decidir.”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 txBox="1"/>
          <p:nvPr>
            <p:ph idx="4294967295" type="sldNum"/>
          </p:nvPr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4E607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18B7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8" name="Google Shape;16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0" y="155448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"/>
          <p:cNvSpPr txBox="1"/>
          <p:nvPr/>
        </p:nvSpPr>
        <p:spPr>
          <a:xfrm>
            <a:off x="530352" y="292608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71D49"/>
                </a:solidFill>
                <a:latin typeface="Calibri"/>
                <a:ea typeface="Calibri"/>
                <a:cs typeface="Calibri"/>
                <a:sym typeface="Calibri"/>
              </a:rPr>
              <a:t>Comparativa antes y después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548640" y="75895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4E607C"/>
                </a:solidFill>
                <a:latin typeface="Calibri"/>
                <a:ea typeface="Calibri"/>
                <a:cs typeface="Calibri"/>
                <a:sym typeface="Calibri"/>
              </a:rPr>
              <a:t>Beneficio esperado para el Quality Engineer mediante una prueba controlada.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11430000" y="6473952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4E607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566928" y="1234440"/>
            <a:ext cx="3154680" cy="1920240"/>
          </a:xfrm>
          <a:prstGeom prst="roundRect">
            <a:avLst>
              <a:gd fmla="val 16667" name="adj"/>
            </a:avLst>
          </a:prstGeom>
          <a:solidFill>
            <a:srgbClr val="FFF4F4"/>
          </a:solidFill>
          <a:ln cap="flat" cmpd="sng" w="9525">
            <a:solidFill>
              <a:srgbClr val="F0C1C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868680" y="1417320"/>
            <a:ext cx="1417320" cy="228600"/>
          </a:xfrm>
          <a:prstGeom prst="roundRect">
            <a:avLst>
              <a:gd fmla="val 16667" name="adj"/>
            </a:avLst>
          </a:prstGeom>
          <a:solidFill>
            <a:srgbClr val="E85D5D"/>
          </a:solidFill>
          <a:ln cap="flat" cmpd="sng" w="9525">
            <a:solidFill>
              <a:srgbClr val="E85D5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QUALITY360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932688" y="1856231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D49"/>
                </a:solidFill>
                <a:latin typeface="Calibri"/>
                <a:ea typeface="Calibri"/>
                <a:cs typeface="Calibri"/>
                <a:sym typeface="Calibri"/>
              </a:rPr>
              <a:t>Información distribuida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941832" y="2194560"/>
            <a:ext cx="25603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C203E"/>
                </a:solidFill>
                <a:latin typeface="Calibri"/>
                <a:ea typeface="Calibri"/>
                <a:cs typeface="Calibri"/>
                <a:sym typeface="Calibri"/>
              </a:rPr>
              <a:t>Planillas</a:t>
            </a:r>
            <a:br>
              <a:rPr b="0" lang="en-US" sz="1100">
                <a:solidFill>
                  <a:srgbClr val="0C203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0C203E"/>
                </a:solidFill>
                <a:latin typeface="Calibri"/>
                <a:ea typeface="Calibri"/>
                <a:cs typeface="Calibri"/>
                <a:sym typeface="Calibri"/>
              </a:rPr>
              <a:t>Jira / Zephyr</a:t>
            </a:r>
            <a:br>
              <a:rPr b="0" lang="en-US" sz="1100">
                <a:solidFill>
                  <a:srgbClr val="0C203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0C203E"/>
                </a:solidFill>
                <a:latin typeface="Calibri"/>
                <a:ea typeface="Calibri"/>
                <a:cs typeface="Calibri"/>
                <a:sym typeface="Calibri"/>
              </a:rPr>
              <a:t>Registros separados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50392" y="2834640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4E607C"/>
                </a:solidFill>
                <a:latin typeface="Calibri"/>
                <a:ea typeface="Calibri"/>
                <a:cs typeface="Calibri"/>
                <a:sym typeface="Calibri"/>
              </a:rPr>
              <a:t>Cruce manual para conocer estado, riesgos y cumplimiento.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3941063" y="1975104"/>
            <a:ext cx="566928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8B7B1"/>
          </a:solidFill>
          <a:ln cap="flat" cmpd="sng" w="9525">
            <a:solidFill>
              <a:srgbClr val="18B7B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4663440" y="1234440"/>
            <a:ext cx="3154680" cy="1920240"/>
          </a:xfrm>
          <a:prstGeom prst="roundRect">
            <a:avLst>
              <a:gd fmla="val 16667" name="adj"/>
            </a:avLst>
          </a:prstGeom>
          <a:solidFill>
            <a:srgbClr val="E8FAF8"/>
          </a:solidFill>
          <a:ln cap="flat" cmpd="sng" w="9525">
            <a:solidFill>
              <a:srgbClr val="18B7B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4956048" y="1417320"/>
            <a:ext cx="1600200" cy="228600"/>
          </a:xfrm>
          <a:prstGeom prst="roundRect">
            <a:avLst>
              <a:gd fmla="val 16667" name="adj"/>
            </a:avLst>
          </a:prstGeom>
          <a:solidFill>
            <a:srgbClr val="18B7B1"/>
          </a:solidFill>
          <a:ln cap="flat" cmpd="sng" w="9525">
            <a:solidFill>
              <a:srgbClr val="18B7B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 QUALITY360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5074920" y="1856231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D49"/>
                </a:solidFill>
                <a:latin typeface="Calibri"/>
                <a:ea typeface="Calibri"/>
                <a:cs typeface="Calibri"/>
                <a:sym typeface="Calibri"/>
              </a:rPr>
              <a:t>Vista integral de gestión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5047488" y="2194560"/>
            <a:ext cx="24231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C203E"/>
                </a:solidFill>
                <a:latin typeface="Calibri"/>
                <a:ea typeface="Calibri"/>
                <a:cs typeface="Calibri"/>
                <a:sym typeface="Calibri"/>
              </a:rPr>
              <a:t>KPI superiores</a:t>
            </a:r>
            <a:br>
              <a:rPr b="0" lang="en-US" sz="1100">
                <a:solidFill>
                  <a:srgbClr val="0C203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0C203E"/>
                </a:solidFill>
                <a:latin typeface="Calibri"/>
                <a:ea typeface="Calibri"/>
                <a:cs typeface="Calibri"/>
                <a:sym typeface="Calibri"/>
              </a:rPr>
              <a:t>Tabla consolidada</a:t>
            </a:r>
            <a:br>
              <a:rPr b="0" lang="en-US" sz="1100">
                <a:solidFill>
                  <a:srgbClr val="0C203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0C203E"/>
                </a:solidFill>
                <a:latin typeface="Calibri"/>
                <a:ea typeface="Calibri"/>
                <a:cs typeface="Calibri"/>
                <a:sym typeface="Calibri"/>
              </a:rPr>
              <a:t>Checklist QA</a:t>
            </a:r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4983480" y="2834640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4E607C"/>
                </a:solidFill>
                <a:latin typeface="Calibri"/>
                <a:ea typeface="Calibri"/>
                <a:cs typeface="Calibri"/>
                <a:sym typeface="Calibri"/>
              </a:rPr>
              <a:t>Una sola vista para priorizar intervención diaria.</a:t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8183879" y="1234440"/>
            <a:ext cx="3063240" cy="192024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9525">
            <a:solidFill>
              <a:srgbClr val="CBD9E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8869680" y="1417320"/>
            <a:ext cx="1143000" cy="228600"/>
          </a:xfrm>
          <a:prstGeom prst="roundRect">
            <a:avLst>
              <a:gd fmla="val 16667" name="adj"/>
            </a:avLst>
          </a:prstGeom>
          <a:solidFill>
            <a:srgbClr val="1167C7"/>
          </a:solidFill>
          <a:ln cap="flat" cmpd="sng" w="9525">
            <a:solidFill>
              <a:srgbClr val="1167C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MEDICIÓN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8549640" y="1856231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D49"/>
                </a:solidFill>
                <a:latin typeface="Calibri"/>
                <a:ea typeface="Calibri"/>
                <a:cs typeface="Calibri"/>
                <a:sym typeface="Calibri"/>
              </a:rPr>
              <a:t>Prueba piloto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8613648" y="2194560"/>
            <a:ext cx="20574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C203E"/>
                </a:solidFill>
                <a:latin typeface="Calibri"/>
                <a:ea typeface="Calibri"/>
                <a:cs typeface="Calibri"/>
                <a:sym typeface="Calibri"/>
              </a:rPr>
              <a:t>6 HU</a:t>
            </a:r>
            <a:br>
              <a:rPr b="0" lang="en-US" sz="1100">
                <a:solidFill>
                  <a:srgbClr val="0C203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0C203E"/>
                </a:solidFill>
                <a:latin typeface="Calibri"/>
                <a:ea typeface="Calibri"/>
                <a:cs typeface="Calibri"/>
                <a:sym typeface="Calibri"/>
              </a:rPr>
              <a:t>3 participantes</a:t>
            </a:r>
            <a:br>
              <a:rPr b="0" lang="en-US" sz="1100">
                <a:solidFill>
                  <a:srgbClr val="0C203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0C203E"/>
                </a:solidFill>
                <a:latin typeface="Calibri"/>
                <a:ea typeface="Calibri"/>
                <a:cs typeface="Calibri"/>
                <a:sym typeface="Calibri"/>
              </a:rPr>
              <a:t>Cronómetro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8412480" y="2834640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0">
                <a:solidFill>
                  <a:srgbClr val="4E607C"/>
                </a:solidFill>
                <a:latin typeface="Calibri"/>
                <a:ea typeface="Calibri"/>
                <a:cs typeface="Calibri"/>
                <a:sym typeface="Calibri"/>
              </a:rPr>
              <a:t>Los tiempos finales se registran en la planilla SIN vs CON Q360.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822960" y="340156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71D49"/>
                </a:solidFill>
                <a:latin typeface="Calibri"/>
                <a:ea typeface="Calibri"/>
                <a:cs typeface="Calibri"/>
                <a:sym typeface="Calibri"/>
              </a:rPr>
              <a:t>Ejemplo de métricas a presentar</a:t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822960" y="3685032"/>
            <a:ext cx="10561320" cy="347472"/>
          </a:xfrm>
          <a:prstGeom prst="rect">
            <a:avLst/>
          </a:prstGeom>
          <a:solidFill>
            <a:srgbClr val="071D49"/>
          </a:solidFill>
          <a:ln cap="flat" cmpd="sng" w="9525">
            <a:solidFill>
              <a:srgbClr val="071D4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960120" y="3794760"/>
            <a:ext cx="3108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Actividad del QE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5532120" y="3794760"/>
            <a:ext cx="10515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Q360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6995160" y="3794760"/>
            <a:ext cx="10515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 Q360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8732520" y="3794760"/>
            <a:ext cx="10789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Beneficio</a:t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822960" y="4087368"/>
            <a:ext cx="1056132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3E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960120" y="4215383"/>
            <a:ext cx="4434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71D49"/>
                </a:solidFill>
                <a:latin typeface="Calibri"/>
                <a:ea typeface="Calibri"/>
                <a:cs typeface="Calibri"/>
                <a:sym typeface="Calibri"/>
              </a:rPr>
              <a:t>Consolidar estado general de 6 HU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5532120" y="4206240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85D5D"/>
                </a:solidFill>
                <a:latin typeface="Calibri"/>
                <a:ea typeface="Calibri"/>
                <a:cs typeface="Calibri"/>
                <a:sym typeface="Calibri"/>
              </a:rPr>
              <a:t>180 s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6995160" y="4206240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8B7B1"/>
                </a:solidFill>
                <a:latin typeface="Calibri"/>
                <a:ea typeface="Calibri"/>
                <a:cs typeface="Calibri"/>
                <a:sym typeface="Calibri"/>
              </a:rPr>
              <a:t>30 s</a:t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8759952" y="4169663"/>
            <a:ext cx="1005840" cy="292608"/>
          </a:xfrm>
          <a:prstGeom prst="roundRect">
            <a:avLst>
              <a:gd fmla="val 16667" name="adj"/>
            </a:avLst>
          </a:prstGeom>
          <a:solidFill>
            <a:srgbClr val="18B7B1"/>
          </a:solidFill>
          <a:ln cap="flat" cmpd="sng" w="9525">
            <a:solidFill>
              <a:srgbClr val="18B7B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↓83%</a:t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822960" y="4562856"/>
            <a:ext cx="10561320" cy="457200"/>
          </a:xfrm>
          <a:prstGeom prst="roundRect">
            <a:avLst>
              <a:gd fmla="val 16667" name="adj"/>
            </a:avLst>
          </a:prstGeom>
          <a:solidFill>
            <a:srgbClr val="FAFCFF"/>
          </a:solidFill>
          <a:ln cap="flat" cmpd="sng" w="9525">
            <a:solidFill>
              <a:srgbClr val="D9E3E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960120" y="4690872"/>
            <a:ext cx="4434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71D49"/>
                </a:solidFill>
                <a:latin typeface="Calibri"/>
                <a:ea typeface="Calibri"/>
                <a:cs typeface="Calibri"/>
                <a:sym typeface="Calibri"/>
              </a:rPr>
              <a:t>Identificar HU de riesgo y responsable</a:t>
            </a:r>
            <a:endParaRPr/>
          </a:p>
        </p:txBody>
      </p:sp>
      <p:sp>
        <p:nvSpPr>
          <p:cNvPr id="201" name="Google Shape;201;p4"/>
          <p:cNvSpPr txBox="1"/>
          <p:nvPr/>
        </p:nvSpPr>
        <p:spPr>
          <a:xfrm>
            <a:off x="5532120" y="468172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85D5D"/>
                </a:solidFill>
                <a:latin typeface="Calibri"/>
                <a:ea typeface="Calibri"/>
                <a:cs typeface="Calibri"/>
                <a:sym typeface="Calibri"/>
              </a:rPr>
              <a:t>75 s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6995160" y="468172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8B7B1"/>
                </a:solidFill>
                <a:latin typeface="Calibri"/>
                <a:ea typeface="Calibri"/>
                <a:cs typeface="Calibri"/>
                <a:sym typeface="Calibri"/>
              </a:rPr>
              <a:t>15 s</a:t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8759952" y="4645152"/>
            <a:ext cx="1005840" cy="292608"/>
          </a:xfrm>
          <a:prstGeom prst="roundRect">
            <a:avLst>
              <a:gd fmla="val 16667" name="adj"/>
            </a:avLst>
          </a:prstGeom>
          <a:solidFill>
            <a:srgbClr val="18B7B1"/>
          </a:solidFill>
          <a:ln cap="flat" cmpd="sng" w="9525">
            <a:solidFill>
              <a:srgbClr val="18B7B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↓80%</a:t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822960" y="5038344"/>
            <a:ext cx="1056132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3E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960120" y="5166359"/>
            <a:ext cx="4434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71D49"/>
                </a:solidFill>
                <a:latin typeface="Calibri"/>
                <a:ea typeface="Calibri"/>
                <a:cs typeface="Calibri"/>
                <a:sym typeface="Calibri"/>
              </a:rPr>
              <a:t>Verificar cierre QA / checklist completo</a:t>
            </a:r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5532120" y="5157216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85D5D"/>
                </a:solidFill>
                <a:latin typeface="Calibri"/>
                <a:ea typeface="Calibri"/>
                <a:cs typeface="Calibri"/>
                <a:sym typeface="Calibri"/>
              </a:rPr>
              <a:t>150 s</a:t>
            </a:r>
            <a:endParaRPr/>
          </a:p>
        </p:txBody>
      </p:sp>
      <p:sp>
        <p:nvSpPr>
          <p:cNvPr id="207" name="Google Shape;207;p4"/>
          <p:cNvSpPr txBox="1"/>
          <p:nvPr/>
        </p:nvSpPr>
        <p:spPr>
          <a:xfrm>
            <a:off x="6995160" y="5157216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8B7B1"/>
                </a:solidFill>
                <a:latin typeface="Calibri"/>
                <a:ea typeface="Calibri"/>
                <a:cs typeface="Calibri"/>
                <a:sym typeface="Calibri"/>
              </a:rPr>
              <a:t>25 s</a:t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8759952" y="5120640"/>
            <a:ext cx="1005840" cy="292608"/>
          </a:xfrm>
          <a:prstGeom prst="roundRect">
            <a:avLst>
              <a:gd fmla="val 16667" name="adj"/>
            </a:avLst>
          </a:prstGeom>
          <a:solidFill>
            <a:srgbClr val="18B7B1"/>
          </a:solidFill>
          <a:ln cap="flat" cmpd="sng" w="9525">
            <a:solidFill>
              <a:srgbClr val="18B7B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↓83%</a:t>
            </a:r>
            <a:endParaRPr/>
          </a:p>
        </p:txBody>
      </p:sp>
      <p:sp>
        <p:nvSpPr>
          <p:cNvPr id="209" name="Google Shape;209;p4"/>
          <p:cNvSpPr/>
          <p:nvPr/>
        </p:nvSpPr>
        <p:spPr>
          <a:xfrm>
            <a:off x="822960" y="5513832"/>
            <a:ext cx="10561320" cy="457200"/>
          </a:xfrm>
          <a:prstGeom prst="roundRect">
            <a:avLst>
              <a:gd fmla="val 16667" name="adj"/>
            </a:avLst>
          </a:prstGeom>
          <a:solidFill>
            <a:srgbClr val="FAFCFF"/>
          </a:solidFill>
          <a:ln cap="flat" cmpd="sng" w="9525">
            <a:solidFill>
              <a:srgbClr val="D9E3E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960120" y="5641848"/>
            <a:ext cx="4434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71D49"/>
                </a:solidFill>
                <a:latin typeface="Calibri"/>
                <a:ea typeface="Calibri"/>
                <a:cs typeface="Calibri"/>
                <a:sym typeface="Calibri"/>
              </a:rPr>
              <a:t>Fuentes consultadas para la gestión</a:t>
            </a:r>
            <a:endParaRPr/>
          </a:p>
        </p:txBody>
      </p:sp>
      <p:sp>
        <p:nvSpPr>
          <p:cNvPr id="211" name="Google Shape;211;p4"/>
          <p:cNvSpPr txBox="1"/>
          <p:nvPr/>
        </p:nvSpPr>
        <p:spPr>
          <a:xfrm>
            <a:off x="5532120" y="5632704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85D5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2" name="Google Shape;212;p4"/>
          <p:cNvSpPr txBox="1"/>
          <p:nvPr/>
        </p:nvSpPr>
        <p:spPr>
          <a:xfrm>
            <a:off x="6995160" y="5632704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8B7B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8759952" y="5596128"/>
            <a:ext cx="1005840" cy="292608"/>
          </a:xfrm>
          <a:prstGeom prst="roundRect">
            <a:avLst>
              <a:gd fmla="val 16667" name="adj"/>
            </a:avLst>
          </a:prstGeom>
          <a:solidFill>
            <a:srgbClr val="18B7B1"/>
          </a:solidFill>
          <a:ln cap="flat" cmpd="sng" w="9525">
            <a:solidFill>
              <a:srgbClr val="18B7B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↓67%</a:t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822960" y="6080760"/>
            <a:ext cx="10561320" cy="256032"/>
          </a:xfrm>
          <a:prstGeom prst="roundRect">
            <a:avLst>
              <a:gd fmla="val 16667" name="adj"/>
            </a:avLst>
          </a:prstGeom>
          <a:solidFill>
            <a:srgbClr val="FFF9ED"/>
          </a:solidFill>
          <a:ln cap="flat" cmpd="sng" w="9525">
            <a:solidFill>
              <a:srgbClr val="F2D79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932688" y="6163056"/>
            <a:ext cx="103327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071D49"/>
                </a:solidFill>
                <a:latin typeface="Calibri"/>
                <a:ea typeface="Calibri"/>
                <a:cs typeface="Calibri"/>
                <a:sym typeface="Calibri"/>
              </a:rPr>
              <a:t>Cálculo: (Tiempo sin Quality360 − Tiempo con Quality360) / Tiempo sin Quality360 × 100. Los tiempos se reemplazan por la medición real.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"/>
          <p:cNvSpPr/>
          <p:nvPr/>
        </p:nvSpPr>
        <p:spPr>
          <a:xfrm>
            <a:off x="530352" y="34747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D49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071D49"/>
                </a:solidFill>
                <a:latin typeface="Play"/>
                <a:ea typeface="Play"/>
                <a:cs typeface="Play"/>
                <a:sym typeface="Play"/>
              </a:rPr>
              <a:t>Solución propuesta y valor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"/>
          <p:cNvSpPr/>
          <p:nvPr/>
        </p:nvSpPr>
        <p:spPr>
          <a:xfrm>
            <a:off x="548640" y="804672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B7F"/>
                </a:solidFill>
                <a:latin typeface="Arial"/>
                <a:ea typeface="Arial"/>
                <a:cs typeface="Arial"/>
                <a:sym typeface="Arial"/>
              </a:rPr>
              <a:t>Quality360 centraliza, visualiza y ayuda a priorizar las acciones QA.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q360_work/original/ppt/media/image15.png" id="223" name="Google Shape;2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22860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"/>
          <p:cNvSpPr/>
          <p:nvPr/>
        </p:nvSpPr>
        <p:spPr>
          <a:xfrm>
            <a:off x="640080" y="1444752"/>
            <a:ext cx="3063240" cy="3218688"/>
          </a:xfrm>
          <a:prstGeom prst="roundRect">
            <a:avLst>
              <a:gd fmla="val 2388" name="adj"/>
            </a:avLst>
          </a:prstGeom>
          <a:solidFill>
            <a:srgbClr val="EAF1F8"/>
          </a:solidFill>
          <a:ln cap="flat" cmpd="sng" w="12700">
            <a:solidFill>
              <a:srgbClr val="CBD9E7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"/>
          <p:cNvSpPr/>
          <p:nvPr/>
        </p:nvSpPr>
        <p:spPr>
          <a:xfrm>
            <a:off x="1389888" y="1700784"/>
            <a:ext cx="1572768" cy="274320"/>
          </a:xfrm>
          <a:prstGeom prst="roundRect">
            <a:avLst>
              <a:gd fmla="val 40000" name="adj"/>
            </a:avLst>
          </a:prstGeom>
          <a:solidFill>
            <a:srgbClr val="1167C7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"/>
          <p:cNvSpPr/>
          <p:nvPr/>
        </p:nvSpPr>
        <p:spPr>
          <a:xfrm>
            <a:off x="1463040" y="1746504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ANTES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"/>
          <p:cNvSpPr/>
          <p:nvPr/>
        </p:nvSpPr>
        <p:spPr>
          <a:xfrm>
            <a:off x="1865376" y="2240280"/>
            <a:ext cx="621792" cy="621792"/>
          </a:xfrm>
          <a:prstGeom prst="ellipse">
            <a:avLst/>
          </a:prstGeom>
          <a:solidFill>
            <a:srgbClr val="DDE7F1"/>
          </a:solidFill>
          <a:ln cap="flat" cmpd="sng" w="12700">
            <a:solidFill>
              <a:srgbClr val="5B6B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"/>
          <p:cNvSpPr/>
          <p:nvPr/>
        </p:nvSpPr>
        <p:spPr>
          <a:xfrm>
            <a:off x="1865376" y="2377440"/>
            <a:ext cx="621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B6B7F"/>
                </a:solidFill>
                <a:latin typeface="Arial"/>
                <a:ea typeface="Arial"/>
                <a:cs typeface="Arial"/>
                <a:sym typeface="Arial"/>
              </a:rPr>
              <a:t>•••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950976" y="3063240"/>
            <a:ext cx="2441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D49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71D49"/>
                </a:solidFill>
                <a:latin typeface="Arial"/>
                <a:ea typeface="Arial"/>
                <a:cs typeface="Arial"/>
                <a:sym typeface="Arial"/>
              </a:rPr>
              <a:t>Información fragmentada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"/>
          <p:cNvSpPr/>
          <p:nvPr/>
        </p:nvSpPr>
        <p:spPr>
          <a:xfrm>
            <a:off x="969264" y="3694176"/>
            <a:ext cx="24048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Planillas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Jira · Zephyr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Registros separados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"/>
          <p:cNvSpPr/>
          <p:nvPr/>
        </p:nvSpPr>
        <p:spPr>
          <a:xfrm>
            <a:off x="4270248" y="1444752"/>
            <a:ext cx="3063240" cy="3218688"/>
          </a:xfrm>
          <a:prstGeom prst="roundRect">
            <a:avLst>
              <a:gd fmla="val 2388" name="adj"/>
            </a:avLst>
          </a:prstGeom>
          <a:solidFill>
            <a:srgbClr val="E8FAF8"/>
          </a:solidFill>
          <a:ln cap="flat" cmpd="sng" w="254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"/>
          <p:cNvSpPr/>
          <p:nvPr/>
        </p:nvSpPr>
        <p:spPr>
          <a:xfrm>
            <a:off x="5020056" y="1700784"/>
            <a:ext cx="1572768" cy="274320"/>
          </a:xfrm>
          <a:prstGeom prst="roundRect">
            <a:avLst>
              <a:gd fmla="val 40000" name="adj"/>
            </a:avLst>
          </a:prstGeom>
          <a:solidFill>
            <a:srgbClr val="18B7B1"/>
          </a:solidFill>
          <a:ln cap="flat" cmpd="sng" w="127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"/>
          <p:cNvSpPr/>
          <p:nvPr/>
        </p:nvSpPr>
        <p:spPr>
          <a:xfrm>
            <a:off x="5093208" y="1746504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QUALITY360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"/>
          <p:cNvSpPr/>
          <p:nvPr/>
        </p:nvSpPr>
        <p:spPr>
          <a:xfrm>
            <a:off x="5495544" y="2240280"/>
            <a:ext cx="621792" cy="621792"/>
          </a:xfrm>
          <a:prstGeom prst="ellipse">
            <a:avLst/>
          </a:prstGeom>
          <a:solidFill>
            <a:srgbClr val="BFEDEA"/>
          </a:solidFill>
          <a:ln cap="flat" cmpd="sng" w="127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"/>
          <p:cNvSpPr/>
          <p:nvPr/>
        </p:nvSpPr>
        <p:spPr>
          <a:xfrm>
            <a:off x="5495544" y="2377440"/>
            <a:ext cx="621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B7B1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8B7B1"/>
                </a:solidFill>
                <a:latin typeface="Arial"/>
                <a:ea typeface="Arial"/>
                <a:cs typeface="Arial"/>
                <a:sym typeface="Arial"/>
              </a:rPr>
              <a:t>360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"/>
          <p:cNvSpPr/>
          <p:nvPr/>
        </p:nvSpPr>
        <p:spPr>
          <a:xfrm>
            <a:off x="4581144" y="3063240"/>
            <a:ext cx="2441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D49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71D49"/>
                </a:solidFill>
                <a:latin typeface="Arial"/>
                <a:ea typeface="Arial"/>
                <a:cs typeface="Arial"/>
                <a:sym typeface="Arial"/>
              </a:rPr>
              <a:t>Vista integral de gestión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"/>
          <p:cNvSpPr/>
          <p:nvPr/>
        </p:nvSpPr>
        <p:spPr>
          <a:xfrm>
            <a:off x="4599432" y="3694176"/>
            <a:ext cx="24048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Estado · Responsables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Cumplimiento · Riesgos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Impedimentos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"/>
          <p:cNvSpPr/>
          <p:nvPr/>
        </p:nvSpPr>
        <p:spPr>
          <a:xfrm>
            <a:off x="7900416" y="1444752"/>
            <a:ext cx="3063240" cy="3218688"/>
          </a:xfrm>
          <a:prstGeom prst="roundRect">
            <a:avLst>
              <a:gd fmla="val 2388" name="adj"/>
            </a:avLst>
          </a:prstGeom>
          <a:solidFill>
            <a:srgbClr val="EAF2FF"/>
          </a:solidFill>
          <a:ln cap="flat" cmpd="sng" w="12700">
            <a:solidFill>
              <a:srgbClr val="CBD9E7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"/>
          <p:cNvSpPr/>
          <p:nvPr/>
        </p:nvSpPr>
        <p:spPr>
          <a:xfrm>
            <a:off x="8650224" y="1700784"/>
            <a:ext cx="1572768" cy="274320"/>
          </a:xfrm>
          <a:prstGeom prst="roundRect">
            <a:avLst>
              <a:gd fmla="val 40000" name="adj"/>
            </a:avLst>
          </a:prstGeom>
          <a:solidFill>
            <a:srgbClr val="1167C7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"/>
          <p:cNvSpPr/>
          <p:nvPr/>
        </p:nvSpPr>
        <p:spPr>
          <a:xfrm>
            <a:off x="8723376" y="1746504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"/>
          <p:cNvSpPr/>
          <p:nvPr/>
        </p:nvSpPr>
        <p:spPr>
          <a:xfrm>
            <a:off x="9125712" y="2240280"/>
            <a:ext cx="621792" cy="621792"/>
          </a:xfrm>
          <a:prstGeom prst="ellipse">
            <a:avLst/>
          </a:prstGeom>
          <a:solidFill>
            <a:srgbClr val="D6E7FF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"/>
          <p:cNvSpPr/>
          <p:nvPr/>
        </p:nvSpPr>
        <p:spPr>
          <a:xfrm>
            <a:off x="9125712" y="2377440"/>
            <a:ext cx="621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67C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67C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"/>
          <p:cNvSpPr/>
          <p:nvPr/>
        </p:nvSpPr>
        <p:spPr>
          <a:xfrm>
            <a:off x="8211312" y="3063240"/>
            <a:ext cx="2441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D49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71D49"/>
                </a:solidFill>
                <a:latin typeface="Arial"/>
                <a:ea typeface="Arial"/>
                <a:cs typeface="Arial"/>
                <a:sym typeface="Arial"/>
              </a:rPr>
              <a:t>Decisión oportuna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"/>
          <p:cNvSpPr/>
          <p:nvPr/>
        </p:nvSpPr>
        <p:spPr>
          <a:xfrm>
            <a:off x="8229600" y="3694176"/>
            <a:ext cx="24048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Priorizar acciones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Gestionar bloqueos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Anticipar riesgos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"/>
          <p:cNvSpPr/>
          <p:nvPr/>
        </p:nvSpPr>
        <p:spPr>
          <a:xfrm>
            <a:off x="3803904" y="2578608"/>
            <a:ext cx="310896" cy="512064"/>
          </a:xfrm>
          <a:prstGeom prst="chevron">
            <a:avLst>
              <a:gd fmla="val 50000" name="adj"/>
            </a:avLst>
          </a:prstGeom>
          <a:solidFill>
            <a:srgbClr val="18B7B1"/>
          </a:solidFill>
          <a:ln cap="flat" cmpd="sng" w="127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"/>
          <p:cNvSpPr/>
          <p:nvPr/>
        </p:nvSpPr>
        <p:spPr>
          <a:xfrm>
            <a:off x="7434072" y="2578608"/>
            <a:ext cx="310896" cy="512064"/>
          </a:xfrm>
          <a:prstGeom prst="chevron">
            <a:avLst>
              <a:gd fmla="val 50000" name="adj"/>
            </a:avLst>
          </a:prstGeom>
          <a:solidFill>
            <a:srgbClr val="18B7B1"/>
          </a:solidFill>
          <a:ln cap="flat" cmpd="sng" w="127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"/>
          <p:cNvSpPr/>
          <p:nvPr/>
        </p:nvSpPr>
        <p:spPr>
          <a:xfrm>
            <a:off x="932688" y="4983480"/>
            <a:ext cx="10332720" cy="1051560"/>
          </a:xfrm>
          <a:prstGeom prst="roundRect">
            <a:avLst>
              <a:gd fmla="val 6957" name="adj"/>
            </a:avLst>
          </a:prstGeom>
          <a:solidFill>
            <a:srgbClr val="071D49"/>
          </a:solidFill>
          <a:ln cap="flat" cmpd="sng" w="12700">
            <a:solidFill>
              <a:srgbClr val="071D4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"/>
          <p:cNvSpPr/>
          <p:nvPr/>
        </p:nvSpPr>
        <p:spPr>
          <a:xfrm>
            <a:off x="1170432" y="513892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E0D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8FE0DB"/>
                </a:solidFill>
                <a:latin typeface="Arial"/>
                <a:ea typeface="Arial"/>
                <a:cs typeface="Arial"/>
                <a:sym typeface="Arial"/>
              </a:rPr>
              <a:t>PROPUESTA DE VALOR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"/>
          <p:cNvSpPr/>
          <p:nvPr/>
        </p:nvSpPr>
        <p:spPr>
          <a:xfrm>
            <a:off x="2907792" y="5166360"/>
            <a:ext cx="7818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información QA dispersa a una visión integral para la toma de decisiones.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"/>
          <p:cNvSpPr/>
          <p:nvPr/>
        </p:nvSpPr>
        <p:spPr>
          <a:xfrm>
            <a:off x="2926080" y="5559552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AF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DCEAF5"/>
                </a:solidFill>
                <a:latin typeface="Arial"/>
                <a:ea typeface="Arial"/>
                <a:cs typeface="Arial"/>
                <a:sym typeface="Arial"/>
              </a:rPr>
              <a:t>Centralización  ·  Visibilidad  ·  Análisis  ·  Priorización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"/>
          <p:cNvSpPr txBox="1"/>
          <p:nvPr>
            <p:ph idx="4294967295" type="sldNum"/>
          </p:nvPr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4E607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8c1bc5668_0_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B8B3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f8c1bc5668_0_0"/>
          <p:cNvSpPr txBox="1"/>
          <p:nvPr/>
        </p:nvSpPr>
        <p:spPr>
          <a:xfrm>
            <a:off x="533400" y="419100"/>
            <a:ext cx="95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81F49"/>
                </a:solidFill>
                <a:latin typeface="Arial"/>
                <a:ea typeface="Arial"/>
                <a:cs typeface="Arial"/>
                <a:sym typeface="Arial"/>
              </a:rPr>
              <a:t>Roadmap de implementación</a:t>
            </a:r>
            <a:endParaRPr sz="1200"/>
          </a:p>
        </p:txBody>
      </p:sp>
      <p:sp>
        <p:nvSpPr>
          <p:cNvPr id="258" name="Google Shape;258;g3f8c1bc5668_0_0"/>
          <p:cNvSpPr txBox="1"/>
          <p:nvPr/>
        </p:nvSpPr>
        <p:spPr>
          <a:xfrm>
            <a:off x="548640" y="952500"/>
            <a:ext cx="9753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Plan de 18 semanas para construir, integrar y validar el MVP de Quality360.</a:t>
            </a:r>
            <a:endParaRPr sz="1200"/>
          </a:p>
        </p:txBody>
      </p:sp>
      <p:sp>
        <p:nvSpPr>
          <p:cNvPr id="259" name="Google Shape;259;g3f8c1bc5668_0_0"/>
          <p:cNvSpPr txBox="1"/>
          <p:nvPr/>
        </p:nvSpPr>
        <p:spPr>
          <a:xfrm>
            <a:off x="533400" y="6499859"/>
            <a:ext cx="3048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sz="1200"/>
          </a:p>
        </p:txBody>
      </p:sp>
      <p:sp>
        <p:nvSpPr>
          <p:cNvPr id="260" name="Google Shape;260;g3f8c1bc5668_0_0"/>
          <p:cNvSpPr txBox="1"/>
          <p:nvPr/>
        </p:nvSpPr>
        <p:spPr>
          <a:xfrm>
            <a:off x="11696700" y="6499859"/>
            <a:ext cx="22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200"/>
          </a:p>
        </p:txBody>
      </p:sp>
      <p:sp>
        <p:nvSpPr>
          <p:cNvPr id="261" name="Google Shape;261;g3f8c1bc5668_0_0"/>
          <p:cNvSpPr/>
          <p:nvPr/>
        </p:nvSpPr>
        <p:spPr>
          <a:xfrm>
            <a:off x="4191000" y="1165860"/>
            <a:ext cx="2412900" cy="320100"/>
          </a:xfrm>
          <a:prstGeom prst="roundRect">
            <a:avLst>
              <a:gd fmla="val 16667" name="adj"/>
            </a:avLst>
          </a:prstGeom>
          <a:solidFill>
            <a:srgbClr val="1C6BD3"/>
          </a:solidFill>
          <a:ln cap="flat" cmpd="sng" w="10575">
            <a:solidFill>
              <a:srgbClr val="1C6BD3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10575" lIns="42325" spcFirstLastPara="1" rIns="42325" wrap="square" tIns="10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1 · Definición y diseño</a:t>
            </a:r>
            <a:endParaRPr sz="1200"/>
          </a:p>
        </p:txBody>
      </p:sp>
      <p:sp>
        <p:nvSpPr>
          <p:cNvPr id="262" name="Google Shape;262;g3f8c1bc5668_0_0"/>
          <p:cNvSpPr/>
          <p:nvPr/>
        </p:nvSpPr>
        <p:spPr>
          <a:xfrm>
            <a:off x="6604000" y="1165860"/>
            <a:ext cx="2815200" cy="320100"/>
          </a:xfrm>
          <a:prstGeom prst="roundRect">
            <a:avLst>
              <a:gd fmla="val 16667" name="adj"/>
            </a:avLst>
          </a:prstGeom>
          <a:solidFill>
            <a:srgbClr val="22B8B3"/>
          </a:solidFill>
          <a:ln cap="flat" cmpd="sng" w="10575">
            <a:solidFill>
              <a:srgbClr val="22B8B3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10575" lIns="42325" spcFirstLastPara="1" rIns="42325" wrap="square" tIns="10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2 · Construcción e integración</a:t>
            </a:r>
            <a:endParaRPr sz="1200"/>
          </a:p>
        </p:txBody>
      </p:sp>
      <p:sp>
        <p:nvSpPr>
          <p:cNvPr id="263" name="Google Shape;263;g3f8c1bc5668_0_0"/>
          <p:cNvSpPr/>
          <p:nvPr/>
        </p:nvSpPr>
        <p:spPr>
          <a:xfrm>
            <a:off x="9419167" y="1165860"/>
            <a:ext cx="2010900" cy="320100"/>
          </a:xfrm>
          <a:prstGeom prst="roundRect">
            <a:avLst>
              <a:gd fmla="val 16667" name="adj"/>
            </a:avLst>
          </a:prstGeom>
          <a:solidFill>
            <a:srgbClr val="081F49"/>
          </a:solidFill>
          <a:ln cap="flat" cmpd="sng" w="10575">
            <a:solidFill>
              <a:srgbClr val="081F49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10575" lIns="42325" spcFirstLastPara="1" rIns="42325" wrap="square" tIns="10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3 · Validación y cierre</a:t>
            </a:r>
            <a:endParaRPr sz="1200"/>
          </a:p>
        </p:txBody>
      </p:sp>
      <p:sp>
        <p:nvSpPr>
          <p:cNvPr id="264" name="Google Shape;264;g3f8c1bc5668_0_0"/>
          <p:cNvSpPr txBox="1"/>
          <p:nvPr/>
        </p:nvSpPr>
        <p:spPr>
          <a:xfrm>
            <a:off x="647700" y="1630679"/>
            <a:ext cx="3543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200"/>
          </a:p>
        </p:txBody>
      </p:sp>
      <p:sp>
        <p:nvSpPr>
          <p:cNvPr id="265" name="Google Shape;265;g3f8c1bc5668_0_0"/>
          <p:cNvSpPr txBox="1"/>
          <p:nvPr/>
        </p:nvSpPr>
        <p:spPr>
          <a:xfrm>
            <a:off x="4191000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 sz="1200"/>
          </a:p>
        </p:txBody>
      </p:sp>
      <p:sp>
        <p:nvSpPr>
          <p:cNvPr id="266" name="Google Shape;266;g3f8c1bc5668_0_0"/>
          <p:cNvSpPr txBox="1"/>
          <p:nvPr/>
        </p:nvSpPr>
        <p:spPr>
          <a:xfrm>
            <a:off x="4593167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 sz="1200"/>
          </a:p>
        </p:txBody>
      </p:sp>
      <p:sp>
        <p:nvSpPr>
          <p:cNvPr id="267" name="Google Shape;267;g3f8c1bc5668_0_0"/>
          <p:cNvSpPr txBox="1"/>
          <p:nvPr/>
        </p:nvSpPr>
        <p:spPr>
          <a:xfrm>
            <a:off x="4995333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sz="1200"/>
          </a:p>
        </p:txBody>
      </p:sp>
      <p:sp>
        <p:nvSpPr>
          <p:cNvPr id="268" name="Google Shape;268;g3f8c1bc5668_0_0"/>
          <p:cNvSpPr txBox="1"/>
          <p:nvPr/>
        </p:nvSpPr>
        <p:spPr>
          <a:xfrm>
            <a:off x="5397500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S4</a:t>
            </a:r>
            <a:endParaRPr sz="1200"/>
          </a:p>
        </p:txBody>
      </p:sp>
      <p:sp>
        <p:nvSpPr>
          <p:cNvPr id="269" name="Google Shape;269;g3f8c1bc5668_0_0"/>
          <p:cNvSpPr txBox="1"/>
          <p:nvPr/>
        </p:nvSpPr>
        <p:spPr>
          <a:xfrm>
            <a:off x="5799667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S5</a:t>
            </a:r>
            <a:endParaRPr sz="1200"/>
          </a:p>
        </p:txBody>
      </p:sp>
      <p:sp>
        <p:nvSpPr>
          <p:cNvPr id="270" name="Google Shape;270;g3f8c1bc5668_0_0"/>
          <p:cNvSpPr txBox="1"/>
          <p:nvPr/>
        </p:nvSpPr>
        <p:spPr>
          <a:xfrm>
            <a:off x="6201833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S6</a:t>
            </a:r>
            <a:endParaRPr sz="1200"/>
          </a:p>
        </p:txBody>
      </p:sp>
      <p:sp>
        <p:nvSpPr>
          <p:cNvPr id="271" name="Google Shape;271;g3f8c1bc5668_0_0"/>
          <p:cNvSpPr txBox="1"/>
          <p:nvPr/>
        </p:nvSpPr>
        <p:spPr>
          <a:xfrm>
            <a:off x="6604000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S7</a:t>
            </a:r>
            <a:endParaRPr sz="1200"/>
          </a:p>
        </p:txBody>
      </p:sp>
      <p:sp>
        <p:nvSpPr>
          <p:cNvPr id="272" name="Google Shape;272;g3f8c1bc5668_0_0"/>
          <p:cNvSpPr txBox="1"/>
          <p:nvPr/>
        </p:nvSpPr>
        <p:spPr>
          <a:xfrm>
            <a:off x="7006167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S8</a:t>
            </a:r>
            <a:endParaRPr sz="1200"/>
          </a:p>
        </p:txBody>
      </p:sp>
      <p:sp>
        <p:nvSpPr>
          <p:cNvPr id="273" name="Google Shape;273;g3f8c1bc5668_0_0"/>
          <p:cNvSpPr txBox="1"/>
          <p:nvPr/>
        </p:nvSpPr>
        <p:spPr>
          <a:xfrm>
            <a:off x="7408333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S9</a:t>
            </a:r>
            <a:endParaRPr sz="1200"/>
          </a:p>
        </p:txBody>
      </p:sp>
      <p:sp>
        <p:nvSpPr>
          <p:cNvPr id="274" name="Google Shape;274;g3f8c1bc5668_0_0"/>
          <p:cNvSpPr txBox="1"/>
          <p:nvPr/>
        </p:nvSpPr>
        <p:spPr>
          <a:xfrm>
            <a:off x="7810500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S10</a:t>
            </a:r>
            <a:endParaRPr sz="1200"/>
          </a:p>
        </p:txBody>
      </p:sp>
      <p:sp>
        <p:nvSpPr>
          <p:cNvPr id="275" name="Google Shape;275;g3f8c1bc5668_0_0"/>
          <p:cNvSpPr txBox="1"/>
          <p:nvPr/>
        </p:nvSpPr>
        <p:spPr>
          <a:xfrm>
            <a:off x="8212667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S11</a:t>
            </a:r>
            <a:endParaRPr sz="1200"/>
          </a:p>
        </p:txBody>
      </p:sp>
      <p:sp>
        <p:nvSpPr>
          <p:cNvPr id="276" name="Google Shape;276;g3f8c1bc5668_0_0"/>
          <p:cNvSpPr txBox="1"/>
          <p:nvPr/>
        </p:nvSpPr>
        <p:spPr>
          <a:xfrm>
            <a:off x="8614833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S12</a:t>
            </a:r>
            <a:endParaRPr sz="1200"/>
          </a:p>
        </p:txBody>
      </p:sp>
      <p:sp>
        <p:nvSpPr>
          <p:cNvPr id="277" name="Google Shape;277;g3f8c1bc5668_0_0"/>
          <p:cNvSpPr txBox="1"/>
          <p:nvPr/>
        </p:nvSpPr>
        <p:spPr>
          <a:xfrm>
            <a:off x="9017000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S13</a:t>
            </a:r>
            <a:endParaRPr sz="1200"/>
          </a:p>
        </p:txBody>
      </p:sp>
      <p:sp>
        <p:nvSpPr>
          <p:cNvPr id="278" name="Google Shape;278;g3f8c1bc5668_0_0"/>
          <p:cNvSpPr txBox="1"/>
          <p:nvPr/>
        </p:nvSpPr>
        <p:spPr>
          <a:xfrm>
            <a:off x="9419167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S14</a:t>
            </a:r>
            <a:endParaRPr sz="1200"/>
          </a:p>
        </p:txBody>
      </p:sp>
      <p:sp>
        <p:nvSpPr>
          <p:cNvPr id="279" name="Google Shape;279;g3f8c1bc5668_0_0"/>
          <p:cNvSpPr txBox="1"/>
          <p:nvPr/>
        </p:nvSpPr>
        <p:spPr>
          <a:xfrm>
            <a:off x="9821333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S15</a:t>
            </a:r>
            <a:endParaRPr sz="1200"/>
          </a:p>
        </p:txBody>
      </p:sp>
      <p:sp>
        <p:nvSpPr>
          <p:cNvPr id="280" name="Google Shape;280;g3f8c1bc5668_0_0"/>
          <p:cNvSpPr txBox="1"/>
          <p:nvPr/>
        </p:nvSpPr>
        <p:spPr>
          <a:xfrm>
            <a:off x="10223500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S16</a:t>
            </a:r>
            <a:endParaRPr sz="1200"/>
          </a:p>
        </p:txBody>
      </p:sp>
      <p:sp>
        <p:nvSpPr>
          <p:cNvPr id="281" name="Google Shape;281;g3f8c1bc5668_0_0"/>
          <p:cNvSpPr txBox="1"/>
          <p:nvPr/>
        </p:nvSpPr>
        <p:spPr>
          <a:xfrm>
            <a:off x="10625667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S17</a:t>
            </a:r>
            <a:endParaRPr sz="1200"/>
          </a:p>
        </p:txBody>
      </p:sp>
      <p:sp>
        <p:nvSpPr>
          <p:cNvPr id="282" name="Google Shape;282;g3f8c1bc5668_0_0"/>
          <p:cNvSpPr txBox="1"/>
          <p:nvPr/>
        </p:nvSpPr>
        <p:spPr>
          <a:xfrm>
            <a:off x="11027833" y="1630679"/>
            <a:ext cx="40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S18</a:t>
            </a:r>
            <a:endParaRPr sz="1200"/>
          </a:p>
        </p:txBody>
      </p:sp>
      <p:sp>
        <p:nvSpPr>
          <p:cNvPr id="283" name="Google Shape;283;g3f8c1bc5668_0_0"/>
          <p:cNvSpPr/>
          <p:nvPr/>
        </p:nvSpPr>
        <p:spPr>
          <a:xfrm>
            <a:off x="647700" y="1844040"/>
            <a:ext cx="10782300" cy="388500"/>
          </a:xfrm>
          <a:prstGeom prst="rect">
            <a:avLst/>
          </a:prstGeom>
          <a:solidFill>
            <a:srgbClr val="FFFFFF"/>
          </a:solidFill>
          <a:ln cap="flat" cmpd="sng" w="7950">
            <a:solidFill>
              <a:srgbClr val="E6EEF6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8c1bc5668_0_0"/>
          <p:cNvSpPr txBox="1"/>
          <p:nvPr/>
        </p:nvSpPr>
        <p:spPr>
          <a:xfrm>
            <a:off x="723900" y="1958340"/>
            <a:ext cx="342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C1C3B"/>
                </a:solidFill>
                <a:latin typeface="Arial"/>
                <a:ea typeface="Arial"/>
                <a:cs typeface="Arial"/>
                <a:sym typeface="Arial"/>
              </a:rPr>
              <a:t>Definición del proyecto</a:t>
            </a:r>
            <a:endParaRPr sz="1200"/>
          </a:p>
        </p:txBody>
      </p:sp>
      <p:sp>
        <p:nvSpPr>
          <p:cNvPr id="285" name="Google Shape;285;g3f8c1bc5668_0_0"/>
          <p:cNvSpPr/>
          <p:nvPr/>
        </p:nvSpPr>
        <p:spPr>
          <a:xfrm>
            <a:off x="4191000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f8c1bc5668_0_0"/>
          <p:cNvSpPr/>
          <p:nvPr/>
        </p:nvSpPr>
        <p:spPr>
          <a:xfrm>
            <a:off x="4593167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f8c1bc5668_0_0"/>
          <p:cNvSpPr/>
          <p:nvPr/>
        </p:nvSpPr>
        <p:spPr>
          <a:xfrm>
            <a:off x="4995333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f8c1bc5668_0_0"/>
          <p:cNvSpPr/>
          <p:nvPr/>
        </p:nvSpPr>
        <p:spPr>
          <a:xfrm>
            <a:off x="5397500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8c1bc5668_0_0"/>
          <p:cNvSpPr/>
          <p:nvPr/>
        </p:nvSpPr>
        <p:spPr>
          <a:xfrm>
            <a:off x="5799667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f8c1bc5668_0_0"/>
          <p:cNvSpPr/>
          <p:nvPr/>
        </p:nvSpPr>
        <p:spPr>
          <a:xfrm>
            <a:off x="6201833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f8c1bc5668_0_0"/>
          <p:cNvSpPr/>
          <p:nvPr/>
        </p:nvSpPr>
        <p:spPr>
          <a:xfrm>
            <a:off x="6604000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8c1bc5668_0_0"/>
          <p:cNvSpPr/>
          <p:nvPr/>
        </p:nvSpPr>
        <p:spPr>
          <a:xfrm>
            <a:off x="7006167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8c1bc5668_0_0"/>
          <p:cNvSpPr/>
          <p:nvPr/>
        </p:nvSpPr>
        <p:spPr>
          <a:xfrm>
            <a:off x="7408333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f8c1bc5668_0_0"/>
          <p:cNvSpPr/>
          <p:nvPr/>
        </p:nvSpPr>
        <p:spPr>
          <a:xfrm>
            <a:off x="7810500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f8c1bc5668_0_0"/>
          <p:cNvSpPr/>
          <p:nvPr/>
        </p:nvSpPr>
        <p:spPr>
          <a:xfrm>
            <a:off x="8212667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8c1bc5668_0_0"/>
          <p:cNvSpPr/>
          <p:nvPr/>
        </p:nvSpPr>
        <p:spPr>
          <a:xfrm>
            <a:off x="8614833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8c1bc5668_0_0"/>
          <p:cNvSpPr/>
          <p:nvPr/>
        </p:nvSpPr>
        <p:spPr>
          <a:xfrm>
            <a:off x="9017000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8c1bc5668_0_0"/>
          <p:cNvSpPr/>
          <p:nvPr/>
        </p:nvSpPr>
        <p:spPr>
          <a:xfrm>
            <a:off x="9419167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f8c1bc5668_0_0"/>
          <p:cNvSpPr/>
          <p:nvPr/>
        </p:nvSpPr>
        <p:spPr>
          <a:xfrm>
            <a:off x="9821333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8c1bc5668_0_0"/>
          <p:cNvSpPr/>
          <p:nvPr/>
        </p:nvSpPr>
        <p:spPr>
          <a:xfrm>
            <a:off x="10223500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8c1bc5668_0_0"/>
          <p:cNvSpPr/>
          <p:nvPr/>
        </p:nvSpPr>
        <p:spPr>
          <a:xfrm>
            <a:off x="10625667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8c1bc5668_0_0"/>
          <p:cNvSpPr/>
          <p:nvPr/>
        </p:nvSpPr>
        <p:spPr>
          <a:xfrm>
            <a:off x="11027833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8c1bc5668_0_0"/>
          <p:cNvSpPr/>
          <p:nvPr/>
        </p:nvSpPr>
        <p:spPr>
          <a:xfrm>
            <a:off x="11430000" y="18440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8c1bc5668_0_0"/>
          <p:cNvSpPr/>
          <p:nvPr/>
        </p:nvSpPr>
        <p:spPr>
          <a:xfrm>
            <a:off x="4221480" y="1943100"/>
            <a:ext cx="1145400" cy="198000"/>
          </a:xfrm>
          <a:prstGeom prst="roundRect">
            <a:avLst>
              <a:gd fmla="val 16667" name="adj"/>
            </a:avLst>
          </a:prstGeom>
          <a:solidFill>
            <a:srgbClr val="1C6BD3"/>
          </a:solidFill>
          <a:ln cap="flat" cmpd="sng" w="10575">
            <a:solidFill>
              <a:srgbClr val="1C6BD3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10575" lIns="42325" spcFirstLastPara="1" rIns="42325" wrap="square" tIns="10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S1–S3</a:t>
            </a:r>
            <a:endParaRPr sz="1200"/>
          </a:p>
        </p:txBody>
      </p:sp>
      <p:sp>
        <p:nvSpPr>
          <p:cNvPr id="305" name="Google Shape;305;g3f8c1bc5668_0_0"/>
          <p:cNvSpPr/>
          <p:nvPr/>
        </p:nvSpPr>
        <p:spPr>
          <a:xfrm>
            <a:off x="647700" y="2308860"/>
            <a:ext cx="10782300" cy="388500"/>
          </a:xfrm>
          <a:prstGeom prst="rect">
            <a:avLst/>
          </a:prstGeom>
          <a:solidFill>
            <a:srgbClr val="ECF3F9"/>
          </a:solidFill>
          <a:ln cap="flat" cmpd="sng" w="7950">
            <a:solidFill>
              <a:srgbClr val="E6EEF6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f8c1bc5668_0_0"/>
          <p:cNvSpPr txBox="1"/>
          <p:nvPr/>
        </p:nvSpPr>
        <p:spPr>
          <a:xfrm>
            <a:off x="723900" y="2423159"/>
            <a:ext cx="342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C1C3B"/>
                </a:solidFill>
                <a:latin typeface="Arial"/>
                <a:ea typeface="Arial"/>
                <a:cs typeface="Arial"/>
                <a:sym typeface="Arial"/>
              </a:rPr>
              <a:t>Diseño arquitectura y modelo de datos</a:t>
            </a:r>
            <a:endParaRPr sz="1200"/>
          </a:p>
        </p:txBody>
      </p:sp>
      <p:sp>
        <p:nvSpPr>
          <p:cNvPr id="307" name="Google Shape;307;g3f8c1bc5668_0_0"/>
          <p:cNvSpPr/>
          <p:nvPr/>
        </p:nvSpPr>
        <p:spPr>
          <a:xfrm>
            <a:off x="4191000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f8c1bc5668_0_0"/>
          <p:cNvSpPr/>
          <p:nvPr/>
        </p:nvSpPr>
        <p:spPr>
          <a:xfrm>
            <a:off x="4593167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f8c1bc5668_0_0"/>
          <p:cNvSpPr/>
          <p:nvPr/>
        </p:nvSpPr>
        <p:spPr>
          <a:xfrm>
            <a:off x="4995333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f8c1bc5668_0_0"/>
          <p:cNvSpPr/>
          <p:nvPr/>
        </p:nvSpPr>
        <p:spPr>
          <a:xfrm>
            <a:off x="5397500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f8c1bc5668_0_0"/>
          <p:cNvSpPr/>
          <p:nvPr/>
        </p:nvSpPr>
        <p:spPr>
          <a:xfrm>
            <a:off x="5799667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f8c1bc5668_0_0"/>
          <p:cNvSpPr/>
          <p:nvPr/>
        </p:nvSpPr>
        <p:spPr>
          <a:xfrm>
            <a:off x="6201833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f8c1bc5668_0_0"/>
          <p:cNvSpPr/>
          <p:nvPr/>
        </p:nvSpPr>
        <p:spPr>
          <a:xfrm>
            <a:off x="6604000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f8c1bc5668_0_0"/>
          <p:cNvSpPr/>
          <p:nvPr/>
        </p:nvSpPr>
        <p:spPr>
          <a:xfrm>
            <a:off x="7006167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f8c1bc5668_0_0"/>
          <p:cNvSpPr/>
          <p:nvPr/>
        </p:nvSpPr>
        <p:spPr>
          <a:xfrm>
            <a:off x="7408333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f8c1bc5668_0_0"/>
          <p:cNvSpPr/>
          <p:nvPr/>
        </p:nvSpPr>
        <p:spPr>
          <a:xfrm>
            <a:off x="7810500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f8c1bc5668_0_0"/>
          <p:cNvSpPr/>
          <p:nvPr/>
        </p:nvSpPr>
        <p:spPr>
          <a:xfrm>
            <a:off x="8212667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8c1bc5668_0_0"/>
          <p:cNvSpPr/>
          <p:nvPr/>
        </p:nvSpPr>
        <p:spPr>
          <a:xfrm>
            <a:off x="8614833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f8c1bc5668_0_0"/>
          <p:cNvSpPr/>
          <p:nvPr/>
        </p:nvSpPr>
        <p:spPr>
          <a:xfrm>
            <a:off x="9017000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f8c1bc5668_0_0"/>
          <p:cNvSpPr/>
          <p:nvPr/>
        </p:nvSpPr>
        <p:spPr>
          <a:xfrm>
            <a:off x="9419167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f8c1bc5668_0_0"/>
          <p:cNvSpPr/>
          <p:nvPr/>
        </p:nvSpPr>
        <p:spPr>
          <a:xfrm>
            <a:off x="9821333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f8c1bc5668_0_0"/>
          <p:cNvSpPr/>
          <p:nvPr/>
        </p:nvSpPr>
        <p:spPr>
          <a:xfrm>
            <a:off x="10223500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8c1bc5668_0_0"/>
          <p:cNvSpPr/>
          <p:nvPr/>
        </p:nvSpPr>
        <p:spPr>
          <a:xfrm>
            <a:off x="10625667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f8c1bc5668_0_0"/>
          <p:cNvSpPr/>
          <p:nvPr/>
        </p:nvSpPr>
        <p:spPr>
          <a:xfrm>
            <a:off x="11027833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f8c1bc5668_0_0"/>
          <p:cNvSpPr/>
          <p:nvPr/>
        </p:nvSpPr>
        <p:spPr>
          <a:xfrm>
            <a:off x="11430000" y="23088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f8c1bc5668_0_0"/>
          <p:cNvSpPr/>
          <p:nvPr/>
        </p:nvSpPr>
        <p:spPr>
          <a:xfrm>
            <a:off x="5025813" y="2407919"/>
            <a:ext cx="1547700" cy="198000"/>
          </a:xfrm>
          <a:prstGeom prst="roundRect">
            <a:avLst>
              <a:gd fmla="val 16667" name="adj"/>
            </a:avLst>
          </a:prstGeom>
          <a:solidFill>
            <a:srgbClr val="1C6BD3"/>
          </a:solidFill>
          <a:ln cap="flat" cmpd="sng" w="10575">
            <a:solidFill>
              <a:srgbClr val="1C6BD3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10575" lIns="42325" spcFirstLastPara="1" rIns="42325" wrap="square" tIns="10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S3–S6</a:t>
            </a:r>
            <a:endParaRPr sz="1200"/>
          </a:p>
        </p:txBody>
      </p:sp>
      <p:sp>
        <p:nvSpPr>
          <p:cNvPr id="327" name="Google Shape;327;g3f8c1bc5668_0_0"/>
          <p:cNvSpPr/>
          <p:nvPr/>
        </p:nvSpPr>
        <p:spPr>
          <a:xfrm>
            <a:off x="647700" y="2773679"/>
            <a:ext cx="10782300" cy="388500"/>
          </a:xfrm>
          <a:prstGeom prst="rect">
            <a:avLst/>
          </a:prstGeom>
          <a:solidFill>
            <a:srgbClr val="FFFFFF"/>
          </a:solidFill>
          <a:ln cap="flat" cmpd="sng" w="7950">
            <a:solidFill>
              <a:srgbClr val="E6EEF6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f8c1bc5668_0_0"/>
          <p:cNvSpPr txBox="1"/>
          <p:nvPr/>
        </p:nvSpPr>
        <p:spPr>
          <a:xfrm>
            <a:off x="723900" y="2887979"/>
            <a:ext cx="342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C1C3B"/>
                </a:solidFill>
                <a:latin typeface="Arial"/>
                <a:ea typeface="Arial"/>
                <a:cs typeface="Arial"/>
                <a:sym typeface="Arial"/>
              </a:rPr>
              <a:t>Construcción API REST y persistencia</a:t>
            </a:r>
            <a:endParaRPr sz="1200"/>
          </a:p>
        </p:txBody>
      </p:sp>
      <p:sp>
        <p:nvSpPr>
          <p:cNvPr id="329" name="Google Shape;329;g3f8c1bc5668_0_0"/>
          <p:cNvSpPr/>
          <p:nvPr/>
        </p:nvSpPr>
        <p:spPr>
          <a:xfrm>
            <a:off x="4191000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f8c1bc5668_0_0"/>
          <p:cNvSpPr/>
          <p:nvPr/>
        </p:nvSpPr>
        <p:spPr>
          <a:xfrm>
            <a:off x="4593167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f8c1bc5668_0_0"/>
          <p:cNvSpPr/>
          <p:nvPr/>
        </p:nvSpPr>
        <p:spPr>
          <a:xfrm>
            <a:off x="4995333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f8c1bc5668_0_0"/>
          <p:cNvSpPr/>
          <p:nvPr/>
        </p:nvSpPr>
        <p:spPr>
          <a:xfrm>
            <a:off x="5397500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f8c1bc5668_0_0"/>
          <p:cNvSpPr/>
          <p:nvPr/>
        </p:nvSpPr>
        <p:spPr>
          <a:xfrm>
            <a:off x="5799667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f8c1bc5668_0_0"/>
          <p:cNvSpPr/>
          <p:nvPr/>
        </p:nvSpPr>
        <p:spPr>
          <a:xfrm>
            <a:off x="6201833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f8c1bc5668_0_0"/>
          <p:cNvSpPr/>
          <p:nvPr/>
        </p:nvSpPr>
        <p:spPr>
          <a:xfrm>
            <a:off x="6604000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f8c1bc5668_0_0"/>
          <p:cNvSpPr/>
          <p:nvPr/>
        </p:nvSpPr>
        <p:spPr>
          <a:xfrm>
            <a:off x="7006167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f8c1bc5668_0_0"/>
          <p:cNvSpPr/>
          <p:nvPr/>
        </p:nvSpPr>
        <p:spPr>
          <a:xfrm>
            <a:off x="7408333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f8c1bc5668_0_0"/>
          <p:cNvSpPr/>
          <p:nvPr/>
        </p:nvSpPr>
        <p:spPr>
          <a:xfrm>
            <a:off x="7810500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f8c1bc5668_0_0"/>
          <p:cNvSpPr/>
          <p:nvPr/>
        </p:nvSpPr>
        <p:spPr>
          <a:xfrm>
            <a:off x="8212667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8c1bc5668_0_0"/>
          <p:cNvSpPr/>
          <p:nvPr/>
        </p:nvSpPr>
        <p:spPr>
          <a:xfrm>
            <a:off x="8614833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f8c1bc5668_0_0"/>
          <p:cNvSpPr/>
          <p:nvPr/>
        </p:nvSpPr>
        <p:spPr>
          <a:xfrm>
            <a:off x="9017000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f8c1bc5668_0_0"/>
          <p:cNvSpPr/>
          <p:nvPr/>
        </p:nvSpPr>
        <p:spPr>
          <a:xfrm>
            <a:off x="9419167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f8c1bc5668_0_0"/>
          <p:cNvSpPr/>
          <p:nvPr/>
        </p:nvSpPr>
        <p:spPr>
          <a:xfrm>
            <a:off x="9821333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f8c1bc5668_0_0"/>
          <p:cNvSpPr/>
          <p:nvPr/>
        </p:nvSpPr>
        <p:spPr>
          <a:xfrm>
            <a:off x="10223500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f8c1bc5668_0_0"/>
          <p:cNvSpPr/>
          <p:nvPr/>
        </p:nvSpPr>
        <p:spPr>
          <a:xfrm>
            <a:off x="10625667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f8c1bc5668_0_0"/>
          <p:cNvSpPr/>
          <p:nvPr/>
        </p:nvSpPr>
        <p:spPr>
          <a:xfrm>
            <a:off x="11027833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f8c1bc5668_0_0"/>
          <p:cNvSpPr/>
          <p:nvPr/>
        </p:nvSpPr>
        <p:spPr>
          <a:xfrm>
            <a:off x="11430000" y="277367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f8c1bc5668_0_0"/>
          <p:cNvSpPr/>
          <p:nvPr/>
        </p:nvSpPr>
        <p:spPr>
          <a:xfrm>
            <a:off x="6232313" y="2872739"/>
            <a:ext cx="1949700" cy="198000"/>
          </a:xfrm>
          <a:prstGeom prst="roundRect">
            <a:avLst>
              <a:gd fmla="val 16667" name="adj"/>
            </a:avLst>
          </a:prstGeom>
          <a:solidFill>
            <a:srgbClr val="22B8B3"/>
          </a:solidFill>
          <a:ln cap="flat" cmpd="sng" w="10575">
            <a:solidFill>
              <a:srgbClr val="22B8B3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10575" lIns="42325" spcFirstLastPara="1" rIns="42325" wrap="square" tIns="10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S6–S10</a:t>
            </a:r>
            <a:endParaRPr sz="1200"/>
          </a:p>
        </p:txBody>
      </p:sp>
      <p:sp>
        <p:nvSpPr>
          <p:cNvPr id="349" name="Google Shape;349;g3f8c1bc5668_0_0"/>
          <p:cNvSpPr/>
          <p:nvPr/>
        </p:nvSpPr>
        <p:spPr>
          <a:xfrm>
            <a:off x="647700" y="3238500"/>
            <a:ext cx="10782300" cy="388500"/>
          </a:xfrm>
          <a:prstGeom prst="rect">
            <a:avLst/>
          </a:prstGeom>
          <a:solidFill>
            <a:srgbClr val="ECF3F9"/>
          </a:solidFill>
          <a:ln cap="flat" cmpd="sng" w="7950">
            <a:solidFill>
              <a:srgbClr val="E6EEF6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f8c1bc5668_0_0"/>
          <p:cNvSpPr txBox="1"/>
          <p:nvPr/>
        </p:nvSpPr>
        <p:spPr>
          <a:xfrm>
            <a:off x="723900" y="3352800"/>
            <a:ext cx="342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C1C3B"/>
                </a:solidFill>
                <a:latin typeface="Arial"/>
                <a:ea typeface="Arial"/>
                <a:cs typeface="Arial"/>
                <a:sym typeface="Arial"/>
              </a:rPr>
              <a:t>Autenticación y roles</a:t>
            </a:r>
            <a:endParaRPr sz="1200"/>
          </a:p>
        </p:txBody>
      </p:sp>
      <p:sp>
        <p:nvSpPr>
          <p:cNvPr id="351" name="Google Shape;351;g3f8c1bc5668_0_0"/>
          <p:cNvSpPr/>
          <p:nvPr/>
        </p:nvSpPr>
        <p:spPr>
          <a:xfrm>
            <a:off x="4191000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f8c1bc5668_0_0"/>
          <p:cNvSpPr/>
          <p:nvPr/>
        </p:nvSpPr>
        <p:spPr>
          <a:xfrm>
            <a:off x="4593167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f8c1bc5668_0_0"/>
          <p:cNvSpPr/>
          <p:nvPr/>
        </p:nvSpPr>
        <p:spPr>
          <a:xfrm>
            <a:off x="4995333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f8c1bc5668_0_0"/>
          <p:cNvSpPr/>
          <p:nvPr/>
        </p:nvSpPr>
        <p:spPr>
          <a:xfrm>
            <a:off x="5397500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f8c1bc5668_0_0"/>
          <p:cNvSpPr/>
          <p:nvPr/>
        </p:nvSpPr>
        <p:spPr>
          <a:xfrm>
            <a:off x="5799667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f8c1bc5668_0_0"/>
          <p:cNvSpPr/>
          <p:nvPr/>
        </p:nvSpPr>
        <p:spPr>
          <a:xfrm>
            <a:off x="6201833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f8c1bc5668_0_0"/>
          <p:cNvSpPr/>
          <p:nvPr/>
        </p:nvSpPr>
        <p:spPr>
          <a:xfrm>
            <a:off x="6604000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f8c1bc5668_0_0"/>
          <p:cNvSpPr/>
          <p:nvPr/>
        </p:nvSpPr>
        <p:spPr>
          <a:xfrm>
            <a:off x="7006167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f8c1bc5668_0_0"/>
          <p:cNvSpPr/>
          <p:nvPr/>
        </p:nvSpPr>
        <p:spPr>
          <a:xfrm>
            <a:off x="7408333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f8c1bc5668_0_0"/>
          <p:cNvSpPr/>
          <p:nvPr/>
        </p:nvSpPr>
        <p:spPr>
          <a:xfrm>
            <a:off x="7810500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f8c1bc5668_0_0"/>
          <p:cNvSpPr/>
          <p:nvPr/>
        </p:nvSpPr>
        <p:spPr>
          <a:xfrm>
            <a:off x="8212667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f8c1bc5668_0_0"/>
          <p:cNvSpPr/>
          <p:nvPr/>
        </p:nvSpPr>
        <p:spPr>
          <a:xfrm>
            <a:off x="8614833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f8c1bc5668_0_0"/>
          <p:cNvSpPr/>
          <p:nvPr/>
        </p:nvSpPr>
        <p:spPr>
          <a:xfrm>
            <a:off x="9017000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f8c1bc5668_0_0"/>
          <p:cNvSpPr/>
          <p:nvPr/>
        </p:nvSpPr>
        <p:spPr>
          <a:xfrm>
            <a:off x="9419167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f8c1bc5668_0_0"/>
          <p:cNvSpPr/>
          <p:nvPr/>
        </p:nvSpPr>
        <p:spPr>
          <a:xfrm>
            <a:off x="9821333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f8c1bc5668_0_0"/>
          <p:cNvSpPr/>
          <p:nvPr/>
        </p:nvSpPr>
        <p:spPr>
          <a:xfrm>
            <a:off x="10223500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f8c1bc5668_0_0"/>
          <p:cNvSpPr/>
          <p:nvPr/>
        </p:nvSpPr>
        <p:spPr>
          <a:xfrm>
            <a:off x="10625667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f8c1bc5668_0_0"/>
          <p:cNvSpPr/>
          <p:nvPr/>
        </p:nvSpPr>
        <p:spPr>
          <a:xfrm>
            <a:off x="11027833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f8c1bc5668_0_0"/>
          <p:cNvSpPr/>
          <p:nvPr/>
        </p:nvSpPr>
        <p:spPr>
          <a:xfrm>
            <a:off x="11430000" y="32385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f8c1bc5668_0_0"/>
          <p:cNvSpPr/>
          <p:nvPr/>
        </p:nvSpPr>
        <p:spPr>
          <a:xfrm>
            <a:off x="6634480" y="3337560"/>
            <a:ext cx="1547700" cy="198000"/>
          </a:xfrm>
          <a:prstGeom prst="roundRect">
            <a:avLst>
              <a:gd fmla="val 16667" name="adj"/>
            </a:avLst>
          </a:prstGeom>
          <a:solidFill>
            <a:srgbClr val="081F49"/>
          </a:solidFill>
          <a:ln cap="flat" cmpd="sng" w="10575">
            <a:solidFill>
              <a:srgbClr val="081F49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10575" lIns="42325" spcFirstLastPara="1" rIns="42325" wrap="square" tIns="10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S7–S10</a:t>
            </a:r>
            <a:endParaRPr sz="1200"/>
          </a:p>
        </p:txBody>
      </p:sp>
      <p:sp>
        <p:nvSpPr>
          <p:cNvPr id="371" name="Google Shape;371;g3f8c1bc5668_0_0"/>
          <p:cNvSpPr/>
          <p:nvPr/>
        </p:nvSpPr>
        <p:spPr>
          <a:xfrm>
            <a:off x="647700" y="3703319"/>
            <a:ext cx="10782300" cy="388500"/>
          </a:xfrm>
          <a:prstGeom prst="rect">
            <a:avLst/>
          </a:prstGeom>
          <a:solidFill>
            <a:srgbClr val="FFFFFF"/>
          </a:solidFill>
          <a:ln cap="flat" cmpd="sng" w="7950">
            <a:solidFill>
              <a:srgbClr val="E6EEF6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f8c1bc5668_0_0"/>
          <p:cNvSpPr txBox="1"/>
          <p:nvPr/>
        </p:nvSpPr>
        <p:spPr>
          <a:xfrm>
            <a:off x="723900" y="3817620"/>
            <a:ext cx="342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C1C3B"/>
                </a:solidFill>
                <a:latin typeface="Arial"/>
                <a:ea typeface="Arial"/>
                <a:cs typeface="Arial"/>
                <a:sym typeface="Arial"/>
              </a:rPr>
              <a:t>Integración Jira Cloud / CSV-JSON</a:t>
            </a:r>
            <a:endParaRPr sz="1200"/>
          </a:p>
        </p:txBody>
      </p:sp>
      <p:sp>
        <p:nvSpPr>
          <p:cNvPr id="373" name="Google Shape;373;g3f8c1bc5668_0_0"/>
          <p:cNvSpPr/>
          <p:nvPr/>
        </p:nvSpPr>
        <p:spPr>
          <a:xfrm>
            <a:off x="4191000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8c1bc5668_0_0"/>
          <p:cNvSpPr/>
          <p:nvPr/>
        </p:nvSpPr>
        <p:spPr>
          <a:xfrm>
            <a:off x="4593167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f8c1bc5668_0_0"/>
          <p:cNvSpPr/>
          <p:nvPr/>
        </p:nvSpPr>
        <p:spPr>
          <a:xfrm>
            <a:off x="4995333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f8c1bc5668_0_0"/>
          <p:cNvSpPr/>
          <p:nvPr/>
        </p:nvSpPr>
        <p:spPr>
          <a:xfrm>
            <a:off x="5397500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f8c1bc5668_0_0"/>
          <p:cNvSpPr/>
          <p:nvPr/>
        </p:nvSpPr>
        <p:spPr>
          <a:xfrm>
            <a:off x="5799667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f8c1bc5668_0_0"/>
          <p:cNvSpPr/>
          <p:nvPr/>
        </p:nvSpPr>
        <p:spPr>
          <a:xfrm>
            <a:off x="6201833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f8c1bc5668_0_0"/>
          <p:cNvSpPr/>
          <p:nvPr/>
        </p:nvSpPr>
        <p:spPr>
          <a:xfrm>
            <a:off x="6604000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f8c1bc5668_0_0"/>
          <p:cNvSpPr/>
          <p:nvPr/>
        </p:nvSpPr>
        <p:spPr>
          <a:xfrm>
            <a:off x="7006167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f8c1bc5668_0_0"/>
          <p:cNvSpPr/>
          <p:nvPr/>
        </p:nvSpPr>
        <p:spPr>
          <a:xfrm>
            <a:off x="7408333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f8c1bc5668_0_0"/>
          <p:cNvSpPr/>
          <p:nvPr/>
        </p:nvSpPr>
        <p:spPr>
          <a:xfrm>
            <a:off x="7810500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f8c1bc5668_0_0"/>
          <p:cNvSpPr/>
          <p:nvPr/>
        </p:nvSpPr>
        <p:spPr>
          <a:xfrm>
            <a:off x="8212667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f8c1bc5668_0_0"/>
          <p:cNvSpPr/>
          <p:nvPr/>
        </p:nvSpPr>
        <p:spPr>
          <a:xfrm>
            <a:off x="8614833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f8c1bc5668_0_0"/>
          <p:cNvSpPr/>
          <p:nvPr/>
        </p:nvSpPr>
        <p:spPr>
          <a:xfrm>
            <a:off x="9017000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f8c1bc5668_0_0"/>
          <p:cNvSpPr/>
          <p:nvPr/>
        </p:nvSpPr>
        <p:spPr>
          <a:xfrm>
            <a:off x="9419167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f8c1bc5668_0_0"/>
          <p:cNvSpPr/>
          <p:nvPr/>
        </p:nvSpPr>
        <p:spPr>
          <a:xfrm>
            <a:off x="9821333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f8c1bc5668_0_0"/>
          <p:cNvSpPr/>
          <p:nvPr/>
        </p:nvSpPr>
        <p:spPr>
          <a:xfrm>
            <a:off x="10223500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f8c1bc5668_0_0"/>
          <p:cNvSpPr/>
          <p:nvPr/>
        </p:nvSpPr>
        <p:spPr>
          <a:xfrm>
            <a:off x="10625667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f8c1bc5668_0_0"/>
          <p:cNvSpPr/>
          <p:nvPr/>
        </p:nvSpPr>
        <p:spPr>
          <a:xfrm>
            <a:off x="11027833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f8c1bc5668_0_0"/>
          <p:cNvSpPr/>
          <p:nvPr/>
        </p:nvSpPr>
        <p:spPr>
          <a:xfrm>
            <a:off x="11430000" y="3703319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f8c1bc5668_0_0"/>
          <p:cNvSpPr/>
          <p:nvPr/>
        </p:nvSpPr>
        <p:spPr>
          <a:xfrm>
            <a:off x="7438813" y="3802379"/>
            <a:ext cx="1949700" cy="198000"/>
          </a:xfrm>
          <a:prstGeom prst="roundRect">
            <a:avLst>
              <a:gd fmla="val 16667" name="adj"/>
            </a:avLst>
          </a:prstGeom>
          <a:solidFill>
            <a:srgbClr val="FABC40"/>
          </a:solidFill>
          <a:ln cap="flat" cmpd="sng" w="10575">
            <a:solidFill>
              <a:srgbClr val="FABC40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10575" lIns="42325" spcFirstLastPara="1" rIns="42325" wrap="square" tIns="10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S9–S13</a:t>
            </a:r>
            <a:endParaRPr sz="1200"/>
          </a:p>
        </p:txBody>
      </p:sp>
      <p:sp>
        <p:nvSpPr>
          <p:cNvPr id="393" name="Google Shape;393;g3f8c1bc5668_0_0"/>
          <p:cNvSpPr/>
          <p:nvPr/>
        </p:nvSpPr>
        <p:spPr>
          <a:xfrm>
            <a:off x="647700" y="4168140"/>
            <a:ext cx="10782300" cy="388500"/>
          </a:xfrm>
          <a:prstGeom prst="rect">
            <a:avLst/>
          </a:prstGeom>
          <a:solidFill>
            <a:srgbClr val="ECF3F9"/>
          </a:solidFill>
          <a:ln cap="flat" cmpd="sng" w="7950">
            <a:solidFill>
              <a:srgbClr val="E6EEF6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f8c1bc5668_0_0"/>
          <p:cNvSpPr txBox="1"/>
          <p:nvPr/>
        </p:nvSpPr>
        <p:spPr>
          <a:xfrm>
            <a:off x="723900" y="4282440"/>
            <a:ext cx="342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C1C3B"/>
                </a:solidFill>
                <a:latin typeface="Arial"/>
                <a:ea typeface="Arial"/>
                <a:cs typeface="Arial"/>
                <a:sym typeface="Arial"/>
              </a:rPr>
              <a:t>Conexión frontend–backend</a:t>
            </a:r>
            <a:endParaRPr sz="1200"/>
          </a:p>
        </p:txBody>
      </p:sp>
      <p:sp>
        <p:nvSpPr>
          <p:cNvPr id="395" name="Google Shape;395;g3f8c1bc5668_0_0"/>
          <p:cNvSpPr/>
          <p:nvPr/>
        </p:nvSpPr>
        <p:spPr>
          <a:xfrm>
            <a:off x="4191000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f8c1bc5668_0_0"/>
          <p:cNvSpPr/>
          <p:nvPr/>
        </p:nvSpPr>
        <p:spPr>
          <a:xfrm>
            <a:off x="4593167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f8c1bc5668_0_0"/>
          <p:cNvSpPr/>
          <p:nvPr/>
        </p:nvSpPr>
        <p:spPr>
          <a:xfrm>
            <a:off x="4995333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f8c1bc5668_0_0"/>
          <p:cNvSpPr/>
          <p:nvPr/>
        </p:nvSpPr>
        <p:spPr>
          <a:xfrm>
            <a:off x="5397500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f8c1bc5668_0_0"/>
          <p:cNvSpPr/>
          <p:nvPr/>
        </p:nvSpPr>
        <p:spPr>
          <a:xfrm>
            <a:off x="5799667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f8c1bc5668_0_0"/>
          <p:cNvSpPr/>
          <p:nvPr/>
        </p:nvSpPr>
        <p:spPr>
          <a:xfrm>
            <a:off x="6201833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f8c1bc5668_0_0"/>
          <p:cNvSpPr/>
          <p:nvPr/>
        </p:nvSpPr>
        <p:spPr>
          <a:xfrm>
            <a:off x="6604000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f8c1bc5668_0_0"/>
          <p:cNvSpPr/>
          <p:nvPr/>
        </p:nvSpPr>
        <p:spPr>
          <a:xfrm>
            <a:off x="7006167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f8c1bc5668_0_0"/>
          <p:cNvSpPr/>
          <p:nvPr/>
        </p:nvSpPr>
        <p:spPr>
          <a:xfrm>
            <a:off x="7408333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f8c1bc5668_0_0"/>
          <p:cNvSpPr/>
          <p:nvPr/>
        </p:nvSpPr>
        <p:spPr>
          <a:xfrm>
            <a:off x="7810500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f8c1bc5668_0_0"/>
          <p:cNvSpPr/>
          <p:nvPr/>
        </p:nvSpPr>
        <p:spPr>
          <a:xfrm>
            <a:off x="8212667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f8c1bc5668_0_0"/>
          <p:cNvSpPr/>
          <p:nvPr/>
        </p:nvSpPr>
        <p:spPr>
          <a:xfrm>
            <a:off x="8614833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f8c1bc5668_0_0"/>
          <p:cNvSpPr/>
          <p:nvPr/>
        </p:nvSpPr>
        <p:spPr>
          <a:xfrm>
            <a:off x="9017000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f8c1bc5668_0_0"/>
          <p:cNvSpPr/>
          <p:nvPr/>
        </p:nvSpPr>
        <p:spPr>
          <a:xfrm>
            <a:off x="9419167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f8c1bc5668_0_0"/>
          <p:cNvSpPr/>
          <p:nvPr/>
        </p:nvSpPr>
        <p:spPr>
          <a:xfrm>
            <a:off x="9821333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f8c1bc5668_0_0"/>
          <p:cNvSpPr/>
          <p:nvPr/>
        </p:nvSpPr>
        <p:spPr>
          <a:xfrm>
            <a:off x="10223500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f8c1bc5668_0_0"/>
          <p:cNvSpPr/>
          <p:nvPr/>
        </p:nvSpPr>
        <p:spPr>
          <a:xfrm>
            <a:off x="10625667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f8c1bc5668_0_0"/>
          <p:cNvSpPr/>
          <p:nvPr/>
        </p:nvSpPr>
        <p:spPr>
          <a:xfrm>
            <a:off x="11027833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f8c1bc5668_0_0"/>
          <p:cNvSpPr/>
          <p:nvPr/>
        </p:nvSpPr>
        <p:spPr>
          <a:xfrm>
            <a:off x="11430000" y="416814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f8c1bc5668_0_0"/>
          <p:cNvSpPr/>
          <p:nvPr/>
        </p:nvSpPr>
        <p:spPr>
          <a:xfrm>
            <a:off x="7840980" y="4267200"/>
            <a:ext cx="1949700" cy="198000"/>
          </a:xfrm>
          <a:prstGeom prst="roundRect">
            <a:avLst>
              <a:gd fmla="val 16667" name="adj"/>
            </a:avLst>
          </a:prstGeom>
          <a:solidFill>
            <a:srgbClr val="22B8B3"/>
          </a:solidFill>
          <a:ln cap="flat" cmpd="sng" w="10575">
            <a:solidFill>
              <a:srgbClr val="22B8B3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10575" lIns="42325" spcFirstLastPara="1" rIns="42325" wrap="square" tIns="10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S10–S14</a:t>
            </a:r>
            <a:endParaRPr sz="1200"/>
          </a:p>
        </p:txBody>
      </p:sp>
      <p:sp>
        <p:nvSpPr>
          <p:cNvPr id="415" name="Google Shape;415;g3f8c1bc5668_0_0"/>
          <p:cNvSpPr/>
          <p:nvPr/>
        </p:nvSpPr>
        <p:spPr>
          <a:xfrm>
            <a:off x="647700" y="4632960"/>
            <a:ext cx="10782300" cy="388500"/>
          </a:xfrm>
          <a:prstGeom prst="rect">
            <a:avLst/>
          </a:prstGeom>
          <a:solidFill>
            <a:srgbClr val="FFFFFF"/>
          </a:solidFill>
          <a:ln cap="flat" cmpd="sng" w="7950">
            <a:solidFill>
              <a:srgbClr val="E6EEF6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f8c1bc5668_0_0"/>
          <p:cNvSpPr txBox="1"/>
          <p:nvPr/>
        </p:nvSpPr>
        <p:spPr>
          <a:xfrm>
            <a:off x="723900" y="4747260"/>
            <a:ext cx="342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C1C3B"/>
                </a:solidFill>
                <a:latin typeface="Arial"/>
                <a:ea typeface="Arial"/>
                <a:cs typeface="Arial"/>
                <a:sym typeface="Arial"/>
              </a:rPr>
              <a:t>Informe de avance</a:t>
            </a:r>
            <a:endParaRPr sz="1200"/>
          </a:p>
        </p:txBody>
      </p:sp>
      <p:sp>
        <p:nvSpPr>
          <p:cNvPr id="417" name="Google Shape;417;g3f8c1bc5668_0_0"/>
          <p:cNvSpPr/>
          <p:nvPr/>
        </p:nvSpPr>
        <p:spPr>
          <a:xfrm>
            <a:off x="4191000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f8c1bc5668_0_0"/>
          <p:cNvSpPr/>
          <p:nvPr/>
        </p:nvSpPr>
        <p:spPr>
          <a:xfrm>
            <a:off x="4593167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f8c1bc5668_0_0"/>
          <p:cNvSpPr/>
          <p:nvPr/>
        </p:nvSpPr>
        <p:spPr>
          <a:xfrm>
            <a:off x="4995333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f8c1bc5668_0_0"/>
          <p:cNvSpPr/>
          <p:nvPr/>
        </p:nvSpPr>
        <p:spPr>
          <a:xfrm>
            <a:off x="5397500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f8c1bc5668_0_0"/>
          <p:cNvSpPr/>
          <p:nvPr/>
        </p:nvSpPr>
        <p:spPr>
          <a:xfrm>
            <a:off x="5799667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f8c1bc5668_0_0"/>
          <p:cNvSpPr/>
          <p:nvPr/>
        </p:nvSpPr>
        <p:spPr>
          <a:xfrm>
            <a:off x="6201833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f8c1bc5668_0_0"/>
          <p:cNvSpPr/>
          <p:nvPr/>
        </p:nvSpPr>
        <p:spPr>
          <a:xfrm>
            <a:off x="6604000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f8c1bc5668_0_0"/>
          <p:cNvSpPr/>
          <p:nvPr/>
        </p:nvSpPr>
        <p:spPr>
          <a:xfrm>
            <a:off x="7006167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f8c1bc5668_0_0"/>
          <p:cNvSpPr/>
          <p:nvPr/>
        </p:nvSpPr>
        <p:spPr>
          <a:xfrm>
            <a:off x="7408333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f8c1bc5668_0_0"/>
          <p:cNvSpPr/>
          <p:nvPr/>
        </p:nvSpPr>
        <p:spPr>
          <a:xfrm>
            <a:off x="7810500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f8c1bc5668_0_0"/>
          <p:cNvSpPr/>
          <p:nvPr/>
        </p:nvSpPr>
        <p:spPr>
          <a:xfrm>
            <a:off x="8212667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f8c1bc5668_0_0"/>
          <p:cNvSpPr/>
          <p:nvPr/>
        </p:nvSpPr>
        <p:spPr>
          <a:xfrm>
            <a:off x="8614833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f8c1bc5668_0_0"/>
          <p:cNvSpPr/>
          <p:nvPr/>
        </p:nvSpPr>
        <p:spPr>
          <a:xfrm>
            <a:off x="9017000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f8c1bc5668_0_0"/>
          <p:cNvSpPr/>
          <p:nvPr/>
        </p:nvSpPr>
        <p:spPr>
          <a:xfrm>
            <a:off x="9419167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f8c1bc5668_0_0"/>
          <p:cNvSpPr/>
          <p:nvPr/>
        </p:nvSpPr>
        <p:spPr>
          <a:xfrm>
            <a:off x="9821333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f8c1bc5668_0_0"/>
          <p:cNvSpPr/>
          <p:nvPr/>
        </p:nvSpPr>
        <p:spPr>
          <a:xfrm>
            <a:off x="10223500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f8c1bc5668_0_0"/>
          <p:cNvSpPr/>
          <p:nvPr/>
        </p:nvSpPr>
        <p:spPr>
          <a:xfrm>
            <a:off x="10625667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f8c1bc5668_0_0"/>
          <p:cNvSpPr/>
          <p:nvPr/>
        </p:nvSpPr>
        <p:spPr>
          <a:xfrm>
            <a:off x="11027833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f8c1bc5668_0_0"/>
          <p:cNvSpPr/>
          <p:nvPr/>
        </p:nvSpPr>
        <p:spPr>
          <a:xfrm>
            <a:off x="11430000" y="463296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f8c1bc5668_0_0"/>
          <p:cNvSpPr/>
          <p:nvPr/>
        </p:nvSpPr>
        <p:spPr>
          <a:xfrm>
            <a:off x="7438813" y="4732020"/>
            <a:ext cx="743400" cy="198000"/>
          </a:xfrm>
          <a:prstGeom prst="roundRect">
            <a:avLst>
              <a:gd fmla="val 16667" name="adj"/>
            </a:avLst>
          </a:prstGeom>
          <a:solidFill>
            <a:srgbClr val="FABC40"/>
          </a:solidFill>
          <a:ln cap="flat" cmpd="sng" w="10575">
            <a:solidFill>
              <a:srgbClr val="FABC40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10575" lIns="42325" spcFirstLastPara="1" rIns="42325" wrap="square" tIns="10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S9–S10</a:t>
            </a:r>
            <a:endParaRPr sz="1200"/>
          </a:p>
        </p:txBody>
      </p:sp>
      <p:sp>
        <p:nvSpPr>
          <p:cNvPr id="437" name="Google Shape;437;g3f8c1bc5668_0_0"/>
          <p:cNvSpPr/>
          <p:nvPr/>
        </p:nvSpPr>
        <p:spPr>
          <a:xfrm>
            <a:off x="647700" y="5097780"/>
            <a:ext cx="10782300" cy="388500"/>
          </a:xfrm>
          <a:prstGeom prst="rect">
            <a:avLst/>
          </a:prstGeom>
          <a:solidFill>
            <a:srgbClr val="ECF3F9"/>
          </a:solidFill>
          <a:ln cap="flat" cmpd="sng" w="7950">
            <a:solidFill>
              <a:srgbClr val="E6EEF6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f8c1bc5668_0_0"/>
          <p:cNvSpPr txBox="1"/>
          <p:nvPr/>
        </p:nvSpPr>
        <p:spPr>
          <a:xfrm>
            <a:off x="723900" y="5212080"/>
            <a:ext cx="342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C1C3B"/>
                </a:solidFill>
                <a:latin typeface="Arial"/>
                <a:ea typeface="Arial"/>
                <a:cs typeface="Arial"/>
                <a:sym typeface="Arial"/>
              </a:rPr>
              <a:t>Pruebas y validación</a:t>
            </a:r>
            <a:endParaRPr sz="1200"/>
          </a:p>
        </p:txBody>
      </p:sp>
      <p:sp>
        <p:nvSpPr>
          <p:cNvPr id="439" name="Google Shape;439;g3f8c1bc5668_0_0"/>
          <p:cNvSpPr/>
          <p:nvPr/>
        </p:nvSpPr>
        <p:spPr>
          <a:xfrm>
            <a:off x="4191000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f8c1bc5668_0_0"/>
          <p:cNvSpPr/>
          <p:nvPr/>
        </p:nvSpPr>
        <p:spPr>
          <a:xfrm>
            <a:off x="4593167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f8c1bc5668_0_0"/>
          <p:cNvSpPr/>
          <p:nvPr/>
        </p:nvSpPr>
        <p:spPr>
          <a:xfrm>
            <a:off x="4995333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f8c1bc5668_0_0"/>
          <p:cNvSpPr/>
          <p:nvPr/>
        </p:nvSpPr>
        <p:spPr>
          <a:xfrm>
            <a:off x="5397500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g3f8c1bc5668_0_0"/>
          <p:cNvSpPr/>
          <p:nvPr/>
        </p:nvSpPr>
        <p:spPr>
          <a:xfrm>
            <a:off x="5799667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f8c1bc5668_0_0"/>
          <p:cNvSpPr/>
          <p:nvPr/>
        </p:nvSpPr>
        <p:spPr>
          <a:xfrm>
            <a:off x="6201833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f8c1bc5668_0_0"/>
          <p:cNvSpPr/>
          <p:nvPr/>
        </p:nvSpPr>
        <p:spPr>
          <a:xfrm>
            <a:off x="6604000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f8c1bc5668_0_0"/>
          <p:cNvSpPr/>
          <p:nvPr/>
        </p:nvSpPr>
        <p:spPr>
          <a:xfrm>
            <a:off x="7006167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f8c1bc5668_0_0"/>
          <p:cNvSpPr/>
          <p:nvPr/>
        </p:nvSpPr>
        <p:spPr>
          <a:xfrm>
            <a:off x="7408333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f8c1bc5668_0_0"/>
          <p:cNvSpPr/>
          <p:nvPr/>
        </p:nvSpPr>
        <p:spPr>
          <a:xfrm>
            <a:off x="7810500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f8c1bc5668_0_0"/>
          <p:cNvSpPr/>
          <p:nvPr/>
        </p:nvSpPr>
        <p:spPr>
          <a:xfrm>
            <a:off x="8212667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f8c1bc5668_0_0"/>
          <p:cNvSpPr/>
          <p:nvPr/>
        </p:nvSpPr>
        <p:spPr>
          <a:xfrm>
            <a:off x="8614833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f8c1bc5668_0_0"/>
          <p:cNvSpPr/>
          <p:nvPr/>
        </p:nvSpPr>
        <p:spPr>
          <a:xfrm>
            <a:off x="9017000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f8c1bc5668_0_0"/>
          <p:cNvSpPr/>
          <p:nvPr/>
        </p:nvSpPr>
        <p:spPr>
          <a:xfrm>
            <a:off x="9419167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f8c1bc5668_0_0"/>
          <p:cNvSpPr/>
          <p:nvPr/>
        </p:nvSpPr>
        <p:spPr>
          <a:xfrm>
            <a:off x="9821333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f8c1bc5668_0_0"/>
          <p:cNvSpPr/>
          <p:nvPr/>
        </p:nvSpPr>
        <p:spPr>
          <a:xfrm>
            <a:off x="10223500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f8c1bc5668_0_0"/>
          <p:cNvSpPr/>
          <p:nvPr/>
        </p:nvSpPr>
        <p:spPr>
          <a:xfrm>
            <a:off x="10625667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f8c1bc5668_0_0"/>
          <p:cNvSpPr/>
          <p:nvPr/>
        </p:nvSpPr>
        <p:spPr>
          <a:xfrm>
            <a:off x="11027833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f8c1bc5668_0_0"/>
          <p:cNvSpPr/>
          <p:nvPr/>
        </p:nvSpPr>
        <p:spPr>
          <a:xfrm>
            <a:off x="11430000" y="509778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f8c1bc5668_0_0"/>
          <p:cNvSpPr/>
          <p:nvPr/>
        </p:nvSpPr>
        <p:spPr>
          <a:xfrm>
            <a:off x="9047480" y="5196839"/>
            <a:ext cx="1547700" cy="198000"/>
          </a:xfrm>
          <a:prstGeom prst="roundRect">
            <a:avLst>
              <a:gd fmla="val 16667" name="adj"/>
            </a:avLst>
          </a:prstGeom>
          <a:solidFill>
            <a:srgbClr val="3F3689"/>
          </a:solidFill>
          <a:ln cap="flat" cmpd="sng" w="10575">
            <a:solidFill>
              <a:srgbClr val="3F3689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10575" lIns="42325" spcFirstLastPara="1" rIns="42325" wrap="square" tIns="10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S13–S16</a:t>
            </a:r>
            <a:endParaRPr sz="1200"/>
          </a:p>
        </p:txBody>
      </p:sp>
      <p:sp>
        <p:nvSpPr>
          <p:cNvPr id="459" name="Google Shape;459;g3f8c1bc5668_0_0"/>
          <p:cNvSpPr/>
          <p:nvPr/>
        </p:nvSpPr>
        <p:spPr>
          <a:xfrm>
            <a:off x="647700" y="5562600"/>
            <a:ext cx="10782300" cy="388500"/>
          </a:xfrm>
          <a:prstGeom prst="rect">
            <a:avLst/>
          </a:prstGeom>
          <a:solidFill>
            <a:srgbClr val="FFFFFF"/>
          </a:solidFill>
          <a:ln cap="flat" cmpd="sng" w="7950">
            <a:solidFill>
              <a:srgbClr val="E6EEF6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f8c1bc5668_0_0"/>
          <p:cNvSpPr txBox="1"/>
          <p:nvPr/>
        </p:nvSpPr>
        <p:spPr>
          <a:xfrm>
            <a:off x="723900" y="5676900"/>
            <a:ext cx="342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C1C3B"/>
                </a:solidFill>
                <a:latin typeface="Arial"/>
                <a:ea typeface="Arial"/>
                <a:cs typeface="Arial"/>
                <a:sym typeface="Arial"/>
              </a:rPr>
              <a:t>Documentación, informe final y presentación</a:t>
            </a:r>
            <a:endParaRPr sz="1200"/>
          </a:p>
        </p:txBody>
      </p:sp>
      <p:sp>
        <p:nvSpPr>
          <p:cNvPr id="461" name="Google Shape;461;g3f8c1bc5668_0_0"/>
          <p:cNvSpPr/>
          <p:nvPr/>
        </p:nvSpPr>
        <p:spPr>
          <a:xfrm>
            <a:off x="4191000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f8c1bc5668_0_0"/>
          <p:cNvSpPr/>
          <p:nvPr/>
        </p:nvSpPr>
        <p:spPr>
          <a:xfrm>
            <a:off x="4593167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f8c1bc5668_0_0"/>
          <p:cNvSpPr/>
          <p:nvPr/>
        </p:nvSpPr>
        <p:spPr>
          <a:xfrm>
            <a:off x="4995333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f8c1bc5668_0_0"/>
          <p:cNvSpPr/>
          <p:nvPr/>
        </p:nvSpPr>
        <p:spPr>
          <a:xfrm>
            <a:off x="5397500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f8c1bc5668_0_0"/>
          <p:cNvSpPr/>
          <p:nvPr/>
        </p:nvSpPr>
        <p:spPr>
          <a:xfrm>
            <a:off x="5799667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f8c1bc5668_0_0"/>
          <p:cNvSpPr/>
          <p:nvPr/>
        </p:nvSpPr>
        <p:spPr>
          <a:xfrm>
            <a:off x="6201833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f8c1bc5668_0_0"/>
          <p:cNvSpPr/>
          <p:nvPr/>
        </p:nvSpPr>
        <p:spPr>
          <a:xfrm>
            <a:off x="6604000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f8c1bc5668_0_0"/>
          <p:cNvSpPr/>
          <p:nvPr/>
        </p:nvSpPr>
        <p:spPr>
          <a:xfrm>
            <a:off x="7006167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f8c1bc5668_0_0"/>
          <p:cNvSpPr/>
          <p:nvPr/>
        </p:nvSpPr>
        <p:spPr>
          <a:xfrm>
            <a:off x="7408333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f8c1bc5668_0_0"/>
          <p:cNvSpPr/>
          <p:nvPr/>
        </p:nvSpPr>
        <p:spPr>
          <a:xfrm>
            <a:off x="7810500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f8c1bc5668_0_0"/>
          <p:cNvSpPr/>
          <p:nvPr/>
        </p:nvSpPr>
        <p:spPr>
          <a:xfrm>
            <a:off x="8212667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f8c1bc5668_0_0"/>
          <p:cNvSpPr/>
          <p:nvPr/>
        </p:nvSpPr>
        <p:spPr>
          <a:xfrm>
            <a:off x="8614833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f8c1bc5668_0_0"/>
          <p:cNvSpPr/>
          <p:nvPr/>
        </p:nvSpPr>
        <p:spPr>
          <a:xfrm>
            <a:off x="9017000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f8c1bc5668_0_0"/>
          <p:cNvSpPr/>
          <p:nvPr/>
        </p:nvSpPr>
        <p:spPr>
          <a:xfrm>
            <a:off x="9419167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f8c1bc5668_0_0"/>
          <p:cNvSpPr/>
          <p:nvPr/>
        </p:nvSpPr>
        <p:spPr>
          <a:xfrm>
            <a:off x="9821333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f8c1bc5668_0_0"/>
          <p:cNvSpPr/>
          <p:nvPr/>
        </p:nvSpPr>
        <p:spPr>
          <a:xfrm>
            <a:off x="10223500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f8c1bc5668_0_0"/>
          <p:cNvSpPr/>
          <p:nvPr/>
        </p:nvSpPr>
        <p:spPr>
          <a:xfrm>
            <a:off x="10625667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f8c1bc5668_0_0"/>
          <p:cNvSpPr/>
          <p:nvPr/>
        </p:nvSpPr>
        <p:spPr>
          <a:xfrm>
            <a:off x="11027833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f8c1bc5668_0_0"/>
          <p:cNvSpPr/>
          <p:nvPr/>
        </p:nvSpPr>
        <p:spPr>
          <a:xfrm>
            <a:off x="11430000" y="5562600"/>
            <a:ext cx="4500" cy="388500"/>
          </a:xfrm>
          <a:prstGeom prst="rect">
            <a:avLst/>
          </a:prstGeom>
          <a:solidFill>
            <a:srgbClr val="DEE9F2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f8c1bc5668_0_0"/>
          <p:cNvSpPr/>
          <p:nvPr/>
        </p:nvSpPr>
        <p:spPr>
          <a:xfrm>
            <a:off x="9851813" y="5661660"/>
            <a:ext cx="1547700" cy="198000"/>
          </a:xfrm>
          <a:prstGeom prst="roundRect">
            <a:avLst>
              <a:gd fmla="val 16667" name="adj"/>
            </a:avLst>
          </a:prstGeom>
          <a:solidFill>
            <a:srgbClr val="50C878"/>
          </a:solidFill>
          <a:ln cap="flat" cmpd="sng" w="10575">
            <a:solidFill>
              <a:srgbClr val="50C878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10575" lIns="42325" spcFirstLastPara="1" rIns="42325" wrap="square" tIns="10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S15–S18</a:t>
            </a:r>
            <a:endParaRPr sz="1200"/>
          </a:p>
        </p:txBody>
      </p:sp>
      <p:sp>
        <p:nvSpPr>
          <p:cNvPr id="481" name="Google Shape;481;g3f8c1bc5668_0_0"/>
          <p:cNvSpPr txBox="1"/>
          <p:nvPr/>
        </p:nvSpPr>
        <p:spPr>
          <a:xfrm>
            <a:off x="1104900" y="6248399"/>
            <a:ext cx="9982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Lectura del roadmap: las actividades se solapan intencionalmente para habilitar desarrollo incremental: diseño → API/datos → integración → dashboard → validación.</a:t>
            </a:r>
            <a:endParaRPr sz="1200"/>
          </a:p>
        </p:txBody>
      </p:sp>
      <p:pic>
        <p:nvPicPr>
          <p:cNvPr descr="image.png" id="482" name="Google Shape;482;g3f8c1bc566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0" y="155448"/>
            <a:ext cx="658369" cy="658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f8c1bc5668_0_45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B8B3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f8c1bc5668_0_457"/>
          <p:cNvSpPr txBox="1"/>
          <p:nvPr/>
        </p:nvSpPr>
        <p:spPr>
          <a:xfrm>
            <a:off x="533400" y="419100"/>
            <a:ext cx="95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81F49"/>
                </a:solidFill>
                <a:latin typeface="Arial"/>
                <a:ea typeface="Arial"/>
                <a:cs typeface="Arial"/>
                <a:sym typeface="Arial"/>
              </a:rPr>
              <a:t>Plan de riesgos informáticos</a:t>
            </a:r>
            <a:endParaRPr sz="1200"/>
          </a:p>
        </p:txBody>
      </p:sp>
      <p:sp>
        <p:nvSpPr>
          <p:cNvPr id="489" name="Google Shape;489;g3f8c1bc5668_0_457"/>
          <p:cNvSpPr txBox="1"/>
          <p:nvPr/>
        </p:nvSpPr>
        <p:spPr>
          <a:xfrm>
            <a:off x="548640" y="952500"/>
            <a:ext cx="9753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Matriz 3×3 y top de riesgos del MVP según probabilidad × impacto.</a:t>
            </a:r>
            <a:endParaRPr sz="1200"/>
          </a:p>
        </p:txBody>
      </p:sp>
      <p:sp>
        <p:nvSpPr>
          <p:cNvPr id="490" name="Google Shape;490;g3f8c1bc5668_0_457"/>
          <p:cNvSpPr txBox="1"/>
          <p:nvPr/>
        </p:nvSpPr>
        <p:spPr>
          <a:xfrm>
            <a:off x="533400" y="6499859"/>
            <a:ext cx="3048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sz="1200"/>
          </a:p>
        </p:txBody>
      </p:sp>
      <p:sp>
        <p:nvSpPr>
          <p:cNvPr id="491" name="Google Shape;491;g3f8c1bc5668_0_457"/>
          <p:cNvSpPr txBox="1"/>
          <p:nvPr/>
        </p:nvSpPr>
        <p:spPr>
          <a:xfrm>
            <a:off x="11696700" y="6499859"/>
            <a:ext cx="22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200"/>
          </a:p>
        </p:txBody>
      </p:sp>
      <p:sp>
        <p:nvSpPr>
          <p:cNvPr id="492" name="Google Shape;492;g3f8c1bc5668_0_457"/>
          <p:cNvSpPr/>
          <p:nvPr/>
        </p:nvSpPr>
        <p:spPr>
          <a:xfrm>
            <a:off x="655320" y="1143000"/>
            <a:ext cx="24765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575">
            <a:solidFill>
              <a:srgbClr val="C4DEE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f8c1bc5668_0_457"/>
          <p:cNvSpPr txBox="1"/>
          <p:nvPr/>
        </p:nvSpPr>
        <p:spPr>
          <a:xfrm>
            <a:off x="1033975" y="1328810"/>
            <a:ext cx="457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1F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600" u="none" cap="none" strike="noStrike">
              <a:solidFill>
                <a:srgbClr val="081F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f8c1bc5668_0_457"/>
          <p:cNvSpPr txBox="1"/>
          <p:nvPr/>
        </p:nvSpPr>
        <p:spPr>
          <a:xfrm>
            <a:off x="1455420" y="1356360"/>
            <a:ext cx="1447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riesgos identificados</a:t>
            </a:r>
            <a:endParaRPr sz="1200"/>
          </a:p>
        </p:txBody>
      </p:sp>
      <p:sp>
        <p:nvSpPr>
          <p:cNvPr id="495" name="Google Shape;495;g3f8c1bc5668_0_457"/>
          <p:cNvSpPr/>
          <p:nvPr/>
        </p:nvSpPr>
        <p:spPr>
          <a:xfrm>
            <a:off x="3413760" y="1143000"/>
            <a:ext cx="24765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575">
            <a:solidFill>
              <a:srgbClr val="C4DEE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3f8c1bc5668_0_457"/>
          <p:cNvSpPr txBox="1"/>
          <p:nvPr/>
        </p:nvSpPr>
        <p:spPr>
          <a:xfrm>
            <a:off x="3680460" y="1318260"/>
            <a:ext cx="457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2535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/>
          </a:p>
        </p:txBody>
      </p:sp>
      <p:sp>
        <p:nvSpPr>
          <p:cNvPr id="497" name="Google Shape;497;g3f8c1bc5668_0_457"/>
          <p:cNvSpPr txBox="1"/>
          <p:nvPr/>
        </p:nvSpPr>
        <p:spPr>
          <a:xfrm>
            <a:off x="4213860" y="1356360"/>
            <a:ext cx="1447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riesgos altos</a:t>
            </a:r>
            <a:endParaRPr sz="1200"/>
          </a:p>
        </p:txBody>
      </p:sp>
      <p:sp>
        <p:nvSpPr>
          <p:cNvPr id="498" name="Google Shape;498;g3f8c1bc5668_0_457"/>
          <p:cNvSpPr/>
          <p:nvPr/>
        </p:nvSpPr>
        <p:spPr>
          <a:xfrm>
            <a:off x="6172200" y="1143000"/>
            <a:ext cx="24765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575">
            <a:solidFill>
              <a:srgbClr val="C4DEE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f8c1bc5668_0_457"/>
          <p:cNvSpPr txBox="1"/>
          <p:nvPr/>
        </p:nvSpPr>
        <p:spPr>
          <a:xfrm>
            <a:off x="6438900" y="1318260"/>
            <a:ext cx="457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1F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/>
          </a:p>
        </p:txBody>
      </p:sp>
      <p:sp>
        <p:nvSpPr>
          <p:cNvPr id="500" name="Google Shape;500;g3f8c1bc5668_0_457"/>
          <p:cNvSpPr txBox="1"/>
          <p:nvPr/>
        </p:nvSpPr>
        <p:spPr>
          <a:xfrm>
            <a:off x="6972300" y="1356360"/>
            <a:ext cx="1447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controles preventivos</a:t>
            </a:r>
            <a:endParaRPr sz="1200"/>
          </a:p>
        </p:txBody>
      </p:sp>
      <p:sp>
        <p:nvSpPr>
          <p:cNvPr id="501" name="Google Shape;501;g3f8c1bc5668_0_457"/>
          <p:cNvSpPr/>
          <p:nvPr/>
        </p:nvSpPr>
        <p:spPr>
          <a:xfrm>
            <a:off x="8930640" y="1143000"/>
            <a:ext cx="24765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575">
            <a:solidFill>
              <a:srgbClr val="C4DEE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f8c1bc5668_0_457"/>
          <p:cNvSpPr txBox="1"/>
          <p:nvPr/>
        </p:nvSpPr>
        <p:spPr>
          <a:xfrm>
            <a:off x="9197340" y="1318260"/>
            <a:ext cx="457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81F49"/>
                </a:solidFill>
              </a:rPr>
              <a:t>1</a:t>
            </a:r>
            <a:endParaRPr sz="1200"/>
          </a:p>
        </p:txBody>
      </p:sp>
      <p:sp>
        <p:nvSpPr>
          <p:cNvPr id="503" name="Google Shape;503;g3f8c1bc5668_0_457"/>
          <p:cNvSpPr txBox="1"/>
          <p:nvPr/>
        </p:nvSpPr>
        <p:spPr>
          <a:xfrm>
            <a:off x="9730740" y="1356360"/>
            <a:ext cx="1447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contingencias críticas</a:t>
            </a:r>
            <a:endParaRPr sz="1200"/>
          </a:p>
        </p:txBody>
      </p:sp>
      <p:sp>
        <p:nvSpPr>
          <p:cNvPr id="504" name="Google Shape;504;g3f8c1bc5668_0_457"/>
          <p:cNvSpPr txBox="1"/>
          <p:nvPr/>
        </p:nvSpPr>
        <p:spPr>
          <a:xfrm>
            <a:off x="723900" y="2019300"/>
            <a:ext cx="3505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81F49"/>
                </a:solidFill>
                <a:latin typeface="Arial"/>
                <a:ea typeface="Arial"/>
                <a:cs typeface="Arial"/>
                <a:sym typeface="Arial"/>
              </a:rPr>
              <a:t>Matriz de exposición</a:t>
            </a:r>
            <a:endParaRPr sz="1200"/>
          </a:p>
        </p:txBody>
      </p:sp>
      <p:sp>
        <p:nvSpPr>
          <p:cNvPr id="505" name="Google Shape;505;g3f8c1bc5668_0_457"/>
          <p:cNvSpPr txBox="1"/>
          <p:nvPr/>
        </p:nvSpPr>
        <p:spPr>
          <a:xfrm>
            <a:off x="723900" y="2316480"/>
            <a:ext cx="3048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Probabilidad × Impacto</a:t>
            </a:r>
            <a:endParaRPr sz="1200"/>
          </a:p>
        </p:txBody>
      </p:sp>
      <p:sp>
        <p:nvSpPr>
          <p:cNvPr id="506" name="Google Shape;506;g3f8c1bc5668_0_457"/>
          <p:cNvSpPr/>
          <p:nvPr/>
        </p:nvSpPr>
        <p:spPr>
          <a:xfrm>
            <a:off x="838200" y="2575560"/>
            <a:ext cx="1181100" cy="655200"/>
          </a:xfrm>
          <a:prstGeom prst="rect">
            <a:avLst/>
          </a:prstGeom>
          <a:solidFill>
            <a:srgbClr val="F8D4D6"/>
          </a:solidFill>
          <a:ln cap="flat" cmpd="sng" w="84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f8c1bc5668_0_457"/>
          <p:cNvSpPr/>
          <p:nvPr/>
        </p:nvSpPr>
        <p:spPr>
          <a:xfrm>
            <a:off x="2019300" y="2575560"/>
            <a:ext cx="1181100" cy="655200"/>
          </a:xfrm>
          <a:prstGeom prst="rect">
            <a:avLst/>
          </a:prstGeom>
          <a:solidFill>
            <a:srgbClr val="FFEDB6"/>
          </a:solidFill>
          <a:ln cap="flat" cmpd="sng" w="84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f8c1bc5668_0_457"/>
          <p:cNvSpPr/>
          <p:nvPr/>
        </p:nvSpPr>
        <p:spPr>
          <a:xfrm>
            <a:off x="3200400" y="2575560"/>
            <a:ext cx="1181100" cy="655200"/>
          </a:xfrm>
          <a:prstGeom prst="rect">
            <a:avLst/>
          </a:prstGeom>
          <a:solidFill>
            <a:srgbClr val="F5AAAE"/>
          </a:solidFill>
          <a:ln cap="flat" cmpd="sng" w="84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f8c1bc5668_0_457"/>
          <p:cNvSpPr/>
          <p:nvPr/>
        </p:nvSpPr>
        <p:spPr>
          <a:xfrm>
            <a:off x="838200" y="3230880"/>
            <a:ext cx="1181100" cy="655200"/>
          </a:xfrm>
          <a:prstGeom prst="rect">
            <a:avLst/>
          </a:prstGeom>
          <a:solidFill>
            <a:srgbClr val="DEF5E6"/>
          </a:solidFill>
          <a:ln cap="flat" cmpd="sng" w="84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f8c1bc5668_0_457"/>
          <p:cNvSpPr/>
          <p:nvPr/>
        </p:nvSpPr>
        <p:spPr>
          <a:xfrm>
            <a:off x="2019300" y="3230880"/>
            <a:ext cx="1181100" cy="655200"/>
          </a:xfrm>
          <a:prstGeom prst="rect">
            <a:avLst/>
          </a:prstGeom>
          <a:solidFill>
            <a:srgbClr val="FFEDB6"/>
          </a:solidFill>
          <a:ln cap="flat" cmpd="sng" w="84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f8c1bc5668_0_457"/>
          <p:cNvSpPr/>
          <p:nvPr/>
        </p:nvSpPr>
        <p:spPr>
          <a:xfrm>
            <a:off x="3200400" y="3230880"/>
            <a:ext cx="1181100" cy="655200"/>
          </a:xfrm>
          <a:prstGeom prst="rect">
            <a:avLst/>
          </a:prstGeom>
          <a:solidFill>
            <a:srgbClr val="FFD3A2"/>
          </a:solidFill>
          <a:ln cap="flat" cmpd="sng" w="84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f8c1bc5668_0_457"/>
          <p:cNvSpPr/>
          <p:nvPr/>
        </p:nvSpPr>
        <p:spPr>
          <a:xfrm>
            <a:off x="838200" y="3886200"/>
            <a:ext cx="1181100" cy="655200"/>
          </a:xfrm>
          <a:prstGeom prst="rect">
            <a:avLst/>
          </a:prstGeom>
          <a:solidFill>
            <a:srgbClr val="DEF5E6"/>
          </a:solidFill>
          <a:ln cap="flat" cmpd="sng" w="84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f8c1bc5668_0_457"/>
          <p:cNvSpPr/>
          <p:nvPr/>
        </p:nvSpPr>
        <p:spPr>
          <a:xfrm>
            <a:off x="2019300" y="3886200"/>
            <a:ext cx="1181100" cy="655200"/>
          </a:xfrm>
          <a:prstGeom prst="rect">
            <a:avLst/>
          </a:prstGeom>
          <a:solidFill>
            <a:srgbClr val="DEF5E6"/>
          </a:solidFill>
          <a:ln cap="flat" cmpd="sng" w="84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f8c1bc5668_0_457"/>
          <p:cNvSpPr/>
          <p:nvPr/>
        </p:nvSpPr>
        <p:spPr>
          <a:xfrm>
            <a:off x="3200400" y="3886200"/>
            <a:ext cx="1181100" cy="655200"/>
          </a:xfrm>
          <a:prstGeom prst="rect">
            <a:avLst/>
          </a:prstGeom>
          <a:solidFill>
            <a:srgbClr val="FFEDB6"/>
          </a:solidFill>
          <a:ln cap="flat" cmpd="sng" w="84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f8c1bc5668_0_457"/>
          <p:cNvSpPr txBox="1"/>
          <p:nvPr/>
        </p:nvSpPr>
        <p:spPr>
          <a:xfrm>
            <a:off x="838200" y="4632960"/>
            <a:ext cx="1181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Baja</a:t>
            </a:r>
            <a:endParaRPr sz="1200"/>
          </a:p>
        </p:txBody>
      </p:sp>
      <p:sp>
        <p:nvSpPr>
          <p:cNvPr id="516" name="Google Shape;516;g3f8c1bc5668_0_457"/>
          <p:cNvSpPr txBox="1"/>
          <p:nvPr/>
        </p:nvSpPr>
        <p:spPr>
          <a:xfrm>
            <a:off x="2019300" y="4632960"/>
            <a:ext cx="1181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sz="1200"/>
          </a:p>
        </p:txBody>
      </p:sp>
      <p:sp>
        <p:nvSpPr>
          <p:cNvPr id="517" name="Google Shape;517;g3f8c1bc5668_0_457"/>
          <p:cNvSpPr txBox="1"/>
          <p:nvPr/>
        </p:nvSpPr>
        <p:spPr>
          <a:xfrm>
            <a:off x="3200400" y="4632960"/>
            <a:ext cx="1181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sz="1200"/>
          </a:p>
        </p:txBody>
      </p:sp>
      <p:sp>
        <p:nvSpPr>
          <p:cNvPr id="518" name="Google Shape;518;g3f8c1bc5668_0_457"/>
          <p:cNvSpPr txBox="1"/>
          <p:nvPr/>
        </p:nvSpPr>
        <p:spPr>
          <a:xfrm>
            <a:off x="441960" y="2804159"/>
            <a:ext cx="342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sz="1200"/>
          </a:p>
        </p:txBody>
      </p:sp>
      <p:sp>
        <p:nvSpPr>
          <p:cNvPr id="519" name="Google Shape;519;g3f8c1bc5668_0_457"/>
          <p:cNvSpPr txBox="1"/>
          <p:nvPr/>
        </p:nvSpPr>
        <p:spPr>
          <a:xfrm>
            <a:off x="441960" y="3459480"/>
            <a:ext cx="342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Medio</a:t>
            </a:r>
            <a:endParaRPr sz="1200"/>
          </a:p>
        </p:txBody>
      </p:sp>
      <p:sp>
        <p:nvSpPr>
          <p:cNvPr id="520" name="Google Shape;520;g3f8c1bc5668_0_457"/>
          <p:cNvSpPr txBox="1"/>
          <p:nvPr/>
        </p:nvSpPr>
        <p:spPr>
          <a:xfrm>
            <a:off x="441960" y="4114799"/>
            <a:ext cx="342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Bajo</a:t>
            </a:r>
            <a:endParaRPr sz="1200"/>
          </a:p>
        </p:txBody>
      </p:sp>
      <p:sp>
        <p:nvSpPr>
          <p:cNvPr id="521" name="Google Shape;521;g3f8c1bc5668_0_457"/>
          <p:cNvSpPr txBox="1"/>
          <p:nvPr/>
        </p:nvSpPr>
        <p:spPr>
          <a:xfrm>
            <a:off x="2171700" y="4922520"/>
            <a:ext cx="102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Probabilidad</a:t>
            </a:r>
            <a:endParaRPr sz="1200"/>
          </a:p>
        </p:txBody>
      </p:sp>
      <p:sp>
        <p:nvSpPr>
          <p:cNvPr id="522" name="Google Shape;522;g3f8c1bc5668_0_457"/>
          <p:cNvSpPr/>
          <p:nvPr/>
        </p:nvSpPr>
        <p:spPr>
          <a:xfrm>
            <a:off x="3566160" y="2895600"/>
            <a:ext cx="243900" cy="243900"/>
          </a:xfrm>
          <a:prstGeom prst="ellipse">
            <a:avLst/>
          </a:prstGeom>
          <a:solidFill>
            <a:srgbClr val="F2535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 sz="1200"/>
          </a:p>
        </p:txBody>
      </p:sp>
      <p:sp>
        <p:nvSpPr>
          <p:cNvPr id="523" name="Google Shape;523;g3f8c1bc5668_0_457"/>
          <p:cNvSpPr/>
          <p:nvPr/>
        </p:nvSpPr>
        <p:spPr>
          <a:xfrm>
            <a:off x="2324100" y="2895600"/>
            <a:ext cx="243900" cy="243900"/>
          </a:xfrm>
          <a:prstGeom prst="ellipse">
            <a:avLst/>
          </a:prstGeom>
          <a:solidFill>
            <a:srgbClr val="F2535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R2</a:t>
            </a:r>
            <a:endParaRPr sz="1200"/>
          </a:p>
        </p:txBody>
      </p:sp>
      <p:sp>
        <p:nvSpPr>
          <p:cNvPr id="524" name="Google Shape;524;g3f8c1bc5668_0_457"/>
          <p:cNvSpPr/>
          <p:nvPr/>
        </p:nvSpPr>
        <p:spPr>
          <a:xfrm>
            <a:off x="2590800" y="2895600"/>
            <a:ext cx="243900" cy="243900"/>
          </a:xfrm>
          <a:prstGeom prst="ellipse">
            <a:avLst/>
          </a:prstGeom>
          <a:solidFill>
            <a:srgbClr val="F2535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R3</a:t>
            </a:r>
            <a:endParaRPr sz="1200"/>
          </a:p>
        </p:txBody>
      </p:sp>
      <p:sp>
        <p:nvSpPr>
          <p:cNvPr id="525" name="Google Shape;525;g3f8c1bc5668_0_457"/>
          <p:cNvSpPr/>
          <p:nvPr/>
        </p:nvSpPr>
        <p:spPr>
          <a:xfrm>
            <a:off x="3528060" y="3550920"/>
            <a:ext cx="243900" cy="243900"/>
          </a:xfrm>
          <a:prstGeom prst="ellipse">
            <a:avLst/>
          </a:prstGeom>
          <a:solidFill>
            <a:srgbClr val="FABC4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R4</a:t>
            </a:r>
            <a:endParaRPr sz="1200"/>
          </a:p>
        </p:txBody>
      </p:sp>
      <p:sp>
        <p:nvSpPr>
          <p:cNvPr id="526" name="Google Shape;526;g3f8c1bc5668_0_457"/>
          <p:cNvSpPr/>
          <p:nvPr/>
        </p:nvSpPr>
        <p:spPr>
          <a:xfrm>
            <a:off x="3794760" y="3550920"/>
            <a:ext cx="243900" cy="243900"/>
          </a:xfrm>
          <a:prstGeom prst="ellipse">
            <a:avLst/>
          </a:prstGeom>
          <a:solidFill>
            <a:srgbClr val="FABC4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R5</a:t>
            </a:r>
            <a:endParaRPr sz="1200"/>
          </a:p>
        </p:txBody>
      </p:sp>
      <p:sp>
        <p:nvSpPr>
          <p:cNvPr id="527" name="Google Shape;527;g3f8c1bc5668_0_457"/>
          <p:cNvSpPr txBox="1"/>
          <p:nvPr/>
        </p:nvSpPr>
        <p:spPr>
          <a:xfrm>
            <a:off x="4762500" y="2019300"/>
            <a:ext cx="472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81F49"/>
                </a:solidFill>
                <a:latin typeface="Arial"/>
                <a:ea typeface="Arial"/>
                <a:cs typeface="Arial"/>
                <a:sym typeface="Arial"/>
              </a:rPr>
              <a:t>Top riesgos del proyecto</a:t>
            </a:r>
            <a:endParaRPr sz="1200"/>
          </a:p>
        </p:txBody>
      </p:sp>
      <p:sp>
        <p:nvSpPr>
          <p:cNvPr id="528" name="Google Shape;528;g3f8c1bc5668_0_457"/>
          <p:cNvSpPr/>
          <p:nvPr/>
        </p:nvSpPr>
        <p:spPr>
          <a:xfrm>
            <a:off x="4762500" y="2324100"/>
            <a:ext cx="6591300" cy="403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575">
            <a:solidFill>
              <a:srgbClr val="CFE2EE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f8c1bc5668_0_457"/>
          <p:cNvSpPr/>
          <p:nvPr/>
        </p:nvSpPr>
        <p:spPr>
          <a:xfrm>
            <a:off x="4914900" y="2423159"/>
            <a:ext cx="289500" cy="190500"/>
          </a:xfrm>
          <a:prstGeom prst="roundRect">
            <a:avLst>
              <a:gd fmla="val 16667" name="adj"/>
            </a:avLst>
          </a:prstGeom>
          <a:solidFill>
            <a:srgbClr val="F25356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f8c1bc5668_0_457"/>
          <p:cNvSpPr txBox="1"/>
          <p:nvPr/>
        </p:nvSpPr>
        <p:spPr>
          <a:xfrm>
            <a:off x="5318760" y="2446020"/>
            <a:ext cx="335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C1C3B"/>
                </a:solidFill>
                <a:latin typeface="Arial"/>
                <a:ea typeface="Arial"/>
                <a:cs typeface="Arial"/>
                <a:sym typeface="Arial"/>
              </a:rPr>
              <a:t>R1 · Falla o límite de API Jira/Zephyr</a:t>
            </a:r>
            <a:endParaRPr sz="1200"/>
          </a:p>
        </p:txBody>
      </p:sp>
      <p:sp>
        <p:nvSpPr>
          <p:cNvPr id="531" name="Google Shape;531;g3f8c1bc5668_0_457"/>
          <p:cNvSpPr txBox="1"/>
          <p:nvPr/>
        </p:nvSpPr>
        <p:spPr>
          <a:xfrm>
            <a:off x="8686800" y="2446020"/>
            <a:ext cx="571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25356"/>
                </a:solidFill>
                <a:latin typeface="Arial"/>
                <a:ea typeface="Arial"/>
                <a:cs typeface="Arial"/>
                <a:sym typeface="Arial"/>
              </a:rPr>
              <a:t>Score 9</a:t>
            </a:r>
            <a:endParaRPr sz="1200"/>
          </a:p>
        </p:txBody>
      </p:sp>
      <p:sp>
        <p:nvSpPr>
          <p:cNvPr id="532" name="Google Shape;532;g3f8c1bc5668_0_457"/>
          <p:cNvSpPr txBox="1"/>
          <p:nvPr/>
        </p:nvSpPr>
        <p:spPr>
          <a:xfrm>
            <a:off x="9410700" y="2446020"/>
            <a:ext cx="1524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Mitigar · Mock/CSV</a:t>
            </a:r>
            <a:endParaRPr sz="1200"/>
          </a:p>
        </p:txBody>
      </p:sp>
      <p:sp>
        <p:nvSpPr>
          <p:cNvPr id="533" name="Google Shape;533;g3f8c1bc5668_0_457"/>
          <p:cNvSpPr/>
          <p:nvPr/>
        </p:nvSpPr>
        <p:spPr>
          <a:xfrm>
            <a:off x="4762500" y="2895600"/>
            <a:ext cx="6591300" cy="403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575">
            <a:solidFill>
              <a:srgbClr val="CFE2EE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f8c1bc5668_0_457"/>
          <p:cNvSpPr/>
          <p:nvPr/>
        </p:nvSpPr>
        <p:spPr>
          <a:xfrm>
            <a:off x="4914900" y="2994659"/>
            <a:ext cx="289500" cy="190500"/>
          </a:xfrm>
          <a:prstGeom prst="roundRect">
            <a:avLst>
              <a:gd fmla="val 16667" name="adj"/>
            </a:avLst>
          </a:prstGeom>
          <a:solidFill>
            <a:srgbClr val="F25356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f8c1bc5668_0_457"/>
          <p:cNvSpPr txBox="1"/>
          <p:nvPr/>
        </p:nvSpPr>
        <p:spPr>
          <a:xfrm>
            <a:off x="5318760" y="3017520"/>
            <a:ext cx="335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C1C3B"/>
                </a:solidFill>
                <a:latin typeface="Arial"/>
                <a:ea typeface="Arial"/>
                <a:cs typeface="Arial"/>
                <a:sym typeface="Arial"/>
              </a:rPr>
              <a:t>R2 · Exposición de credenciales/API keys</a:t>
            </a:r>
            <a:endParaRPr sz="1200"/>
          </a:p>
        </p:txBody>
      </p:sp>
      <p:sp>
        <p:nvSpPr>
          <p:cNvPr id="536" name="Google Shape;536;g3f8c1bc5668_0_457"/>
          <p:cNvSpPr txBox="1"/>
          <p:nvPr/>
        </p:nvSpPr>
        <p:spPr>
          <a:xfrm>
            <a:off x="8686800" y="3017520"/>
            <a:ext cx="571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25356"/>
                </a:solidFill>
                <a:latin typeface="Arial"/>
                <a:ea typeface="Arial"/>
                <a:cs typeface="Arial"/>
                <a:sym typeface="Arial"/>
              </a:rPr>
              <a:t>Score 6</a:t>
            </a:r>
            <a:endParaRPr sz="1200"/>
          </a:p>
        </p:txBody>
      </p:sp>
      <p:sp>
        <p:nvSpPr>
          <p:cNvPr id="537" name="Google Shape;537;g3f8c1bc5668_0_457"/>
          <p:cNvSpPr txBox="1"/>
          <p:nvPr/>
        </p:nvSpPr>
        <p:spPr>
          <a:xfrm>
            <a:off x="9410700" y="3017520"/>
            <a:ext cx="1524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Mitigar · .env/rotación</a:t>
            </a:r>
            <a:endParaRPr sz="1200"/>
          </a:p>
        </p:txBody>
      </p:sp>
      <p:sp>
        <p:nvSpPr>
          <p:cNvPr id="538" name="Google Shape;538;g3f8c1bc5668_0_457"/>
          <p:cNvSpPr/>
          <p:nvPr/>
        </p:nvSpPr>
        <p:spPr>
          <a:xfrm>
            <a:off x="4762500" y="3467100"/>
            <a:ext cx="6591300" cy="403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575">
            <a:solidFill>
              <a:srgbClr val="CFE2EE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f8c1bc5668_0_457"/>
          <p:cNvSpPr/>
          <p:nvPr/>
        </p:nvSpPr>
        <p:spPr>
          <a:xfrm>
            <a:off x="4914900" y="3566160"/>
            <a:ext cx="289500" cy="190500"/>
          </a:xfrm>
          <a:prstGeom prst="roundRect">
            <a:avLst>
              <a:gd fmla="val 16667" name="adj"/>
            </a:avLst>
          </a:prstGeom>
          <a:solidFill>
            <a:srgbClr val="F25356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f8c1bc5668_0_457"/>
          <p:cNvSpPr txBox="1"/>
          <p:nvPr/>
        </p:nvSpPr>
        <p:spPr>
          <a:xfrm>
            <a:off x="5318760" y="3589020"/>
            <a:ext cx="335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C1C3B"/>
                </a:solidFill>
                <a:latin typeface="Arial"/>
                <a:ea typeface="Arial"/>
                <a:cs typeface="Arial"/>
                <a:sym typeface="Arial"/>
              </a:rPr>
              <a:t>R3 · Permisos y roles mal definidos</a:t>
            </a:r>
            <a:endParaRPr sz="1200"/>
          </a:p>
        </p:txBody>
      </p:sp>
      <p:sp>
        <p:nvSpPr>
          <p:cNvPr id="541" name="Google Shape;541;g3f8c1bc5668_0_457"/>
          <p:cNvSpPr txBox="1"/>
          <p:nvPr/>
        </p:nvSpPr>
        <p:spPr>
          <a:xfrm>
            <a:off x="8686800" y="3589020"/>
            <a:ext cx="571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25356"/>
                </a:solidFill>
                <a:latin typeface="Arial"/>
                <a:ea typeface="Arial"/>
                <a:cs typeface="Arial"/>
                <a:sym typeface="Arial"/>
              </a:rPr>
              <a:t>Score 6</a:t>
            </a:r>
            <a:endParaRPr sz="1200"/>
          </a:p>
        </p:txBody>
      </p:sp>
      <p:sp>
        <p:nvSpPr>
          <p:cNvPr id="542" name="Google Shape;542;g3f8c1bc5668_0_457"/>
          <p:cNvSpPr txBox="1"/>
          <p:nvPr/>
        </p:nvSpPr>
        <p:spPr>
          <a:xfrm>
            <a:off x="9410700" y="3589020"/>
            <a:ext cx="1524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Evitar · RBAC</a:t>
            </a:r>
            <a:endParaRPr sz="1200"/>
          </a:p>
        </p:txBody>
      </p:sp>
      <p:sp>
        <p:nvSpPr>
          <p:cNvPr id="543" name="Google Shape;543;g3f8c1bc5668_0_457"/>
          <p:cNvSpPr/>
          <p:nvPr/>
        </p:nvSpPr>
        <p:spPr>
          <a:xfrm>
            <a:off x="4762500" y="4038600"/>
            <a:ext cx="6591300" cy="403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575">
            <a:solidFill>
              <a:srgbClr val="CFE2EE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f8c1bc5668_0_457"/>
          <p:cNvSpPr/>
          <p:nvPr/>
        </p:nvSpPr>
        <p:spPr>
          <a:xfrm>
            <a:off x="4914900" y="4137660"/>
            <a:ext cx="289500" cy="190500"/>
          </a:xfrm>
          <a:prstGeom prst="roundRect">
            <a:avLst>
              <a:gd fmla="val 16667" name="adj"/>
            </a:avLst>
          </a:prstGeom>
          <a:solidFill>
            <a:srgbClr val="FABC40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3f8c1bc5668_0_457"/>
          <p:cNvSpPr txBox="1"/>
          <p:nvPr/>
        </p:nvSpPr>
        <p:spPr>
          <a:xfrm>
            <a:off x="5318760" y="4160520"/>
            <a:ext cx="335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C1C3B"/>
                </a:solidFill>
                <a:latin typeface="Arial"/>
                <a:ea typeface="Arial"/>
                <a:cs typeface="Arial"/>
                <a:sym typeface="Arial"/>
              </a:rPr>
              <a:t>R4 · Datos inconsistentes CSV/JSON</a:t>
            </a:r>
            <a:endParaRPr sz="1200"/>
          </a:p>
        </p:txBody>
      </p:sp>
      <p:sp>
        <p:nvSpPr>
          <p:cNvPr id="546" name="Google Shape;546;g3f8c1bc5668_0_457"/>
          <p:cNvSpPr txBox="1"/>
          <p:nvPr/>
        </p:nvSpPr>
        <p:spPr>
          <a:xfrm>
            <a:off x="8686800" y="4160520"/>
            <a:ext cx="571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ABC40"/>
                </a:solidFill>
                <a:latin typeface="Arial"/>
                <a:ea typeface="Arial"/>
                <a:cs typeface="Arial"/>
                <a:sym typeface="Arial"/>
              </a:rPr>
              <a:t>Score 6</a:t>
            </a:r>
            <a:endParaRPr sz="1200"/>
          </a:p>
        </p:txBody>
      </p:sp>
      <p:sp>
        <p:nvSpPr>
          <p:cNvPr id="547" name="Google Shape;547;g3f8c1bc5668_0_457"/>
          <p:cNvSpPr txBox="1"/>
          <p:nvPr/>
        </p:nvSpPr>
        <p:spPr>
          <a:xfrm>
            <a:off x="9410700" y="4160520"/>
            <a:ext cx="1524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Mitigar · modelo canónico</a:t>
            </a:r>
            <a:endParaRPr sz="1200"/>
          </a:p>
        </p:txBody>
      </p:sp>
      <p:sp>
        <p:nvSpPr>
          <p:cNvPr id="548" name="Google Shape;548;g3f8c1bc5668_0_457"/>
          <p:cNvSpPr/>
          <p:nvPr/>
        </p:nvSpPr>
        <p:spPr>
          <a:xfrm>
            <a:off x="4762500" y="4610100"/>
            <a:ext cx="6591300" cy="403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575">
            <a:solidFill>
              <a:srgbClr val="CFE2EE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g3f8c1bc5668_0_457"/>
          <p:cNvSpPr/>
          <p:nvPr/>
        </p:nvSpPr>
        <p:spPr>
          <a:xfrm>
            <a:off x="4914900" y="4709160"/>
            <a:ext cx="289500" cy="190500"/>
          </a:xfrm>
          <a:prstGeom prst="roundRect">
            <a:avLst>
              <a:gd fmla="val 16667" name="adj"/>
            </a:avLst>
          </a:prstGeom>
          <a:solidFill>
            <a:srgbClr val="FABC40"/>
          </a:solidFill>
          <a:ln>
            <a:noFill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f8c1bc5668_0_457"/>
          <p:cNvSpPr txBox="1"/>
          <p:nvPr/>
        </p:nvSpPr>
        <p:spPr>
          <a:xfrm>
            <a:off x="5318760" y="4732020"/>
            <a:ext cx="335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C1C3B"/>
                </a:solidFill>
                <a:latin typeface="Arial"/>
                <a:ea typeface="Arial"/>
                <a:cs typeface="Arial"/>
                <a:sym typeface="Arial"/>
              </a:rPr>
              <a:t>R5 · Sobrecarga de alcance MVP</a:t>
            </a:r>
            <a:endParaRPr sz="1200"/>
          </a:p>
        </p:txBody>
      </p:sp>
      <p:sp>
        <p:nvSpPr>
          <p:cNvPr id="551" name="Google Shape;551;g3f8c1bc5668_0_457"/>
          <p:cNvSpPr txBox="1"/>
          <p:nvPr/>
        </p:nvSpPr>
        <p:spPr>
          <a:xfrm>
            <a:off x="8686800" y="4732020"/>
            <a:ext cx="571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ABC40"/>
                </a:solidFill>
                <a:latin typeface="Arial"/>
                <a:ea typeface="Arial"/>
                <a:cs typeface="Arial"/>
                <a:sym typeface="Arial"/>
              </a:rPr>
              <a:t>Score 6</a:t>
            </a:r>
            <a:endParaRPr sz="1200"/>
          </a:p>
        </p:txBody>
      </p:sp>
      <p:sp>
        <p:nvSpPr>
          <p:cNvPr id="552" name="Google Shape;552;g3f8c1bc5668_0_457"/>
          <p:cNvSpPr txBox="1"/>
          <p:nvPr/>
        </p:nvSpPr>
        <p:spPr>
          <a:xfrm>
            <a:off x="9410700" y="4732020"/>
            <a:ext cx="1524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66984"/>
                </a:solidFill>
                <a:latin typeface="Arial"/>
                <a:ea typeface="Arial"/>
                <a:cs typeface="Arial"/>
                <a:sym typeface="Arial"/>
              </a:rPr>
              <a:t>Controlar · backlog congelado</a:t>
            </a:r>
            <a:endParaRPr sz="1200"/>
          </a:p>
        </p:txBody>
      </p:sp>
      <p:sp>
        <p:nvSpPr>
          <p:cNvPr id="553" name="Google Shape;553;g3f8c1bc5668_0_457"/>
          <p:cNvSpPr/>
          <p:nvPr/>
        </p:nvSpPr>
        <p:spPr>
          <a:xfrm>
            <a:off x="655320" y="5471160"/>
            <a:ext cx="10934700" cy="716400"/>
          </a:xfrm>
          <a:prstGeom prst="roundRect">
            <a:avLst>
              <a:gd fmla="val 16667" name="adj"/>
            </a:avLst>
          </a:prstGeom>
          <a:solidFill>
            <a:srgbClr val="EEFCFC"/>
          </a:solidFill>
          <a:ln cap="flat" cmpd="sng" w="10575">
            <a:solidFill>
              <a:srgbClr val="A6E6E7"/>
            </a:solidFill>
            <a:prstDash val="solid"/>
            <a:round/>
            <a:headEnd len="sm" w="sm" type="none"/>
            <a:tailEnd len="sm" w="sm" type="none"/>
          </a:ln>
          <a:effectLst>
            <a:outerShdw blurRad="33333" rotWithShape="0" dir="5400000" dist="19167">
              <a:srgbClr val="000000">
                <a:alpha val="34900"/>
              </a:srgbClr>
            </a:outerShdw>
          </a:effectLst>
        </p:spPr>
        <p:txBody>
          <a:bodyPr anchorCtr="0" anchor="ctr" bIns="38075" lIns="76200" spcFirstLastPara="1" rIns="76200" wrap="square" tIns="38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f8c1bc5668_0_457"/>
          <p:cNvSpPr txBox="1"/>
          <p:nvPr/>
        </p:nvSpPr>
        <p:spPr>
          <a:xfrm>
            <a:off x="1104900" y="5760720"/>
            <a:ext cx="10020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81F49"/>
                </a:solidFill>
                <a:latin typeface="Arial"/>
                <a:ea typeface="Arial"/>
                <a:cs typeface="Arial"/>
                <a:sym typeface="Arial"/>
              </a:rPr>
              <a:t>Controles priorizados: RBAC para perfiles QA Lead/QA · credenciales fuera del código · mocks y carga CSV/JSON · alcance MVP con 2–3 fuentes iniciales.</a:t>
            </a:r>
            <a:endParaRPr sz="1200"/>
          </a:p>
        </p:txBody>
      </p:sp>
      <p:pic>
        <p:nvPicPr>
          <p:cNvPr descr="image.png" id="555" name="Google Shape;555;g3f8c1bc5668_0_4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0" y="155448"/>
            <a:ext cx="658369" cy="658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"/>
          <p:cNvSpPr/>
          <p:nvPr/>
        </p:nvSpPr>
        <p:spPr>
          <a:xfrm>
            <a:off x="530352" y="34747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D49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071D49"/>
                </a:solidFill>
                <a:latin typeface="Play"/>
                <a:ea typeface="Play"/>
                <a:cs typeface="Play"/>
                <a:sym typeface="Play"/>
              </a:rPr>
              <a:t>Objetivos del proyecto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"/>
          <p:cNvSpPr/>
          <p:nvPr/>
        </p:nvSpPr>
        <p:spPr>
          <a:xfrm>
            <a:off x="548640" y="804672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B7F"/>
                </a:solidFill>
                <a:latin typeface="Arial"/>
                <a:ea typeface="Arial"/>
                <a:cs typeface="Arial"/>
                <a:sym typeface="Arial"/>
              </a:rPr>
              <a:t>Una ruta clara para convertir el proceso QA en información accionable.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q360_work/original/ppt/media/image15.png" id="563" name="Google Shape;5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22860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5"/>
          <p:cNvSpPr/>
          <p:nvPr/>
        </p:nvSpPr>
        <p:spPr>
          <a:xfrm>
            <a:off x="566928" y="1280160"/>
            <a:ext cx="11064240" cy="1234440"/>
          </a:xfrm>
          <a:prstGeom prst="roundRect">
            <a:avLst>
              <a:gd fmla="val 5926" name="adj"/>
            </a:avLst>
          </a:prstGeom>
          <a:solidFill>
            <a:srgbClr val="071D49"/>
          </a:solidFill>
          <a:ln cap="flat" cmpd="sng" w="12700">
            <a:solidFill>
              <a:srgbClr val="071D4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5"/>
          <p:cNvSpPr/>
          <p:nvPr/>
        </p:nvSpPr>
        <p:spPr>
          <a:xfrm>
            <a:off x="868680" y="1572768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E0D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8FE0DB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"/>
          <p:cNvSpPr/>
          <p:nvPr/>
        </p:nvSpPr>
        <p:spPr>
          <a:xfrm>
            <a:off x="2395728" y="1472184"/>
            <a:ext cx="87050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Desarrollar una plataforma web para gestionar y visualizar certificaciones QA, centralizando estado, cumplimiento, riesgos e impedimentos mediante dashboards para apoyar la supervisión y la toma de decisiones.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"/>
          <p:cNvSpPr/>
          <p:nvPr/>
        </p:nvSpPr>
        <p:spPr>
          <a:xfrm>
            <a:off x="566928" y="2834640"/>
            <a:ext cx="1984248" cy="2542032"/>
          </a:xfrm>
          <a:prstGeom prst="roundRect">
            <a:avLst>
              <a:gd fmla="val 3687" name="adj"/>
            </a:avLst>
          </a:prstGeom>
          <a:solidFill>
            <a:srgbClr val="FFFFFF"/>
          </a:solidFill>
          <a:ln cap="flat" cmpd="sng" w="12700">
            <a:solidFill>
              <a:srgbClr val="D6E0E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"/>
          <p:cNvSpPr/>
          <p:nvPr/>
        </p:nvSpPr>
        <p:spPr>
          <a:xfrm>
            <a:off x="1225296" y="3090672"/>
            <a:ext cx="658368" cy="658368"/>
          </a:xfrm>
          <a:prstGeom prst="ellipse">
            <a:avLst/>
          </a:prstGeom>
          <a:solidFill>
            <a:srgbClr val="1167C7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5"/>
          <p:cNvSpPr/>
          <p:nvPr/>
        </p:nvSpPr>
        <p:spPr>
          <a:xfrm>
            <a:off x="1225296" y="32735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5"/>
          <p:cNvSpPr/>
          <p:nvPr/>
        </p:nvSpPr>
        <p:spPr>
          <a:xfrm>
            <a:off x="749808" y="4005072"/>
            <a:ext cx="1618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D4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1D49"/>
                </a:solidFill>
                <a:latin typeface="Arial"/>
                <a:ea typeface="Arial"/>
                <a:cs typeface="Arial"/>
                <a:sym typeface="Arial"/>
              </a:rPr>
              <a:t>ANALIZAR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5"/>
          <p:cNvSpPr/>
          <p:nvPr/>
        </p:nvSpPr>
        <p:spPr>
          <a:xfrm>
            <a:off x="768096" y="4425696"/>
            <a:ext cx="15819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Proceso, actores, estados, evidencias, riesgos e impedimentos.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5"/>
          <p:cNvSpPr/>
          <p:nvPr/>
        </p:nvSpPr>
        <p:spPr>
          <a:xfrm>
            <a:off x="2788920" y="2834640"/>
            <a:ext cx="1984248" cy="2542032"/>
          </a:xfrm>
          <a:prstGeom prst="roundRect">
            <a:avLst>
              <a:gd fmla="val 3687" name="adj"/>
            </a:avLst>
          </a:prstGeom>
          <a:solidFill>
            <a:srgbClr val="F1FBFA"/>
          </a:solidFill>
          <a:ln cap="flat" cmpd="sng" w="12700">
            <a:solidFill>
              <a:srgbClr val="BCE8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"/>
          <p:cNvSpPr/>
          <p:nvPr/>
        </p:nvSpPr>
        <p:spPr>
          <a:xfrm>
            <a:off x="3447288" y="3090672"/>
            <a:ext cx="658368" cy="658368"/>
          </a:xfrm>
          <a:prstGeom prst="ellipse">
            <a:avLst/>
          </a:prstGeom>
          <a:solidFill>
            <a:srgbClr val="1167C7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5"/>
          <p:cNvSpPr/>
          <p:nvPr/>
        </p:nvSpPr>
        <p:spPr>
          <a:xfrm>
            <a:off x="3447288" y="32735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5"/>
          <p:cNvSpPr/>
          <p:nvPr/>
        </p:nvSpPr>
        <p:spPr>
          <a:xfrm>
            <a:off x="2971800" y="4005072"/>
            <a:ext cx="1618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D4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1D49"/>
                </a:solidFill>
                <a:latin typeface="Arial"/>
                <a:ea typeface="Arial"/>
                <a:cs typeface="Arial"/>
                <a:sym typeface="Arial"/>
              </a:rPr>
              <a:t>GESTIONAR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5"/>
          <p:cNvSpPr/>
          <p:nvPr/>
        </p:nvSpPr>
        <p:spPr>
          <a:xfrm>
            <a:off x="2990088" y="4425696"/>
            <a:ext cx="15819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Historias de Usuario y responsables.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5"/>
          <p:cNvSpPr/>
          <p:nvPr/>
        </p:nvSpPr>
        <p:spPr>
          <a:xfrm>
            <a:off x="5010912" y="2834640"/>
            <a:ext cx="1984248" cy="2542032"/>
          </a:xfrm>
          <a:prstGeom prst="roundRect">
            <a:avLst>
              <a:gd fmla="val 3687" name="adj"/>
            </a:avLst>
          </a:prstGeom>
          <a:solidFill>
            <a:srgbClr val="FFFFFF"/>
          </a:solidFill>
          <a:ln cap="flat" cmpd="sng" w="12700">
            <a:solidFill>
              <a:srgbClr val="D6E0E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"/>
          <p:cNvSpPr/>
          <p:nvPr/>
        </p:nvSpPr>
        <p:spPr>
          <a:xfrm>
            <a:off x="5669280" y="3090672"/>
            <a:ext cx="658368" cy="658368"/>
          </a:xfrm>
          <a:prstGeom prst="ellipse">
            <a:avLst/>
          </a:prstGeom>
          <a:solidFill>
            <a:srgbClr val="1167C7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5"/>
          <p:cNvSpPr/>
          <p:nvPr/>
        </p:nvSpPr>
        <p:spPr>
          <a:xfrm>
            <a:off x="5669280" y="32735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5"/>
          <p:cNvSpPr/>
          <p:nvPr/>
        </p:nvSpPr>
        <p:spPr>
          <a:xfrm>
            <a:off x="5193792" y="4005072"/>
            <a:ext cx="1618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D4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1D49"/>
                </a:solidFill>
                <a:latin typeface="Arial"/>
                <a:ea typeface="Arial"/>
                <a:cs typeface="Arial"/>
                <a:sym typeface="Arial"/>
              </a:rPr>
              <a:t>SEGUIR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5"/>
          <p:cNvSpPr/>
          <p:nvPr/>
        </p:nvSpPr>
        <p:spPr>
          <a:xfrm>
            <a:off x="5212080" y="4425696"/>
            <a:ext cx="15819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Cumplimiento de actividades de certificación.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5"/>
          <p:cNvSpPr/>
          <p:nvPr/>
        </p:nvSpPr>
        <p:spPr>
          <a:xfrm>
            <a:off x="7232904" y="2834640"/>
            <a:ext cx="1984248" cy="2542032"/>
          </a:xfrm>
          <a:prstGeom prst="roundRect">
            <a:avLst>
              <a:gd fmla="val 3687" name="adj"/>
            </a:avLst>
          </a:prstGeom>
          <a:solidFill>
            <a:srgbClr val="F1FBFA"/>
          </a:solidFill>
          <a:ln cap="flat" cmpd="sng" w="12700">
            <a:solidFill>
              <a:srgbClr val="BCE8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"/>
          <p:cNvSpPr/>
          <p:nvPr/>
        </p:nvSpPr>
        <p:spPr>
          <a:xfrm>
            <a:off x="7891272" y="3090672"/>
            <a:ext cx="658368" cy="658368"/>
          </a:xfrm>
          <a:prstGeom prst="ellipse">
            <a:avLst/>
          </a:prstGeom>
          <a:solidFill>
            <a:srgbClr val="18B7B1"/>
          </a:solidFill>
          <a:ln cap="flat" cmpd="sng" w="127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5"/>
          <p:cNvSpPr/>
          <p:nvPr/>
        </p:nvSpPr>
        <p:spPr>
          <a:xfrm>
            <a:off x="7891272" y="32735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5"/>
          <p:cNvSpPr/>
          <p:nvPr/>
        </p:nvSpPr>
        <p:spPr>
          <a:xfrm>
            <a:off x="7415784" y="4005072"/>
            <a:ext cx="1618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D4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1D49"/>
                </a:solidFill>
                <a:latin typeface="Arial"/>
                <a:ea typeface="Arial"/>
                <a:cs typeface="Arial"/>
                <a:sym typeface="Arial"/>
              </a:rPr>
              <a:t>VISUALIZAR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5"/>
          <p:cNvSpPr/>
          <p:nvPr/>
        </p:nvSpPr>
        <p:spPr>
          <a:xfrm>
            <a:off x="7434072" y="4425696"/>
            <a:ext cx="15819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Avance, riesgos, impedimentos y carga de trabajo.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5"/>
          <p:cNvSpPr/>
          <p:nvPr/>
        </p:nvSpPr>
        <p:spPr>
          <a:xfrm>
            <a:off x="9454896" y="2834640"/>
            <a:ext cx="1984248" cy="2542032"/>
          </a:xfrm>
          <a:prstGeom prst="roundRect">
            <a:avLst>
              <a:gd fmla="val 3687" name="adj"/>
            </a:avLst>
          </a:prstGeom>
          <a:solidFill>
            <a:srgbClr val="FFFFFF"/>
          </a:solidFill>
          <a:ln cap="flat" cmpd="sng" w="12700">
            <a:solidFill>
              <a:srgbClr val="D6E0E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"/>
          <p:cNvSpPr/>
          <p:nvPr/>
        </p:nvSpPr>
        <p:spPr>
          <a:xfrm>
            <a:off x="10113264" y="3090672"/>
            <a:ext cx="658368" cy="658368"/>
          </a:xfrm>
          <a:prstGeom prst="ellipse">
            <a:avLst/>
          </a:prstGeom>
          <a:solidFill>
            <a:srgbClr val="18B7B1"/>
          </a:solidFill>
          <a:ln cap="flat" cmpd="sng" w="127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5"/>
          <p:cNvSpPr/>
          <p:nvPr/>
        </p:nvSpPr>
        <p:spPr>
          <a:xfrm>
            <a:off x="10113264" y="32735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5"/>
          <p:cNvSpPr/>
          <p:nvPr/>
        </p:nvSpPr>
        <p:spPr>
          <a:xfrm>
            <a:off x="9637776" y="4005072"/>
            <a:ext cx="1618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D4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1D49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5"/>
          <p:cNvSpPr/>
          <p:nvPr/>
        </p:nvSpPr>
        <p:spPr>
          <a:xfrm>
            <a:off x="9656064" y="4425696"/>
            <a:ext cx="15819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Pruebas funcionales con datos simulados o anonimizados.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5"/>
          <p:cNvSpPr/>
          <p:nvPr/>
        </p:nvSpPr>
        <p:spPr>
          <a:xfrm>
            <a:off x="1463040" y="5724144"/>
            <a:ext cx="9235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67C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167C7"/>
                </a:solidFill>
                <a:latin typeface="Arial"/>
                <a:ea typeface="Arial"/>
                <a:cs typeface="Arial"/>
                <a:sym typeface="Arial"/>
              </a:rPr>
              <a:t>Resultado esperado: trazabilidad del proceso + indicadores claros + foco en intervención temprana.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"/>
          <p:cNvSpPr txBox="1"/>
          <p:nvPr>
            <p:ph idx="4294967295" type="sldNum"/>
          </p:nvPr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4E607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pic>
        <p:nvPicPr>
          <p:cNvPr id="594" name="Google Shape;59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8"/>
          <p:cNvSpPr/>
          <p:nvPr/>
        </p:nvSpPr>
        <p:spPr>
          <a:xfrm>
            <a:off x="530352" y="34747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D49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071D49"/>
                </a:solidFill>
                <a:latin typeface="Play"/>
                <a:ea typeface="Play"/>
                <a:cs typeface="Play"/>
                <a:sym typeface="Play"/>
              </a:rPr>
              <a:t>Prototipo funcional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8"/>
          <p:cNvSpPr/>
          <p:nvPr/>
        </p:nvSpPr>
        <p:spPr>
          <a:xfrm>
            <a:off x="548640" y="804672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B7F"/>
                </a:solidFill>
                <a:latin typeface="Arial"/>
                <a:ea typeface="Arial"/>
                <a:cs typeface="Arial"/>
                <a:sym typeface="Arial"/>
              </a:rPr>
              <a:t>Vista Quality Engineer: monitoreo consolidado para intervenir donde más importa.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q360_work/original/ppt/media/image15.png" id="602" name="Google Shape;6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22860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8"/>
          <p:cNvSpPr/>
          <p:nvPr/>
        </p:nvSpPr>
        <p:spPr>
          <a:xfrm>
            <a:off x="548640" y="1225296"/>
            <a:ext cx="8458200" cy="5166360"/>
          </a:xfrm>
          <a:prstGeom prst="roundRect">
            <a:avLst>
              <a:gd fmla="val 1416" name="adj"/>
            </a:avLst>
          </a:prstGeom>
          <a:solidFill>
            <a:srgbClr val="FFFFFF"/>
          </a:solidFill>
          <a:ln cap="flat" cmpd="sng" w="12700">
            <a:solidFill>
              <a:srgbClr val="CFDA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q360_work/original/ppt/media/image16.png" id="604" name="Google Shape;60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2313" y="1426464"/>
            <a:ext cx="7259997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8"/>
          <p:cNvSpPr/>
          <p:nvPr/>
        </p:nvSpPr>
        <p:spPr>
          <a:xfrm>
            <a:off x="9235440" y="1225296"/>
            <a:ext cx="2395728" cy="5166360"/>
          </a:xfrm>
          <a:prstGeom prst="roundRect">
            <a:avLst>
              <a:gd fmla="val 3053" name="adj"/>
            </a:avLst>
          </a:prstGeom>
          <a:solidFill>
            <a:srgbClr val="071D49"/>
          </a:solidFill>
          <a:ln cap="flat" cmpd="sng" w="12700">
            <a:solidFill>
              <a:srgbClr val="071D4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8"/>
          <p:cNvSpPr/>
          <p:nvPr/>
        </p:nvSpPr>
        <p:spPr>
          <a:xfrm>
            <a:off x="9756648" y="1572768"/>
            <a:ext cx="1335024" cy="274320"/>
          </a:xfrm>
          <a:prstGeom prst="roundRect">
            <a:avLst>
              <a:gd fmla="val 40000" name="adj"/>
            </a:avLst>
          </a:prstGeom>
          <a:solidFill>
            <a:srgbClr val="18B7B1"/>
          </a:solidFill>
          <a:ln cap="flat" cmpd="sng" w="127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8"/>
          <p:cNvSpPr/>
          <p:nvPr/>
        </p:nvSpPr>
        <p:spPr>
          <a:xfrm>
            <a:off x="9829800" y="1618488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VISTA QE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8"/>
          <p:cNvSpPr/>
          <p:nvPr/>
        </p:nvSpPr>
        <p:spPr>
          <a:xfrm>
            <a:off x="9528048" y="2194560"/>
            <a:ext cx="181051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permite visualizar?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8"/>
          <p:cNvSpPr/>
          <p:nvPr/>
        </p:nvSpPr>
        <p:spPr>
          <a:xfrm>
            <a:off x="9509760" y="2907792"/>
            <a:ext cx="219456" cy="219456"/>
          </a:xfrm>
          <a:prstGeom prst="ellipse">
            <a:avLst/>
          </a:prstGeom>
          <a:solidFill>
            <a:srgbClr val="18B7B1"/>
          </a:solidFill>
          <a:ln cap="flat" cmpd="sng" w="127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8"/>
          <p:cNvSpPr/>
          <p:nvPr/>
        </p:nvSpPr>
        <p:spPr>
          <a:xfrm>
            <a:off x="9866376" y="283464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 global de HU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8"/>
          <p:cNvSpPr/>
          <p:nvPr/>
        </p:nvSpPr>
        <p:spPr>
          <a:xfrm>
            <a:off x="9509760" y="3566160"/>
            <a:ext cx="219456" cy="219456"/>
          </a:xfrm>
          <a:prstGeom prst="ellipse">
            <a:avLst/>
          </a:prstGeom>
          <a:solidFill>
            <a:srgbClr val="18B7B1"/>
          </a:solidFill>
          <a:ln cap="flat" cmpd="sng" w="127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8"/>
          <p:cNvSpPr/>
          <p:nvPr/>
        </p:nvSpPr>
        <p:spPr>
          <a:xfrm>
            <a:off x="9866376" y="3493008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Avance y cumplimiento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8"/>
          <p:cNvSpPr/>
          <p:nvPr/>
        </p:nvSpPr>
        <p:spPr>
          <a:xfrm>
            <a:off x="9509760" y="4224528"/>
            <a:ext cx="219456" cy="219456"/>
          </a:xfrm>
          <a:prstGeom prst="ellipse">
            <a:avLst/>
          </a:prstGeom>
          <a:solidFill>
            <a:srgbClr val="18B7B1"/>
          </a:solidFill>
          <a:ln cap="flat" cmpd="sng" w="127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8"/>
          <p:cNvSpPr/>
          <p:nvPr/>
        </p:nvSpPr>
        <p:spPr>
          <a:xfrm>
            <a:off x="9866376" y="4151376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Riesgos e impedimentos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8"/>
          <p:cNvSpPr/>
          <p:nvPr/>
        </p:nvSpPr>
        <p:spPr>
          <a:xfrm>
            <a:off x="9509760" y="4882896"/>
            <a:ext cx="219456" cy="219456"/>
          </a:xfrm>
          <a:prstGeom prst="ellipse">
            <a:avLst/>
          </a:prstGeom>
          <a:solidFill>
            <a:srgbClr val="18B7B1"/>
          </a:solidFill>
          <a:ln cap="flat" cmpd="sng" w="127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8"/>
          <p:cNvSpPr/>
          <p:nvPr/>
        </p:nvSpPr>
        <p:spPr>
          <a:xfrm>
            <a:off x="9866376" y="4809744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Puntos de intervención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8"/>
          <p:cNvSpPr/>
          <p:nvPr/>
        </p:nvSpPr>
        <p:spPr>
          <a:xfrm>
            <a:off x="9491472" y="5687568"/>
            <a:ext cx="186537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EDEA"/>
              </a:buClr>
              <a:buSzPts val="1200"/>
              <a:buFont typeface="Arial"/>
              <a:buNone/>
            </a:pPr>
            <a:r>
              <a:rPr b="1" i="1" lang="en-US" sz="1200">
                <a:solidFill>
                  <a:srgbClr val="BFEDEA"/>
                </a:solidFill>
                <a:latin typeface="Arial"/>
                <a:ea typeface="Arial"/>
                <a:cs typeface="Arial"/>
                <a:sym typeface="Arial"/>
              </a:rPr>
              <a:t>Una sola vista para priorizar la gestión diaria.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8"/>
          <p:cNvSpPr txBox="1"/>
          <p:nvPr>
            <p:ph idx="4294967295" type="sldNum"/>
          </p:nvPr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4E607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9"/>
          <p:cNvSpPr/>
          <p:nvPr/>
        </p:nvSpPr>
        <p:spPr>
          <a:xfrm>
            <a:off x="530352" y="34747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D49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071D49"/>
                </a:solidFill>
                <a:latin typeface="Play"/>
                <a:ea typeface="Play"/>
                <a:cs typeface="Play"/>
                <a:sym typeface="Play"/>
              </a:rPr>
              <a:t>Prototipo funcional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9"/>
          <p:cNvSpPr/>
          <p:nvPr/>
        </p:nvSpPr>
        <p:spPr>
          <a:xfrm>
            <a:off x="548640" y="804672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B7F"/>
                </a:solidFill>
                <a:latin typeface="Arial"/>
                <a:ea typeface="Arial"/>
                <a:cs typeface="Arial"/>
                <a:sym typeface="Arial"/>
              </a:rPr>
              <a:t>Vista Analista QA: foco en ejecución, evidencias y avance de cada certificación.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q360_work/original/ppt/media/image15.png" id="626" name="Google Shape;6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22860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9"/>
          <p:cNvSpPr/>
          <p:nvPr/>
        </p:nvSpPr>
        <p:spPr>
          <a:xfrm>
            <a:off x="548640" y="1225296"/>
            <a:ext cx="8458200" cy="5166360"/>
          </a:xfrm>
          <a:prstGeom prst="roundRect">
            <a:avLst>
              <a:gd fmla="val 1416" name="adj"/>
            </a:avLst>
          </a:prstGeom>
          <a:solidFill>
            <a:srgbClr val="FFFFFF"/>
          </a:solidFill>
          <a:ln cap="flat" cmpd="sng" w="12700">
            <a:solidFill>
              <a:srgbClr val="CFDA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q360_work/original/ppt/media/image17.png" id="628" name="Google Shape;62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6423" y="1426464"/>
            <a:ext cx="6911778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9"/>
          <p:cNvSpPr/>
          <p:nvPr/>
        </p:nvSpPr>
        <p:spPr>
          <a:xfrm>
            <a:off x="9235440" y="1225296"/>
            <a:ext cx="2395728" cy="5166360"/>
          </a:xfrm>
          <a:prstGeom prst="roundRect">
            <a:avLst>
              <a:gd fmla="val 3053" name="adj"/>
            </a:avLst>
          </a:prstGeom>
          <a:solidFill>
            <a:srgbClr val="E9FAF8"/>
          </a:solidFill>
          <a:ln cap="flat" cmpd="sng" w="12700">
            <a:solidFill>
              <a:srgbClr val="BCE8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9"/>
          <p:cNvSpPr/>
          <p:nvPr/>
        </p:nvSpPr>
        <p:spPr>
          <a:xfrm>
            <a:off x="9756648" y="1572768"/>
            <a:ext cx="1335024" cy="274320"/>
          </a:xfrm>
          <a:prstGeom prst="roundRect">
            <a:avLst>
              <a:gd fmla="val 40000" name="adj"/>
            </a:avLst>
          </a:prstGeom>
          <a:solidFill>
            <a:srgbClr val="1167C7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9"/>
          <p:cNvSpPr/>
          <p:nvPr/>
        </p:nvSpPr>
        <p:spPr>
          <a:xfrm>
            <a:off x="9829800" y="1618488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VISTA QA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9"/>
          <p:cNvSpPr/>
          <p:nvPr/>
        </p:nvSpPr>
        <p:spPr>
          <a:xfrm>
            <a:off x="9528048" y="219456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D49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71D49"/>
                </a:solidFill>
                <a:latin typeface="Arial"/>
                <a:ea typeface="Arial"/>
                <a:cs typeface="Arial"/>
                <a:sym typeface="Arial"/>
              </a:rPr>
              <a:t>Foco operativo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9"/>
          <p:cNvSpPr/>
          <p:nvPr/>
        </p:nvSpPr>
        <p:spPr>
          <a:xfrm>
            <a:off x="9509760" y="2907792"/>
            <a:ext cx="219456" cy="219456"/>
          </a:xfrm>
          <a:prstGeom prst="ellipse">
            <a:avLst/>
          </a:prstGeom>
          <a:solidFill>
            <a:srgbClr val="1167C7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9"/>
          <p:cNvSpPr/>
          <p:nvPr/>
        </p:nvSpPr>
        <p:spPr>
          <a:xfrm>
            <a:off x="9866376" y="283464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Historias asignadas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9"/>
          <p:cNvSpPr/>
          <p:nvPr/>
        </p:nvSpPr>
        <p:spPr>
          <a:xfrm>
            <a:off x="9509760" y="3566160"/>
            <a:ext cx="219456" cy="219456"/>
          </a:xfrm>
          <a:prstGeom prst="ellipse">
            <a:avLst/>
          </a:prstGeom>
          <a:solidFill>
            <a:srgbClr val="1167C7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9"/>
          <p:cNvSpPr/>
          <p:nvPr/>
        </p:nvSpPr>
        <p:spPr>
          <a:xfrm>
            <a:off x="9866376" y="3493008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Detalle de la certificación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9"/>
          <p:cNvSpPr/>
          <p:nvPr/>
        </p:nvSpPr>
        <p:spPr>
          <a:xfrm>
            <a:off x="9509760" y="4224528"/>
            <a:ext cx="219456" cy="219456"/>
          </a:xfrm>
          <a:prstGeom prst="ellipse">
            <a:avLst/>
          </a:prstGeom>
          <a:solidFill>
            <a:srgbClr val="1167C7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9"/>
          <p:cNvSpPr/>
          <p:nvPr/>
        </p:nvSpPr>
        <p:spPr>
          <a:xfrm>
            <a:off x="9866376" y="4151376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Checklist de actividades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9"/>
          <p:cNvSpPr/>
          <p:nvPr/>
        </p:nvSpPr>
        <p:spPr>
          <a:xfrm>
            <a:off x="9509760" y="4882896"/>
            <a:ext cx="219456" cy="219456"/>
          </a:xfrm>
          <a:prstGeom prst="ellipse">
            <a:avLst/>
          </a:prstGeom>
          <a:solidFill>
            <a:srgbClr val="1167C7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9"/>
          <p:cNvSpPr/>
          <p:nvPr/>
        </p:nvSpPr>
        <p:spPr>
          <a:xfrm>
            <a:off x="9866376" y="4809744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8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D1833"/>
                </a:solidFill>
                <a:latin typeface="Arial"/>
                <a:ea typeface="Arial"/>
                <a:cs typeface="Arial"/>
                <a:sym typeface="Arial"/>
              </a:rPr>
              <a:t>Registro centralizado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9"/>
          <p:cNvSpPr/>
          <p:nvPr/>
        </p:nvSpPr>
        <p:spPr>
          <a:xfrm>
            <a:off x="9491472" y="5687568"/>
            <a:ext cx="186537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67C7"/>
              </a:buClr>
              <a:buSzPts val="1200"/>
              <a:buFont typeface="Arial"/>
              <a:buNone/>
            </a:pPr>
            <a:r>
              <a:rPr b="1" i="1" lang="en-US" sz="1200">
                <a:solidFill>
                  <a:srgbClr val="1167C7"/>
                </a:solidFill>
                <a:latin typeface="Arial"/>
                <a:ea typeface="Arial"/>
                <a:cs typeface="Arial"/>
                <a:sym typeface="Arial"/>
              </a:rPr>
              <a:t>Trazabilidad desde la asignación hasta el cierre.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9"/>
          <p:cNvSpPr txBox="1"/>
          <p:nvPr>
            <p:ph idx="4294967295" type="sldNum"/>
          </p:nvPr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4E607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D49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q360_work/original/ppt/media/image15.png" id="648" name="Google Shape;6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8092" y="438912"/>
            <a:ext cx="16002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10"/>
          <p:cNvSpPr/>
          <p:nvPr/>
        </p:nvSpPr>
        <p:spPr>
          <a:xfrm>
            <a:off x="3017520" y="2267712"/>
            <a:ext cx="61813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Play"/>
              <a:buNone/>
            </a:pPr>
            <a:r>
              <a:rPr b="1" lang="en-US" sz="3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Quality360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0"/>
          <p:cNvSpPr/>
          <p:nvPr/>
        </p:nvSpPr>
        <p:spPr>
          <a:xfrm>
            <a:off x="2468880" y="3017520"/>
            <a:ext cx="7269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EDEA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BFEDEA"/>
                </a:solidFill>
                <a:latin typeface="Arial"/>
                <a:ea typeface="Arial"/>
                <a:cs typeface="Arial"/>
                <a:sym typeface="Arial"/>
              </a:rPr>
              <a:t>Una visión integral para decidir mejor en QA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0"/>
          <p:cNvSpPr/>
          <p:nvPr/>
        </p:nvSpPr>
        <p:spPr>
          <a:xfrm>
            <a:off x="1051560" y="3840480"/>
            <a:ext cx="2057400" cy="1005840"/>
          </a:xfrm>
          <a:prstGeom prst="roundRect">
            <a:avLst>
              <a:gd fmla="val 7273" name="adj"/>
            </a:avLst>
          </a:prstGeom>
          <a:solidFill>
            <a:srgbClr val="1167C7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0"/>
          <p:cNvSpPr/>
          <p:nvPr/>
        </p:nvSpPr>
        <p:spPr>
          <a:xfrm>
            <a:off x="1161288" y="4078224"/>
            <a:ext cx="1837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CENTRALIZAR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0"/>
          <p:cNvSpPr/>
          <p:nvPr/>
        </p:nvSpPr>
        <p:spPr>
          <a:xfrm>
            <a:off x="1161288" y="4407408"/>
            <a:ext cx="18379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5F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F5FA"/>
                </a:solidFill>
                <a:latin typeface="Arial"/>
                <a:ea typeface="Arial"/>
                <a:cs typeface="Arial"/>
                <a:sym typeface="Arial"/>
              </a:rPr>
              <a:t>Información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0"/>
          <p:cNvSpPr/>
          <p:nvPr/>
        </p:nvSpPr>
        <p:spPr>
          <a:xfrm>
            <a:off x="3813048" y="3840480"/>
            <a:ext cx="2057400" cy="1005840"/>
          </a:xfrm>
          <a:prstGeom prst="roundRect">
            <a:avLst>
              <a:gd fmla="val 7273" name="adj"/>
            </a:avLst>
          </a:prstGeom>
          <a:solidFill>
            <a:srgbClr val="18B7B1"/>
          </a:solidFill>
          <a:ln cap="flat" cmpd="sng" w="127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0"/>
          <p:cNvSpPr/>
          <p:nvPr/>
        </p:nvSpPr>
        <p:spPr>
          <a:xfrm>
            <a:off x="3922776" y="4078224"/>
            <a:ext cx="1837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VISUALIZAR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0"/>
          <p:cNvSpPr/>
          <p:nvPr/>
        </p:nvSpPr>
        <p:spPr>
          <a:xfrm>
            <a:off x="3922776" y="4407408"/>
            <a:ext cx="18379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5F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F5FA"/>
                </a:solidFill>
                <a:latin typeface="Arial"/>
                <a:ea typeface="Arial"/>
                <a:cs typeface="Arial"/>
                <a:sym typeface="Arial"/>
              </a:rPr>
              <a:t>Cumplimiento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0"/>
          <p:cNvSpPr/>
          <p:nvPr/>
        </p:nvSpPr>
        <p:spPr>
          <a:xfrm>
            <a:off x="6574536" y="3840480"/>
            <a:ext cx="2057400" cy="1005840"/>
          </a:xfrm>
          <a:prstGeom prst="roundRect">
            <a:avLst>
              <a:gd fmla="val 7273" name="adj"/>
            </a:avLst>
          </a:prstGeom>
          <a:solidFill>
            <a:srgbClr val="1167C7"/>
          </a:solidFill>
          <a:ln cap="flat" cmpd="sng" w="12700">
            <a:solidFill>
              <a:srgbClr val="116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0"/>
          <p:cNvSpPr/>
          <p:nvPr/>
        </p:nvSpPr>
        <p:spPr>
          <a:xfrm>
            <a:off x="6684264" y="4078224"/>
            <a:ext cx="1837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ANTICIPAR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0"/>
          <p:cNvSpPr/>
          <p:nvPr/>
        </p:nvSpPr>
        <p:spPr>
          <a:xfrm>
            <a:off x="6684264" y="4407408"/>
            <a:ext cx="18379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5F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F5FA"/>
                </a:solidFill>
                <a:latin typeface="Arial"/>
                <a:ea typeface="Arial"/>
                <a:cs typeface="Arial"/>
                <a:sym typeface="Arial"/>
              </a:rPr>
              <a:t>Riesgos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0"/>
          <p:cNvSpPr/>
          <p:nvPr/>
        </p:nvSpPr>
        <p:spPr>
          <a:xfrm>
            <a:off x="9336024" y="3840480"/>
            <a:ext cx="2057400" cy="1005840"/>
          </a:xfrm>
          <a:prstGeom prst="roundRect">
            <a:avLst>
              <a:gd fmla="val 7273" name="adj"/>
            </a:avLst>
          </a:prstGeom>
          <a:solidFill>
            <a:srgbClr val="18B7B1"/>
          </a:solidFill>
          <a:ln cap="flat" cmpd="sng" w="12700">
            <a:solidFill>
              <a:srgbClr val="18B7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0"/>
          <p:cNvSpPr/>
          <p:nvPr/>
        </p:nvSpPr>
        <p:spPr>
          <a:xfrm>
            <a:off x="9445752" y="4078224"/>
            <a:ext cx="1837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PRIORIZAR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0"/>
          <p:cNvSpPr/>
          <p:nvPr/>
        </p:nvSpPr>
        <p:spPr>
          <a:xfrm>
            <a:off x="9445752" y="4407408"/>
            <a:ext cx="18379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5F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F5FA"/>
                </a:solidFill>
                <a:latin typeface="Arial"/>
                <a:ea typeface="Arial"/>
                <a:cs typeface="Arial"/>
                <a:sym typeface="Arial"/>
              </a:rPr>
              <a:t>Acciones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0"/>
          <p:cNvSpPr/>
          <p:nvPr/>
        </p:nvSpPr>
        <p:spPr>
          <a:xfrm>
            <a:off x="1965960" y="5413248"/>
            <a:ext cx="8275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Próximo foco: completar la implementación incremental y validar la solución mediante pruebas funcionales.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0"/>
          <p:cNvSpPr/>
          <p:nvPr/>
        </p:nvSpPr>
        <p:spPr>
          <a:xfrm>
            <a:off x="4846320" y="6144768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E0D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8FE0DB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2026-08-28T04:37:52Z</dcterms:created>
  <dc:creator>Jose Seguel H.</dc:creator>
</cp:coreProperties>
</file>