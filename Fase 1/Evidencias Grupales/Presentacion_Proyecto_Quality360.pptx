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7" r:id="rId3"/>
    <p:sldId id="260" r:id="rId4"/>
    <p:sldId id="258" r:id="rId5"/>
    <p:sldId id="266" r:id="rId6"/>
    <p:sldId id="259" r:id="rId7"/>
    <p:sldId id="265" r:id="rId8"/>
    <p:sldId id="261" r:id="rId9"/>
    <p:sldId id="262" r:id="rId10"/>
    <p:sldId id="26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92CB36-3B1B-48EB-8D1F-F92FABE0681C}" type="datetimeFigureOut">
              <a:t>04-09-2026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772342-F4D2-49E4-8A06-CA8FC4F248DC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88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Logotipo y contenido: material proporcionado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actualizado: énfasis en el problema de fragmentación, impacto operativo en el QE y reemplazo de Zephyr por registros QA para evitar confusión con herramientas no implementadas.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Contenido: presentación original proporcionada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Contenido: presentación original proporcionada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Contenido: presentación original proporcionada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Captura del prototipo y contenido: material proporcionado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Captura del prototipo y contenido: material proporcionado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Contenido: síntesis basada en la presentación original proporcionada por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96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Quality360 · Capstone Grupo 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071D49"/>
          </a:solidFill>
          <a:ln w="12700">
            <a:solidFill>
              <a:srgbClr val="071D4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228600" y="5440680"/>
            <a:ext cx="960120" cy="960120"/>
          </a:xfrm>
          <a:prstGeom prst="ellipse">
            <a:avLst/>
          </a:prstGeom>
          <a:solidFill>
            <a:srgbClr val="18B7B1">
              <a:alpha val="90000"/>
            </a:srgbClr>
          </a:solidFill>
          <a:ln w="12700">
            <a:solidFill>
              <a:srgbClr val="18B7B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66928" y="530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BFEDEA"/>
                </a:solidFill>
              </a:rPr>
              <a:t>CAPSTONE · GRUPO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Quality360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85216" y="2084832"/>
            <a:ext cx="36118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DCEAF5"/>
                </a:solidFill>
              </a:rPr>
              <a:t>Gestión integral de certificaciones QA para la toma de decisiones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5216" y="3364992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</a:rPr>
              <a:t>De datos dispersos a una visión clara, accionable y oportuna.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5216" y="5084064"/>
            <a:ext cx="2139696" cy="274320"/>
          </a:xfrm>
          <a:prstGeom prst="roundRect">
            <a:avLst>
              <a:gd name="adj" fmla="val 40000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658368" y="5129784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PRESENTACIÓN PRELIMINAR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274984" y="5838444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C000"/>
                </a:solidFill>
              </a:rPr>
              <a:t>Grupo 8: </a:t>
            </a:r>
            <a:br>
              <a:rPr lang="en-US" sz="1050" b="1" dirty="0">
                <a:solidFill>
                  <a:srgbClr val="FFC000"/>
                </a:solidFill>
              </a:rPr>
            </a:br>
            <a:r>
              <a:rPr lang="en-US" sz="1050" b="1" dirty="0">
                <a:solidFill>
                  <a:srgbClr val="FFC000"/>
                </a:solidFill>
              </a:rPr>
              <a:t>José Seguel · Jonathan Choque · Matías Araos</a:t>
            </a:r>
          </a:p>
        </p:txBody>
      </p:sp>
      <p:pic>
        <p:nvPicPr>
          <p:cNvPr id="11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713232"/>
            <a:ext cx="4754880" cy="4754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06440" y="580644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10" dirty="0">
                <a:solidFill>
                  <a:srgbClr val="1167C7"/>
                </a:solidFill>
              </a:rPr>
              <a:t>CALIDAD · VISIBILIDAD · ANÁLISIS · IMPACTO</a:t>
            </a:r>
            <a:endParaRPr lang="en-US" sz="95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A114F9B-D44D-2B25-D251-54DDC1A251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33" y="858328"/>
            <a:ext cx="8120059" cy="514997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94A3B4ED-27A7-1C44-108B-CDF8F517D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33" y="858328"/>
            <a:ext cx="8120059" cy="51499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9B8B2"/>
          </a:solidFill>
          <a:ln w="12700">
            <a:solidFill>
              <a:srgbClr val="19B8B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029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 y problema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886968"/>
            <a:ext cx="75895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F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no es generar más datos, sino convertir el seguimiento operativo en visibilidad de gestión.</a:t>
            </a:r>
            <a:endParaRPr lang="en-US" sz="1150" dirty="0"/>
          </a:p>
        </p:txBody>
      </p:sp>
      <p:pic>
        <p:nvPicPr>
          <p:cNvPr id="5" name="Image 0" descr="/mnt/data/logo_corporativo_quality360_en_azul_y_turque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37744"/>
            <a:ext cx="630936" cy="6309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53312"/>
            <a:ext cx="6839712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813816" y="1609344"/>
            <a:ext cx="1463040" cy="283464"/>
          </a:xfrm>
          <a:prstGeom prst="roundRect">
            <a:avLst>
              <a:gd name="adj" fmla="val 25806"/>
            </a:avLst>
          </a:prstGeom>
          <a:solidFill>
            <a:srgbClr val="1668C9"/>
          </a:solidFill>
          <a:ln w="12700">
            <a:solidFill>
              <a:srgbClr val="1668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13816" y="1613916"/>
            <a:ext cx="1463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ACTUAL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841248" y="2176272"/>
            <a:ext cx="393192" cy="393192"/>
          </a:xfrm>
          <a:prstGeom prst="ellipse">
            <a:avLst/>
          </a:prstGeom>
          <a:solidFill>
            <a:srgbClr val="1668C9"/>
          </a:solidFill>
          <a:ln w="12700">
            <a:solidFill>
              <a:srgbClr val="1668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841248" y="2194560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353312" y="2203704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60" dirty="0"/>
          </a:p>
        </p:txBody>
      </p:sp>
      <p:sp>
        <p:nvSpPr>
          <p:cNvPr id="12" name="Shape 9"/>
          <p:cNvSpPr/>
          <p:nvPr/>
        </p:nvSpPr>
        <p:spPr>
          <a:xfrm>
            <a:off x="2944368" y="2176272"/>
            <a:ext cx="393192" cy="393192"/>
          </a:xfrm>
          <a:prstGeom prst="ellipse">
            <a:avLst/>
          </a:prstGeom>
          <a:solidFill>
            <a:srgbClr val="1668C9"/>
          </a:solidFill>
          <a:ln w="12700">
            <a:solidFill>
              <a:srgbClr val="1668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2944368" y="2194560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456432" y="2203704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prueba</a:t>
            </a:r>
            <a:endParaRPr lang="en-US" sz="1160" dirty="0"/>
          </a:p>
        </p:txBody>
      </p:sp>
      <p:sp>
        <p:nvSpPr>
          <p:cNvPr id="15" name="Shape 12"/>
          <p:cNvSpPr/>
          <p:nvPr/>
        </p:nvSpPr>
        <p:spPr>
          <a:xfrm>
            <a:off x="5074920" y="2176272"/>
            <a:ext cx="393192" cy="393192"/>
          </a:xfrm>
          <a:prstGeom prst="ellipse">
            <a:avLst/>
          </a:prstGeom>
          <a:solidFill>
            <a:srgbClr val="1668C9"/>
          </a:solidFill>
          <a:ln w="12700">
            <a:solidFill>
              <a:srgbClr val="1668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5074920" y="2194560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586984" y="2203704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</a:t>
            </a:r>
            <a:endParaRPr lang="en-US" sz="116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393192" cy="393192"/>
          </a:xfrm>
          <a:prstGeom prst="ellipse">
            <a:avLst/>
          </a:prstGeom>
          <a:solidFill>
            <a:srgbClr val="0EB4A8"/>
          </a:solidFill>
          <a:ln w="12700">
            <a:solidFill>
              <a:srgbClr val="0EB4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841248" y="3328416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353312" y="3337560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Evidencias</a:t>
            </a:r>
            <a:endParaRPr lang="en-US" sz="1160" dirty="0"/>
          </a:p>
        </p:txBody>
      </p:sp>
      <p:sp>
        <p:nvSpPr>
          <p:cNvPr id="21" name="Shape 18"/>
          <p:cNvSpPr/>
          <p:nvPr/>
        </p:nvSpPr>
        <p:spPr>
          <a:xfrm>
            <a:off x="2944368" y="3310128"/>
            <a:ext cx="393192" cy="393192"/>
          </a:xfrm>
          <a:prstGeom prst="ellipse">
            <a:avLst/>
          </a:prstGeom>
          <a:solidFill>
            <a:srgbClr val="0EB4A8"/>
          </a:solidFill>
          <a:ln w="12700">
            <a:solidFill>
              <a:srgbClr val="0EB4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/>
          <p:nvPr/>
        </p:nvSpPr>
        <p:spPr>
          <a:xfrm>
            <a:off x="2944368" y="3328416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456432" y="3337560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Defectos / UAT</a:t>
            </a:r>
            <a:endParaRPr lang="en-US" sz="1160" dirty="0"/>
          </a:p>
        </p:txBody>
      </p:sp>
      <p:sp>
        <p:nvSpPr>
          <p:cNvPr id="24" name="Shape 21"/>
          <p:cNvSpPr/>
          <p:nvPr/>
        </p:nvSpPr>
        <p:spPr>
          <a:xfrm>
            <a:off x="5074920" y="3310128"/>
            <a:ext cx="393192" cy="393192"/>
          </a:xfrm>
          <a:prstGeom prst="ellipse">
            <a:avLst/>
          </a:prstGeom>
          <a:solidFill>
            <a:srgbClr val="0EB4A8"/>
          </a:solidFill>
          <a:ln w="12700">
            <a:solidFill>
              <a:srgbClr val="0EB4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5074920" y="3328416"/>
            <a:ext cx="3931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586984" y="3337560"/>
            <a:ext cx="14630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1160" dirty="0"/>
          </a:p>
        </p:txBody>
      </p:sp>
      <p:sp>
        <p:nvSpPr>
          <p:cNvPr id="27" name="Shape 24"/>
          <p:cNvSpPr/>
          <p:nvPr/>
        </p:nvSpPr>
        <p:spPr>
          <a:xfrm>
            <a:off x="1042416" y="4407408"/>
            <a:ext cx="5541264" cy="0"/>
          </a:xfrm>
          <a:prstGeom prst="line">
            <a:avLst/>
          </a:prstGeom>
          <a:noFill/>
          <a:ln w="13970">
            <a:solidFill>
              <a:srgbClr val="D6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868680" y="4736592"/>
            <a:ext cx="621792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58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Quality Engineer (QE) supervisa múltiples HU, responsables, avances,</a:t>
            </a:r>
            <a:endParaRPr lang="en-US" sz="1580" dirty="0"/>
          </a:p>
          <a:p>
            <a:pPr marL="0" indent="0" algn="ctr">
              <a:buNone/>
            </a:pPr>
            <a:r>
              <a:rPr lang="en-US" sz="158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riesgos e impedimentos.</a:t>
            </a:r>
            <a:endParaRPr lang="en-US" sz="1580" dirty="0"/>
          </a:p>
        </p:txBody>
      </p:sp>
      <p:sp>
        <p:nvSpPr>
          <p:cNvPr id="29" name="Shape 26"/>
          <p:cNvSpPr/>
          <p:nvPr/>
        </p:nvSpPr>
        <p:spPr>
          <a:xfrm>
            <a:off x="7626096" y="1353312"/>
            <a:ext cx="4187952" cy="2084832"/>
          </a:xfrm>
          <a:prstGeom prst="roundRect">
            <a:avLst>
              <a:gd name="adj" fmla="val 3509"/>
            </a:avLst>
          </a:prstGeom>
          <a:solidFill>
            <a:srgbClr val="FFF8EB"/>
          </a:solidFill>
          <a:ln w="12700">
            <a:solidFill>
              <a:srgbClr val="F2C66D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Shape 27"/>
          <p:cNvSpPr/>
          <p:nvPr/>
        </p:nvSpPr>
        <p:spPr>
          <a:xfrm>
            <a:off x="7882128" y="1609344"/>
            <a:ext cx="1481328" cy="283464"/>
          </a:xfrm>
          <a:prstGeom prst="roundRect">
            <a:avLst>
              <a:gd name="adj" fmla="val 25806"/>
            </a:avLst>
          </a:prstGeom>
          <a:solidFill>
            <a:srgbClr val="F4B640"/>
          </a:solidFill>
          <a:ln w="12700">
            <a:solidFill>
              <a:srgbClr val="F4B6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8"/>
          <p:cNvSpPr/>
          <p:nvPr/>
        </p:nvSpPr>
        <p:spPr>
          <a:xfrm>
            <a:off x="7882128" y="1613916"/>
            <a:ext cx="148132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FRAGMENTACIÓN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909560" y="2157984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8C7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0"/>
          <p:cNvSpPr/>
          <p:nvPr/>
        </p:nvSpPr>
        <p:spPr>
          <a:xfrm>
            <a:off x="7946136" y="2240280"/>
            <a:ext cx="932688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Planillas</a:t>
            </a:r>
            <a:endParaRPr lang="en-US" sz="940" dirty="0"/>
          </a:p>
        </p:txBody>
      </p:sp>
      <p:sp>
        <p:nvSpPr>
          <p:cNvPr id="34" name="Shape 31"/>
          <p:cNvSpPr/>
          <p:nvPr/>
        </p:nvSpPr>
        <p:spPr>
          <a:xfrm>
            <a:off x="9125712" y="2157984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8C7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/>
          <p:nvPr/>
        </p:nvSpPr>
        <p:spPr>
          <a:xfrm>
            <a:off x="9162288" y="2240280"/>
            <a:ext cx="932688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Jira /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 QA</a:t>
            </a:r>
            <a:endParaRPr lang="en-US" sz="940" dirty="0"/>
          </a:p>
        </p:txBody>
      </p:sp>
      <p:sp>
        <p:nvSpPr>
          <p:cNvPr id="36" name="Shape 33"/>
          <p:cNvSpPr/>
          <p:nvPr/>
        </p:nvSpPr>
        <p:spPr>
          <a:xfrm>
            <a:off x="10341864" y="2157984"/>
            <a:ext cx="10058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8C7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4"/>
          <p:cNvSpPr/>
          <p:nvPr/>
        </p:nvSpPr>
        <p:spPr>
          <a:xfrm>
            <a:off x="10378440" y="2240280"/>
            <a:ext cx="932688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Registros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separados</a:t>
            </a:r>
            <a:endParaRPr lang="en-US" sz="940" dirty="0"/>
          </a:p>
        </p:txBody>
      </p:sp>
      <p:sp>
        <p:nvSpPr>
          <p:cNvPr id="38" name="Text 35"/>
          <p:cNvSpPr/>
          <p:nvPr/>
        </p:nvSpPr>
        <p:spPr>
          <a:xfrm>
            <a:off x="7936992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F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información existe, pero no está consolidada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una vista actualizada.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626096" y="3675888"/>
            <a:ext cx="4187952" cy="2249424"/>
          </a:xfrm>
          <a:prstGeom prst="roundRect">
            <a:avLst>
              <a:gd name="adj" fmla="val 3252"/>
            </a:avLst>
          </a:prstGeom>
          <a:solidFill>
            <a:srgbClr val="FFF1F2"/>
          </a:solidFill>
          <a:ln w="12700">
            <a:solidFill>
              <a:srgbClr val="F7B4B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0" name="Shape 37"/>
          <p:cNvSpPr/>
          <p:nvPr/>
        </p:nvSpPr>
        <p:spPr>
          <a:xfrm>
            <a:off x="7882128" y="3931920"/>
            <a:ext cx="996696" cy="283464"/>
          </a:xfrm>
          <a:prstGeom prst="roundRect">
            <a:avLst>
              <a:gd name="adj" fmla="val 25806"/>
            </a:avLst>
          </a:prstGeom>
          <a:solidFill>
            <a:srgbClr val="F05B61"/>
          </a:solidFill>
          <a:ln w="12700">
            <a:solidFill>
              <a:srgbClr val="F05B6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8"/>
          <p:cNvSpPr/>
          <p:nvPr/>
        </p:nvSpPr>
        <p:spPr>
          <a:xfrm>
            <a:off x="7882128" y="3936492"/>
            <a:ext cx="99669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7936992" y="4507992"/>
            <a:ext cx="182880" cy="182880"/>
          </a:xfrm>
          <a:prstGeom prst="ellipse">
            <a:avLst/>
          </a:prstGeom>
          <a:solidFill>
            <a:srgbClr val="F05B61"/>
          </a:solidFill>
          <a:ln w="12700">
            <a:solidFill>
              <a:srgbClr val="F05B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0"/>
          <p:cNvSpPr/>
          <p:nvPr/>
        </p:nvSpPr>
        <p:spPr>
          <a:xfrm>
            <a:off x="8229600" y="4480560"/>
            <a:ext cx="3108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90" dirty="0">
                <a:solidFill>
                  <a:srgbClr val="102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manual</a:t>
            </a:r>
            <a:endParaRPr lang="en-US" sz="1090" dirty="0"/>
          </a:p>
        </p:txBody>
      </p:sp>
      <p:sp>
        <p:nvSpPr>
          <p:cNvPr id="44" name="Shape 41"/>
          <p:cNvSpPr/>
          <p:nvPr/>
        </p:nvSpPr>
        <p:spPr>
          <a:xfrm>
            <a:off x="7936992" y="4901184"/>
            <a:ext cx="182880" cy="182880"/>
          </a:xfrm>
          <a:prstGeom prst="ellipse">
            <a:avLst/>
          </a:prstGeom>
          <a:solidFill>
            <a:srgbClr val="F05B61"/>
          </a:solidFill>
          <a:ln w="12700">
            <a:solidFill>
              <a:srgbClr val="F05B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5" name="Text 42"/>
          <p:cNvSpPr/>
          <p:nvPr/>
        </p:nvSpPr>
        <p:spPr>
          <a:xfrm>
            <a:off x="8229600" y="4873752"/>
            <a:ext cx="3108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90" dirty="0">
                <a:solidFill>
                  <a:srgbClr val="102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Mayor tiempo de consolidación y seguimiento</a:t>
            </a:r>
            <a:endParaRPr lang="en-US" sz="1090" dirty="0"/>
          </a:p>
        </p:txBody>
      </p:sp>
      <p:sp>
        <p:nvSpPr>
          <p:cNvPr id="46" name="Shape 43"/>
          <p:cNvSpPr/>
          <p:nvPr/>
        </p:nvSpPr>
        <p:spPr>
          <a:xfrm>
            <a:off x="7936992" y="5294376"/>
            <a:ext cx="182880" cy="182880"/>
          </a:xfrm>
          <a:prstGeom prst="ellipse">
            <a:avLst/>
          </a:prstGeom>
          <a:solidFill>
            <a:srgbClr val="F05B61"/>
          </a:solidFill>
          <a:ln w="12700">
            <a:solidFill>
              <a:srgbClr val="F05B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Text 44"/>
          <p:cNvSpPr/>
          <p:nvPr/>
        </p:nvSpPr>
        <p:spPr>
          <a:xfrm>
            <a:off x="8229600" y="5266944"/>
            <a:ext cx="3108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90" dirty="0">
                <a:solidFill>
                  <a:srgbClr val="102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Detección tardía de riesgos y bloqueos</a:t>
            </a:r>
            <a:endParaRPr lang="en-US" sz="1090" dirty="0"/>
          </a:p>
        </p:txBody>
      </p:sp>
      <p:sp>
        <p:nvSpPr>
          <p:cNvPr id="48" name="Text 45"/>
          <p:cNvSpPr/>
          <p:nvPr/>
        </p:nvSpPr>
        <p:spPr>
          <a:xfrm>
            <a:off x="2286000" y="6181344"/>
            <a:ext cx="76352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071D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“La información está fragmentada y no entrega una visión oportuna para decidir.”</a:t>
            </a:r>
            <a:endParaRPr lang="en-US" sz="1450" dirty="0"/>
          </a:p>
        </p:txBody>
      </p:sp>
      <p:sp>
        <p:nvSpPr>
          <p:cNvPr id="49" name="Text 46"/>
          <p:cNvSpPr/>
          <p:nvPr/>
        </p:nvSpPr>
        <p:spPr>
          <a:xfrm>
            <a:off x="512064" y="6601968"/>
            <a:ext cx="21945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F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Quality360 · Capstone Grupo 8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1823192" y="6565392"/>
            <a:ext cx="914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5F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Equipo y metodología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</a:rPr>
              <a:t>Roles complementarios, entregas incrementales y validación continua.</a:t>
            </a:r>
            <a:endParaRPr lang="en-US" sz="1050" dirty="0"/>
          </a:p>
        </p:txBody>
      </p:sp>
      <p:pic>
        <p:nvPicPr>
          <p:cNvPr id="4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28600"/>
            <a:ext cx="658368" cy="658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Shape 3"/>
          <p:cNvSpPr/>
          <p:nvPr/>
        </p:nvSpPr>
        <p:spPr>
          <a:xfrm>
            <a:off x="1353312" y="1673352"/>
            <a:ext cx="914400" cy="914400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1353312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JS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7240" y="278892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1D49"/>
                </a:solidFill>
              </a:rPr>
              <a:t>José Seguel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167C7"/>
                </a:solidFill>
              </a:rPr>
              <a:t>Líder de Proyecto / Analista Funcional QA</a:t>
            </a:r>
            <a:endParaRPr lang="en-US" sz="1040" dirty="0"/>
          </a:p>
        </p:txBody>
      </p:sp>
      <p:sp>
        <p:nvSpPr>
          <p:cNvPr id="10" name="Text 7"/>
          <p:cNvSpPr/>
          <p:nvPr/>
        </p:nvSpPr>
        <p:spPr>
          <a:xfrm>
            <a:off x="822960" y="37490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Requerimientos · Proceso QA</a:t>
            </a:r>
            <a:endParaRPr lang="en-US" sz="970" dirty="0"/>
          </a:p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Coordinación · Validación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3328416" y="1371600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Shape 9"/>
          <p:cNvSpPr/>
          <p:nvPr/>
        </p:nvSpPr>
        <p:spPr>
          <a:xfrm>
            <a:off x="4114800" y="1673352"/>
            <a:ext cx="914400" cy="914400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411480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JC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538728" y="278892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1D49"/>
                </a:solidFill>
              </a:rPr>
              <a:t>Jonathan Choque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38728" y="3154680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B7B1"/>
                </a:solidFill>
              </a:rPr>
              <a:t>Frontend y Dashboards</a:t>
            </a:r>
            <a:endParaRPr lang="en-US" sz="1040" dirty="0"/>
          </a:p>
        </p:txBody>
      </p:sp>
      <p:sp>
        <p:nvSpPr>
          <p:cNvPr id="16" name="Text 13"/>
          <p:cNvSpPr/>
          <p:nvPr/>
        </p:nvSpPr>
        <p:spPr>
          <a:xfrm>
            <a:off x="3584448" y="37490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Interfaz · KPI</a:t>
            </a:r>
            <a:endParaRPr lang="en-US" sz="970" dirty="0"/>
          </a:p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Visualizaciones · UX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6089904" y="1371600"/>
            <a:ext cx="2487168" cy="299923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Shape 15"/>
          <p:cNvSpPr/>
          <p:nvPr/>
        </p:nvSpPr>
        <p:spPr>
          <a:xfrm>
            <a:off x="6876288" y="1673352"/>
            <a:ext cx="914400" cy="914400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6876288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MA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00216" y="278892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1D49"/>
                </a:solidFill>
              </a:rPr>
              <a:t>Matías Araos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00216" y="3154680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167C7"/>
                </a:solidFill>
              </a:rPr>
              <a:t>Backend y Datos</a:t>
            </a:r>
            <a:endParaRPr lang="en-US" sz="1040" dirty="0"/>
          </a:p>
        </p:txBody>
      </p:sp>
      <p:sp>
        <p:nvSpPr>
          <p:cNvPr id="22" name="Text 19"/>
          <p:cNvSpPr/>
          <p:nvPr/>
        </p:nvSpPr>
        <p:spPr>
          <a:xfrm>
            <a:off x="6345936" y="374904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API · Lógica de negocio</a:t>
            </a:r>
            <a:endParaRPr lang="en-US" sz="970" dirty="0"/>
          </a:p>
          <a:p>
            <a:pPr marL="0" indent="0" algn="ctr">
              <a:buNone/>
            </a:pPr>
            <a:r>
              <a:rPr lang="en-US" sz="970" dirty="0">
                <a:solidFill>
                  <a:srgbClr val="5B6B7F"/>
                </a:solidFill>
              </a:rPr>
              <a:t>Persistencia · Integración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9034272" y="1371600"/>
            <a:ext cx="2596896" cy="2999232"/>
          </a:xfrm>
          <a:prstGeom prst="roundRect">
            <a:avLst>
              <a:gd name="adj" fmla="val 2817"/>
            </a:avLst>
          </a:prstGeom>
          <a:solidFill>
            <a:srgbClr val="EEF7FF"/>
          </a:solidFill>
          <a:ln w="12700">
            <a:solidFill>
              <a:srgbClr val="C8DDF5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4" name="Shape 21"/>
          <p:cNvSpPr/>
          <p:nvPr/>
        </p:nvSpPr>
        <p:spPr>
          <a:xfrm>
            <a:off x="9784080" y="1682496"/>
            <a:ext cx="1078992" cy="274320"/>
          </a:xfrm>
          <a:prstGeom prst="roundRect">
            <a:avLst>
              <a:gd name="adj" fmla="val 40000"/>
            </a:avLst>
          </a:prstGeom>
          <a:solidFill>
            <a:srgbClr val="071D49"/>
          </a:solidFill>
          <a:ln w="12700">
            <a:solidFill>
              <a:srgbClr val="071D4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9857232" y="172821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SCRUM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9253728" y="2331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1D49"/>
                </a:solidFill>
              </a:rPr>
              <a:t>Sprints cortos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26880" y="2788920"/>
            <a:ext cx="1984248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833"/>
                </a:solidFill>
              </a:rPr>
              <a:t>Backlog priorizado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833"/>
                </a:solidFill>
              </a:rPr>
              <a:t>Revisión de avances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833"/>
                </a:solidFill>
              </a:rPr>
              <a:t>Retroalimentación docente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833"/>
                </a:solidFill>
              </a:rPr>
              <a:t>Ajuste de prioridades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12648" y="47914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6B7F"/>
                </a:solidFill>
              </a:rPr>
              <a:t>HOJA DE RUTA INCREMENTAL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21792" y="5230368"/>
            <a:ext cx="1947672" cy="658368"/>
          </a:xfrm>
          <a:prstGeom prst="roundRect">
            <a:avLst>
              <a:gd name="adj" fmla="val 11111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731520" y="5394960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  Definición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y diseño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606040" y="5404104"/>
            <a:ext cx="219456" cy="292608"/>
          </a:xfrm>
          <a:prstGeom prst="chevron">
            <a:avLst/>
          </a:prstGeom>
          <a:solidFill>
            <a:srgbClr val="9DB0C1"/>
          </a:solidFill>
          <a:ln w="12700">
            <a:solidFill>
              <a:srgbClr val="9DB0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Shape 29"/>
          <p:cNvSpPr/>
          <p:nvPr/>
        </p:nvSpPr>
        <p:spPr>
          <a:xfrm>
            <a:off x="2880360" y="5230368"/>
            <a:ext cx="1947672" cy="658368"/>
          </a:xfrm>
          <a:prstGeom prst="roundRect">
            <a:avLst>
              <a:gd name="adj" fmla="val 11111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0"/>
          <p:cNvSpPr/>
          <p:nvPr/>
        </p:nvSpPr>
        <p:spPr>
          <a:xfrm>
            <a:off x="2990088" y="5394960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  Gestión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operacional QA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864608" y="5404104"/>
            <a:ext cx="219456" cy="292608"/>
          </a:xfrm>
          <a:prstGeom prst="chevron">
            <a:avLst/>
          </a:prstGeom>
          <a:solidFill>
            <a:srgbClr val="9DB0C1"/>
          </a:solidFill>
          <a:ln w="12700">
            <a:solidFill>
              <a:srgbClr val="9DB0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Shape 32"/>
          <p:cNvSpPr/>
          <p:nvPr/>
        </p:nvSpPr>
        <p:spPr>
          <a:xfrm>
            <a:off x="5138928" y="5230368"/>
            <a:ext cx="1947672" cy="658368"/>
          </a:xfrm>
          <a:prstGeom prst="roundRect">
            <a:avLst>
              <a:gd name="adj" fmla="val 11111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3"/>
          <p:cNvSpPr/>
          <p:nvPr/>
        </p:nvSpPr>
        <p:spPr>
          <a:xfrm>
            <a:off x="5248656" y="5394960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  Persistencia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 integración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123176" y="5404104"/>
            <a:ext cx="219456" cy="292608"/>
          </a:xfrm>
          <a:prstGeom prst="chevron">
            <a:avLst/>
          </a:prstGeom>
          <a:solidFill>
            <a:srgbClr val="9DB0C1"/>
          </a:solidFill>
          <a:ln w="12700">
            <a:solidFill>
              <a:srgbClr val="9DB0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Shape 35"/>
          <p:cNvSpPr/>
          <p:nvPr/>
        </p:nvSpPr>
        <p:spPr>
          <a:xfrm>
            <a:off x="7397496" y="5230368"/>
            <a:ext cx="1947672" cy="658368"/>
          </a:xfrm>
          <a:prstGeom prst="roundRect">
            <a:avLst>
              <a:gd name="adj" fmla="val 11111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6"/>
          <p:cNvSpPr/>
          <p:nvPr/>
        </p:nvSpPr>
        <p:spPr>
          <a:xfrm>
            <a:off x="7507224" y="5394960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  Dashboards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 indicadores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9381744" y="5404104"/>
            <a:ext cx="219456" cy="292608"/>
          </a:xfrm>
          <a:prstGeom prst="chevron">
            <a:avLst/>
          </a:prstGeom>
          <a:solidFill>
            <a:srgbClr val="9DB0C1"/>
          </a:solidFill>
          <a:ln w="12700">
            <a:solidFill>
              <a:srgbClr val="9DB0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Shape 38"/>
          <p:cNvSpPr/>
          <p:nvPr/>
        </p:nvSpPr>
        <p:spPr>
          <a:xfrm>
            <a:off x="9656064" y="5230368"/>
            <a:ext cx="1947672" cy="658368"/>
          </a:xfrm>
          <a:prstGeom prst="roundRect">
            <a:avLst>
              <a:gd name="adj" fmla="val 11111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Text 39"/>
          <p:cNvSpPr/>
          <p:nvPr/>
        </p:nvSpPr>
        <p:spPr>
          <a:xfrm>
            <a:off x="9765792" y="5394960"/>
            <a:ext cx="1728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05  Pruebas, ajustes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y cierre</a:t>
            </a:r>
            <a:endParaRPr lang="en-US" sz="10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6</a:t>
            </a:r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047CECC5-5251-2ED4-B75D-F3A515481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37F5BD47-0F6D-C5C9-9486-F7646FE4B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3947" y="857250"/>
            <a:ext cx="810985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 propuesta y valor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</a:rPr>
              <a:t>Quality360 centraliza, visualiza y ayuda a priorizar las acciones QA.</a:t>
            </a:r>
            <a:endParaRPr lang="en-US" sz="1050" dirty="0"/>
          </a:p>
        </p:txBody>
      </p:sp>
      <p:pic>
        <p:nvPicPr>
          <p:cNvPr id="4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28600"/>
            <a:ext cx="658368" cy="658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444752"/>
            <a:ext cx="3063240" cy="3218688"/>
          </a:xfrm>
          <a:prstGeom prst="roundRect">
            <a:avLst>
              <a:gd name="adj" fmla="val 2388"/>
            </a:avLst>
          </a:prstGeom>
          <a:solidFill>
            <a:srgbClr val="EAF1F8"/>
          </a:solidFill>
          <a:ln w="12700">
            <a:solidFill>
              <a:srgbClr val="CBD9E7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Shape 3"/>
          <p:cNvSpPr/>
          <p:nvPr/>
        </p:nvSpPr>
        <p:spPr>
          <a:xfrm>
            <a:off x="1389888" y="1700784"/>
            <a:ext cx="1572768" cy="274320"/>
          </a:xfrm>
          <a:prstGeom prst="roundRect">
            <a:avLst>
              <a:gd name="adj" fmla="val 40000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1463040" y="174650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ANTES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865376" y="2240280"/>
            <a:ext cx="621792" cy="621792"/>
          </a:xfrm>
          <a:prstGeom prst="ellipse">
            <a:avLst/>
          </a:prstGeom>
          <a:solidFill>
            <a:srgbClr val="DDE7F1"/>
          </a:solidFill>
          <a:ln w="12700">
            <a:solidFill>
              <a:srgbClr val="5B6B7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1865376" y="237744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F"/>
                </a:solidFill>
              </a:rPr>
              <a:t>•••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50976" y="306324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1D49"/>
                </a:solidFill>
              </a:rPr>
              <a:t>Información fragmentada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9264" y="3694176"/>
            <a:ext cx="24048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Planillas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Jira - Zephyr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Registros separados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70248" y="1444752"/>
            <a:ext cx="3063240" cy="3218688"/>
          </a:xfrm>
          <a:prstGeom prst="roundRect">
            <a:avLst>
              <a:gd name="adj" fmla="val 2388"/>
            </a:avLst>
          </a:prstGeom>
          <a:solidFill>
            <a:srgbClr val="E8FAF8"/>
          </a:solidFill>
          <a:ln w="25400">
            <a:solidFill>
              <a:srgbClr val="18B7B1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0"/>
          <p:cNvSpPr/>
          <p:nvPr/>
        </p:nvSpPr>
        <p:spPr>
          <a:xfrm>
            <a:off x="5020056" y="1700784"/>
            <a:ext cx="1572768" cy="274320"/>
          </a:xfrm>
          <a:prstGeom prst="roundRect">
            <a:avLst>
              <a:gd name="adj" fmla="val 40000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5093208" y="174650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QUALITY360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95544" y="2240280"/>
            <a:ext cx="621792" cy="621792"/>
          </a:xfrm>
          <a:prstGeom prst="ellipse">
            <a:avLst/>
          </a:prstGeom>
          <a:solidFill>
            <a:srgbClr val="BFEDEA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5495544" y="237744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8B7B1"/>
                </a:solidFill>
              </a:rPr>
              <a:t>360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81144" y="306324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1D49"/>
                </a:solidFill>
              </a:rPr>
              <a:t>Vista integral de gestión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99432" y="3694176"/>
            <a:ext cx="24048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Estado · Responsables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Cumplimiento · Riesgos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Impedimentos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900416" y="1444752"/>
            <a:ext cx="3063240" cy="3218688"/>
          </a:xfrm>
          <a:prstGeom prst="roundRect">
            <a:avLst>
              <a:gd name="adj" fmla="val 2388"/>
            </a:avLst>
          </a:prstGeom>
          <a:solidFill>
            <a:srgbClr val="EAF2FF"/>
          </a:solidFill>
          <a:ln w="12700">
            <a:solidFill>
              <a:srgbClr val="CBD9E7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7"/>
          <p:cNvSpPr/>
          <p:nvPr/>
        </p:nvSpPr>
        <p:spPr>
          <a:xfrm>
            <a:off x="8650224" y="1700784"/>
            <a:ext cx="1572768" cy="274320"/>
          </a:xfrm>
          <a:prstGeom prst="roundRect">
            <a:avLst>
              <a:gd name="adj" fmla="val 40000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/>
          <p:nvPr/>
        </p:nvSpPr>
        <p:spPr>
          <a:xfrm>
            <a:off x="8723376" y="174650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RESULTADO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125712" y="2240280"/>
            <a:ext cx="621792" cy="621792"/>
          </a:xfrm>
          <a:prstGeom prst="ellipse">
            <a:avLst/>
          </a:prstGeom>
          <a:solidFill>
            <a:srgbClr val="D6E7FF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9125712" y="2377440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67C7"/>
                </a:solidFill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211312" y="306324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1D49"/>
                </a:solidFill>
              </a:rPr>
              <a:t>Decisión oportuna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229600" y="3694176"/>
            <a:ext cx="24048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Priorizar acciones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Gestionar bloqueos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0D1833"/>
                </a:solidFill>
              </a:rPr>
              <a:t>Anticipar riesgos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803904" y="2578608"/>
            <a:ext cx="310896" cy="512064"/>
          </a:xfrm>
          <a:prstGeom prst="chevron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Shape 24"/>
          <p:cNvSpPr/>
          <p:nvPr/>
        </p:nvSpPr>
        <p:spPr>
          <a:xfrm>
            <a:off x="7434072" y="2578608"/>
            <a:ext cx="310896" cy="512064"/>
          </a:xfrm>
          <a:prstGeom prst="chevron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5"/>
          <p:cNvSpPr/>
          <p:nvPr/>
        </p:nvSpPr>
        <p:spPr>
          <a:xfrm>
            <a:off x="932688" y="4983480"/>
            <a:ext cx="10332720" cy="1051560"/>
          </a:xfrm>
          <a:prstGeom prst="roundRect">
            <a:avLst>
              <a:gd name="adj" fmla="val 6957"/>
            </a:avLst>
          </a:prstGeom>
          <a:solidFill>
            <a:srgbClr val="071D49"/>
          </a:solidFill>
          <a:ln w="12700">
            <a:solidFill>
              <a:srgbClr val="071D4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1170432" y="513892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8FE0DB"/>
                </a:solidFill>
              </a:rPr>
              <a:t>PROPUESTA DE VALOR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907792" y="51663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De información QA dispersa a una visión integral para la toma de decisiones.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2926080" y="555955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5"/>
                </a:solidFill>
              </a:rPr>
              <a:t>Centralización  ·  Visibilidad  ·  Análisis  ·  Priorización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final_render/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del proyecto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</a:rPr>
              <a:t>Una ruta clara para convertir el proceso QA en información accionable.</a:t>
            </a:r>
            <a:endParaRPr lang="en-US" sz="1050" dirty="0"/>
          </a:p>
        </p:txBody>
      </p:sp>
      <p:pic>
        <p:nvPicPr>
          <p:cNvPr id="4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28600"/>
            <a:ext cx="658368" cy="658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280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071D49"/>
          </a:solidFill>
          <a:ln w="12700">
            <a:solidFill>
              <a:srgbClr val="071D4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868680" y="15727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8FE0DB"/>
                </a:solidFill>
              </a:rPr>
              <a:t>OBJETIVO GENERAL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395728" y="1472184"/>
            <a:ext cx="87050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Desarrollar una plataforma web para gestionar y visualizar certificaciones QA, centralizando estado, cumplimiento, riesgos e impedimentos mediante dashboards para apoyar la supervisión y la toma de decisiones.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66928" y="2834640"/>
            <a:ext cx="1984248" cy="2542032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2700">
            <a:solidFill>
              <a:srgbClr val="D6E0E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1225296" y="3090672"/>
            <a:ext cx="658368" cy="658368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1225296" y="32735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9808" y="400507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D49"/>
                </a:solidFill>
              </a:rPr>
              <a:t>ANALIZAR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68096" y="4425696"/>
            <a:ext cx="158191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D1833"/>
                </a:solidFill>
              </a:rPr>
              <a:t>Proceso, actores, estados, evidencias, riesgos e impedimentos.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2788920" y="2834640"/>
            <a:ext cx="1984248" cy="2542032"/>
          </a:xfrm>
          <a:prstGeom prst="roundRect">
            <a:avLst>
              <a:gd name="adj" fmla="val 3687"/>
            </a:avLst>
          </a:prstGeom>
          <a:solidFill>
            <a:srgbClr val="F1FBFA"/>
          </a:solidFill>
          <a:ln w="12700">
            <a:solidFill>
              <a:srgbClr val="BCE8E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3447288" y="3090672"/>
            <a:ext cx="658368" cy="658368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3447288" y="32735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971800" y="400507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D49"/>
                </a:solidFill>
              </a:rPr>
              <a:t>GESTIONAR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990088" y="4425696"/>
            <a:ext cx="158191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D1833"/>
                </a:solidFill>
              </a:rPr>
              <a:t>Historias de Usuario y responsables.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5010912" y="2834640"/>
            <a:ext cx="1984248" cy="2542032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2700">
            <a:solidFill>
              <a:srgbClr val="D6E0E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Shape 16"/>
          <p:cNvSpPr/>
          <p:nvPr/>
        </p:nvSpPr>
        <p:spPr>
          <a:xfrm>
            <a:off x="5669280" y="3090672"/>
            <a:ext cx="658368" cy="658368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5669280" y="32735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193792" y="400507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D49"/>
                </a:solidFill>
              </a:rPr>
              <a:t>SEGUIR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212080" y="4425696"/>
            <a:ext cx="158191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D1833"/>
                </a:solidFill>
              </a:rPr>
              <a:t>Cumplimiento de actividades de certificación.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7232904" y="2834640"/>
            <a:ext cx="1984248" cy="2542032"/>
          </a:xfrm>
          <a:prstGeom prst="roundRect">
            <a:avLst>
              <a:gd name="adj" fmla="val 3687"/>
            </a:avLst>
          </a:prstGeom>
          <a:solidFill>
            <a:srgbClr val="F1FBFA"/>
          </a:solidFill>
          <a:ln w="12700">
            <a:solidFill>
              <a:srgbClr val="BCE8E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4" name="Shape 21"/>
          <p:cNvSpPr/>
          <p:nvPr/>
        </p:nvSpPr>
        <p:spPr>
          <a:xfrm>
            <a:off x="7891272" y="3090672"/>
            <a:ext cx="658368" cy="658368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7891272" y="32735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415784" y="400507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D49"/>
                </a:solidFill>
              </a:rPr>
              <a:t>VISUALIZAR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34072" y="4425696"/>
            <a:ext cx="158191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D1833"/>
                </a:solidFill>
              </a:rPr>
              <a:t>Avance, riesgos, impedimentos y carga de trabajo.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9454896" y="2834640"/>
            <a:ext cx="1984248" cy="2542032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2700">
            <a:solidFill>
              <a:srgbClr val="D6E0E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Shape 26"/>
          <p:cNvSpPr/>
          <p:nvPr/>
        </p:nvSpPr>
        <p:spPr>
          <a:xfrm>
            <a:off x="10113264" y="3090672"/>
            <a:ext cx="658368" cy="658368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10113264" y="32735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37776" y="400507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D49"/>
                </a:solidFill>
              </a:rPr>
              <a:t>VALIDAR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56064" y="4425696"/>
            <a:ext cx="158191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D1833"/>
                </a:solidFill>
              </a:rPr>
              <a:t>Pruebas funcionales con datos simulados o anonimizados.</a:t>
            </a:r>
            <a:endParaRPr lang="en-US" sz="1020" dirty="0"/>
          </a:p>
        </p:txBody>
      </p:sp>
      <p:sp>
        <p:nvSpPr>
          <p:cNvPr id="33" name="Text 30"/>
          <p:cNvSpPr/>
          <p:nvPr/>
        </p:nvSpPr>
        <p:spPr>
          <a:xfrm>
            <a:off x="1463040" y="5724144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7C7"/>
                </a:solidFill>
              </a:rPr>
              <a:t>Resultado esperado: trazabilidad del proceso + indicadores claros + foco en intervención temprana.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5</a:t>
            </a:r>
          </a:p>
        </p:txBody>
      </p:sp>
      <p:pic>
        <p:nvPicPr>
          <p:cNvPr id="36" name="Image 0" descr="/mnt/data/final_render/slide-08.png">
            <a:extLst>
              <a:ext uri="{FF2B5EF4-FFF2-40B4-BE49-F238E27FC236}">
                <a16:creationId xmlns:a16="http://schemas.microsoft.com/office/drawing/2014/main" id="{2F23AA9B-5301-73FB-8ED9-273162967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55448"/>
            <a:ext cx="658368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292608"/>
            <a:ext cx="8412480" cy="365760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2200" b="1">
                <a:solidFill>
                  <a:srgbClr val="071D49"/>
                </a:solidFill>
                <a:latin typeface="Calibri"/>
              </a:rPr>
              <a:t>Herramientas a utilizar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58952"/>
            <a:ext cx="8686800" cy="25603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950" b="0">
                <a:solidFill>
                  <a:srgbClr val="4E607C"/>
                </a:solidFill>
                <a:latin typeface="Calibri"/>
              </a:rPr>
              <a:t>Ecosistema de trabajo para desarrollar, gestionar, validar e integrar Quality360.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228600" cy="182880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257800" cy="17190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95528" y="1490472"/>
            <a:ext cx="1554480" cy="310896"/>
          </a:xfrm>
          <a:prstGeom prst="roundRect">
            <a:avLst/>
          </a:prstGeom>
          <a:solidFill>
            <a:srgbClr val="1167C7"/>
          </a:solidFill>
          <a:ln w="9525">
            <a:solidFill>
              <a:srgbClr val="116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Gestión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020824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Jira: backlog, sprints, responsables y estados.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350008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295144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GitHub: repositorio, ramas, commits y evidencias.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2679191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624327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Planilla: seguimiento ejecutivo, riesgos y puntos abiertos.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325880"/>
            <a:ext cx="5257800" cy="17190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10528" y="1490472"/>
            <a:ext cx="1554480" cy="310896"/>
          </a:xfrm>
          <a:prstGeom prst="roundRect">
            <a:avLst/>
          </a:prstGeom>
          <a:solidFill>
            <a:srgbClr val="18B7B1"/>
          </a:solidFill>
          <a:ln w="9525">
            <a:solidFill>
              <a:srgbClr val="18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Desarrollo</a:t>
            </a:r>
          </a:p>
        </p:txBody>
      </p:sp>
      <p:sp>
        <p:nvSpPr>
          <p:cNvPr id="17" name="Oval 16"/>
          <p:cNvSpPr/>
          <p:nvPr/>
        </p:nvSpPr>
        <p:spPr>
          <a:xfrm>
            <a:off x="6565392" y="2020824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1965960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React + Vite: interfaz web del prototipo.</a:t>
            </a:r>
          </a:p>
        </p:txBody>
      </p:sp>
      <p:sp>
        <p:nvSpPr>
          <p:cNvPr id="19" name="Oval 18"/>
          <p:cNvSpPr/>
          <p:nvPr/>
        </p:nvSpPr>
        <p:spPr>
          <a:xfrm>
            <a:off x="6565392" y="2350008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2295144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HTML, CSS y JavaScript: componentes y lógica de UI.</a:t>
            </a:r>
          </a:p>
        </p:txBody>
      </p:sp>
      <p:sp>
        <p:nvSpPr>
          <p:cNvPr id="21" name="Oval 20"/>
          <p:cNvSpPr/>
          <p:nvPr/>
        </p:nvSpPr>
        <p:spPr>
          <a:xfrm>
            <a:off x="6565392" y="2679191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20840" y="2624327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Node.js + npm: ejecución e instalación de dependencias.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337560"/>
            <a:ext cx="5257800" cy="2029968"/>
          </a:xfrm>
          <a:prstGeom prst="roundRect">
            <a:avLst/>
          </a:prstGeom>
          <a:solidFill>
            <a:srgbClr val="EAF2FF"/>
          </a:solidFill>
          <a:ln w="9525">
            <a:solidFill>
              <a:srgbClr val="D9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95528" y="3502152"/>
            <a:ext cx="1554480" cy="310896"/>
          </a:xfrm>
          <a:prstGeom prst="roundRect">
            <a:avLst/>
          </a:prstGeom>
          <a:solidFill>
            <a:srgbClr val="1167C7"/>
          </a:solidFill>
          <a:ln w="9525">
            <a:solidFill>
              <a:srgbClr val="116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Datos e integración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" y="4032503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localStorage: persistencia temporal del prototipo.</a:t>
            </a:r>
          </a:p>
        </p:txBody>
      </p:sp>
      <p:sp>
        <p:nvSpPr>
          <p:cNvPr id="27" name="Oval 26"/>
          <p:cNvSpPr/>
          <p:nvPr/>
        </p:nvSpPr>
        <p:spPr>
          <a:xfrm>
            <a:off x="850392" y="4361688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4306824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API REST: integración futura entre frontend, backend y datos.</a:t>
            </a:r>
          </a:p>
        </p:txBody>
      </p:sp>
      <p:sp>
        <p:nvSpPr>
          <p:cNvPr id="29" name="Oval 28"/>
          <p:cNvSpPr/>
          <p:nvPr/>
        </p:nvSpPr>
        <p:spPr>
          <a:xfrm>
            <a:off x="850392" y="4690872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4636008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PostgreSQL: base de datos propuesta para Fase 2.</a:t>
            </a:r>
          </a:p>
        </p:txBody>
      </p:sp>
      <p:sp>
        <p:nvSpPr>
          <p:cNvPr id="31" name="Oval 30"/>
          <p:cNvSpPr/>
          <p:nvPr/>
        </p:nvSpPr>
        <p:spPr>
          <a:xfrm>
            <a:off x="850392" y="5020056"/>
            <a:ext cx="82296" cy="82296"/>
          </a:xfrm>
          <a:prstGeom prst="ellipse">
            <a:avLst/>
          </a:prstGeom>
          <a:solidFill>
            <a:srgbClr val="116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" y="4965192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>
                <a:solidFill>
                  <a:srgbClr val="0C203E"/>
                </a:solidFill>
                <a:latin typeface="Calibri"/>
              </a:rPr>
              <a:t>Jira REST API: fuente de HU para integración controlada.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3502152"/>
            <a:ext cx="1554480" cy="310896"/>
          </a:xfrm>
          <a:prstGeom prst="roundRect">
            <a:avLst/>
          </a:prstGeom>
          <a:solidFill>
            <a:srgbClr val="18B7B1"/>
          </a:solidFill>
          <a:ln w="9525">
            <a:solidFill>
              <a:srgbClr val="18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950" b="1" dirty="0">
                <a:solidFill>
                  <a:srgbClr val="FFFFFF"/>
                </a:solidFill>
                <a:latin typeface="Calibri"/>
              </a:rPr>
              <a:t>QA y </a:t>
            </a:r>
            <a:r>
              <a:rPr sz="950" b="1" dirty="0" err="1">
                <a:solidFill>
                  <a:srgbClr val="FFFFFF"/>
                </a:solidFill>
                <a:latin typeface="Calibri"/>
              </a:rPr>
              <a:t>validación</a:t>
            </a:r>
            <a:endParaRPr sz="95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6565392" y="4032503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3977639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 dirty="0">
                <a:solidFill>
                  <a:srgbClr val="0C203E"/>
                </a:solidFill>
                <a:latin typeface="Calibri"/>
              </a:rPr>
              <a:t>Casos de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prueba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funcionales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sobre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roles y CRUD.</a:t>
            </a:r>
          </a:p>
        </p:txBody>
      </p:sp>
      <p:sp>
        <p:nvSpPr>
          <p:cNvPr id="37" name="Oval 36"/>
          <p:cNvSpPr/>
          <p:nvPr/>
        </p:nvSpPr>
        <p:spPr>
          <a:xfrm>
            <a:off x="6565392" y="4361688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0840" y="4306824"/>
            <a:ext cx="4663440" cy="210312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l"/>
            <a:r>
              <a:rPr sz="860" b="0" dirty="0">
                <a:solidFill>
                  <a:srgbClr val="0C203E"/>
                </a:solidFill>
                <a:latin typeface="Calibri"/>
              </a:rPr>
              <a:t>Datos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simulados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o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anonimizados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para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evitar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exposición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.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699293"/>
            <a:ext cx="82296" cy="82296"/>
          </a:xfrm>
          <a:prstGeom prst="ellipse">
            <a:avLst/>
          </a:prstGeom>
          <a:solidFill>
            <a:srgbClr val="18B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20840" y="4644429"/>
            <a:ext cx="2362775" cy="150811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860" b="0" dirty="0" err="1">
                <a:solidFill>
                  <a:srgbClr val="0C203E"/>
                </a:solidFill>
                <a:latin typeface="Calibri"/>
              </a:rPr>
              <a:t>Métrica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SIN vs CON Q360 para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demostrar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 </a:t>
            </a:r>
            <a:r>
              <a:rPr sz="860" b="0" dirty="0" err="1">
                <a:solidFill>
                  <a:srgbClr val="0C203E"/>
                </a:solidFill>
                <a:latin typeface="Calibri"/>
              </a:rPr>
              <a:t>beneficio</a:t>
            </a:r>
            <a:r>
              <a:rPr sz="860" b="0" dirty="0">
                <a:solidFill>
                  <a:srgbClr val="0C203E"/>
                </a:solidFill>
                <a:latin typeface="Calibri"/>
              </a:rPr>
              <a:t>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88720" y="5650992"/>
            <a:ext cx="9235440" cy="402336"/>
          </a:xfrm>
          <a:prstGeom prst="roundRect">
            <a:avLst/>
          </a:prstGeom>
          <a:solidFill>
            <a:srgbClr val="071D49"/>
          </a:solidFill>
          <a:ln w="9525"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417320" y="5779008"/>
            <a:ext cx="8778240" cy="146304"/>
          </a:xfrm>
          <a:prstGeom prst="rect">
            <a:avLst/>
          </a:prstGeom>
          <a:noFill/>
        </p:spPr>
        <p:txBody>
          <a:bodyPr wrap="none" lIns="18288" tIns="9144" rIns="18288" bIns="9144" anchor="t">
            <a:spAutoFit/>
          </a:bodyPr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Jira gestiona el trabajo; GitHub resguarda el desarrollo; Quality360 entrega la visión de gestión QA.</a:t>
            </a:r>
          </a:p>
        </p:txBody>
      </p:sp>
      <p:pic>
        <p:nvPicPr>
          <p:cNvPr id="45" name="Imagen 44" descr="Jira Logo and symbol, meaning, history, PNG">
            <a:extLst>
              <a:ext uri="{FF2B5EF4-FFF2-40B4-BE49-F238E27FC236}">
                <a16:creationId xmlns:a16="http://schemas.microsoft.com/office/drawing/2014/main" id="{0EA7D6E7-8273-DA2F-6110-79F24A8DB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2402" y="1385660"/>
            <a:ext cx="1340799" cy="909828"/>
          </a:xfrm>
          <a:prstGeom prst="rect">
            <a:avLst/>
          </a:prstGeom>
        </p:spPr>
      </p:pic>
      <p:pic>
        <p:nvPicPr>
          <p:cNvPr id="48" name="Imagen 47" descr="Perfiles alternativos a LinkedIn: Behance, GitHub y Medium.">
            <a:extLst>
              <a:ext uri="{FF2B5EF4-FFF2-40B4-BE49-F238E27FC236}">
                <a16:creationId xmlns:a16="http://schemas.microsoft.com/office/drawing/2014/main" id="{257A70CF-8628-2248-65A3-3D6E6866E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444" y="2139867"/>
            <a:ext cx="1126714" cy="685801"/>
          </a:xfrm>
          <a:prstGeom prst="rect">
            <a:avLst/>
          </a:prstGeom>
        </p:spPr>
      </p:pic>
      <p:pic>
        <p:nvPicPr>
          <p:cNvPr id="49" name="Imagen 48" descr="Setting Up React With Vite on VSCode: Your Easy Guide">
            <a:extLst>
              <a:ext uri="{FF2B5EF4-FFF2-40B4-BE49-F238E27FC236}">
                <a16:creationId xmlns:a16="http://schemas.microsoft.com/office/drawing/2014/main" id="{0B48F23E-5A97-C1CD-59BB-1C32FFFA98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5764" y="1421703"/>
            <a:ext cx="1348950" cy="754570"/>
          </a:xfrm>
          <a:prstGeom prst="rect">
            <a:avLst/>
          </a:prstGeom>
        </p:spPr>
      </p:pic>
      <p:pic>
        <p:nvPicPr>
          <p:cNvPr id="50" name="Imagen 49" descr="Node.js - Wikipedia, la enciclopedia libre">
            <a:extLst>
              <a:ext uri="{FF2B5EF4-FFF2-40B4-BE49-F238E27FC236}">
                <a16:creationId xmlns:a16="http://schemas.microsoft.com/office/drawing/2014/main" id="{10C5E40F-CD0D-4837-378D-0CA87BB88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673" y="1808153"/>
            <a:ext cx="1135607" cy="697303"/>
          </a:xfrm>
          <a:prstGeom prst="rect">
            <a:avLst/>
          </a:prstGeom>
        </p:spPr>
      </p:pic>
      <p:pic>
        <p:nvPicPr>
          <p:cNvPr id="51" name="Imagen 50" descr="Postgresql logo - Icono gratis PNG, SVG">
            <a:extLst>
              <a:ext uri="{FF2B5EF4-FFF2-40B4-BE49-F238E27FC236}">
                <a16:creationId xmlns:a16="http://schemas.microsoft.com/office/drawing/2014/main" id="{DF2F7F1B-CF01-41B2-FEE0-7258D3EE3A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2402" y="4001262"/>
            <a:ext cx="1642872" cy="821436"/>
          </a:xfrm>
          <a:prstGeom prst="rect">
            <a:avLst/>
          </a:prstGeom>
        </p:spPr>
      </p:pic>
      <p:pic>
        <p:nvPicPr>
          <p:cNvPr id="53" name="Picture 2" descr="image.png">
            <a:extLst>
              <a:ext uri="{FF2B5EF4-FFF2-40B4-BE49-F238E27FC236}">
                <a16:creationId xmlns:a16="http://schemas.microsoft.com/office/drawing/2014/main" id="{092659B3-2731-ADE1-7692-C999367D6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17" y="3618780"/>
            <a:ext cx="1346411" cy="13464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Prototipo funcional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</a:rPr>
              <a:t>Vista Quality Engineer: monitoreo consolidado para intervenir donde más importa.</a:t>
            </a:r>
            <a:endParaRPr lang="en-US" sz="1050" dirty="0"/>
          </a:p>
        </p:txBody>
      </p:sp>
      <p:pic>
        <p:nvPicPr>
          <p:cNvPr id="4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28600"/>
            <a:ext cx="658368" cy="658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25296"/>
            <a:ext cx="845820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CFDAE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6" name="Image 1" descr="/mnt/data/q360_work/original/ppt/media/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313" y="1426464"/>
            <a:ext cx="7259997" cy="4754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1225296"/>
            <a:ext cx="2395728" cy="5166360"/>
          </a:xfrm>
          <a:prstGeom prst="roundRect">
            <a:avLst>
              <a:gd name="adj" fmla="val 3053"/>
            </a:avLst>
          </a:prstGeom>
          <a:solidFill>
            <a:srgbClr val="071D49"/>
          </a:solidFill>
          <a:ln w="12700">
            <a:solidFill>
              <a:srgbClr val="071D49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4"/>
          <p:cNvSpPr/>
          <p:nvPr/>
        </p:nvSpPr>
        <p:spPr>
          <a:xfrm>
            <a:off x="9756648" y="1572768"/>
            <a:ext cx="1335024" cy="274320"/>
          </a:xfrm>
          <a:prstGeom prst="roundRect">
            <a:avLst>
              <a:gd name="adj" fmla="val 40000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5"/>
          <p:cNvSpPr/>
          <p:nvPr/>
        </p:nvSpPr>
        <p:spPr>
          <a:xfrm>
            <a:off x="9829800" y="161848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VISTA QE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9528048" y="2194560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¿Qué permite visualizar?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9509760" y="2907792"/>
            <a:ext cx="219456" cy="219456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8"/>
          <p:cNvSpPr/>
          <p:nvPr/>
        </p:nvSpPr>
        <p:spPr>
          <a:xfrm>
            <a:off x="9866376" y="28346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Estado global de HU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9509760" y="3566160"/>
            <a:ext cx="219456" cy="219456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0"/>
          <p:cNvSpPr/>
          <p:nvPr/>
        </p:nvSpPr>
        <p:spPr>
          <a:xfrm>
            <a:off x="9866376" y="34930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Avance y cumplimiento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09760" y="4224528"/>
            <a:ext cx="219456" cy="219456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2"/>
          <p:cNvSpPr/>
          <p:nvPr/>
        </p:nvSpPr>
        <p:spPr>
          <a:xfrm>
            <a:off x="9866376" y="4151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Riesgos e impedimentos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509760" y="4882896"/>
            <a:ext cx="219456" cy="219456"/>
          </a:xfrm>
          <a:prstGeom prst="ellipse">
            <a:avLst/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9866376" y="48097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Puntos de intervención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491472" y="5687568"/>
            <a:ext cx="1865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BFEDEA"/>
                </a:solidFill>
              </a:rPr>
              <a:t>Una sola vista para priorizar la gestión diaria.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1D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Prototipo funcional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</a:rPr>
              <a:t>Vista Analista QA: foco en ejecución, evidencias y avance de cada certificación.</a:t>
            </a:r>
            <a:endParaRPr lang="en-US" sz="1050" dirty="0"/>
          </a:p>
        </p:txBody>
      </p:sp>
      <p:pic>
        <p:nvPicPr>
          <p:cNvPr id="4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28600"/>
            <a:ext cx="658368" cy="658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25296"/>
            <a:ext cx="845820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CFDAE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6" name="Image 1" descr="/mnt/data/q360_work/original/ppt/media/image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423" y="1426464"/>
            <a:ext cx="6911778" cy="4754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1225296"/>
            <a:ext cx="2395728" cy="5166360"/>
          </a:xfrm>
          <a:prstGeom prst="roundRect">
            <a:avLst>
              <a:gd name="adj" fmla="val 3053"/>
            </a:avLst>
          </a:prstGeom>
          <a:solidFill>
            <a:srgbClr val="E9FAF8"/>
          </a:solidFill>
          <a:ln w="12700">
            <a:solidFill>
              <a:srgbClr val="BCE8E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4"/>
          <p:cNvSpPr/>
          <p:nvPr/>
        </p:nvSpPr>
        <p:spPr>
          <a:xfrm>
            <a:off x="9756648" y="1572768"/>
            <a:ext cx="1335024" cy="274320"/>
          </a:xfrm>
          <a:prstGeom prst="roundRect">
            <a:avLst>
              <a:gd name="adj" fmla="val 40000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5"/>
          <p:cNvSpPr/>
          <p:nvPr/>
        </p:nvSpPr>
        <p:spPr>
          <a:xfrm>
            <a:off x="9829800" y="161848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VISTA QA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9528048" y="21945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71D49"/>
                </a:solidFill>
              </a:rPr>
              <a:t>Foco operativo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9509760" y="2907792"/>
            <a:ext cx="219456" cy="219456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8"/>
          <p:cNvSpPr/>
          <p:nvPr/>
        </p:nvSpPr>
        <p:spPr>
          <a:xfrm>
            <a:off x="9866376" y="28346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D1833"/>
                </a:solidFill>
              </a:rPr>
              <a:t>Historias asignadas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9509760" y="3566160"/>
            <a:ext cx="219456" cy="219456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0"/>
          <p:cNvSpPr/>
          <p:nvPr/>
        </p:nvSpPr>
        <p:spPr>
          <a:xfrm>
            <a:off x="9866376" y="34930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D1833"/>
                </a:solidFill>
              </a:rPr>
              <a:t>Detalle de la certificación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09760" y="4224528"/>
            <a:ext cx="219456" cy="219456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2"/>
          <p:cNvSpPr/>
          <p:nvPr/>
        </p:nvSpPr>
        <p:spPr>
          <a:xfrm>
            <a:off x="9866376" y="4151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D1833"/>
                </a:solidFill>
              </a:rPr>
              <a:t>Checklist de actividades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509760" y="4882896"/>
            <a:ext cx="219456" cy="219456"/>
          </a:xfrm>
          <a:prstGeom prst="ellipse">
            <a:avLst/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9866376" y="48097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D1833"/>
                </a:solidFill>
              </a:rPr>
              <a:t>Registro centralizado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491472" y="5687568"/>
            <a:ext cx="1865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167C7"/>
                </a:solidFill>
              </a:rPr>
              <a:t>Trazabilidad desde la asignación hasta el cierre.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r>
              <a:rPr sz="550">
                <a:solidFill>
                  <a:srgbClr val="4E60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D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q360_work/original/ppt/media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92" y="438912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17520" y="2267712"/>
            <a:ext cx="6181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Quality360</a:t>
            </a:r>
            <a:endParaRPr lang="en-US" sz="3100" dirty="0"/>
          </a:p>
        </p:txBody>
      </p:sp>
      <p:sp>
        <p:nvSpPr>
          <p:cNvPr id="4" name="Text 1"/>
          <p:cNvSpPr/>
          <p:nvPr/>
        </p:nvSpPr>
        <p:spPr>
          <a:xfrm>
            <a:off x="2468880" y="3017520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FEDEA"/>
                </a:solidFill>
              </a:rPr>
              <a:t>Una visión integral para decidir mejor en QA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1051560" y="384048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1161288" y="4078224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CENTRALIZAR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61288" y="4407408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5FA"/>
                </a:solidFill>
              </a:rPr>
              <a:t>Información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813048" y="384048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3922776" y="4078224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VISUALIZAR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922776" y="4407408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5FA"/>
                </a:solidFill>
              </a:rPr>
              <a:t>Cumplimiento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74536" y="384048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1167C7"/>
          </a:solidFill>
          <a:ln w="12700">
            <a:solidFill>
              <a:srgbClr val="1167C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6684264" y="4078224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ANTICIPAR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684264" y="4407408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5FA"/>
                </a:solidFill>
              </a:rPr>
              <a:t>Riesgos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336024" y="384048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18B7B1"/>
          </a:solidFill>
          <a:ln w="12700">
            <a:solidFill>
              <a:srgbClr val="18B7B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9445752" y="4078224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PRIORIZAR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445752" y="4407408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5FA"/>
                </a:solidFill>
              </a:rPr>
              <a:t>Acciones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965960" y="5413248"/>
            <a:ext cx="8275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Próximo foco: completar la implementación incremental y validar la solución mediante pruebas funcionales.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46320" y="6144768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E0DB"/>
                </a:solidFill>
              </a:rPr>
              <a:t>Gracias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877</Words>
  <Application>Microsoft Office PowerPoint</Application>
  <PresentationFormat>Panorámica</PresentationFormat>
  <Paragraphs>189</Paragraphs>
  <Slides>10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Capstone Grupo 8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Quality360 - Presentación del Proyecto</dc:title>
  <dc:subject>Quality360 - Gestión integral de certificaciones QA</dc:subject>
  <dc:creator>Jose Seguel H.</dc:creator>
  <cp:lastModifiedBy>Renato Seguel</cp:lastModifiedBy>
  <cp:revision>7</cp:revision>
  <dcterms:created xsi:type="dcterms:W3CDTF">2026-08-28T04:37:52Z</dcterms:created>
  <dcterms:modified xsi:type="dcterms:W3CDTF">2026-09-04T20:08:55Z</dcterms:modified>
</cp:coreProperties>
</file>